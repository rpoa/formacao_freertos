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Lst>
  <p:notesMasterIdLst>
    <p:notesMasterId r:id="rId165"/>
  </p:notesMasterIdLst>
  <p:sldSz cx="12192000" cy="6858000"/>
  <p:notesSz cx="6858000" cy="12192000"/>
  <p:embeddedFontLst>
    <p:embeddedFont>
      <p:font typeface="JetBrains Mono" panose="02000009000000000000" pitchFamily="49" charset="0"/>
      <p:regular r:id="rId170"/>
      <p:bold r:id="rId17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notesMaster" Target="notesMasters/notesMaster1.xml"/><Relationship Id="rId166" Type="http://schemas.openxmlformats.org/officeDocument/2006/relationships/presProps" Target="presProps.xml"/><Relationship Id="rId167" Type="http://schemas.openxmlformats.org/officeDocument/2006/relationships/viewProps" Target="viewProps.xml"/><Relationship Id="rId168" Type="http://schemas.openxmlformats.org/officeDocument/2006/relationships/theme" Target="theme/theme1.xml"/><Relationship Id="rId169" Type="http://schemas.openxmlformats.org/officeDocument/2006/relationships/tableStyles" Target="tableStyles.xml"/><Relationship Id="rId170" Type="http://schemas.openxmlformats.org/officeDocument/2006/relationships/font" Target="fonts/font1.fntdata"/><Relationship Id="rId171"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Boas-vindas. Este primeiro módulo apresenta os conceitos base de um RTOS, seguindo a página oficial RTOS Fundamentals do freertos.org. As barras coloridas antecipam a ideia central de hoje: várias tasks a partilhar um único CPU ao longo do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Apresentar o plano pela ordem em que vai ser dado. A formação alterna teoria e prática: os módulos teóricos (a verde) são de manhã e as sessões práticas (a laranja) de tarde, numa Raspberry Pi Pico 2 a correr nos cores RISC-V, com um J-Link. Módulo 1: o que é um RTOS e porque usar um. Módulo 2: de onde vem a memória das tasks (o heap do FreeRTOS). Módulo 3: criar tasks, prioridades, estados e scheduling. Módulo 4: filas (queues) para comunicar entre tasks. Com tasks e queues já dadas, as práticas 1 e 2 montam o ambiente, integram o kernel e mostram a preempção na placa. Segue-se a teoria restante: interrupções (módulo 5), recursos partilhados com mutexes e semáforos (módulo 6), software timers (módulo 7) e troubleshooting e debug (módulo 8). A prática 3 aplica estes quatro temas com os exemplos oficiais do livro; a prática 4 é extra, para quem quiser aprofundar. Base: currículo NobleProg (14 h) e o livro Mastering the FreeRTOS Real Time Kernel. Diferenças face ao currículo: a memória é um módulo próprio, antes das tasks, como no livro; 'Communicating Between Tasks' está dividido em filas e interrupções; os software timers cobrem a parte de tempo de 'Managing Memory and Time'. O antigo bloco 'projeto prático' do currículo foi substituído pelas quatro sessões práticas. Dia 1: módulos 1 a 4 de manhã, práticas 1 e 2 à tarde. Dia 2: módulos 5, 6, 7 e 8 de manhã, práticas 3 e 4 à tarde. As práticas 2 e 4 são EXTRA: fazem-se se houver tempo. O dia 2 aparece esbatido no slide para o foco ficar no dia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Definição oficial: um RTOS é um SO desenhado para ser pequeno e determinístico. Usa-se em sistemas embebidos como dispositivos médicos e ECUs automóveis, que têm de reagir a eventos externos dentro de restrições temporais apertadas. Nota importante: tipicamente só um ou dois requisitos do sistema exigem esse nível de determinismo, e usar um RTOS traz benefícios mesmo quando não há nenhum requisito hard real-time (ver FAQ 'Why use an RTOS?' no freertos.org). É mais pequeno e leve que um SO de uso geral, logo adequado a dispositivos limitados em memória, computação e energia.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kernel é o núcleo do SO. Num SO de uso geral como o Linux, vários utilizadores acedem ao processador aparentemente em simultâneo, cada um a correr vários programas. Cada programa é implementado por um ou mais threads. Se o SO consegue executar vários threads desta forma, diz-se multitasking. Em RTOS pequenos como o FreeRTOS não há memória virtual, logo não há distinção entre processos e threads: chamamos-lhes simplesmente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benefícios citados na página oficial: (1) as funcionalidades de multitasking e comunicação inter-task permitem partir a aplicação em tasks mais pequenas; (2) essa partição facilita testes, divisão do trabalho em equipas e reutilização de código; (3) a complexidade de timing e sequenciação passa para o kernel. A FAQ 'Why use an RTOS?' tem uma lista mais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processador single core só executa uma task de cada vez, mas ao alternar rapidamente entre tasks o SO faz parecer que todas executam em simultâneo. O diagrama mostra três tasks ao longo do tempo (da esquerda para a direita): em cima, a execução concorrente percebida; em baixo, o padrão real de multitasking, em que em cada instante só uma barra está ativa. Terceira faixa, fora da página oficial e fora do âmbito do curso: num processador com dois cores, como o RP2350 da Pico 2 (dois Hazard3 RISC-V, ou dois Cortex-M33), um kernel SMP pode pôr duas tasks em Running ao mesmo tempo, uma em cada core; aí há paralelismo real, não só a ilusão dele. A mesma task nunca corre nos dois cores ao mesmo tempo. O port RP2350_RISC-V do FreeRTOS é SMP (configNUMBER_OF_CORES = 2; o exemplo oficial pico-examples/freertos/hello_freertos_two_cores usa os dois cores), mas nas sessões práticas usamos um só core. Consequência a mencionar de passagem: com dois cores, desligar interrupções ou o scheduler num core não impede o outro de mexer nos mesmos dados, por isso as secções críticas SMP usam também spinlocks.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scheduler é a parte do kernel responsável por decidir que task executa em cada instante. O kernel pode pausar e retomar uma task muitas vezes. Terminologia: quando B substitui A, A é 'swapped out' (ou switched out) e B 'swapped in'. A scheduling policy é o algoritmo de decisão: num sistema multi-utilizador não real-time tende a dar a cada task uma parte justa do tempo de CPU; a política dos sistemas embebidos real-time é descrita mais à frente.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task só sai do CPU se o algoritmo de scheduling decidir executar outra. Isto pode acontecer sem a task saber: a página oficial dá como exemplo o scheduler a responder a um evento externo ou à expiração de um timer. Em concreto, no FreeRTOS com preempção (configUSE_PREEMPTION = 1), a task é preemptada quando fica pronta uma task de prioridade mais alta, e isso só pode acontecer em três sítios: no tick interrupt (acaba um vTaskDelay, um vTaskDelayUntil ou o timeout de um bloqueio; ou expira um software timer e acorda a daemon task); numa ISR que dá um semáforo, envia para uma queue ou manda uma task notification (com portYIELD_FROM_ISR a troca é à saída da ISR, sem ele no tick seguinte); ou dentro de uma chamada à API feita pela própria task em execução que acorda outra mais prioritária (xQueueSend, xSemaphoreGive, vTaskResume, vTaskPrioritySet, xTaskCreate). Com time slicing, o tick também alterna entre tasks prontas da mesma prioridade. A reformulação da coluna da esquerda é minha, com base no funcionamento do kernel descrito no livro (capítulo 4); a página oficial é menos precisa. Ou pode acontecer porque a própria task chama uma função da API que faz yield, sleep (delay) ou block. Yield: o scheduler pode escolher a mesma task outra vez. Sleep: a task fica indisponível até passar o atraso. Block: indisponível até ocorrer um evento específico (ex.: chegam dados à UART) ou expirar um timeout. É o kernel que gere estes estados e transições.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Percorrer os marcadores: (1) task 1 a executar; (2) o kernel faz swap out da task 1 e (3) swap in da task 2; (4) enquanto executa, a task 2 bloqueia um periférico para acesso exclusivo (não visível no diagrama); (5) o kernel faz swap out da task 2 e (6) swap in da task 3; (7) a task 3 tenta aceder ao periférico, encontra-o bloqueado e bloqueia à espera; (8) o kernel faz swap in da task 1; etc. (9) a task 2 volta a executar, termina com o periférico e liberta-o; (10) a task 3 volta a executar, encontra o periférico acessível e continua até voltar a ser swapped out. Os marcadores a verde (4, 7, 9) são ações das próprias tasks; os escuros são decisões do kernel. Se perguntarem pelas prioridades: o exemplo não as define (vêm só nos slides seguintes); lido em FreeRTOS, as três têm a mesma prioridade e as trocas do kernel são time slicing. Prova: no marcador 8 a task 1 volta a correr, o que não aconteceria se a 2 ou a 3 fossem mais prioritárias e estivessem prontas.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RTOS fazem multitasking com os mesmos princípios, mas com objetivos diferentes, e isso reflete-se na scheduling policy. Os sistemas embebidos real-time existem para dar uma resposta atempada a eventos do mundo real, que têm deadlines. Num RTOS pequeno como o FreeRTOS, o engenheiro atribui uma prioridade a cada task; a política é simplesmente garantir que a task de maior prioridade apta a executar recebe o CPU. Opcionalmente, o tempo pode ser partilhado de forma justa entre tasks com a mesma prioridade máxima que estejam aptas (não em delay nem bloqueadas). Não é magia: a aplicação tem de garantir que as restrições temporais são exequíveis.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clássico: sistema com teclado, LCD e algoritmo de controlo. Teclado: o utilizador tem de ver feedback de cada tecla num período razoável; se o máximo aceitável for 100 ms, qualquer resposta entre 0 e 100 ms serve. Falhar torna o produto desagradável de usar, mas não perigoso: soft real-time. Implementa-se como uma task autónoma com loop infinito, como a maioria das tasks real-time. Controlo: a entrada tem de ser amostrada, filtrada e o ciclo de controlo executado a cada 2 ms, e para o filtro funcionar a regularidade da amostragem tem de ser precisa a 0,5 ms. O pseudocódigo está traduzido; no original os passos estão em inglês.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engenheiro tem de dar a prioridade mais alta à task de controlo porque (1) o seu deadline é mais estrito que o do teclado e (2) a consequência de falhar o deadline é maior. Além das nossas duas tasks, o RTOS cria a sua própria task, a idle task, que só executa quando nenhuma outra está apta; a idle task está sempre em estado de poder executar.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Percorrer a timeline: no início nenhuma das duas tasks pode correr (o controlo espera pelo próximo ciclo, o teclado espera uma tecla), por isso corre a idle task. t1: tecla premida, vKeyHandlerTask fica apta e tem mais prioridade que a idle, logo executa. t2: terminou de processar a tecla e atualizar o LCD; volta a esperar e a idle retoma. t3: um evento de timer indica novo ciclo de controlo; vControlTask é a mais prioritária e executa de imediato. Entre t3 e t4 há uma tecla premida, mas o teclado tem menor prioridade e não recebe CPU. t4: o controlo termina e espera o próximo timer; vKeyHandlerTask é agora a mais prioritária apta e processa a tecla. t5: tecla processada, volta a idle. Entre t5 e t6 é processado um evento de timer (ciclo de controlo), sem teclas. t6: nova tecla, mas antes de terminar o processamento chega um evento de timer (t7): ambas as tasks estão aptas, o controlo tem prioridade e o teclado é suspenso a meio. t8: o controlo termina e o teclado conclui o processamento da tecla. Nota: o texto oficial não descreve t7 explicitamente; é o instante do evento de timer após t6.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Ideia a reter: a política de scheduling de um RTOS como o FreeRTOS é executar sempre a task de maior prioridade que está apta. Rever os termos: task, scheduler, swap in/out, yield, delay e block, prioridade, idle task. No próximo bloco (módulo 2) vemos de onde vem a memória das tasks, o heap do FreeRTOS; a API das tasks vem no módulo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2, capítulo 3 do livro. Vem antes das tasks, seguindo a ordem do livro, porque criar tasks, queues e semáforos consome RAM e o xTaskCreate() devolve pdFAIL quando não há heap. Pré-requisitos: saber as fases de compilação e linking, o que são stack e heap, e as funções malloc() 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fora do livro, para a placa da formação: mapa de memória da Pico 2 (RP2350) com o linker script por omissão do pico-sdk; tamanhos fora de escala. Flash (XIP, a partir de 0x10000000): o código (.text), as constantes (.rodata) e os valores iniciais das globais inicializadas, que o crt0 copia para o .data na RAM no arranque. RAM principal (512 KB a partir de 0x20000000): primeiro o .data (globais e static com valor inicial), depois o .bss (globais e static sem valor inicial, postas a zero no arranque). O heap do FreeRTOS (heap_4) é o array ucHeap[ configTOTAL_HEAP_SIZE ], declarado static no heap_4.c, por isso fica no .bss como qualquer global; nos exemplos do pico-sdk tem 128 KB. É dentro dele que o pvPortMalloc() arranja a TCB e a stack de cada task criada com xTaskCreate(), as queues, os semáforos, etc. Por isso as variáveis locais de uma task (na sua stack) vivem, na prática, dentro do ucHeap. Com alocação estática, os buffers static (StaticTask_t, arrays de stack) ficam diretamente no .bss, fora do ucHeap. A seguir ao .bss, o linker coloca o heap da biblioteca C (secção .heap), que vai até ao fim da RAM: é daí que vem o malloc() e o que a biblioteca C aloca por dentro (por exemplo o printf). São dois heaps independentes; o FreeRTOS não usa o malloc(). Os dois bancos de 4 KB no fim (SCRATCH_X e SCRATCH_Y, 0x20080000 e 0x20081000): o SCRATCH_Y tem a stack do main() (2 KB por omissão, PICO_STACK_SIZE); o SCRATCH_X a do core 1, que não usamos. Depois de vTaskStartScheduler(), o main() nunca mais corre e o port RP2350_RISC-V reaproveita essa stack (__StackTop) como stack das interrupções. Mensagem-chave: as globais criadas fora das tasks (e as static dentro delas) nunca vão para o heap; ficam no .data ou .bss. O heap do FreeRTOS é ele próprio uma global. Só vai para o heap o que é pedido com pvPortMalloc(), explícita ou implicitamente (xTaskCreate(), xQueueCreate()…). Para ver os valores reais: o ficheiro .map gerado pelo build, ou arm-none-eabi-size / riscv32-…-size (colunas data e bss).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capítulos seguintes introduzem objetos do kernel: tasks, queues, semáforos, event groups. A RAM que os guarda pode ser alocada estaticamente (compile time) ou dinamicamente (run time). Dinâmica: reduz o esforço de design e planeamento, simplifica a API e minimiza o footprint de RAM. Estática: mais determinística, elimina a necessidade de tratar falhas de alocação e elimina o risco de fragmentação (o heap tem memória livre suficiente, mas não num bloco contíguo utilizável). As funções estáticas só existem com configSUPPORT_STATIC_ALLOCATION = 1; as dinâmicas com configSUPPORT_DYNAMIC_ALLOCATION = 1 ou indefinido. É válido ter ambas 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alocação dinâmica de memória é um conceito de C, não específico do FreeRTOS nem de multitasking. É relevante porque os objetos do kernel podem ser criados com memória dinâmica, e o malloc() e free() da biblioteca C podem não ser adequados: nem sempre estão disponíveis em sistemas embebidos pequenos; a implementação pode ser grande; raramente são thread-safe; não são determinísticos; sofrem de fragmentação; podem complicar a configuração do linker; e podem causar erros difíceis de depurar se o heap crescer para memória usada por outras variáveis.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primeiras versões do FreeRTOS usavam memory pools (blocos de tamanhos fixos pré-alocados em compile time). Foi removido porque o uso ineficiente de RAM em sistemas muito pequenos gerava muitos pedidos de suporte. Hoje a alocação é parte da portable layer: sistemas diferentes têm requisitos diferentes de alocação e timing, e assim o programador pode fornecer a sua implementação. pvPortMalloc() tem o mesmo protótipo de malloc() e vPortFree() o de free(). Há cinco implementações de exemplo, em heap_1.c a heap_5.c, na pasta FreeRTOS/Source/portable/MemMang.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Visão geral antes de ver cada um. heap_1: só pvPortMalloc(), sem vPortFree(); sempre determinístico, não fragmenta. heap_2: best fit, liberta mas não junta blocos livres adjacentes; mantido só por compatibilidade, não recomendado em designs novos. heap_3: usa o malloc() e free() da biblioteca standard, tornando-os thread-safe ao suspender o scheduler; o tamanho do heap vem do linker e configTOTAL_HEAP_SIZE não é usado. heap_4: first fit com coalescência de blocos livres adjacentes. heap_5: mesmo algoritmo do heap_4, mas junta várias regiões de memória num só heap. heap_2 e heap_4 não são determinísticos, mas são mais rápidos que a maioria das implementações de malloc() e free(). A coluna Determinístico do heap_3 segue a afirmação geral do livro de que malloc()/free() não são determinísticos.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3.1 do livro: A, o array antes de criar tasks, todo livre; B, depois de criar uma task (TCB + stack); C, depois de criar três tasks. Quando a memória só é alocada antes de a aplicação começar a funcionar em tempo real, e fica alocada para sempre, o esquema não precisa de lidar com determinismo e fragmentação e pode privilegiar tamanho de código e simplicidade. Sistemas críticos que proíbem alocação dinâmica (por não determinismo, fragmentação e falhas de alocação) podem mesmo assim usar heap_1, porque é sempre determinístico e não fragmenta.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heap_2 usa best fit: percorre a lista e escolhe o bloco livre mais pequeno que ainda chega para o pedido. heap_4 usa first fit: percorre os blocos por ordem de endereço e usa o primeiro que chega. Exemplo com a mesma lista nos dois lados (livres por ordem de endereço: 5, 200, 25 e 100 bytes; pedido de 20): o bloco de 5 não chega em nenhum dos casos. O heap_2 compara os que chegam (200, 25, 100) e escolhe o de 25, que parte em 20 + 5. O heap_4 para no primeiro que chega, o de 200, e parte-o em 20 + 180. Nota: o livro usa listas diferentes para cada algoritmo (5, 25 e 100 no heap_2; 5, 200 e 100 no heap_4); aqui junta-se numa só para se ver a diferença. O critério de escolha não é o que mais pesa na fragmentação: o heap_2 não junta blocos livres adjacentes e fragmenta mais, a não ser que os blocos alocados e libertados tenham sempre o mesmo tamanho; está no FreeRTOS só por compatibilidade. O heap_4 junta-os (coalescência, detalhada a seguir) e serve aplicações que alocam e libertam repetidamente blocos de tamanhos diferentes. Nenhum dos dois é determinístico, mas ambos são mais rápidos que a maioria das implementações standard de malloc()/free().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 3.3 do livro. A: três tasks criadas, um bloco livre grande no topo. B: uma task apagada. Ponto-chave: a TCB e a stack de uma task são duas alocações separadas (o xTaskCreate() chama pvPortMalloc() duas vezes), cada uma com o seu cabeçalho, mesmo ficando encostadas; ao apagar a task, o kernel faz dois vPortFree(). No heap_2 ficavam dois blocos livres lado a lado (a linha tracejada no desenho é a fronteira antiga), e um pedido maior que cada um deles não caberia ali, mesmo havendo espaço seguido suficiente. O heap_4 verifica os vizinhos ao libertar e junta-os num único bloco livre, onde já cabe um pedido do tamanho dos dois somados. C: criada uma queue com xQueueCreate(), que chama pvPortMalloc(); first fit usa o primeiro bloco livre suficiente, o da task apagada, e parte-o. D: a aplicação chama pvPortMalloc() diretamente; o bloco cabe no primeiro espaço livre, entre a queue e o TCB seguinte. O espaço da task apagada está agora dividido em três. E: a queue é apagada e a sua memória libertada automaticamente; há espaço livre dos dois lados do bloco do utilizador. F: a aplicação liberta o bloco do utilizador, que se junta aos livres dos dois lados num só bloco maior. O destaque de B e a comparação com o heap_2 são um acrescento à figura do livro.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heap_5 usa o mesmo algoritmo do heap_4 mas pode combinar várias regiões de memória separadas num só heap. Inicializa-se com vPortDefineHeapRegions(), que recebe um array de HeapRegion_t (endereço inicial e tamanho em bytes). O array tem de estar ordenado por endereço, do mais baixo para o mais alto, e termina com uma entrada de endereço NULL. Exemplo do livro: três regiões RAM1 (64 KB em 0x00010000), RAM2 e RAM3 (32 KB cada). Descrever a RAM1 inteira sobreporia as variáveis que o linker lá colocou. Pôr o endereço à mão (0x0001nnnn) não é recomendado: é difícil de determinar, muda entre builds, e as ferramentas não avisam se houver sobreposição. A solução da Listing 3.4 declara ucHeap como variável normal: o linker coloca-a na RAM1, o endereço está sempre correto, não pode haver sobreposição e o link falha se ucHeap for grande demais. O mapa da RAM1 no slide é ilustrativo (tamanhos aproximados, fora do livro): mostra que as globais e a stack ocupam uma parte que o linker decide, o ucHeap é colocado a seguir e sobra uma margem que tem de ser acertada à mão. Os heap_1, 2 e 4 fazem o mesmo por dentro: declaram um array ucHeap[ configTOTAL_HEAP_SIZE ]. Na placa da formação (RP2350) a SRAM principal é contínua (520 KB), por isso o heap_5 não é necessário; o pico-sdk usa o heap_4. Se perguntarem se se pode escolher onde fica o heap: sim; com configAPPLICATION_ALLOCATED_HEAP = 1 (heap_1, 2 e 4) a aplicação declara o próprio ucHeap e coloca-o numa secção do linker, e as stacks das tasks podem vir de um alocador à parte (configSTACK_ALLOCATION_FROM_SEPARATE_HEAP = 1). Só interessa em micros com memórias de velocidades diferentes; fica fora deste curso. Nota: o código do slide abrevia a Listing 3.4 (a chamada a vPortDefineHeapRegions() vai no início do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Funções utilitárias do heap. xPortGetFreeHeapSize(): bytes livres no momento da chamada; não informa sobre fragmentação; não existe no heap_3. xPortGetMinimumEverFreeHeapSize(): o mínimo de bytes livres desde o arranque; se devolver 200, a aplicação esteve a 200 bytes de ficar sem heap; só heap_4 e heap_5. vPortGetHeapStats(): heap_4 e heap_5, preenche HeapStats_t com xAvailableHeapSpaceInBytes, xSizeOfLargestFreeBlockInBytes, xSizeOfSmallestFreeBlockInBytes, xNumberOfFreeBlocks, xMinimumEverFreeBytesRemaining, xNumberOfSuccessfulAllocations e xNumberOfSuccessfulFrees. traceMALLOC e traceFREE permitem recolher estatísticas por task (Listing 3.11). Malloc failed hook: com configUSE_MALLOC_FAILED_HOOK = 1 a aplicação tem de fornecer vApplicationMallocFailedHook(); muitas demos tratam a falha como erro fatal, mas em produção o sistema deve recuperar de forma controlada.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alocação estática evita as desvantagens da dinâmica: toda a memória é conhecida em compile time e é determinística. As complicações: algumas funções extra da aplicação para fornecer memória do kernel, e garantir que a memória estática é declarada num scope adequado. Com configSUPPORT_STATIC_ALLOCATION = 1 ficam disponíveis as versões estáticas: xTaskCreateStatic, xEventGroupCreateStatic, xQueueGenericCreateStatic, xQueueCreateMutexStatic (com configUSE_MUTEXES), xQueueCreateCountingSemaphoreStatic (com configUSE_COUNTING_SEMAPHORES), xStreamBufferGenericCreateStatic, xTimerCreateStatic (com configUSE_TIMERS), e as funções Get…StaticBuffer(s). A idle task e a timer task usam memória fornecida por vApplicationGetIdleTaskMemory() e vApplicationGetTimerTaskMemory(). Os buffers declarados dentro da função têm de ser static; caso contrário ficariam na stack e deixariam de existir quando a função retorna. Em SMP, os idle tasks dos outros cores são alocados internamente. Nota fora do livro, para a placa da formação: desde o V11 existe configKERNEL_PROVIDED_STATIC_MEMORY = 1, com o qual o kernel define ele próprio vApplicationGetIdleTaskMemory() e vApplicationGetTimerTaskMemory() (arrays de configMINIMAL_STACK_SIZE e configTIMER_TASK_STACK_DEPTH). No port RP2350 (raspberrypi/FreeRTOS-Kernel), o alvo CMake FreeRTOS-Kernel-Static define configSUPPORT_STATIC_ALLOCATION=1 e configKERNEL_PROVIDED_STATIC_MEMORY=1; o exemplo hello_freertos_static_allocation do pico-examples liga-se a esse alvo, põe configSUPPORT_DYNAMIC_ALLOCATION=0 (não compila nenhum heap_n.c e o xTaskCreate() deixa de existir) e cria as tasks com xTaskCreateStatic() e arrays static. Resumo do que é preciso na Pico: ligar a FreeRTOS-Kernel-Static, decidir se a dinâmica fica ativa, e usar as funções …Static() com buffers static.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o FreeRTOS usa pvPortMalloc() e vPortFree() em vez do malloc() e free() da biblioteca C; o esquema de heap é escolhido pelo ficheiro heap_n.c compilado (heap_4 para a maioria dos casos com libertação, heap_1 quando nada é apagado, heap_5 para RAM não contígua); o heap pode ser medido em run time e o malloc failed hook apanha falhas de alocação; com alocação estática, a memória é fornecida pela aplicação e a RAM usada fica conhecida no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3, capítulo 4 do livro, o mais detalhado. Usa o módulo 2: cada task criada dinamicamente recebe a TCB e a stack do heap do FreeRTOS.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tasks são funções C com o protótipo void vATaskFunction( void *pvParameters ): recebem um ponteiro void e devolvem void. Cada task é um pequeno programa: tem entry point, corre normalmente para sempre num loop infinito e não sai. Uma task FreeRTOS nunca pode retornar da função que a implementa: sem return e sem passar do fim da função; se já não for precisa, deve ser apagada explicitamente. Uma mesma função pode criar várias tasks, cada uma com a sua stack e as suas cópias das variáveis automáticas. Variáveis static são colocadas pelo linker num endereço fixo e partilhadas por todas as instâncias.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funções de criação: xTaskCreate(), xTaskCreateStatic(), xTaskCreateRestricted(), xTaskCreateRestrictedStatic(), xTaskCreateAffinitySet() e xTaskCreateStaticAffinitySet(). Cada task precisa de dois blocos de RAM: o TCB e a stack. As funções com Static usam blocos pré-alocados passados como parâmetros; sem Static, alocam dinamicamente do heap em run time. Alguns ports suportam tasks em modo restrito ou não privilegiado: as funções Restricted criam tasks com acesso limitado à memória; as outras criam tasks em modo privilegiado, com acesso a todo o mapa de memória. Em ports SMP, as funções Affinity permitem escolher o core. Como são funções complexas, os exemplos usam xTaskCreate(), a mais simples. Nota fora do livro, para a placa da formação: na Pico 2 as funções Restricted não estão disponíveis. O port RP2350_RISC-V não tem MPU wrappers (o Hazard3 tem PMP em hardware, mas o port não o usa) e o port RP2350_ARM_NTZ exige configENABLE_MPU = 0; nos dois, todas as tasks correm com acesso total à memória.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Protótipo de xTaskCreate() e parâmetros. xTaskCreateStatic() tem mais dois parâmetros: a memória pré-alocada para o TCB e para a stack. pcName: o FreeRTOS não o usa, serve só para debug; nomes mais longos que configMAX_TASK_NAME_LEN são truncados. usStackDepth: número de words, não de bytes. O livro remete para a secção 13.3 (Stack Overflow) para um método prático de escolher o tamanho da stack. uxPriority acima de configMAX_PRIORITIES − 1 é limitado a esse valor. pxCreatedTask: o handle permite, por exemplo, mudar a prioridade ou apagar a task. Retorno pdFAIL: não havia heap suficiente (ver capítulo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Exemplos 4.1 e 4.2 do livro, combinados. Em vez de duas funções quase iguais, uma só função recebe a string a imprimir pelo parâmetro, convertido para char *. O main() cria duas instâncias com strings diferentes (static const char *pcTextForTask1 = "Task 1 is running", etc.), à mesma prioridade 1 e stack de 1000 words, e arranca o scheduler. As strings são static const para continuarem válidas enquanto as tasks correm: variáveis na stack do main() podem deixar de existir depois de arrancar o scheduler. Se o main() passar do vTaskStartScheduler(), faltou heap para criar a idle task ou a timer task. Numa aplicação real deve-se verificar o valor de retorno de xTaskCreate(). Também se pode criar uma task dentro de outra task, não só no main(). O output alterna 'Task 1 is running' / 'Task 2 is running'. Nota: no simulador Windows cada task imprime uma vez por vez; num alvo real pode imprimir várias vezes antes de ser trocada.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scheduler garante sempre que a task de maior prioridade que pode correr é a escolhida para Running; tasks de igual prioridade alternam. Prioridades de 0 (mais baixa) a configMAX_PRIORITIES − 1. Há duas implementações do algoritmo de seleção. Genérica: escrita em C, funciona em todos os ports, não impõe limite a configMAX_PRIORITIES, mas mais prioridades implicam mais RAM e pior caso de execução mais longo. Otimizada para a arquitetura: escrita em assembly, mais rápida, pior caso igual para qualquer valor, mas limitada a 32 prioridades em arquiteturas de 32 bits e 64 em 64 bits. Ativa-se com configUSE_PORT_OPTIMISED_TASK_SELECTION = 1 (o livro escreve 'optimized', mas a macro no código-fonte usa a grafia britânica OPTIMISED); os ports que a têm ativam-na por omissão.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Nos exemplos anteriores, as duas tasks tinham a mesma prioridade e podiam correr sempre, por isso cada uma executava durante um time slice. O scheduler corre no fim de cada time slice, através de um interrupt periódico: o tick interrupt. configTICK_RATE_HZ define a frequência e portanto a duração do time slice: 100 Hz dá 10 ms. O tempo entre dois ticks chama-se tick period. 100 é um valor típico; o ótimo depende da aplicação. O fim do time slice não é o único ponto de decisão: o scheduler também escolhe imediatamente quando a task em execução bloqueia, ou quando um interrupt põe em Ready uma task de maior prioridade. A caixa do slide junta um terceiro caso, que é o mesmo do slide 8: uma chamada à API noutra task (dar um semáforo, enviar para uma queue, vTaskResume(), vTaskPrioritySet()) que ponha em Ready uma task de maior prioridade provoca a troca de imediato, sem esperar pelo tick. pdMS_TO_TICKS() converte ms em ticks e não pode ser usada se configTICK_RATE_HZ for maior que 1000. O tick count é o número de ticks desde o arranque do scheduler; a aplicação não precisa de se preocupar com o overflow ao especificar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4.3: duas tasks com prioridades 1 e 2, ambas com um null loop como atraso. A Task 2 nunca espera por nada, está sempre pronta, por isso o scheduler escolhe-a sempre e a Task 1 nunca corre: starvation. Tasks de processamento contínuo têm utilidade limitada porque só podem existir na prioridade mais baixa. A solução é escrevê-las event-driven: só têm trabalho depois de um evento e não podem entrar em Running antes disso. Exemplo 4.4: substituir o null loop por vTaskDelay(). A task fica Blocked durante o atraso, sem gastar CPU, e as duas tasks correm apesar das prioridades diferentes. O polling é também ineficiente: consome todo o tempo de processador sem ter trabalho a fazer. O tempo da idle task mede a capacidade de processamento livre.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topo: Running e Not Running. Em Not Running a task está pausada e o seu estado guardado; ao retomar continua na instrução onde ia. Passar para Running é switch in (swap in), sair é switch out; só o scheduler faz isto. Not Running tem três sub-estados. Blocked: à espera de um evento. Suspended: indisponível para o scheduler, só se entra com vTaskSuspend() e só se sai com vTaskResume() ou xTaskResumeFromISR(). Ready: em Not Running mas nem Blocked nem Suspended, ou seja, pronta a correr. Diagrama redesenhado a partir da Figura 4.7 do livro; a linha à esquerda é o vTaskSuspend() chamado a partir de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task à espera de um evento está em Blocked, sub-estado de Not Running. Eventos temporais: um atraso expira ou é atingido um tempo absoluto (ex.: esperar 10 ms). Eventos de sincronização: originados por outra task ou interrupt (ex.: dados a chegar a uma queue). Podem gerar eventos de sincronização: queues, semáforos binários e de contagem, mutexes, mutexes recursivos, event groups, stream buffers, message buffers e direct to task notifications; a maioria é tratada nos capítulos seguintes. Uma task pode bloquear num evento de sincronização com timeout, ficando efetivamente à espera dos dois tipos de evento. Quando o evento ocorre, a task passa automaticamente para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vTaskDelay() põe a task em Blocked durante um número fixo de ticks; o momento em que sai é relativo ao momento da chamada. Exemplo do livro: vTaskDelay(100) chamado no tick 10 000 mantém a task Blocked até ao tick 10 100. Só existe com INCLUDE_vTaskDelay = 1. vTaskDelayUntil() recebe o tick count exato em que a task deve passar de Blocked a Ready. pxPreviousWakeTime guarda o último despertar e serve de referência; inicializa-se com xTaskGetTickCount() antes do primeiro uso e depois é atualizado automaticamente. xTimeIncrement é o período em ticks. Com vTaskDelay(), a frequência de uma task periódica não fica garantida (Exemplo 4.5). Nota fora do livro: nas versões recentes do kernel existe também xTaskDelayUntil(), que devolve se a task foi de facto atrasada; confirmar na documentação da versão usada.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idle task é criada quando se chama vTaskStartScheduler(), para garantir que há sempre pelo menos uma task que pode correr (mesmo com as funcionalidades de baixo consumo). Faz pouco mais do que correr num loop. Tem prioridade 0, para nunca impedir uma task da aplicação de correr, e é preemptada assim que outra fica Ready. Nada impede criar tasks da aplicação com prioridade 0; configIDLE_SHOULD_YIELD evita que a idle gaste tempo que seria mais útil a essas tasks. A idle task liberta os recursos do kernel das tasks que se apagaram a si próprias, por isso não pode ficar sem tempo de CPU. Idle hook: função chamada uma vez por iteração do loop da idle. Usos: processamento de fundo sem a RAM de uma task, medir capacidade livre, baixo consumo (a poupança é menor do que com tickless idle). Regras: o hook nunca pode bloquear nem suspender-se (poderia não haver nenhuma task em Running), e se houver tasks que se apagam a si próprias tem de retornar em tempo razoável. Exemplo 4.7: um hook que incrementa um contador executa cerca de 4 milhões de vezes entre iterações das tasks (depende do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vTaskPrioritySet() muda a prioridade depois de o scheduler arrancar; o valor é limitado a configMAX_PRIORITIES − 1. uxTaskPriorityGet() devolve a prioridade atual. Ambas aceitam NULL para a própria task. Exemplo 4.8: a Task 1 (prioridade mais alta) sobe a Task 2 acima de si; a Task 2 corre imediatamente, imprime e baixa a sua própria prioridade; a Task 1 volta a correr. vTaskDelete(): a task apagada deixa de existir. Se foi criada dinamicamente e se apagou a si própria, é a idle task que liberta o TCB e a stack, por isso a idle não pode ficar sem CPU. Exemplo 4.9: a Task 1 (prioridade 1) cria a Task 2 (prioridade 2), que corre logo e se apaga; a Task 1 bloqueia com vTaskDelay(), a idle liberta a memória, e o ciclo repete.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algoritmo de scheduling decide que task em Ready passa a Running. Configura-se com configUSE_PREEMPTION e configUSE_TIME_SLICING no FreeRTOSConfig.h. configUSE_TICKLESS_IDLE também afeta o algoritmo, porque pode desligar o tick durante longos períodos; é uma opção avançada para baixo consumo, e aqui assume-se a 0 (o valor por omissão). A configuração mais comum, usada em todos os exemplos até agora, é Fixed Priority Preemptive Scheduling with Time Slicing. Fixed priority: o algoritmo não altera as prioridades. Preemptive: a preempção pode ocorrer a qualquer momento, não só no tick. Time slicing: um time slice é o tempo entre dois ticks. Round robin: tasks de igual prioridade entram em Running à vez, sem garantia de tempo igual. AMP não é tratado aqui. SMP (caixa do slide, fora do livro): com configNUMBER_OF_CORES &gt; 1 há um só kernel e uma só lista de Ready para todos os cores; em cada ponto de decisão, cada core fica com uma das tasks Ready de maior prioridade que ainda não esteja a correr noutro core, e uma task nunca corre em dois cores ao mesmo tempo. configRUN_MULTIPLE_PRIORITIES: a 0 (o valor por omissão do kernel), só correm em simultâneo tasks da mesma prioridade, o que preserva a garantia de single core de que uma task de menor prioridade não corre enquanto uma de maior prioridade está em Running; a 1 (o valor dos pico-examples), podem correr tasks de prioridades diferentes, e essa garantia deixa de existir. configUSE_CORE_AFFINITY permite fixar tasks a cores (xTaskCreateAffinitySet(), vTaskCoreAffinitySet()). Nas práticas usamos configNUMBER_OF_CORES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time slicing, se houver mais do que uma task Ready na prioridade mais alta, o scheduler escolhe uma nova em cada tick. Sem time slicing, só escolhe quando uma task de maior prioridade entra em Ready, ou quando a task em Running entra em Blocked ou Suspended. Há menos trocas de contexto, logo menos overhead, mas tasks de igual prioridade podem receber tempos muito diferentes. Na Figura 4.21 do livro, a idle task fica em Running mais de quatro ticks completos, e a Task 2 menos de um tick antes de ser preemptada. Por isso é considerada uma técnica avançada. configIDLE_SHOULD_YIELD: a 0, a idle fica em Running todo o time slice, exceto se for preemptada; a 1, cede o que resta do time slice em cada iteração do loop se houver outras tasks de prioridade idle em Ready. A task seguinte corre só o que resta desse time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livro foca-se no scheduling preemptivo, mas o FreeRTOS também permite cooperativo. Nesse caso (e assumindo que as ISRs não pedem trocas de contexto), só há troca quando a task em Running entra em Blocked ou chama taskYIELD(). Exemplo da UART: a Task 1 escreve 'abcdefg' e sai de Running; a Task 2 escreve '123456789'; a Task 1 volta e acaba a string. Resultado: 'abcdefg123456789hijklmnop', string corrompida. Com o scheduler cooperativo controlamos quando há troca, por isso é mais fácil garantir que não acontece com um recurso em estado inconsistente. Em contrapartida, o sistema é menos responsivo: uma task que passa a ser a mais prioritária em Ready só corre quando a atual bloqueia ou chama taskYIELD() (Figura 4.22). Nota: os recursos do próprio FreeRTOS, como queues e semáforos, são sempre seguros para partilhar; formas de partilhar recursos com segurança vêm no módulo de gestão de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como se cria uma task e onde vai buscar a memória (módulo 2), prioridades e tick, os quatro estados, delays relativos e absolutos, a idle task, mudar prioridades e apagar tasks, e as três configurações de scheduling. Frase-chave a reter: uma task bem escrita é event-driven e passa a maior parte do tempo em Blocked, deixando o CPU livre.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4, capítulo 5 do livro. Com o módulo 5 (interrupções, capítulo 7), corresponde ao ponto 'Communicating Between Tasks' do currículo NobleProg. O capítulo 5 trata só da comunicação task-to-task; a comunicação entre interrupções e tasks fica para o módulo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queues servem para comunicação task-to-task, task-to-interrupt e interrupt-to-task; este capítulo trata só de task-to-task, e o capítulo 7 das interrupções. Uma queue guarda um número finito de itens de tamanho fixo; o número máximo é o seu length. Length e tamanho do item definem-se na criação. Uso normal: FIFO, escrita no tail e leitura do head. Também é possível escrever à frente e sobrescrever o item da frente. Figura 5.1 do livro, redesenhada: a Task A envia o valor de uma variável local duas vezes (10 e depois 20); a queue guarda cópias dos dois valores; a Task B recebe para outra variável o valor da frente (10), e na queue fica o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Há duas formas de implementar uma queue: por cópia (os dados são copiados byte a byte para dentro da queue) ou por referência (a queue só guarda ponteiros). O FreeRTOS usa cópia porque é mais poderosa e mais simples: não impede usar a queue para referências (basta copiar um ponteiro), permite enviar variáveis da stack, não obriga a alocar um buffer primeiro (por referência, o buffer tinha de continuar a existir depois do envio, por isso não podia ser uma variável local), quem envia pode reutilizar logo a variável (por referência, não lhe podia mexer até o recetor acabar de ler), as tasks ficam desacopladas quanto à posse dos dados, o RTOS trata da memória, e em sistemas com proteção de memória a cópia atravessa as fronteiras de proteção, o que por referência só funciona se as duas tasks tiverem acesso aos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Qualquer task ou ISR que conheça a queue lhe pode aceder; muitos escritores é comum, muitos leitores menos. Leitura: a task pode indicar um block time; se a queue estiver vazia, fica em Blocked até haver dados (passa automaticamente a Ready) ou até expirar o tempo. Escrita: o block time é o tempo máximo à espera de espaço se a queue estiver cheia. Em ambos os casos, se houver várias tasks à espera, só uma é desbloqueada: a de maior prioridade; em empate, a que espera há mais tempo. Uma task só bloqueia numa queue de cada vez; para receber de várias origens, o padrão recomendado é uma só queue de estruturas, como se vê mais à frente.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xQueueCreate(): uxQueueLength é o número máximo de itens; uxItemSize o tamanho de cada item em bytes. Devolve o handle (QueueHandle_t), ou NULL se não houver heap para a estrutura e a área de armazenamento. Cada queue precisa de dois blocos de RAM; xQueueCreateStatic() recebe-os pré-alocados. xQueueReset() devolve uma queue ao estado vazio. xQueueSendToBack() escreve no tail, xQueueSendToFront() no head; xQueueSend() é exatamente xQueueSendToBack(). pvItemToQueue aponta para os dados a copiar: são copiados tantos bytes quanto o tamanho do item. xQueueReceive() lê e remove o item; pvBuffer tem de ter espaço para um item. uxQueueMessagesWaiting() devolve quantos itens estão na queue. Nenhuma destas pode ser chamada numa ISR: há versões FromISR (e uxQueueMessagesWaitingFromISR()).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5.1: uma queue de 5 int32_t; duas instâncias de vSenderTask (prioridade 1) enviam continuamente 100 e 200, passados pelo parâmetro da task, sem block time; a vReceiverTask (prioridade 2) recebe com block time de 100 ms. Como o recetor tem maior prioridade, assim que um valor entra na queue o recetor desbloqueia, preempta o emissor e retira o valor: a queue nunca tem mais de um item. Por isso os emissores não precisam de block time, e o timeout de 100 ms do recetor nunca expira. No código original, o recetor também verifica com uxQueueMessagesWaiting() que a queue está vazia, e imprime erros se o envio ou a receção falharem. O código foi abreviado. A sequência de 5 passos do slide mostra o comportamento (esquema acrescentado, não é figura do livro): o recetor está quase sempre em Blocked com a queue vazia; cada valor que entra acorda-o, e como tem maior prioridade preempta logo o emissor e retira o valor. Os dois emissores, de igual prioridade, alternam entre si por time slicing (a T1 envia várias vezes durante o seu time slice, e só depois do tick entra a T2), por isso o output mostra blocos de 100 seguidos de blocos de 200. Comparar com o slide seguinte, onde as prioridades estão invertidas e a queue anda sempre cheia. No slide, T1 e T2 são as duas instâncias de vSenderTask (a que envia 100 e a que envia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Exemplo 5.2 inverte as prioridades: os emissores (prioridade 2) ficam acima do recetor (prioridade 1), e a queue passa a transportar estruturas Data_t. A queue está normalmente cheia: logo que o recetor retira um item, é preemptado por um emissor, que volta a enchê-la e bloqueia outra vez à espera de espaço. O recetor só corre quando os dois emissores estão bloqueados, ou seja, quando a queue está cheia, por isso não precisa de block time. Sequência da Figura 5.6: o Sender 1 envia 3 itens e bloqueia; o Sender 2 encontra a queue cheia e bloqueia; o recetor retira um item e é preemptado; entre emissores de igual prioridade, corre o que espera há mais tempo (primeiro o Sender 1, depois o Sender 2). Por isso as primeiras quatro mensagens vêm todas do Sender 1. O esquema do slide (redesenho da Figura 5.6) mostra essa sequência: a queue enche logo, e a partir daí sai um item de cada vez, à cadência do recetor, e entra logo outro. Cada item é uma estrutura Data_t com o valor (ucValue) e a origem (eDataSource, eSender1 ou eSender2); a queue é criada com xQueueCreate( 3, sizeof( Data_t ) ). O recetor usa o campo de origem para saber de quem veio cada mensagem. No slide, T1 e T2 são o Sender 1 e o Sender 2 do livro (as duas tasks emissoras).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Padrão de design comum: uma task recebe dados de várias origens e precisa de saber de onde vêm. Solução simples: uma única queue de estruturas com o valor e a origem/significado. Figura 5.4 do livro, redesenhada: a Controller task faz a função principal do sistema e reage a entradas que lhe chegam pela queue. A CAN bus task encapsula a interface CAN: depois de receber e descodificar uma mensagem, envia uma Data_t com eDataID (ex.: velocidade do motor) e lDataValue (o valor). A HMI task encapsula a interface com o operador e envia, por exemplo, um novo set point. Se uma task tiver mesmo de esperar em várias queues que não controla (por exemplo, código de terceiros com as suas próprias queues ou semáforos), existe xQueueCreateSet() (queue sets); o livro desaconselha-os quando é possível usar uma só queue, por serem mais complexos e menos eficientes. Nota: no diagrama as setas saem das tasks para a queue e da queue para o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dados grandes, é preferível usar a queue para transferir ponteiros em vez de copiar os dados byte a byte: poupa tempo de processamento e RAM da queue. Cuidados: o dono da memória tem de estar bem definido (idealmente só o emissor acede antes do envio e só o recetor depois), a memória tem de continuar válida (se foi alocada dinamicamente ou vem de um pool, exatamente uma task a liberta e ninguém lhe acede depois), e nunca se deve apontar para dados na stack de uma task. Listings 5.13 a 5.15: queue de 5 ponteiros char *; o emissor obtém um buffer (prvGetBuffer não é mostrado; pode vir de um pool ou de alocação dinâmica), escreve uma string e envia o endereço; o recetor imprime e liberta o buffer com prvReleaseBuffer. Combinando estruturas e ponteiros, uma só queue recebe qualquer tipo de dados de qualquer origem: o FreeRTOS+TCP usa uma estrutura IPStackEvent_t com eEventType e um void *pvData, que pode conter um valor ou apontar para um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Não há consenso sobre o termo mailbox; no livro é uma queue de comprimento 1, diferente pelo uso e não pela funcionalidade. Numa queue os dados passam do emissor para o recetor; numa mailbox os dados ficam até serem sobrescritos, e o recetor lê sem remover. xQueueOverwrite(): como xQueueSendToBack(), mas se a queue estiver cheia sobrescreve; só pode ser usada com queues de comprimento 1 (com configASSERT definido, há assert se o comprimento for maior); devolve sempre pdPASS. xQueuePeek(): recebe o item da frente sem o remover nem alterar a ordem. No exemplo do livro, a estrutura Example_t tem um timestamp (xTaskGetTickCount) para o leitor saber se o valor mudou desde a última leitura. Uso típico (exemplo do slide, fora do livro): o último valor medido; uma task de sensor faz xQueueOverwrite() da temperatura a cada 100 ms, e as tasks de display, log ou controlo fazem xQueuePeek() quando precisam, sempre com o valor mais recente e sem o retirar. Nas ISRs usam-se xQueueOverwriteFromISR() e xQueuePeekFromISR().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as queues copiam os dados, têm comprimento e tamanho de item fixos, e as tasks bloqueiam a ler de queues vazias ou a escrever em queues cheias; as prioridades determinam se a queue anda vazia ou cheia; estruturas para várias origens, ponteiros para dados grandes (com cuidado com a posse da memória), mailbox com overwrite e peek.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Sessão prática 1. A parte conceptual segue o capítulo 2 do livro (The FreeRTOS Kernel Distribution). A placa é uma Raspberry Pi Pico 2 (RP2350) a correr nos cores Hazard3 RISC-V, com o pico-sdk, a extensão Raspberry Pi Pico para VS Code e um SEGGER J-Link para programar e fazer debug. O kernel vem do fork da Raspberry Pi (github.com/raspberrypi/FreeRTOS-Kernel), que tem o port RP2350_RISC-V; o kernel oficial não tem este port. Os passos concretos, os nomes de menus, os pinos e os valores do FreeRTOSConfig.h não vêm do livro: vêm da documentação da Raspberry Pi, dos exemplos oficiais pico-examples/freertos e da SEGGER, e devem ser confirmados nas versões instaladas antes da sessão.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Objetivos da sessão. A ordem segue o procedimento do livro para criar um projeto de raiz (secção 2.4.2): primeiro um projeto que compila, programa a placa e corre sem RTOS; só depois se acrescenta o FreeRTOS. Convém que os formandos instalem antes da sessão o VS Code, a extensão Raspberry Pi Pico (que descarrega o pico-sdk e a toolchain RISC-V na primeira utilização) e o J-Link Software da SEGGER, porque os downloads demoram. Antes da sessão, confirmar que os passos batem com as versões instaladas do pico-sdk, da extensão, do FreeRTOS-Kernel e do J-Link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ferramentas; não vem do livro. A extensão Raspberry Pi Pico (marketplace do VS Code, ID raspberry-pi.raspberry-pi-pico; procurar pelo ID para evitar extensões de terceiros com nomes parecidos) cria projetos com o pico-sdk; no New Project escolhe-se a placa Pico 2 e a arquitetura RISC-V, e a extensão descarrega a toolchain RISC-V da Raspberry Pi (na versão 2.3.x do SDK chama-se RISCV_PICO_2_3_x). O RP2350 tem dois cores Arm Cortex-M33 e dois cores Hazard3 RISC-V; a arquitetura em que arranca depende do binário. A SEGGER suporta o RP2350 nos cores RISC-V com os nomes de dispositivo RP2350_RV32_0 e RP2350_RV32_1 (SEGGER Knowledge Base). O conector de debug da Pico 2 tem SWCLK, GND e SWDIO; o J-Link mede a tensão do alvo no pino VTref, que tem de ir ao 3V3. A Cortex-Debug liga o VS Code ao J-Link GDB Server; a extensão RTOS Views (mcu-debug) mostra as tasks do FreeRTOS. O suporte de thread awareness do plugin FreeRTOS do próprio J-Link está documentado para Cortex-M; em RISC-V, confirmar. Na Pico 2 W o LED da placa está ligado ao chip Wi-Fi (CYW43) e não a um GPIO, por isso usa-se um LED externo no GP1 com uma resistência de ~330 Ω para o GND. O botão externo no GP0 é para as sessões 3 e 4, porque o botão da Pico 2 é o BOOTSEL. Fixar a versão do SDK e o commit do kernel para todos terem o mesmo código.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port é cada combinação suportada de compilador e processador. O FreeRTOS é fornecido como ficheiros C, uns comuns a todos os ports e outros específicos de cada port; compilá-los com o projeto disponibiliza a API. Cada port oficial tem uma demo de referência que compila de início sem erros nem avisos. As bibliotecas individuais, incluindo o kernel, têm cada uma o seu repositório no GitHub; o livro recomenda a distribuição principal para começar, porque tem as bibliotecas e os exemplos. Nesta formação o kernel vem do fork da Raspberry Pi (github.com/raspberrypi/FreeRTOS-Kernel): é o que os exemplos oficiais do pico-sdk (pico-examples/freertos) usam, e tem os ports RP2040, RP2350_ARM_NTZ e RP2350_RISC-V em portable/ThirdParty/GCC. O kernel oficial não tem o port do RP2350 em RISC-V. O fork está parado: o último commit (31 de julho de 2024, 'Add two RP2350 ports') deixou-o na versão V11.1.0+, e desde então não acompanhou o kernel oficial, que continuou a receber correções e versões novas. Consequências: fixar o commit usado para todos os formandos terem o mesmo código; num produto, avaliar se as correções posteriores do kernel oficial são relevantes e, se necessário, aplicá-las ou acompanhar se a Raspberry Pi volta a sincronizar o fork (ou se o port entra no kernel oficial). Confirmar o estado do repositório antes da formação. A distribuição principal continua a ser a referência para as demos e para as standard demo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Ficheiros comuns a todos os ports: tasks.c e list.c são sempre necessários; queue.c (queues e semáforos) quase sempre; timers.c só com software timers; event_groups.c só com event groups; stream_buffer.c só com stream ou message buffers; croutine.c implementa co-routines, que já não são mantidas nem recomendadas. Ficheiros específicos do port: o port RP2350_RISC-V da Raspberry Pi está em portable/ThirdParty/GCC/RP2350_RISC-V (port.c, portASM.S e os headers em include/). O heap faz parte da portable layer: com alocação dinâmica, um só heap_n.c de portable/MemMang (livro: nunca mais do que um). Com o pico-sdk não se escolhem os ficheiros à mão: o CMakeLists.txt do port cria bibliotecas INTERFACE (FreeRTOS-Kernel, FreeRTOS-Kernel-Heap1 a Heap5, FreeRTOS-Kernel-Static) e a aplicação liga-se a uma delas. Alternativa (nota minha, fora do livro): o port RP2350_RISC-V também foi enviado para o kernel oficial, no submódulo FreeRTOS-Kernel-Community-Supported-Ports (portable/ThirdParty/Community-Supported-Ports/GCC); exige clonar com submódulos e um FreeRTOS_Kernel_import.cmake recente. Usamos o fork da Raspberry Pi porque é o que o pico-examples usa. O port é SMP (pode usar os dois cores); nesta formação corremos num só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FreeRTOS precisa de três diretórios no include path do compilador: os headers do kernel (include/ no FreeRTOS-Kernel), o diretório do port em uso, e o diretório com o FreeRTOSConfig.h certo. Com o pico-sdk, as bibliotecas INTERFACE do port acrescentam os dois primeiros; o terceiro é a aplicação que o acrescenta (passo 2). Um ficheiro que usa a API inclui FreeRTOS.h e depois o header com o protótipo da função: task.h, queue.h, semphr.h, timers.h, event_groups.h, stream_buffer.h, message_buffer.h ou croutine.h. Não incluir explicitamente outros headers do FreeRTOS; o FreeRTOS.h inclui o FreeRTOSConfig.h.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Livro, secção 2.2.3: as constantes do FreeRTOSConfig.h configuram o kernel. Não incluir o FreeRTOSConfig.h diretamente, mas o FreeRTOS.h. Deve ficar num diretório da aplicação e recomenda-se partir do da demo do port em uso; para o RP2350, os exemplos oficiais pico-examples/freertos têm um FreeRTOSConfig_examples_common.h. Os valores do slide são uma proposta para esta sessão (fora do livro): um só core (o port RP2350_RISC-V é SMP; o exemplo oficial usa 2 por omissão); tick de 1 kHz; configMINIMAL_STACK_SIZE de 512 words como no exemplo oficial; heap de 64 KB (o RP2350 tem 520 KB de SRAM; o exemplo usa 128 KB); hooks de malloc e stack overflow ligados; software timers já ligados (o port não os exige, mas a sessão prática 3 usa-os); configCHECK_FOR_STACK_OVERFLOW = 2, o método mais completo (secção 13.3); configSUPPORT_PICO_SYNC_INTEROP e configSUPPORT_PICO_TIME_INTEROP (não estão no slide; o exemplo oficial liga-as) deixam as primitivas do pico-sdk (mutexes, sleep_ms) cooperar com o FreeRTOS. O configASSERT usa o assert() da biblioteca C, como no exemplo oficial: atenção, um build Release define NDEBUG e desliga-o. Não há configCPU_CLOCK_HZ nem prioridades de interrupção: este port calcula o tick com clock_get_hz() e não usa configMAX_SYSCALL_INTERRUPT_PRIORITY (passo 3). Sobre a caixa 'Não usados neste port': o configMAX_SYSCALL_INTERRUPT_PRIORITY é a opção que mais erros dá nos Cortex-M (módulo 5: nesting, nota Cortex-M e tabela RISC-V; módulo 8: prioridades de interrupção). Curiosidade: o FreeRTOSConfig_examples_common.h define-o a 16 para PICO_RP2350, mas só o port ARM (RP2350_ARM_NTZ) o usa; o RISC-V ignora-o. Outras opções que o ficheiro dos pico-examples já traz, para ir apontando quando cada tema aparece. Módulo 3: configMAX_PRIORITIES (32 no exemplo, 8 aqui), configUSE_TIME_SLICING, configIDLE_SHOULD_YIELD, configUSE_IDLE_HOOK e configUSE_TICK_HOOK, INCLUDE_vTaskDelete, INCLUDE_vTaskSuspend (necessário para o portMAX_DELAY esperar sem limite), INCLUDE_xTaskDelayUntil. Módulos 5 e 6: configUSE_MUTEXES, configUSE_RECURSIVE_MUTEXES, configUSE_COUNTING_SEMAPHORES, INCLUDE_xTimerPendFunctionCall. Módulo 7: configUSE_TIMERS (1 no exemplo e aqui), configTIMER_TASK_PRIORITY (configMAX_PRIORITIES − 1), configTIMER_QUEUE_LENGTH, configTIMER_TASK_STACK_DEPTH. Módulo 8: configQUEUE_REGISTRY_SIZE (nomes das queues no debugger), configUSE_TRACE_FACILITY, configGENERATE_RUN_TIME_STATS, configUSE_STATS_FORMATTING_FUNCTIONS; atenção que o exemplo tem configCHECK_FOR_STACK_OVERFLOW = 0 e configUSE_MALLOC_FAILED_HOOK = 0, e aqui ficam ligados de propósito. Próprias da Pico: configSUPPORT_PICO_SYNC_INTEROP e configSUPPORT_PICO_TIME_INTEROP, e as de SMP (configTICK_CORE, configRUN_MULTIPLE_PRIORITIES, configUSE_CORE_AFFINITY), que só contam com mais de um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2.5 do livro. Cada port tem um portmacro.h com TickType_t e BaseType_t. TickType_t guarda o tick count e especifica tempos; pode ser de 16, 32 ou 64 bits conforme configTICK_TYPE_WIDTH_IN_BITS (que substitui o antigo configUSE_16_BIT_TICKS). BaseType_t é o tipo mais eficiente da arquitetura (32 bits num RV32 como o Hazard3). Nomes de variáveis com prefixo do tipo: c char, s int16_t, l int32_t, x BaseType_t e tipos não standard (estruturas, handles), u para unsigned, p para ponteiro. Funções com prefixo do tipo devolvido e do ficheiro onde estão definidas; prv para funções privadas ao ficheiro. Macros em maiúsculas com prefixo minúsculo do ficheiro. A API de semáforos é quase toda feita de macros, mas segue a convenção das funções. O código-fonte tem mais casts do que o normal porque compila com muitos compiladores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2.4 do livro: há dois caminhos. Adaptar uma demo (recomendado pelo livro, porque garante os ficheiros certos, os handlers de interrupção instalados e as opções de compilação certas) ou criar um projeto de raiz: projeto sem FreeRTOS a funcionar, depois ficheiros do kernel, FreeRTOSConfig.h da demo do port, include paths, opções de compilação e handlers de interrupção. Na Pico 2 com o pico-sdk a distinção esbate-se, e fazemos um híbrido (a justificação é minha, não do livro): o projeto de raiz é criado pela extensão Pico e já compila e corre (passo 1); o FreeRTOS_Kernel_import.cmake é incluído diretamente da pasta do port e o FreeRTOSConfig.h parte do exemplo oficial pico-examples/freertos, como se se adaptasse a demo (passo 2); e os passos que no livro são delicados, as opções de compilação e a instalação dos handlers de interrupção, ficam resolvidos pelo CMake do port (bibliotecas INTERFACE) e pelo próprio port RP2350_RISC-V, que instala os handlers em run time com a API de IRQs do pico-sdk (passo 3). Não se começa diretamente do hello_freertos porque vive dentro da árvore do pico-examples, que compila todos os exemplos; usa-se como referência para comparar quando algo não compila ou não arranca.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 1, que corresponde aos passos 1 e 2 do livro para um projeto de raiz: criar o projeto sem FreeRTOS e confirmar que compila, programa e corre. Os detalhes são da extensão Raspberry Pi Pico, não do livro, e os nomes podem variar entre versões. No painel New Project escolhe-se a placa Pico 2 W e, em Architecture (Pico 2), a opção RISC-V; a extensão escreve PICO_PLATFORM = rp2350-riscv e usa a toolchain RISC-V. Mais tarde, o comando Switch Board permite trocar de placa ou de arquitetura. Na Pico 2 W o LED da placa está ligado ao chip Wi-Fi (CYW43), não a um GPIO do RP2350: PICO_DEFAULT_LED_PIN não existe e acendê-lo exigiria a pico_cyw43_arch. Por isso usamos um LED externo no GP1, com uma resistência de ~330 Ω para o GND, e LED_PIN definido no main.c (mantém-se nos passos seguintes). O bootrom do RP2350 escolhe a arquitetura a partir do binário (metadados IMAGE_DEF); confirmar no datasheet do RP2350, secção do bootrom. O ficheiro gerado tem o nome do projeto (ex.: MeuProjeto.c) e um main() de exemplo; substitui-se pelo código do slide (ou renomeia-se para main.c e atualiza-se o add_executable do CMakeLists.txt). Programar sem debugger: carregar no BOOTSEL ao ligar o USB e arrastar o .uf2 para a unidade que aparece. Com o J-Link, o debugger do passo 5 grava a flash.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 2, correspondente aos passos 3 a 5 do livro: acrescentar os ficheiros do kernel, o FreeRTOSConfig.h e os include paths. Com o pico-sdk isto faz-se como nos exemplos oficiais (pico-examples/freertos): clonar github.com/raspberrypi/FreeRTOS-Kernel uma só vez, na pasta de trabalho, ao lado dos projetos (num commit fixo); assim o mesmo kernel serve os projetos das quatro sessões práticas. Cuidado com as maiúsculas: o nome da pasta tem de bater certo com o caminho no CMake (FreeRTOS-Kernel). O FreeRTOS_Kernel_import.cmake não se copia: o CMakeLists.txt inclui-o diretamente da pasta do port (${FREERTOS_KERNEL_PATH}/portable/ThirdParty/GCC/RP2350_RISC-V), por isso vem sempre do mesmo commit do kernel e não é preciso o pico-examples. A variável FREERTOS_PORT_PATH só serve para o caminho caber numa linha. Confirmar antes da sessão que o ficheiro existe nessa pasta no commit usado; se não existir, copiar o de pico-examples/freertos/FreeRTOS_Kernel_import.cmake (genérico: escolhe o port pela plataforma) para o projeto e fazer include( FreeRTOS_Kernel_import.cmake ). Definimos FREERTOS_KERNEL_PATH explicitamente (${CMAKE_CURRENT_LIST_DIR}/../FreeRTOS-Kernel, um nível acima do projeto), antes do include, para o import não ter de adivinhar onde está o kernel (com o import incluído da sua pasta original nem seria obrigatório, mas deixa explícito onde está o kernel). Sem ela, o import procura o kernel em FREERTOS_KERNEL_PATH (variável CMake ou de ambiente), ao lado do pico-sdk, ou numa pasta FreeRTOS-Kernel dentro do projeto, e escolhe o port pela plataforma: rp2350-riscv leva a portable/ThirdParty/GCC/RP2350_RISC-V. Desde o SDK 1.3.1 pode ser incluído depois de pico_sdk_init(). O CMake do port cria as bibliotecas FreeRTOS-Kernel, FreeRTOS-Kernel-Heap1 a Heap5 e FreeRTOS-Kernel-Static; ligar a FreeRTOS-Kernel-Heap4 escolhe o heap_4 (módulo 2). O FreeRTOSConfig.h é encontrado pelo include path do próprio executável, como no exemplo oficial. ${PROJECT_NAME} é o nome do executável na estrutura gerada pela extensão; confirmar no CMakeLists.txt gerado.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 3, correspondente ao último passo do livro: instalar os handlers de interrupção do FreeRTOS. Quem arranca o scheduler somos nós, no main(), com vTaskStartScheduler(); essa função cria a idle task (e a timer task) e chama xPortStartScheduler(), que é do port. É aí que o port RP2350_RISC-V configura o tick e instala os handlers, antes de pôr a primeira task a correr (xPortStartFirstTask). vPortSetupTimerInterrupt() não é um handler: é a função de configuração do tick. Programa o machine timer do SIO (o bloco Single-cycle IO do RP2350, ligado diretamente aos cores; além do GPIO rápido, dos spinlocks e das FIFOs entre cores, tem no RP2350 o RISC-V platform timer mtime/mtimecmp) para interromper a cada tick; a frequência vem de clock_get_hz(clk_sys), por isso não há configCPU_CLOCK_HZ. Regista o handler freertos_risc_v_mtimer_interrupt_handler com irq_set_exclusive_handler(); a cada tick, esse handler reprograma o mtimecmp, chama xTaskIncrementTick() e, se alguma task acordou, vTaskSwitchContext(). Os handlers que num Cortex-M se ligam à mão ao vetor (SysTick, PendSV, SVC) são aqui três, todos instalados pelo port: o do tick (freertos_risc_v_mtimer_interrupt_handler, equivalente ao SysTick); o de exceções (freertos_risc_v_trap_handler, no vetor RISCV_VEC_MACHINE_EXCEPTION), que trata o ecall usado por portYIELD() e faz a troca de task, equivalente ao PendSV/SVC; e o de interrupções externas (freertos_risc_v_interrupt_handler, no vetor RISCV_VEC_MACHINE_EXTERNAL_IRQ), por onde passam todas as IRQs do pico-sdk: guarda o contexto, chama a ISR da aplicação e, se esta pedir portYIELD_FROM_ISR, troca de task à saída. Os dois últimos são instalados por vPortInstallVectorTableHandlers() com irq_set_riscv_vector_handler(). Em SMP há ainda uma doorbell IRQ para pedir trocas entre cores (não com 1 core). As secções críticas usam save_and_disable_interrupts(): desligam todas as interrupções; o README do port diz que a preempção de IRQs no Hazard3 não é suportada (sem nesting). Por isso não há bloco de prioridades no FreeRTOSConfig.h, e qualquer ISR pode usar as funções FromISR. Excerto simplificado; código completo em portable/ThirdParty/GCC/RP2350_RISC-V/port.c e portASM.S do fork da Raspberry Pi.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Primeiro programa no estilo 'blinky' que, segundo o livro, muitas demos podem gerar: duas tasks e uma queue. A vSenderTask acorda a cada 500 ms com vTaskDelayUntil (período fixo, módulo 3) e envia um contador para a queue, sem block time. A vLedTask, de prioridade mais alta, bloqueia na queue sem timeout e troca o LED sempre que chega um valor; como no Exemplo 5.1, a queue nunca tem mais de um item. Com portMAX_DELAY (e INCLUDE_vTaskSuspend = 1, o valor por omissão), xQueueReceive() só retorna com dados, por isso não se verifica o retorno; em produção, preferir um timeout (módulo 4). gpio_xor_mask() é a função do pico-sdk que troca o estado dos pinos da máscara; LED_PIN é o GP1 (LED externo), definido no main.c do passo 1. O código é deste curso, não do livro.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main() segue o Listing 2.1 do livro: preparar o hardware (aqui com o pico-sdk: stdio_init_all para o RTT do passo 5, e o GPIO do LED externo, LED_PIN = GP1, definido no passo 1), criar as tasks e os objetos, e arrancar o scheduler; se vTaskStartScheduler() retornar, faltou heap para criar a idle task (e a daemon task, se houver timers). As stacks de 256 words (1 KB) são generosas; o exercício 06 usa o high water mark para as reduzir. O exemplo oficial usa configMINIMAL_STACK_SIZE = 512 words; stacks maiores podem ser precisas se as tasks usarem printf. Dentro de tasks, usar vTaskDelay em vez de sleep_ms: com configSUPPORT_PICO_TIME_INTEROP o sleep_ms coopera com o FreeRTOS, mas o vTaskDelay é o que o livro ensina.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configUSE_MALLOC_FAILED_HOOK = 1 e configCHECK_FOR_STACK_OVERFLOW = 2, a aplicação tem de definir vApplicationMallocFailedHook() e vApplicationStackOverflowHook(); sem elas, o link falha com 'undefined reference'. As implementações do slide são as mínimas para debug: param tudo num loop para ver no debugger qual task transbordou. O protótipo do stack overflow hook é o do task.h atual (módulo 8). Mensagens: o pico-sdk tem suporte para stdio por SEGGER RTT (pico_stdio_rtt), ativado no CMake com pico_enable_stdio_rtt. Onde pôr as três linhas: no CMakeLists.txt do projeto, depois do add_executable( ${PROJECT_NAME} … ), porque recebem o target e ele já tem de existir; o CMakeLists.txt gerado pela extensão Pico já traz as linhas pico_enable_stdio_uart e pico_enable_stdio_usb, por isso basta mudar os valores e acrescentar a do RTT ao pé delas. No main() continua a ser preciso stdio_init_all(). Com o RTT ligado, o printf passa a escrever num buffer em RAM que o J-Link lê sem parar o CPU. Ver com o J-Link RTT Viewer da SEGGER; a Cortex-Debug também tem consola RTT para J-Link (propriedade rttConfig; confirmar). A Pico 2 também pode usar stdio por USB, mas a ligação USB tende a cair quando o debugger pára o CPU num breakpoint; o RTT não tem esse problema.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extensão Pico gera um launch.json para OpenOCD e a Debug Probe da Raspberry Pi; para o J-Link acrescenta-se uma configuração da Cortex-Debug com servertype jlink e o dispositivo RP2350_RV32_0 (core 0 RISC-V, nome da SEGGER Knowledge Base). executable e gdbPath usam os comandos da extensão Pico, como no launch.json que ela gera (o gdbPath aponta para o GDB da toolchain RISC-V). O J-Link GDB Server tem de estar instalado (J-Link Software). A Cortex-Debug foi feita para Cortex-M: o debug básico (breakpoints, stepping, variáveis) funciona com qualquer GDB, mas as vistas de periféricos e o SWO são específicos de ARM; confirmar a configuração na versão instalada. A vista das tasks do FreeRTOS: a extensão RTOS Views (mcu-debug) lê as estruturas do kernel pela sessão de debug; o plugin de thread awareness do próprio J-Link está documentado pela SEGGER só para Cortex-M. Toggle a cada 500 ms = LED a piscar a 1 Hz.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de erros frequentes nesta integração; é baseada nos ficheiros oficiais (FreeRTOS_Kernel_import.cmake, CMake do port), na documentação da SEGGER e no capítulo 13 do livro, não numa lista do livro. 'FreeRTOS location was not specified' é a mensagem do FreeRTOS_Kernel_import.cmake quando não encontra o kernel. O import escolhe o port pela plataforma: se PICO_PLATFORM for rp2350 (Arm), usa RP2350_ARM_NTZ. Hooks em falta: cada hook ativado no config tem de existir. vTaskStartScheduler() a retornar: o sintoma 13.5.1 do livro. J-Link sem ligação: o J-Link precisa de medir a tensão do alvo em VTref; confirmar também a versão do J-Link Software e o nome do dispositivo. assert() e NDEBUG: comportamento normal da biblioteca C; o configASSERT do exemplo oficial usa assert(). RTT: o viewer procura o bloco de controlo na RAM; se não o encontrar, indicar o endereço do símbolo _SEGGER_RTT.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Exercícios propostos, para ligar o projeto base aos módulos teóricos. Esta sessão acontece depois do módulo 4, por isso estão em dois grupos. Agora (matéria já dada): 01 botão e segunda queue (módulo 4; precisa de hardware extra, um botão entre o GP0 e o GND, com o pull-up interno ativo); 02 funções de heap (módulo 2); 03 efeito das prioridades numa queue (Exemplos 5.1 e 5.2, módulo 4). Trabalho futuro (matéria dos módulos seguintes; voltar a este projeto depois de cada módulo): 04 interrupções com a API FromISR (módulo 5; usa o mesmo botão; o callback de GPIO do pico-sdk corre no contexto da interrupção e neste port não há prioridades a acertar); 05 software timers (módulo 7); 06 stack high water mark (módulo 8). O botão da Pico 2 (BOOTSEL) não serve: está ligado à flash e não a um GPIO. São propostas deste curso, não do livro. Antes da sessão, confirmar os passos com as versões instaladas.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o que é um port, que ficheiros entram, os include paths, o FreeRTOSConfig.h na aplicação, o port RP2350_RISC-V (tick pelo machine timer, handlers instalados pelo port, sem nesting de interrupções), o J-Link com RTT, e os hooks. A frase-título resume o procedimento do livro para projetos de raiz: só acrescentar o FreeRTOS depois de ter um projeto que compila, programa e corre.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sessão prática, EXTRA: faz-se se houver tempo no dia 1. É sobre multitasking, preempção e prioridades. Os exercícios adaptam os exemplos oficiais do livro (projeto Win32-simulator-MSVC do repositório FreeRTOS-Kernel-Book, Examples 001 a 009, que correspondem aos Exemplos 4.1 a 4.9 do capítulo 4) a uma Raspberry Pi Pico 2 nos cores RISC-V. No simulador Windows o output vem por printf; na placa vê-se o comportamento com contadores no debugger e com um pino de GPIO por task. Pressupõe o projeto base da sessão prática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à pergunta 'há algo assim nos exemplos oficiais?': sim. O repositório do livro (github.com/FreeRTOS/FreeRTOS-Kernel-Book) tem em examples/Win32-simulator-MSVC um projeto Visual Studio com os exemplos 001 a 026; os 001 a 009 são exatamente os exemplos 4.1 a 4.9 do capítulo 4, sobre criação de tasks, prioridades, estados, delays, idle hook, mudança de prioridade e apagar tasks. Correm no port Windows do FreeRTOS e mostram o comportamento por printf. Leitura avançada (fora da sessão): na distribuição principal, as 'common demo tasks' de FreeRTOS/Demo/Common/Minimal servem para testar ports: dynamic.c muda prioridades dinamicamente e suspende tasks para garantir exclusão mútua; GenQTest.c inclui testes de herança de prioridade com mutexes. A tabela usa a numeração do livro; a coluna Exercício diz em que exercício desta sessão cada exemplo aparece (o 4.2 é o código base; o 4.5 aparece como variante no exercício 3). O exercício 6 não vem de um exemplo numerado: usa a secção 4.12 (configUSE_TIME_SLICING e configUSE_PREEMPTION) e compara com as Figuras 4.21 e 4.22. Na sessão prática só se portam os exemplos 4.1 a 4.8; o 4.9 (vTaskDelete) não tem exercício próprio e fica como leitura, porque apagar tasks é pouco usado num sistema embebido simples. O link no topo do slide é o repositório oficial do livro: tem o texto (Markdown), o PDF nas releases e os exemplos. São boas leituras avançadas, mas mais difíceis de observar do que os exemplos do livro.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Três formas de observar, da mais simples à mais completa. Contadores: variáveis globais volatile, uma por task, vistas no debugger (no VS Code com a Cortex-Debug: a vista Watch com o CPU parado, ou o Live Watch, que lê as variáveis sem parar o CPU; confirmar que o Live Watch funciona com o J-Link na versão instalada). Pinos: com os trace hooks do módulo 8 (traceTASK_SWITCHED_IN/OUT) e a task tag de cada task, cada task liga o seu pino quando entra em Running e desliga quando sai; um analisador lógico USB de 8 canais basta, e a imagem é diretamente comparável às figuras do livro. Run-time stats: configuração do módulo 8; útil para confirmar percentagens. O printf() é desaconselhado aqui porque altera o timing, e o capítulo 13 aponta-o como uma fonte comum de erros (secção 13.4). No simulador Windows do livro, o próprio printf faz com que cada task escreva uma vez por vez, o que o livro diz ser um cenário artificial.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Técnica baseada nos trace hook macros (capítulo 12, módulo 8) e na task tag (configUSE_APPLICATION_TASK_TAG, vTaskSetApplicationTaskTag). Dentro de tasks.c, onde os macros são expandidos, pxCurrentTCB aponta para a task em Running e o campo pxTaskTag guarda a tag; aqui a tag é usada como máscara do pino. Os registos gpio_set e gpio_clr do SIO mudam só os bits da máscara, de forma atómica, sem read-modify-write, e são rápidos porque o SIO está ligado diretamente ao core. As funções vTraceIn/vTraceOut correm dentro da troca de contexto: têm de ser muito curtas e não podem chamar a API. A idle task não pode definir a sua própria tag, por isso outra task fá-lo com xTaskGetIdleTaskHandle(), depois de vTaskStartScheduler() (é aí que a idle é criada; antes disso o handle ainda não existe) (requer INCLUDE_xTaskGetIdleTaskHandle = 1). Os pinos sugeridos (GP2 a GP6) são GPIO livres da Pico 2; configurá-los como saídas com gpio_init e gpio_set_dir antes de arrancar o scheduler. Com configNUMBER_OF_CORES = 1, o port RP2350_RISC-V usa o pxCurrentTCB normal do tasks.c; com dois cores isto não funciona assim. Código deste curso; confirmar que compila na versão do kernel usada.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Código base para os exercícios, adaptado dos exemplos 4.1 e 4.2 do livro (faz o papel do vTask1 / vTask2): uma única função de task, várias instâncias, e o parâmetro a indicar a cada uma o seu contador e o seu pino. O contador é volatile para o compilador não o otimizar. As estruturas são static globais, não variáveis na stack do main(), pela razão do Exemplo 4.2. Nos exercícios, basta mudar as prioridades, trocar o corpo do loop, ou acrescentar tasks. Código deste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4.1 do livro na placa. Com prioridades iguais e as duas sempre prontas, o scheduler alterna entre elas a cada tick (time slicing, secção 4.6); na Figura 4.3 cada intervalo entre t1 e t2 é um time slice. A idle task (prioridade 0) nunca corre porque há sempre tasks de prioridade 1 prontas. No livro, a nota de rodapé explica que no simulador Windows cada task imprime uma vez por vez por causa do printf, e que num alvo real cada task pode fazer muito trabalho antes de ser trocada; aqui vê-se isso diretamente.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4.3: o scheduler escolhe sempre a task de maior prioridade que pode correr; como T2 nunca bloqueia, T1 nunca entra em Running (Figuras 4.5 e 4.6). Conclusão do livro: tasks de processamento contínuo só são úteis na prioridade mais baixa. Pergunta para a sala: o que acontece à idle task, e que consequência teria se houvesse tasks apagadas à espera de limpeza?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Exemplos 4.4 e 4.7. Com vTaskDelay(), cada task passa quase todo o tempo em Blocked, sem gastar CPU; as duas correm apesar das prioridades diferentes (Figuras 4.8 e 4.9). No resto do tempo corre a idle task, e o idle hook conta as iterações: o livro chega a cerca de 4 milhões de iterações entre execuções das tasks no simulador. Aqui o contador de cada task conta ciclos (um por 10 ms), não trabalho. Alternativa: trocar vTaskDelay() por vTaskDelayUntil() (Exemplo 4.5) e medir a regularidade do período nos pinos.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4.6: duas tasks contínuas de prioridade 1 e uma periódica de prioridade 2 com vTaskDelayUntil() de 3 ms (Figuras 4.11 e 4.12). A periódica preempta as contínuas sempre que acorda, independentemente do time slice em curso. No analisador vê-se o pino de T3 como um pulso curto a cada 3 ms, e a latência entre o tick e o início de T3 (o tempo do tick interrupt e da troca de contexto). Variante: pôr T3 também a prioridade 1 e ver que deixa de ser servida a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4.8: as tasks nunca bloqueiam e alternam só por mudanças de prioridade (Figura 4.14). T1 sobe T2 acima de si e T2 corre logo; T2 baixa-se para abaixo de T1 e T1 volta a correr. Mostra que a preempção não acontece só no tick: acontece dentro da própria chamada à API. Requer INCLUDE_vTaskPrioritySet e INCLUDE_uxTaskPriorityGet = 1. No livro, o código imprime mensagens antes de cada mudança; aqui os contadores substituem as mensagens. O busy_wait_ms( 200 ) (pico-sdk) só abranda a alternância para se ver no LED ou no analisador: a task continua em Running, ao contrário de vTaskDelay(), que a poria em Blocked e deixaria correr a outra ou a idle, estragando o exemplo. Sem ele, os pinos alternam em microssegundos, muito mais depressa do que o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Exercício sobre a secção 4.12 do livro (módulo 3). Sem time slicing, o scheduler só troca quando uma task de maior prioridade fica Ready ou quando a task em Running bloqueia ou é suspensa; com tasks contínuas da mesma prioridade, uma pode ficar com o CPU indefinidamente (Figura 4.21 mostra tempos muito desiguais). Com o scheduler cooperativo, uma task de maior prioridade que fica Ready só corre quando a task em Running bloqueia ou chama taskYIELD() (Figura 4.22); tasks contínuas sem taskYIELD() nunca cedem. As previsões da tabela resultam do texto do livro; confirmar na placa. Nota: o idle hook e configIDLE_SHOULD_YIELD também afetam o que se vê quando há tasks de prioridade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Respostas de referência, do capítulo 4. 1: uma task contínua de prioridade maior impede todas as de prioridade menor de correr; tem de ser event-driven. 2: round robin garante só que tasks de igual prioridade entram em Running à vez, não tempo igual; o tick, a idle e as interrupções também contam. 3: o tempo que sobra para a idle é a capacidade de processamento livre do sistema; é margem para crescer e pode ser usado para baixo consumo. 4: não; também quando uma chamada à API ou uma interrupção põe em Ready uma task de maior prioridade (exercícios 4 e 5). 5: sem time slicing há menos trocas e menos overhead, mas tempos muito desiguais entre tasks iguais; sem preempção, as respostas ficam mais lentas e dependem de as tasks cederem.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comparando o que os formandos observaram (contadores no debugger, pinos no analisador lógico, se houver, ou run-time stats) com as figuras do capítulo 4. A frase-título resume a política de scheduling do FreeRTOS (secção 4.5 e 4.12).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Retomar o plano no início do dia 2. Ontem: módulos 1 a 4 e as práticas 1 e 2 (a 2 é extra). Hoje de manhã: interrupções (módulo 5), recursos partilhados com mutexes e semáforos (módulo 6), software timers (módulo 7) e troubleshooting e debug (módulo 8). À tarde: prática 3, que aplica estes quatro temas com os exemplos oficiais do livro, e a prática 4, extra, para quem quiser aprofundar. O dia 1 aparece esbatido para o foco ficar no dia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5, capítulo 7 do livro: a comunicação entre interrupções e tasks. Usa as queues do módulo 4. O capítulo 6 (software timers) fica para o módulo 7, mas a daemon task aparece aqui no processamento adiado.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sistemas embebidos de tempo real reagem a eventos com origens diferentes, custos de processamento diferentes e requisitos de tempo de resposta diferentes. Decisões para cada evento: como detetar (interrupções, ou polling), quanto processar dentro da ISR e quanto fora (normalmente a ISR deve ser curta), e como comunicar o evento ao código principal. O FreeRTOS não impõe uma estratégia, mas fornece mecanismos para a implementar de forma simples. Distinção essencial: a prioridade de uma task é atribuída em software e é o scheduler que decide; uma ISR, embora escrita em software, é uma funcionalidade de hardware, porque é o hardware que decide quando corre. As tasks só correm quando não há ISRs a correr.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Muitas funções da API não são válidas numa ISR; a mais notável é pôr em Blocked a task que chamou, o que não faz sentido numa ISR. O FreeRTOS resolve isto com duas versões de algumas funções; as de ISR terminam em FromISR. Uma API única obrigaria cada função a ter lógica extra para detetar o contexto (mais caminhos, mais difícil de testar), teria parâmetros inúteis num dos contextos, e cada port teria de detetar o contexto, o que em algumas arquiteturas exige código de entrada nas interrupções mais complexo e não standard. Desvantagem: código de terceiros que usa a API tanto de tasks como de ISRs. Soluções: adiar o processamento da interrupção para uma task (a API passa a ser chamada só de tasks); em ports com interrupt nesting, usar a versão FromISR, que pode ser chamada de tasks e ISRs (o contrário não); ou implementar a camada de abstração do RTOS do código de terceiros de forma a testar o contexto e chamar a função adequada. Exemplo para dar: uma função interna de um driver (stack USB, lwIP) que faz xSemaphoreGive() para acordar quem espera, chamada da ISR no fim de uma transferência e de uma task ao cancelar; nenhuma das duas versões serve nos dois casos. Na Pico 2 (port RP2350_RISC-V) não há interrupt nesting, por isso a segunda solução não se aplica diretamente (nota minha, não do livro); a primeira é a mais comum. As camadas de abstração chamam-se normalmente osal ou sys_arch.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Algumas funções da API passam tasks de Blocked a Ready (ex.: xQueueSendToBack). Se a task desbloqueada tiver prioridade maior do que a que está em Running, deve haver troca. Chamada numa task com configUSE_PREEMPTION = 1: a troca acontece automaticamente dentro da função. Chamada numa ISR: não é automática; as funções FromISR têm o parâmetro pxHigherPriorityTaskWoken e põem *pxHigherPriorityTaskWoken a pdTRUE se deve haver troca. A variável tem de ser inicializada a pdFALSE; as funções só a põem a pdTRUE, por isso a mesma variável pode ser passada a várias chamadas. Porque não é automático: evita trocas desnecessárias (ex.: UART que recebe caractere a caractere, quando a task só tem trabalho com a string completa), dá controlo sobre a sequência de execução, é o mecanismo mais portável, é mais eficiente (alguns ports só permitem pedir a troca no fim da ISR, e evita vários pedidos na mesma ISR), e no tick interrupt uma troca teria resultados dependentes do port. portYIELD_FROM_ISR() e portEND_SWITCHING_ISR() são versões de taskYIELD() para ISRs e fazem o mesmo; os ports mais recentes têm as duas. Com pdFALSE não fazem nada. O exemplo usa uma queue (módulo 4) em vez do semáforo binário do livro, porque os semáforos só aparecem mais à frente; o mecanismo de xHigherPriorityTaskWoken é igual em todas as funções FromISR. LER_REGISTO_DO_PERIFERICO() é um marcador para a leitura do periférico. A maioria dos ports permite chamá-las em qualquer ponto da ISR; alguns só no fim. Como funciona na Pico 2 (port RP2350_RISC-V, confirmado no código do port; não é do livro): (1) à entrada da interrupção, o wrapper do port (freertos_risc_v_interrupt_handler) guarda os registos da task interrompida na stack dessa task, muda para a stack das ISRs e chama a ISR; (2) xQueueSendToBackFromISR() move a task desbloqueada para Ready e, se tiver prioridade maior, põe *pxHigherPriorityTaskWoken = pdTRUE, sem trocar nada; (3) portYIELD_FROM_ISR(x) é if( x != pdFALSE ) vTaskSwitchContext(); vTaskSwitchContext() só muda o ponteiro pxCurrentTCB para a task Ready de maior prioridade; (4) à saída, o wrapper restaura os registos a partir da stack de pxCurrentTCB e faz mret: se o ponteiro mudou, o CPU continua na task nova. A ISR decide apenas se chama vTaskSwitchContext(); a troca física acontece sempre à saída da interrupção. Sem o pedido, a task fica Ready, o kernel marca um yield pendente e a troca acontece no próximo tick (até 1 ms com tick de 1 kHz). Num Cortex-M, a macro põe o PendSV pendente e é o PendSV, logo a seguir à ISR, que faz a troca.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Boas razões para ISRs curtas: mesmo tasks de prioridade muito alta só correm quando nenhuma interrupção está a ser servida; as ISRs acrescentam jitter ao início e à duração das tasks; conforme a arquitetura, durante uma ISR podem não ser aceites novas interrupções; é preciso proteger recursos partilhados entre tasks e ISRs; e o nesting aumenta a complexidade. A ISR deve registar a causa da interrupção e limpá-la; o resto pode ser feito numa task: deferred interrupt processing. Isto permite também dar prioridade a esse processamento face às outras tasks e usar toda a API. Figura 7.1 do livro, redesenhada: a interrupção começa em t2 e o processamento termina efetivamente em t4, mas só t2–t3 é passado na ISR; sem adiar, todo o intervalo t2–t4 seria dentro da ISR. Não há regra absoluta: uma ISR que só guarda o resultado de uma conversão ADC deve fazer tudo; se o resultado tiver de passar por um filtro, talvez seja melhor numa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versão FromISR da API de semáforos binários permite desbloquear uma task sempre que uma interrupção ocorre, sincronizando a task com a interrupção; a maior parte do processamento fica na task, e só uma parte curta na ISR. Se o processamento for crítico no tempo, dá-se à task uma prioridade alta e a ISR chama portYIELD_FROM_ISR(), para que a ISR regresse diretamente à task: todo o processamento corre seguido, como se estivesse na ISR. A task usa um take bloqueante para esperar pelo evento; a ISR faz give. Analogia do livro: queue de comprimento 1; take = ler com block time; give = pôr um token. Isto confunde muitas vezes porque não segue a regra dos outros usos (quem tira devolve), vista no capítulo de gestão de recursos. Nota do livro: desbloquear uma task a partir de uma interrupção é mais eficiente com uma direct to task notification (capítulo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7.1: uma task periódica (prioridade 1) gera uma interrupção por software a cada 500 ms (por conveniência, no simulador Windows) e imprime antes e depois. A handler task (prioridade 3) bloqueia no semáforo com portMAX_DELAY e processa o evento; a ISR (Listing 7.8, à direita) dá o semáforo e chama portYIELD_FROM_ISR(); é o mesmo padrão do slide anterior, mas com o semáforo em vez da queue. No main(), antes do scheduler: xBinarySemaphore = xSemaphoreCreateBinary(); se não for NULL, criar a handler task (prioridade 3) e a task periódica (prioridade 1) e chamar vTaskStartScheduler(). O semáforo tem de ser criado antes de a interrupção poder disparar. No livro a ISR chama-se ulExampleInterruptHandler e devolve uint32_t (protótipo do port Windows); no slide usa-se void, como numa ISR da Pico. O output da handler aparece entre as duas mensagens da task periódica, porque a handler corre logo que a interrupção termina. O código para instalar o handler (vPortSetInterruptHandler) é específico do port Windows. Nota: xSemaphoreTake() funciona para todos os tipos de semáforo exceto mutexes recursivos. Algumas funções de semáforos são na verdade macros.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handler do Exemplo 7.1 só serve para interrupções pouco frequentes. Se uma segunda interrupção ocorrer antes de a task acabar a primeira, o semáforo está vazio, a ISR dá-o e a task processa o segundo evento logo a seguir (Figura 7.6). Se ocorrer uma terceira, o semáforo já está disponível, a ISR não o pode dar outra vez, e a task nunca sabe que o terceiro evento aconteceu (Figura 7.7). Em aplicações reais as interrupções vêm do hardware em momentos imprevisíveis, por isso a task deve processar todos os eventos já disponíveis entre cada xSemaphoreTake(). Listing 7.10: exemplo de uma UART que põe caracteres numa FIFO de hardware. Qualquer interrupção entre o fim do while e o próximo take fica guardada no semáforo. Alternativas: counting semaphore ou task notification (preferida, por ser a mais eficiente). Timeouts infinitos simplificam os exemplos, mas em aplicações reais dificultam a recuperação de erros.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os semáforos binários são queues de comprimento 1, os de contagem são queues de comprimento maior que 1; às tasks só interessa o número de itens. Cada give usa mais um espaço; o número de itens é a contagem. Dois usos típicos. Contar eventos: o handler dá a cada evento, a task tira a cada evento processado; criados com contagem inicial 0 (o livro nota que uma task notification é mais eficiente para isto). Gestão de recursos: a contagem indica recursos disponíveis; criados com contagem inicial igual ao número de recursos. uxMaxCount é efetivamente o comprimento da queue: o número máximo de eventos que ficam guardados, ou o total de recursos. Existe também xSemaphoreCreateCountingStatic(). Exemplo 7.2: igual ao 7.1 mas com xSemaphoreCreateCounting(10, 0); para simular interrupções frequentes, a ISR dá o semáforo três vezes por interrupção, e a task processa os três eventos.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xTimerPendFunctionCallFromISR() o processamento adiado vai para a daemon task do RTOS, em vez de uma task criada para cada interrupção. A daemon task chamava-se originalmente timer service task, porque só executava callbacks de software timers; por isso a função está em timers.c e tem o prefixo Timer. As funções de software timers (capítulo 6) enviam comandos à daemon task pela timer command queue; xTimerPendFunctionCall() e xTimerPendFunctionCallFromISR() enviam por essa queue um comando 'executar função'. Parâmetros: a função a executar (tem de ter o protótipo PendedFunction_t, que o livro mostra como vPendableFunction; vPendableFunction é só o nome genérico do protótipo, a função real do Exemplo 7.3 chama-se vDeferredHandlingFunction), pvParameter1 e ulParameter2 que lhe são passados, e pxHigherPriorityTaskWoken. Quando a função corre depende da prioridade da daemon task. Exemplo 7.3: a ISR incrementa ulParameterValue e passa-o como ulParameter2; a task periódica tem prioridade configTIMER_TASK_PRIORITY − 1, para ser preemptada pela daemon task. Interrupções diferentes têm restrições diferentes, por isso é comum usar os dois métodos.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semáforos binários e de contagem comunicam eventos; as queues comunicam eventos e transferem dados. xQueueSendToFrontFromISR(), xQueueSendToBackFromISR() e xQueueReceiveFromISR() são as versões para ISR; xQueueSendFromISR() é equivalente a xQueueSendToBackFromISR(). pxHigherPriorityTaskWoken funciona como antes. Considerações: as queues são convenientes, mas não são eficientes para dados a alta frequência. As demos do FreeRTOS com drivers de UART que usam uma queue por caractere existem para demonstrar queues em ISRs e para carregar o sistema ao testar o port; não devem ser copiadas para produção, a não ser que os dados cheguem devagar. Alternativas: DMA, com a ISR de fim de transferência a acordar a task; copiar cada caractere para um buffer RAM thread-safe e acordar a task no fim da mensagem; ou processar os caracteres na ISR e enviar só o resultado pela queue, como no padrão da Figura 5.4. O livro sugere acordar a task com uma direct-to-task notification e usar um Stream Buffer como buffer; como nenhum dos dois faz parte deste curso, o slide usa o semáforo binário, que faz o mesmo papel (um pouco menos eficiente). Exemplo 7.4: uma task periódica envia 5 números para uma queue e gera uma interrupção; a ISR lê-os todos com xQueueReceiveFromISR() e envia strings para outra queue com xQueueSendToBackFromISR() (Listing 7.22); uma task imprime-as.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Pico 2 (port RP2350_RISC-V; nota minha, confirmada no código do port, não do livro): à entrada de uma interrupção, o hardware RISC-V desliga as interrupções globalmente (mstatus.MIE passa a 0); isto é standard RISC-V. O nesting só acontece se o software as voltar a ligar dentro do handler. O Hazard3 tem suporte de hardware para isso, por prioridades (registos meicontext/meinext), e o handler do pico-sdk sem FreeRTOS usa-o. O port do FreeRTOS tem o mesmo código, mas protegido por portcontextALLOW_NESTED_IRQs, que vale 0 por omissão (portContext.h), com um comentário a dizer que ativar parte testes de interrupções do RP2. Resultado: por omissão, cada ISR corre até ao fim e as outras ficam pendentes; a prioridade só decide qual das pendentes é atendida primeiro. configMAX_SYSCALL_INTERRUPT_PRIORITY não é usado (slide 62) e as ISRs devem ser curtas. Não recomendo ativar a opção: está marcada como não suportada. O slide mostra o conceito geral (ex.: Pico 2 nos cores ARM). Confusão frequente: prioridades de tasks e de interrupções não têm relação nenhuma. O hardware decide quando corre uma ISR; o software decide quando corre uma task; uma ISR interrompe uma task, mas uma task não pode preemptar uma ISR. Ports com interrupt nesting precisam de configMAX_SYSCALL_INTERRUPT_PRIORITY (ou configMAX_API_CALL_INTERRUPT_PRIORITY, o mesmo conceito com o nome novo) e/ou configKERNEL_INTERRUPT_PRIORITY. Se o port não usar configMAX_SYSCALL_INTERRUPT_PRIORITY, qualquer interrupção que use a API FromISR tem de correr à prioridade configKERNEL_INTERRUPT_PRIORITY. Prioridade numérica é o número atribuído; lógica é a precedência. Uma interrupção só faz nesting sobre outra de prioridade lógica mais baixa. Figura 7.14, redesenhada: com KERNEL = 1 e MAX_SYSCALL = 3, as prioridades 1 a 3 são bloqueadas durante critical sections (capítulo 8) e podem usar a API FromISR; 4 ou mais nunca são atrasadas pelo que o kernel faz, mas não podem usar nenhuma função da API. Interrupções que não chamam a API podem usar qualquer prioridade. Funcionalidade com timing muito estrito, como controlo de motores, usa prioridades acima de MAX_SYSCALL para evitar jitter do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fora do livro, para a placa das sessões práticas (Raspberry Pi Pico 2 nos cores Hazard3 RISC-V). A fonte é o código do port RP2350_RISC-V no fork da Raspberry Pi (github.com/raspberrypi/FreeRTOS-Kernel, portable/ThirdParty/GCC/RP2350_RISC-V): vPortSetupTimerInterrupt() usa o machine timer do SIO; vPortInstallVectorTableHandlers() instala os handlers com a API do pico-sdk; portDISABLE_INTERRUPTS é save_and_disable_interrupts(), que desliga todas as interrupções; e o README do port lista como limitação conhecida que a preempção de IRQs no Hazard3 não é suportada. Consequências: qualquer ISR pode usar as funções FromISR, porque a secção crítica do kernel bloqueia todas; em contrapartida, não há verificação automática como no Cortex-M, e usar numa ISR uma função sem FromISR não dá assert. O Hazard3 tem prioridades de interrupção em hardware (extensão Xh3irq), mas este port não as usa para nesting. O port é SMP; nas sessões práticas corre num só core (configNUMBER_OF_CORES = 1). Confirmar na versão do fork usada, porque o port pode evoluir.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só a API FromISR dentro de interrupções, xHigherPriorityTaskWoken com portYIELD_FROM_ISR, ISRs curtas com processamento adiado para tasks (semáforo binário ou de contagem) ou para a daemon task, queues em ISRs só para dados lentos, e as prioridades de interrupção máximas para usar a API, com atenção à inversão numérica nos Cortex-M.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6, ponto 'Managing Resources' do currículo NobleProg (mutexes, semáforos binários e de contagem), baseado no capítulo 8 do livro. Os semáforos binários e de contagem para sincronização com interrupções já foram vistos no módulo 5; aqui o foco é a exclusão mútua no acesso a recursos partilhados.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 sistema multitasking há risco de erro se uma task começa a aceder a um recurso e sai de Running antes de terminar, deixando-o inconsistente. Exemplos do livro. Periféricos: a Task A escreve 'Hello world' no LCD, é preemptada depois de 'Hello w'; a Task B escreve 'Abort, Retry, Fail?' e bloqueia; a Task A termina com 'orld'. Resultado: 'Hello wAbort, Retry, Fail?orld'. Read, modify, write: PORTA |= 0x01 compila para ler, modificar num registo e escrever; é não atómico. Se a Task A lê PORTA, é preemptada, a Task B atualiza PORTA, e A escreve o seu valor modificado, a alteração de B perde-se. O mesmo vale para variáveis. As quatro instruções são o pseudo-assembly genérico da Listing 8.1, não o de um CPU real; em RISC-V (Pico 2) seriam três: lw, ori, sw. Acesso não atómico: atualizar vários membros de uma estrutura, ou uma variável maior que a palavra natural da arquitetura, pode resultar em perda ou corrupção se for interrompido.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função é reentrante se é seguro chamá-la de mais do que uma task, ou de tasks e interrupções; diz-se thread-safe. Cada task mantém a sua stack e os seus registos, por isso uma função que só acede a dados na stack ou em registos é reentrante. Listing 8.2: lAddOneHundred só usa o parâmetro e uma variável local. Listing 8.3: lNonsenseFunction usa uma variável global e uma static, partilhadas por todas as tasks que a chamam; o código original tem um switch que alterna lState entre 0 e 1. Com newlib é preciso configUSE_NEWLIB_REENTRANT = 1 para que o thread local storage da newlib seja alocado corretamente; com picolibc, configUSE_PICOLIBC_TLS = 1; com outras bibliotecas que precisem de TLS, configUSE_C_RUNTIME_TLS_SUPPORT = 1 e as macros configTLS_BLOCK_TYPE, configINIT_TLS_BLOCK, configSET_TLS_BLOCK e configDEINIT_TLS_BLOCK. Exemplo concreto para dar: o errno. strtol() põe errno = ERANGE em caso de erro; se o scheduler trocar de task entre a chamada e o teste do errno, e a outra task mexer no errno, a primeira lê o valor errado. Na configuração dos pico-examples (base das práticas) configUSE_NEWLIB_REENTRANT = 0, por isso o errno é partilhado entre tasks. strtok() guarda a posição numa static e rand() a semente: duas tasks a usá-las baralham-se. As flags acima fazem o kernel dar a cada task a sua cópia do estado da libc (thread local storage), trocada a cada troca de contexto; qual usar depende do toolchain (newlib ou picolibc). O slide dedicado ao thread local storage foi retirado do módulo 3 por ser avançado; fica só esta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manter os dados consistentes, o acesso a um recurso partilhado entre tasks, ou entre tasks e interrupções, tem de ser gerido com uma técnica de exclusão mútua: uma vez que uma task começa a aceder a um recurso não reentrante e não thread-safe, tem acesso exclusivo até o recurso voltar a um estado consistente. O FreeRTOS oferece várias funcionalidades para isso, mas o melhor método, sempre que possível, é desenhar a aplicação de forma a que os recursos não sejam partilhados e cada um seja acedido por uma só task. O capítulo cobre: quando e porquê gerir recursos, critical sections, exclusão mútua, suspender o scheduler, mutexes, gatekeeper tasks, priority inversion e como a priority inheritance reduz (sem eliminar) o seu impacto.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sections básicas: código entre taskENTER_CRITICAL() e taskEXIT_CRITICAL(), sem parâmetros nem retorno. Funcionam desligando as interrupções, completamente ou até à prioridade configMAX_SYSCALL_INTERRUPT_PRIORITY, conforme o port. As trocas de contexto preemptivas só acontecem dentro de interrupções, por isso a task que entrou fica em Running até sair. São um método de exclusão mútua muito grosseiro: têm de ser muito curtas, senão prejudicam os tempos de resposta às interrupções, e cada entrada tem de ter a sua saída logo a seguir. Por isso não se deve proteger o stdout assim (Listing 8.5), porque escrever no terminal pode demorar. O aninhamento é seguro: o kernel conta a profundidade e só sai quando volta a zero. Chamar estas macros é a única forma legítima de uma task alterar o estado de ativação das interrupções; mudar de outra forma invalida o contador. Não se podem usar em ISRs; as versões _FROM_ISR só existem em ports com nesting, e o valor devolvido pela entrada é passado à saída. Não faz sentido gastar mais tempo a entrar e sair do que no código protegido.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critical section também pode ser criada suspendendo (ou 'locking') o scheduler. As critical sections básicas protegem de tasks e de interrupções; suspender o scheduler só protege de outras tasks, porque as interrupções continuam ativas. Uma secção demasiado longa para desligar interrupções pode ser feita assim, mas se houver atividade de interrupções enquanto o scheduler está suspenso, retomá-lo pode demorar; é preciso escolher caso a caso. vTaskSuspendAll() suspende; se uma interrupção pedir uma troca de contexto, o pedido fica pendente e é feito ao retomar. Não se podem chamar funções da API do FreeRTOS com o scheduler suspenso. xTaskResumeAll() retoma e devolve pdTRUE se uma troca pendente foi feita antes de retornar. As chamadas podem ser aninhadas: o kernel conta a profundidade. Listing 8.9: é assim que o vPrintString() dos exemplos do livro protege o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MUTEX vem de MUTual EXclusion. É um tipo especial de semáforo binário usado para controlar o acesso a um recurso partilhado por duas ou mais tasks. Na exclusão mútua, o mutex é como um token associado ao recurso: a task só acede legitimamente depois de tirar o token, e devolve-o quando acaba; só então outra task o pode tirar. Mutexes e semáforos binários partilham muitas características, mas o cenário é diferente da sincronização do módulo 5: na exclusão mútua o semáforo é sempre devolvido; na sincronização é normalmente descartado. O mecanismo depende da disciplina de quem escreve a aplicação: nada impede uma task de aceder ao recurso, mas cada uma 'aceita' não o fazer sem ser a detentora. Exemplo 8.1: prvNewPrintString() protege o stdout com um mutex; duas instâncias de prvPrintTask a prioridades 1 e 2 chamam-na com atrasos aleatórios; mesmo com preempção, as strings não aparecem corrompidas. O livro usa portMAX_DELAY por simplicidade, mas lembra que timeouts infinitos não são recomendados em produção; com outro valor, é preciso verificar que xSemaphoreTake() devolveu pdTRUE antes de usar o recurso. Nota (secção 8.3.6, sem slide próprio por ser avançado): com tasks da mesma prioridade, devolver o mutex não cede o CPU. Se uma task devolve o mutex e o volta a tirar logo a seguir, num loop apertado, a outra task da mesma prioridade, que estava à espera, pode quase nunca o conseguir. Solução do livro: se passou um tick enquanto tinha o mutex, chamar taskYIELD() depois de o devolver.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Figura 8.3 do livro (Exemplo 8.1) já mostra a task de maior prioridade à espera que a de menor prioridade devolva o mutex. Uma task de alta prioridade atrasada por uma de baixa prioridade é priority inversion. Fica pior se uma task de prioridade média começar a correr enquanto a de alta espera: a de alta fica à espera da de baixa, que nem sequer consegue executar. Chama-se unbounded priority inversion, porque a de prioridade média pode bloquear indefinidamente as outras duas. Figura 8.4 do livro, redesenhada. O cenário só acontece sem priority inheritance: aqui o recurso está protegido por um semáforo binário usado como lock. Com um mutex do FreeRTOS, LP herdaria a prioridade de HP no passo 2 e MP não a preemptaria (próximo slide). O livro descreve a figura de forma genérica; a troca para semáforo binário é para ficar coerente com o slide seguinte. Em sistemas embebidos pequenos, o problema pode muitas vezes ser evitado em fase de design, pensando em como os recursos são acedidos.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mutexes e os semáforos binários do FreeRTOS são muito parecidos; a diferença é que os mutexes incluem um mecanismo básico de priority inheritance. Não resolve a priority inversion, só limita o seu impacto, garantindo que a inversão é limitada no tempo. Complica a análise temporal do sistema e não é boa prática depender dele para o funcionamento correto. Funciona subindo temporariamente a prioridade do detentor do mutex para a da task de maior prioridade que o tenta obter; a prioridade volta ao valor original quando o mutex é devolvido. Como afeta prioridades de tasks, os mutexes não podem ser usados em ISRs. A implementação é básica, otimizada para espaço e ciclos. Comportamentos a ter em conta: uma task pode ver a prioridade herdada subir mais se tirar outro mutex sem libertar os que tem; fica na prioridade herdada mais alta até libertar todos os mutexes, independentemente da ordem; e mantém essa prioridade mesmo que as tasks à espera desistam por timeout. Figura 8.5 do livro, redesenhada.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Deadlock, ou 'deadly embrace', acontece quando duas tasks não conseguem avançar porque cada uma espera por um recurso que a outra tem. Cenário do livro: as tasks A e B precisam de X e de Y. A tira X; é preemptada por B; B tira Y e tenta X, que está com A, e bloqueia; A continua, tenta Y, que está com B, e bloqueia. Nenhuma avança. Tal como na priority inversion, o melhor é considerar o risco em fase de design. Em particular, é normalmente má prática esperar indefinidamente por um mutex: usar um timeout um pouco maior que o tempo máximo esperado, para que a falha seja um sintoma de erro de design, que pode ser um deadlock. Na prática, em sistemas embebidos pequenos o deadlock não é um grande problema, porque quem desenha o sistema conhece bem toda a aplicação e consegue identificar e remover os pontos onde pode ocorrer. Caso particular (secção 8.3.5, sem slide próprio por ser avançado): uma task que tira duas vezes o mesmo mutex normal, sem o devolver, bloqueia-se a si própria (deadlock consigo mesma). Acontece quando uma função que tem o mutex chama outra que também o tira. O FreeRTOS tem uma variante para esse caso, o mutex recursivo (xSemaphoreCreateRecursiveMutex, configUSE_RECURSIVE_MUTEXES = 1), que pode ser tirado várias vezes pela mesma task e só fica livre depois de devolvido o mesmo número de vezes.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gatekeeper tasks dão uma forma limpa de exclusão mútua sem risco de priority inversion nem deadlock. A gatekeeper é a única dona do recurso; só ela acede diretamente, e as outras tasks usam os seus serviços. Exemplo 8.2: o acesso ao stdout é serializado por uma queue; a gatekeeper não precisa de pensar em exclusão mútua porque é a única que acede ao stdout. As ISRs podem enviar para queues, por isso também podem usar a gatekeeper: no exemplo, um tick hook escreve uma mensagem a cada 200 ticks, para a frente da queue (só para demonstração), enquanto as tasks escrevem para o fim. No exemplo, a gatekeeper tem prioridade mais baixa que as print tasks, por isso as mensagens ficam na queue até as duas print tasks estarem bloqueadas. Às vezes faz sentido dar-lhe prioridade mais alta para processar logo, à custa de atrasar tasks de prioridade mais baixa enquanto usa o recurso.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Listing 8.18: a gatekeeper bloqueia indefinitemente na queue, e quando chega uma mensagem (um ponteiro para uma string) escreve-a no stdout. Listing 8.19: as print tasks enviam para o fim da queue o ponteiro para uma das strings de um array, sem block time, porque deve haver sempre espaço, e depois esperam um tempo aleatório. Um tick hook é uma função chamada pelo kernel em cada tick interrupt: ativa-se com configUSE_TICK_HOOK = 1 e tem o nome e protótipo vApplicationTickHook(void). Corre no contexto do tick interrupt, por isso tem de ser muito curto, usar pouca stack e só chamar funções da API terminadas em FromISR. Como o scheduler corre sempre logo a seguir ao tick hook, não é preciso usar pxHigherPriorityTaskWoken, que pode ser NULL. No código original o incremento e a comparação estão em linhas separadas; o slide condensa.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Tabela de síntese construída a partir do capítulo 8; não é uma tabela do livro. Critical sections: desligam interrupções (todas ou até configMAX_SYSCALL_INTERRUPT_PRIORITY), muito rápidas e determinísticas, só para código muito curto. Suspender o scheduler: interrupções continuam ativas, bom para secções mais longas, mas retomar pode demorar se houver atividade de interrupções, e não se pode usar a API. Mutexes: entre tasks, com priority inheritance básica, riscos de priority inversion e deadlock, e não podem ser usados em ISRs. Gatekeeper: uma task dona do recurso, sem priority inversion nem deadlock, ISRs podem usá-la via queue; o custo é a task, a queue e a latência que depende da prioridade da gatekeeper. E, sempre que possível, o melhor é não partilhar o recurso.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porque é preciso proteger recursos (periféricos, read-modify-write, acessos não atómicos, funções não reentrantes); as quatro ferramentas e quando usar cada uma; os riscos dos mutexes (priority inversion e a herança de prioridade que a limita, deadlock); e a gatekeeper como alternativa sem esses riscos. O título do slide é uma síntese, não uma frase do livro; o livro diz que o melhor método de exclusão mútua é, sempre que possível, desenhar a aplicação sem recursos partilhados.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7, correspondente à parte de tempo do ponto 'Managing Memory and Time' do currículo NobleProg. A parte de memória (heap) e a base do tempo (tick, pdMS_TO_TICKS, vTaskDelay e vTaskDelayUntil) já foram dadas nos Módulos 2 e 3. Este módulo cobre o capítulo 6 do livro, software timers, e explica a daemon task que já apareceu no Módulo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 software timers servem para agendar a execução de uma função num momento futuro, ou periodicamente com frequência fixa. A função executada é a callback do timer. São implementados e controlados pelo kernel, não precisam de suporte de hardware e não estão relacionados com timers ou contadores de hardware. Não usam tempo de processamento a não ser quando uma callback está efetivamente a executar. São opcionais: é preciso compilar FreeRTOS/Source/timers.c e definir no FreeRTOSConfig.h configUSE_TIMERS = 1, configTIMER_TASK_PRIORITY, configTIMER_QUEUE_LENGTH e configTIMER_TASK_STACK_DEPTH (em words, não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callbacks são funções C normais; a única particularidade é o protótipo: devolvem void e recebem o handle do timer como único parâmetro. Executam do início ao fim e saem normalmente. Devem ser curtas e nunca podem entrar em Blocked. Como correm no contexto de uma task criada automaticamente quando o scheduler arranca (a daemon task), nunca podem chamar funções que ponham a task em Blocked. Pode-se chamar, por exemplo, xQueueReceive(), mas só com block time 0; vTaskDelay() nunca, porque põe sempre a task em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período de um software timer é o tempo entre o início do timer e a execução da callback. Tipos: one-shot, que executa a callback uma vez e pode ser reiniciado manualmente, mas não sozinho; e auto-reload, que se reinicia sempre que expira, executando a callback periodicamente. Figura 6.1 do livro, redesenhada; as linhas verticais marcam os ticks. Timer 1: one-shot de 6 ticks, iniciado em t1, executa em t7 e não volta a executar. Timer 2: auto-reload de 5 ticks, iniciado em t1, executa em t6, t11 e t16.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software timer está em Dormant (existe e pode ser referido pelo handle, mas não corre, e a callback não executa) ou em Running (executa a callback quando passa um tempo igual ao período desde que entrou em Running ou desde o último reset). Figuras 6.2 e 6.3 do livro, redesenhadas. A diferença entre os dois tipos é o estado depois de expirar: o auto-reload executa a callback e volta a Running; o one-shot executa a callback e passa a Dormant. xTimerDelete(xTimer, xTicksToWait) apaga um timer em qualquer momento; como envia um comando pela timer command queue, xTicksToWait é o tempo máximo de espera se a queue estiver cheia (ignorado antes do scheduler arrancar); devolve pdPASS ou pdFAIL.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as callbacks correm no contexto da mesma daemon task (antigamente chamada timer service task, porque só executava callbacks; hoje é usada para mais coisas, como o xTimerPendFunctionCall do módulo 5). É uma task normal, criada automaticamente quando o scheduler arranca, com prioridade configTIMER_TASK_PRIORITY e stack configTIMER_TASK_STACK_DEPTH. As funções da API de timers enviam comandos da task que chama para a daemon task por uma queue, a timer command queue: 'start a timer', 'stop a timer', 'reset a timer'. É uma queue normal, também criada com o scheduler, de comprimento configTIMER_QUEUE_LENGTH. Figura 6.4 do livro, redesenhada.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Figuras 6.5 e 6.6 do livro. Daemon com prioridade abaixo da Task 1: em t2 a Task 1 chama xTimerStart(), o comando acorda a daemon, que passa a Ready mas não preempta; a Task 1 termina xTimerStart() (t3) e só quando bloqueia (t4) a daemon corre e processa o comando; depois a daemon volta a bloquear e corre a idle (t5). Daemon com prioridade acima da Task 1: em t2 a daemon preempta a Task 1 a meio de xTimerStart(), processa o comando e bloqueia (t3); a Task 1 volta a correr e só então sai de xTimerStart() (t4). No primeiro caso passa tempo entre o envio e o processamento; no segundo, o comando é processado antes de a função retornar. Os comandos levam um timestamp, para que o tempo de expiração conte a partir do envio.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xTimerCreate() cria o timer e devolve um TimerHandle_t; existe também xTimerCreateStatic(). Os timers são criados em Dormant e podem ser criados antes do scheduler ou por uma task depois. Parâmetros: nome (só debug), período em ticks (não pode ser 0), xAutoReload (pdTRUE auto-reload, pdFALSE one-shot), pvTimerID (valor inicial do ID, útil quando a mesma callback serve vários timers) e a callback. Devolve NULL se não houver heap. xTimerStart() inicia um timer em Dormant, ou reinicia (reset) um em Running; xTimerStop() passa-o a Dormant. Pode ser chamado antes do scheduler, mas o timer só começa quando o scheduler arranca, e nesse caso xTicksToWait é ignorado. xTicksToWait é o tempo máximo à espera de espaço na timer command queue; com portMAX_DELAY e INCLUDE_vTaskSuspend = 1 espera sem limite. pdPASS só se o comando foi escrito na queue; se a daemon tiver prioridade maior, o comando é processado antes de retornar. Nunca chamar numa ISR: usar xTimerStartFromISR().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6.1: um timer one-shot de 3333 ms e um auto-reload de 500 ms, cada um com a sua callback que imprime o tick count; o auto-reload executa a cada 500 ticks e o one-shot uma vez, no tick 3333. No main() os timers são iniciados antes do scheduler, por isso o block time é ignorado; os comandos ficam na queue até o scheduler arrancar, e xTimerStart() falha se a queue encher. Exemplo 6.2: a mesma callback para os dois timers; o parâmetro xTimer diz qual expirou. O timer ID é um void * que o programador usa como quiser: aqui guarda o número de vezes que cada timer expirou, e o auto-reload para-se a si próprio à quinta vez. Como a callback corre na daemon task, xTimerStop() é chamado com block time 0. Diferente das outras funções da API de timers, vTimerSetTimerID() e pvTimerGetTimerID() acedem ao timer diretamente, sem comando pela queue. O código foi condensado: no original, a callback compara xTimer com xOneShotTimer e imprime mensagens diferentes.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xTimerChangePeriod() muda o período. Num timer em Running, recalcula a expiração com o novo valor, relativa ao momento da chamada e não ao início original. Num timer em Dormant, calcula a expiração e passa a Running. Os parâmetros xTicksToWait e retorno funcionam como em xTimerStart(). Numa ISR usa-se xTimerChangePeriodFromISR(). Exemplo do livro: as demos oficiais fazem auto-verificação e dão feedback por um LED; se as verificações passam sempre, o LED pisca devagar (3 s); se alguma falhar, muda-se o período do check timer para 200 ms e o LED pisca depressa. O código foi condensado (dois if aninhados passaram a um só). Ponte para as sessões práticas na Pico 2: um LED controlado por um software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Fazer reset a um timer é reiniciá-lo: a expiração é recalculada a partir do reset. Figura 6.9, redesenhada: timer de período 6 iniciado em t1 (expiraria em t7), reset em t5 (passa a t11), reset em t9 (passa a t15); sem mais resets, expira em t15. xTimerReset() também inicia um timer em Dormant; numa ISR usa-se xTimerResetFromISR(). Exemplo 6.3: simula a luz de fundo de um telemóvel; liga-se quando se prime uma tecla, mantém-se enquanto houver teclas dentro do período, e apaga-se na callback do one-shot se não houver. No output do livro, o timer tinha 5000 ticks: a luz apagou-se exatamente 5000 ticks depois da última tecla (tick 10016, última tecla em 5016). O exemplo faz polling do teclado porque no port Windows não é prático usar interrupções de teclado; numa ISR seria xTimerResetFromISR().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callbacks curtas e sem bloqueio, one-shot vs auto-reload, estados Dormant e Running, a daemon task e a timer command queue, o efeito da prioridade da daemon, e as funções para criar, iniciar, parar, mudar o período e fazer reset. O título do slide é uma síntese.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Módulo de troubleshooting, baseado nos capítulos 13 (Troubleshooting) e 12 (Developer Support) do livro. Corresponde ao bloco 'Troubleshooting' do currículo e completa a parte de memória do 'Managing Memory and Time' com o stack overflow.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capítulo 13 começa pelos três problemas que, ao longo dos anos, geraram mais pedidos de suporte (perguntas de utilizadores à equipa do FreeRTOS, por exemplo no fórum): prioridades de interrupção mal atribuídas, stack overflow e uso inadequado de printf(). Depois trata, em estilo FAQ, outros erros comuns. O livro recomenda fortemente ter configASSERT() definido durante o desenvolvimento, porque apanha e identifica de imediato muitas das causas mais comuns de erro. Na Pico 2 (port RP2350_RISC-V; nota minha): o erro 1 não existe da mesma forma, porque a critical section desliga todas as interrupções e qualquer ISR pode usar as funções FromISR; também não há vPortValidateInterruptPriority (slide 101). O erro parecido que continua possível é chamar numa ISR uma função sem FromISR, e esse não dá assert neste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 assert() verifica uma suposição do programa. O FreeRTOS não usa assert() porque não existe em todos os compiladores suportados; usa configASSERT(), que o programador define no FreeRTOSConfig.h e que se comporta como assert(). Uma assertion falhada deve ser tratada como erro fatal. configASSERT() ajuda muito no debug, mas aumenta o código e torna-o mais lento; sem definição, usa-se a definição vazia e as chamadas são removidas pelo pré-processador. Listing 12.2: útil com debugger; desliga as interrupções (para o tick parar) e fica num loop, para o debugger mostrar a linha que falhou; se o hardware tiver instrução de breakpoint, pode ser usada em vez do loop. Listing 12.3: sem debugger; regista __FILE__ e __LINE__ antes de parar. vAssertCalled tem de ser definida num ficheiro C, não no FreeRTOSConfig.h. Nota: no livro, a declaração no FreeRTOSConfig.h usa unsigned long e a definição usa uint32_t; convém pôr os dois iguais.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do livro: é a causa número um de pedidos de suporte, e na maioria dos ports definir configASSERT() apanha-a logo. Em ports com nesting, se a ISR usa a API, a sua prioridade tem de estar ao nível ou abaixo de configMAX_SYSCALL_INTERRUPT_PRIORITY (secção 7.8, visto no módulo 5); caso contrário as critical sections ficam ineficazes e há falhas intermitentes. Cuidados: processadores em que as interrupções começam na prioridade mais alta (alguns ARM Cortex); números altos a representar prioridades lógicas baixas (ex.: com MAX_SYSCALL = 5, uma interrupção a 5 pode ser interrompida por uma a 4; as ISRs que usam a API só podem ter 5 ou mais: 5 ou 6 válidas, 3 inválida); bibliotecas que esperam o valor deslocado ou por deslocar; fabricantes com números de bits diferentes; bits divididos entre preempção e sub-prioridade: atribuir todos à preempção. Nalguns ports a macro chama-se configMAX_API_CALL_INTERRUPT_PRIORITY. Nota fora do livro: num STM32 com HAL isto corresponde a configurar o grupo de prioridades NVIC com todos os bits para preempção (NVIC_PRIORITYGROUP_4). Na Pico 2 em RISC-V (port RP2350_RISC-V; nota minha, confirmada no código do port, não do livro): por omissão não há nesting (portcontextALLOW_NESTED_IRQs = 0 em include/portContext.h), por isso a prioridade de uma interrupção só decide qual das pendentes é atendida primeiro. O Hazard3 suporta nesting por prioridades e o wrapper do port tem o código para isso; ligá-lo implica definir portcontextALLOW_NESTED_IRQs = 1 para o build do kernel (ex.: target_compile_definitions no CMake) e dar prioridades diferentes às IRQs com irq_set_priority() do pico-sdk. Mesmo com nesting, portDISABLE_INTERRUPTS() desliga todas as interrupções (não há equivalente ao BASEPRI nem configMAX_SYSCALL_INTERRUPT_PRIORITY), por isso qualquer ISR pode chamar funções FromISR e o erro do Cortex-M não existe; em contrapartida, as critical sections atrasam todas as interrupções, incluindo as mais prioritárias. Cuidados com nesting: as ISRs aninhadas acumulam-se na mesma stack de interrupções (dimensionar para o pior caso), dados partilhados entre ISRs de prioridades diferentes passam a precisar de proteção, e a opção está desligada no port com um comentário a dizer que parte testes de interrupções do RP2: tratar como experimental e testar bem. Também não há verificação automática de uso da API sem FromISR numa ISR.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stack overflow é a segunda causa mais comum de pedidos de suporte. Estas funcionalidades não existem no port Windows. uxTaskGetStackHighWaterMark() devolve o mínimo de stack que ficou livre desde que a task começou a executar (o 'high water mark'); há também uxTaskGetStackHighWaterMark2(), que só muda o tipo de retorno (configSTACK_DEPTH_TYPE). É assim que se escolhe o usStackDepth de xTaskCreate() (módulo 3). Verificação em run time com configCHECK_FOR_STACK_OVERFLOW: 1 verifica o stack pointer depois de guardar o contexto numa troca de task (momento provável de pico), rápido mas pode falhar overflows entre trocas; 2 verifica também se os últimos 20 bytes da stack, preenchida com um padrão na criação, foram alterados, quase sempre apanha; 3 só em alguns ports, verifica a stack das ISRs e dispara um assert em vez do hook. O hook é chamado no contexto de uma interrupção e recebe o handle e o nome da task. Nota: o livro mostra o protótipo como (TaskHandle_t *pxTask, signed char *pcTaskName); o slide usa a forma declarada no task.h das versões atuais do kernel (TaskHandle_t xTask, char *pcTaskName); confirmar na versão usada.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comum o printf() ser a fonte do erro, e os programadores acrescentarem mais printf() para depurar, agravando o problema. Mesmo quando o compilador traz um printf() para sistemas pequenos, pode não ser thread-safe, provavelmente não serve para ISRs, e pode demorar bastante conforme o destino. Com uma implementação genérica: só a chamada a printf() ou sprintf() pode aumentar muito o executável; podem chamar malloc(), o que pode ser inválido se o esquema de heap não for o heap_3; e podem precisar de uma stack muitas vezes maior. printf-stdarg.c, usado em muitas demos, dá um sprintf() mínimo e económico em stack, e pode enviar o output de printf() caractere a caractere para uma porta (lento, mas ainda menos stack). Nem todas as cópias implementam snprintf(): as que não o fazem ignoram o tamanho do buffer. É open source mas de terceiros, com licença própria no topo do ficheiro.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Resumo da secção 13.5. Adicionar uma task a uma demo e ela crasha: criar uma task usa heap, e muitas demos dimensionam o heap à justa; vTaskStartScheduler() só retorna se não houver heap para a idle task (e a daemon task), por isso um for(;;) depois ajuda a apanhar o erro; aumentar o heap ou remover tasks. API numa ISR: só funções FromISR; em ports com nesting, nenhuma API em interrupções acima de configMAX_SYSCALL_INTERRUPT_PRIORITY. Crash às vezes numa ISR: primeiro verificar stack overflow (alguns ports só verificam tasks), depois a sintaxe e convenções da ISR do port, e as prioridades (números invertidos, valores por omissão). O scheduler crasha ao iniciar a primeira task: handlers de interrupção do FreeRTOS não instalados; alguns processadores precisam de modo privilegiado antes de arrancar o scheduler. Interrupções desligadas: chamar a API antes do scheduler deixa-as desligadas de propósito até a primeira task correr; não alterar os bits de interrupção por outro meio que não taskENTER_CRITICAL()/taskEXIT_CRITICAL(); atenção a bibliotecas que o fazem. Crash antes do scheduler: nenhuma ISR que possa causar troca de contexto ou usar objetos do kernel pode correr antes; limitar o uso da API à criação de objetos até ao vTaskStartScheduler(). Não chamar a API com o scheduler suspenso nem dentro de critical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stats: o tempo total que cada task passou em Running desde o arranque. São para profiling e debug em desenvolvimento, só válidas até o contador dar a volta, e aumentam o tempo de troca de contexto. Precisam de medir frações de tick, por isso o relógio vem da aplicação e não do tick: recomenda-se 10 a 100 vezes a frequência do tick. Ideal: um timer/contador de hardware de 32 bits livre, lido sem overhead; alternativas: contar interrupções periódicas, ou combinar um timer de 16 bits com a contagem de overflows (secção 12.5.7). Macros: configGENERATE_RUN_TIME_STATS = 1, portCONFIGURE_TIMER_FOR_RUN_TIME_STATS() para configurar o periférico, e portGET_RUN_TIME_COUNTER_VALUE() ou portALT_GET_RUN_TIME_COUNTER_VALUE(Time) para ler o valor. No slide, vSetupTimerForRunTimeStats e ulReadRunTimeCounter são funções da aplicação (nomes ilustrativos; o livro usa a variante ALT com um timer de 16 bits). uxTaskGetSystemState() dá, por task, TaskStatus_t com handle, nome, xTaskNumber, estado, prioridade atual (maior que a base se houver herança de prioridade) e base, run time e usStackHighWaterMark (em bytes). vTaskListTasks() e vTaskGetRunTimeStatistics() são as versões atuais de vTaskList() e vTaskGetRunTimeStats(), agora com o tamanho do buffer (cerca de 40 bytes por task). As percentagens somam normalmente menos de 100% por arredondamento. As duas primeiras linhas do bloco de config são precisas para vTaskListTasks() e vTaskGetRunTimeStatistics() (configUSE_STATS_FORMATTING_FUNCTIONS &gt; 0); as outras três ligam as run-time stats. O relógio ideal é um timer de hardware livre de 32 bits. O output do slide é ilustrativo (nomes de tasks e valores inventados, não é uma captura real): uma linha por task, sem cabeçalho, com o nome, o tempo absoluto em unidades do relógio de run-time stats e a percentagem do total; valores abaixo de 1% aparecem como &lt;1%. Tmr Svc é a daemon task e IDLE a idle task; uma IDLE alta quer dizer CPU livre. Na Pico 2, o relógio pode ser o timer de 64 bits do pico-sdk (time_us_32(), 1 MHz), 1000 vezes o tick de 1 kHz: portGET_RUN_TIME_COUNTER_VALUE() = time_us_32() e a macro de configuração vazia (sugestão minha, confirmar).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macros: colocadas em pontos-chave do código do FreeRTOS, vazias por omissão (sem custo). Redefinindo-as no FreeRTOSConfig.h (ou num header incluído por ele), pode-se inserir código no FreeRTOS sem mexer nos ficheiros-fonte e produzir um trace completo da atividade do scheduler. Exemplos (antes no slide): traceTASK_SWITCHED_IN(), traceTASK_SWITCHED_OUT(), traceBLOCKING_ON_QUEUE_RECEIVE( pxQueue ), traceQUEUE_SEND_FAILED( pxQueue ), traceTASK_DELAY(). Algumas das mais úteis: traceTASK_INCREMENT_TICK, traceTASK_SWITCHED_OUT/IN (com pxCurrentTCB), traceBLOCKING_ON_QUEUE_RECEIVE/SEND, traceQUEUE_SEND(_FAILED), traceQUEUE_RECEIVE(_FAILED), as versões FROM_ISR, traceTASK_DELAY_UNTIL e traceTASK_DELAY. Dentro de tasks.c e queue.c, os handles são ponteiros para as estruturas internas; fora, são void *. É preciso muito cuidado ao aceder a estruturas privadas, que podem mudar entre versões. Tracealyzer for FreeRTOS, da Percepio (parceira do FreeRTOS), captura e mostra o comportamento dinâmico em mais de 20 vistas gráficas sincronizadas, complementando o debugger. A imagem no slide é uma captura do Tracealyzer publicada em freertos.org (direitos da AWS/Percepio). Vistas: à esquerda, a linha temporal com os eventos de cada task (xQueueSend, xQueueReceive a bloquear ou a dar timeout); ao centro, a lista de eventos com timestamps e trocas de contexto, incluindo uma ISR (Pos_ADC_ISR) a usar xQueueSendFromISR; à direita, a carga de CPU por task ao longo do tempo; em baixo, o grafo de comunicação entre tasks, ISRs e queues. Plug-ins com consciência do FreeRTOS existem para Eclipse (StateViewer, ThreadSpy), IAR, ARM DS-5, Atollic TrueStudio, Microchip MPLAB, iSYSTEM WinIDEA e STM32CubeIDE (lista possivelmente incompleta). Na Pico 2 (nota minha, fora do livro): a extensão da Pico no VS Code usa o Cortex-Debug, cuja extensão RTOS Views (mcu-debug.rtos-views) mostra as tasks do FreeRTOS lendo as estruturas do kernel da memória (a testar no Hazard3); o J-Link suporta os cores RISC-V do RP2350, mas a página do plug-in de RTOS do GDB Server só refere Cortex-M, por isso o thread-aware debugging em RISC-V fica por confirmar. Alternativas que funcionam de certeza: vTaskListTasks() por RTT/UART e trace hooks num pino GPIO.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13.6, passos adicionais de debug: definir configASSERT(), ativar a verificação de malloc failed e de stack overflow no FreeRTOSConfig.h; verificar os valores de retorno das funções da API; verificar se a configuração do scheduler (configUSE_TIME_SLICING, configUSE_PREEMPTION) está de acordo com os requisitos da aplicação; e, em Cortex-M, consultar a página do freertos.org sobre debugging de hard faults (Debugging-Hard-Faults-On-Cortex-M-Microcontrollers). Na Pico 2 (nota minha, confirmada no portASM.S do port RP2350_RISC-V, fora do livro): não há "hard fault"; uma exceção (instrução ilegal, acesso a memória inválido, desalinhamento) vai para freertos_risc_v_application_exception_handler, que por omissão lê mcause, mepc e mstatus para registos e fica num ciclo infinito (j .). No debugger: pausar, ver mcause (o tipo de exceção: 2 = instrução ilegal, 5 = falha de load, 7 = falha de store…), mepc (o endereço da instrução que falhou; abrir no disassembly ou com addr2line) e mtval (o endereço ou valor que causou a falha). A função é weak, por isso a aplicação pode redefini-la, por exemplo para registar o erro ou acender um LED. O malloc failed hook foi visto no módulo 2 (vApplicationMallocFailedHook).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os três erros mais comuns (prioridades de interrupção, que na Pico 2 com o port RISC-V não se aplica; stack overflow; printf), os outros sintomas, as exceções no RISC-V (mcause diz o tipo, mepc onde falhou) e as ferramentas: configASSERT, hooks de malloc e de stack overflow, estado das tasks e run-time stats, trace hooks, Tracealyzer e plug-ins de debugger. O título é uma síntese, não uma frase do livro.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Sessão prática principal do dia 2, sobre os pontos Interrupt Management, Resource Management, Software Timers e Troubleshooting do currículo. Os exercícios 1 a 7 são os exemplos oficiais do livro (projeto Win32-simulator-MSVC do repositório FreeRTOS-Kernel-Book, Examples 013 a 021, exceto o 018 (Exemplo 7.3, para a sessão extra), que correspondem aos Exemplos 6.1 a 8.2), portados para a Raspberry Pi Pico 2 (cores RISC-V) com o mínimo de alterações. Os exercícios 8 e 9 seguem os capítulos 12 e 13, que não têm exemplos numerados; o Ex. 8 usa o configASSERT com assert() do pico-examples; a versão própria do livro (Listings 12.2 e 12.3, vAssertCalled) fica para as aulas teóricas. Parte do mesmo projeto da sessão prática 1 (VS Code, pico-sdk, port RP2350_RISC-V, J-Link com RTT). A sessão prática 4 é extra e aprofunda estes temas.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dos exemplos oficiais usados: no repositório do livro, os projetos Example013 a Example021 correspondem aos Exemplos 6.1 a 8.2 (Example018, o 7.3, fica para a sessão extra; Example022 em diante são event groups e task notifications, fora do âmbito). A tabela segue o formato da sessão 2: numeração do livro, o que o exemplo faz, o que mostra e em que exercício aparece (os números dos projetos no repositório são Example013 = 6.1 … Example021 = 8.2). A ordem da sessão segue a do currículo (interrupções, recursos, timers, debug), não a dos capítulos. Os capítulos 12 e 13 não têm exemplos numerados; os exercícios 8 e 9 usam as listagens desses capítulos e o configASSERT com assert() do pico-examples (Ex.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livro corre os exemplos no simulador Windows, que tem 'interrupções simuladas': vPortSetInterruptHandler() instala o handler e vPortGenerateSimulatedInterrupt() dispara-o. Na Pico 2 a interrupção vem do botão no GP0, o mesmo da sessão prática 1: gpio_set_irq_enabled_with_callback() liga a interrupção de GPIO (flanco descendente) e regista o callback, que corre dentro da ISR de GPIO do pico-sdk. É uma interrupção real, em vez da interrupção simulada do livro. No simulador o handler devolve um valor; aqui é um callback void( uint gpio, uint32_t events ). Alternativa sem hardware (nota minha): uma user IRQ do RP2350, disparada por software com irq_set_pending(). vPrintString e vPrintStringAndNumber vêm dos supporting functions do livro; aqui são duas macros sobre o printf do pico-sdk, que na sessão 1 foi posto a sair por RTT. Chegam para todos os exercícios menos o 4: o stdio do pico-sdk protege cada printf e o RTT é muito rápido, por isso as linhas nunca se misturariam e o exercício do mutex não mostraria o problema. O exercício 4 define a sua própria vPrintString, lenta e sem proteção (escolha minha, não do livro), e não usa a macro. Nunca chamar estas funções a partir de uma ISR. O botão externo no GP0 substitui o teclado do PC; o botão da Pico 2 é o BOOTSEL, que não serve para isto.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Esqueleto comum aos exercícios 1 a 3: a interrupção vem do botão no GP0 (o mesmo da sessão prática 1, ligado ao GND com o pull-up interno). gpio_set_irq_enabled_with_callback() é do hardware_gpio do pico-sdk: liga a interrupção no flanco descendente (carregar no botão) e regista o callback, que corre dentro da ISR de GPIO do SDK, por isso as regras de uma ISR aplicam-se. O botão tem ressaltos: um toque pode gerar várias interrupções. Nos exercícios 1 a 3 isso vê-se e até ajuda a discutir o counting semaphore; o debounce fica para a sessão extra. Num programa com mais de um pino com interrupção, o callback recebe o gpio e os events para distinguir. Num Cortex-M seria preciso escolher a prioridade da interrupção dentro do intervalo permitido por configMAX_SYSCALL_INTERRUPT_PRIORITY; no port RP2350_RISC-V as secções críticas desligam todas as interrupções e não há nesting, por isso qualquer ISR pode chamar funções FromISR (módulo 5, nota RISC-V). O padrão xHigherPriorityTaskWoken + portYIELD_FROM_ISR é o das Listings 7.8 e 7.13 do livro; neste port, portYIELD_FROM_ISR escolhe a próxima task e a troca faz-se à saída da interrupção. Configuração: mutexes e counting semaphores para os exercícios 2 e 4; tick hook para o 5; software timers para o 6 e 7 (daemon task na prioridade máxima e stack de 1024 words, como no exemplo oficial pico-examples/freertos). INCLUDE_xTimerPendFunctionCall é para o exercício 1 da sessão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7.1 (Example016), Listings 7.6 a 7.9. Na Pico 2 a interrupção vem do botão no GP0 em vez da vPeriodicTask do livro, que a gerava por software. A ISR faz o mínimo (give do semáforo) e o processamento é diferido para uma task de prioridade alta, que corre imediatamente a seguir à ISR porque xHigherPriorityTaskWoken fica a pdTRUE e o portYIELD_FROM_ISR pede a troca de contexto (Figura 7.3). Sem o portYIELD_FROM_ISR, a task desbloqueada fica Ready e o kernel faz a troca no tick seguinte (secção 7.2.4): para a tornar visível, a ISR guarda time_us_32() (contador de 1 µs do pico-sdk) e o handler imprime quanto tempo passou. Com o yield o valor é pequeno e estável (a entrada e saída da ISR mais a troca de contexto); sem ele varia entre 0 e cerca de 1000 µs, o que falta até ao tick seguinte, e muda a cada toque. Os ressaltos podem sobrescrever o ulIsrTime antes de o handler o ler, o que dá alguns valores mais pequenos. Aqui usa-se printf em vez de vPrintString porque a mensagem leva um número; a medição é minha, não do livro. Os ressaltos do botão geram várias interrupções por toque; com um semáforo binário, os que chegam antes de o handler correr perdem-se (ligação ao exercício 2). Estas observações são minhas, sobre este port, e não do livro. O semáforo é criado com xSemaphoreCreateBinary() antes de arrancar o scheduler; o handler usa portMAX_DELAY, como no livro; a secção 7.4.4 mostra a versão robusta, que fica para a sessão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7.2 (Example017), Listings 7.12 e 7.13. Simula várias interrupções a acontecer antes de a task diferida correr, dando o semáforo três vezes na mesma ISR (aqui, a ISR do botão do GP0). Os ressaltos do botão também geram eventos extra: com o counting semaphore contam-se todos. Com um semáforo binário, só um evento fica 'guardado': os gives seguintes devolvem pdFAIL e os eventos perdem-se (secção 7.4.4, Figura 7.7). O counting semaphore criado com máximo 10 e contagem inicial 0 funciona como uma queue de eventos sem dados. Primeiro passo (com binário) é uma variante minha para mostrar a diferença; o livro só mostra a versão com counting semaphore.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7.4 (Example019), Listings 7.21 a 7.24. Duas queues de 10 posições: uma de uint32_t (tarefa → ISR) e outra de char * (ISR → tarefa). A ISR esvazia a queue de inteiros com xQueueReceiveFromISR e usa os dois bits menos significativos como índice; as strings são constantes, por isso passar o ponteiro é seguro. O gerador usa vTaskDelayUntil com 200 ms; no livro também gera a interrupção, aqui a interrupção vem do botão do GP0. Como o gerador envia 5 inteiros a cada 200 ms com block time 0, a queue de 10 enche em 400 ms e, a cada toque, a ISR esvazia-a (10 strings); um ressalto logo a seguir encontra-a vazia ou quase. O vStringPrinter, de prioridade mais alta, corre logo à saída da ISR e imprime as strings (cinco no livro; aqui até dez) antes de o gerador continuar (Figuras 7.12 e 7.13). Secção 7.7.2: queues a partir de ISRs são práticas para eventos pouco frequentes; para dados a alta velocidade (ex.: caracteres de uma UART) o livro recomenda DMA, buffers em RAM e task notifications ou stream buffers.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8.1 (Example020), Listings do capítulo 8. O recurso partilhado é a saída (no simulador, stdout; aqui a vPrintString lenta, sobre RTT). Só este exercício usa a versão lenta: escreve um carácter de cada vez com putchar_raw e espera 100 µs entre caracteres, para simular um periférico lento e sem proteção; com o printf normal o stdio do pico-sdk protegeria cada linha e o RTT é tão rápido que nada se misturaria. Não incluir aqui a macro vPrintString dos outros exercícios. A prvPrintTask segue a do livro, mas com um atraso fixo de 2 ms em vez de vTaskDelay( rand() % 0x20 ) (alteração minha). O atraso tem de ser mais curto do que o tempo de escrever uma linha (~48 caracteres × 100 µs ≈ 5 ms): com um atraso fixo maior, as duas tasks entram em fase e alternam linhas inteiras sem nunca se misturarem. No passo sem mutex tiram-se o Take e o Give. Sem mutex, com a escrita a demorar vários ms por linha (100 µs por carácter) e o tick a 1 ms, a Task 2 preempta a Task 1 a meio de uma linha. Com o mutex, a Task 2 bloqueia no xSemaphoreTake até a Task 1 terminar a linha; durante esse tempo a Task 1 herda a prioridade 2 (priority inheritance, secção 8.3.3). O primeiro passo, sem mutex, é uma variante minha para mostrar o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8.2 (Example021), secção 8.4. Só a gatekeeper task acede à saída; as outras tasks, e até uma interrupção (o tick hook), pedem-lhe escritas por uma queue de ponteiros para strings. Não há priority inversion nem deadlock possíveis porque não há mutex. O tick hook corre na interrupção do tick, por isso usa xQueueSendToFrontFromISR; o livro passa NULL em pxHigherPriorityTaskWoken porque o scheduler corre sempre logo a seguir ao tick hook (secção 8.4.1). As print tasks enviam com block time 0: se a queue de 5 posições estiver cheia, a mensagem perde-se. No livro a gatekeeper tem prioridade 0 e partilha o CPU com a idle task (time slicing); aqui tem 1 e as print tasks 2 e 3. Com o tick a 1 kHz, 200 ticks são 200 ms. As print tasks criam-se com xTaskCreate( prvPrintTask, "Print1", 512, ( void * ) 0, 2, NULL ) e ( void * ) 1 com prioridade 3: o parâmetro é o índice da string, não um ponteiro. O livro usa vTaskDelay( rand() % 0x20 ); aqui o atraso é fixo, 10 ms (alteração minha, como no Ex. 4). As strings do slide estão abreviadas; usar linhas longas como no Ex.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Exemplos 6.1 e 6.2 (Example013 e Example014). O Example013 tem dois callbacks separados; o Example014 usa um só e distingue os timers pelo handle, guardando no timer ID o número de execuções (pvTimerGetTimerID e vTimerSetTimerID). Os timers são arrancados antes do scheduler: os comandos ficam na timer command queue até a daemon task correr (secção 6.5.2, Listing 6.5). Os tempos das mensagens contam a partir do arranque do scheduler. vPrintStringAndNumber é a macro sobre o printf (RTT) da sessão. O printf dentro do callback é aceitável aqui, mas atrasa os outros timers enquanto dura; os callbacks nunca podem bloquear (secção 6.2). xTimerStop dentro do callback usa block time 0, como no exemplo.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6.3 (Example015), Listings 6.15 e 6.16: a luz de fundo de um LCD que se apaga 5 s depois da última tecla. No simulador a 'tecla' é o _kbhit() do teclado do PC; aqui é um botão no GP0, lido por polling a cada 50 ms como no exemplo (o LED externo do GP1 faz de backlight; LED_PIN = 1). Configurar o pino antes do scheduler com gpio_init, gpio_set_dir( BUTTON_PIN, GPIO_IN ) e gpio_pull_up. xTimerReset num timer Dormant arranca-o (secção 6.8.1). Enquanto o botão estiver premido, o reset repete-se a cada 50 ms, o que não faz mal. O callback corre na timer service task (daemon), não numa interrupção: pode chamar gpio_put e vPrintStringAndNumber, mas não deve bloquear. Precisa de configUSE_TIMERS = 1 (e da stack e prioridade do daemon, ver Ex. 6). pdFALSE em xTimerCreate faz o timer one-shot; o Example015 cria-o e arranca-o no main() com xTimerStart(); mesmo sem o arrancar, o primeiro xTimerReset da tecla põe-no a correr. No livro, a mensagem distingue 'backlight ON' de 'resetting timer'; pode-se acrescentar com vPrintString. Se o projeto ainda tiver a interrupção do GP0 dos exercícios 1 a 3, desligá-la (não chamar gpio_set_irq_enabled_with_callback), senão cada toque também corre a ISR. A leitura por polling é a do exemplo; a versão com interrupção e debounce fica para a sessão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12.2: o configASSERT apanha erros de utilização da API e de configuração; o livro recomenda tê-lo sempre definido durante o desenvolvimento. O kernel verifica os parâmetros com configASSERT: em queue.c, xQueueGenericSend começa com configASSERT( pxQueue ), por isso um handle NULL pára logo ali. O exemplo oficial pico-examples/freertos define configASSERT( x ) como assert( x ): no pico-sdk, um assert falhado escreve a condição, o ficheiro e a linha no stdio (aqui por RTT) e pára. Num build Release o CMake define NDEBUG e o assert() fica vazio; por isso o livro sugere uma definição própria (Listings 12.2 e 12.3, e o vAssertCalled do Example021), que não depende de NDEBUG. Nota para este port: num Cortex-M o configASSERT também apanha ISRs com prioridade acima de configMAX_SYSCALL_INTERRUPT_PRIORITY (secção 13.2); no port RP2350_RISC-V essa verificação não existe, porque não há prioridades a validar, e usar numa ISR uma função sem FromISR não dá assert: é um erro silencioso (módulo 5, nota RISC-V).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13.3. uxTaskGetStackHighWaterMark (Listing 13.1) devolve o mínimo de stack livre desde que a task começou, em words; valores perto de 0 indicam risco. O método 2 (configCHECK_FOR_STACK_OVERFLOW = 2) enche a stack com um padrão na criação e verifica os últimos 20 bytes em cada troca de contexto; o método 1 só verifica o stack pointer. Ambos correm quando a task sai do estado Running, por isso só detetam o overflow depois de acontecer; um overflow grande pode corromper outras estruturas (outra TCB, blocos do heap) e dar uma exceção (trap) antes; no RISC-V, o registo mcause diz qual. O vApplicationStackOverflowHook recebe o handle e o nome da task (Listing 13.3). O código da vGreedyTask é deste curso: 600 bytes locais numa stack de 512.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Respostas de referência. 1: a ISR deve ser curta; o processamento diferido corre numa task com a prioridade que a aplicação escolher e pode usar toda a API, incluindo bloquear (secção 7.3). 2: um semáforo binário guarda no máximo um evento; os seguintes perdem-se se a task ainda não o tiver tirado. O counting semaphore conta-os (7.5). 3: copiar strings para a queue gastaria RAM e tempo na ISR; como as strings são constantes, passar o ponteiro é seguro (7.7). 4: mutex quando várias tasks precisam do recurso por pouco tempo, aceitando herança de prioridade e o risco de deadlock; gatekeeper quando o recurso é lento ou também é usado por interrupções: serializa tudo numa task, sem inversão nem deadlock, à custa de uma task e uma queue (8.3 e 8.4). 5: na daemon task; não pode bloquear, logo nada de vTaskDelay nem block times diferentes de 0 em queues (6.2). 6: num build Release o NDEBUG desliga o assert(), e com ele todas as verificações do kernel; se se quiser manter verificações em produção, definir o configASSERT com uma função própria (Listings 12.2 e 12.3), que registe o ficheiro e a linha. Nota: num Cortex-M haveria ainda a pergunta da prioridade das ISRs (13.2); neste port RISC-V não se aplica.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Recapitular pela frase-título: o padrão de deferred interrupt processing (cap. 7), a exclusão mútua com mutex ou gatekeeper (cap. 8), os timers a correr na daemon task (cap. 6), e as ferramentas de debug dos caps. 12 e 13. Guardar o projeto: é a base da sessão extra.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Sessão prática EXTRA, para quem terminou a sessão 3 ou para um dia extra. Parte do mesmo projeto. Só o Ex. 1 usa código do repositório do livro (Example018, Exemplo 7.3); os Ex. 2 e 3 seguem a Listing 7.10 e as Listings 12.10 a 12.12; o Ex. 4 inspira-se no check timer e nas standard demo tasks das demos oficiais, sem usar ficheiros delas. Todo o código está nos slides. Onde o exercício é meu (priority inversion, deadlock), é baseado nas secções do livro indicadas no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Mesmo formato dos slides 76 e 141: numeração do livro, o que o exemplo faz, o que mostra e em que exercício aparece. Só o exemplo 7.3 (Example018) vem do repositório do livro; os outros exercícios usam listagens e figuras do livro, ou são exercícios meus, com todo o código nos slides. Demos oficiais: a ideia do Ex. 4 vem das standard demo tasks de Demo/Common/Minimal (tasks que se testam a si próprias e expõem xAre…StillRunning()) e do check timer que as demos usam. Nenhum ficheiro das demos é preciso. Os exercícios 5 e 6 são meus, baseados nas Figuras 8.4 e 8.5 (priority inversion) e na secção 8.3.4 (deadlock).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Exemplo 7.3 (Example018), secção 7.6, Listings 7.16 a 7.18: centralized deferred interrupt processing. xTimerPendFunctionCallFromISR envia para a timer command queue um pedido para a daemon task executar uma função com dois parâmetros; aqui o segundo é um contador incrementado em cada interrupção, para se ver que nenhum evento se perde. Vantagens (secção 7.6): menos RAM, porque não é preciso uma task por interrupção, e modelo mais simples. Desvantagens: menos flexibilidade, porque todas as funções diferidas correm à prioridade da daemon task, e menos determinismo, porque o pedido entra numa queue atrás dos comandos de timers que já lá estejam. Requer INCLUDE_xTimerPendFunctionCall = 1 e configUSE_TIMERS = 1 (com configTIMER_TASK_PRIORITY e configTIMER_TASK_STACK_DEPTH da sessão 3). Adaptação à Pico: no livro a interrupção é gerada por software pela vPeriodicTask; aqui vem do botão do GP0, com a mesma configuração do pino da prática 3 (gpio_init, gpio_set_dir, gpio_pull_up). A vPeriodicTask passa a só ocupar o CPU 1 s e bloquear 1 s, para a diferença do passo 3 se ver a olho: com a daemon abaixo, um toque durante o segundo de trabalho só é processado quando a vPeriodicTask bloqueia. Neste exercício a daemon fica com configMAX_PRIORITIES − 2 (6 com 8 prioridades), em vez do configMAX_PRIORITIES − 1 da sessão 3, para haver uma prioridade livre acima dela: no passo 1 a vPeriodicTask tem 5 (− 1), no passo 3 tem 7 (+ 1). Com a daemon a 7, o + 1 daria 8, fora do intervalo: o xTaskCreate limita a 7 (e o configASSERT dispara), e as duas ficariam com a mesma prioridade. O passo 3 é uma variante minha.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Botão sincronizado com uma handler task por um semáforo binário (secção 7.4). Na Pico 2, gpio_set_irq_enabled_with_callback() do pico-sdk ativa a interrupção do GPIO e regista um callback, que corre no contexto da interrupção; o give é feito aí. Neste port não há prioridades a acertar. A handler task é a task que faz o trabalho da interrupção fora da ISR (deferred interrupt processing, secção 7.3): fica bloqueada no xSemaphoreTake e só corre quando a ISR dá o semáforo. Tem prioridade 3, acima das outras tasks do projeto, para correr logo à saída da ISR (portYIELD_FROM_ISR). O take com timeout segue a estrutura recomendada da Listing 7.10 (secção 7.4.4): se não chega nenhum evento no tempo esperado, a task pode verificar erros de hardware em vez de ficar bloqueada para sempre. O debounce com um one-shot reiniciado a partir da ISR (xTimerResetFromISR, secção 6.8) é uma combinação minha dos caps. 6 e 7. Passo 3, debounce: cada ressalto corre a ISR, que em vez de dar o semáforo reinicia um timer one-shot de 30 ms; enquanto houver ressaltos o timer nunca expira, e 30 ms depois do último expira uma só vez; o callback confirma que o botão está premido e só então dá o semáforo. Código: static TimerHandle_t xDebounceTimer; no main(): xDebounceTimer = xTimerCreate( "Deb", pdMS_TO_TICKS( 30 ), pdFALSE, 0, vDebounceCallback ); na ISR, em vez do give: ulIsrCount++; xTimerResetFromISR( xDebounceTimer, &amp;xWoken ); portYIELD_FROM_ISR( xWoken ); e o callback: static void vDebounceCallback( TimerHandle_t xTimer ) { if( gpio_get( BUTTON_PIN ) == 0 ) xSemaphoreGive( xButtonSem ); }. O callback corre na daemon task, não na ISR, por isso usa xSemaphoreGive e não a versão FromISR. Requer configUSE_TIMERS = 1. Resultado: ulIsrCount conta todos os ressaltos, ulButtonPressCounts fica em 20. ulIsrCount é um contador extra meu. Ver os contadores com o CPU parado, ou com o Live Watch da Cortex-Debug se funcionar com o J-Link.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12.5. O livro usa um timer hipotético de 16 bits com contagem de overflows (Listings 12.10 e 12.11); no RP2350 o timer de sistema já conta microssegundos em 64 bits, e o pico-sdk lê-o com time_us_64(), por isso não há nada a configurar (portCONFIGURE_TIMER_FOR_RUN_TIME_STATS fica vazio) e não há overflow na prática. configRUN_TIME_COUNTER_TYPE permite um contador de 64 bits. O livro recomenda um relógio 10 a 100 vezes mais rápido do que o tick; 1 MHz é 1000 vezes o tick de 1 kHz, o que só dá mais resolução. A função é declarada no FreeRTOSConfig.h e definida no main.c, para o config não precisar dos headers do pico-sdk. O buffer de 512 bytes deve ser static, como na Listing 12.12. vTaskGetRunTimeStatistics e vTaskListTasks são as versões com tamanho de buffer das antigas vTaskGetRunTimeStats e vTaskList (Listings 12.6 a 12.9). A prvStatsTask segue a Listing 12.12 (espera 5 s e gera a tabela de vTaskGetRunTimeStatistics num buffer static); a tabela de vTaskListTasks no mesmo buffer é um acrescento meu. Prioridade 1 e stack de 1024 words, porque o printf e a formatação das tabelas usam bastante stack. Colunas de vTaskGetRunTimeStatistics: nome, tempo absoluto em µs e percentagem. Colunas de vTaskListTasks: nome, estado (X running, R ready, B blocked, S suspended, D deleted), prioridade, high water mark da stack em words e número da task. Projeto base: o do Ex. 4 da prática 3 (mutex), porque as duas prvPrintTask passam a maior parte do tempo em busy_wait_us dentro da vPrintString lenta, o que se vê bem na tabela. O printf da prvStatsTask não usa o mutex dessas tasks, por isso as tabelas podem sair misturadas com as linhas "Task 1/2"; se incomodar, rodear os dois printf com xSemaphoreTake/Give do mesmo xMutex. A leitura sobre o custo da espera ativa é minha.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Exercício meu, inspirado nas demos oficiais: as standard demo tasks de Demo/Common/Minimal criam tasks que se testam a si próprias e expõem uma função xAre…StillRunning(); as demos têm um check timer que as chama periodicamente e muda o ritmo do LED quando algo falha. Aqui faz-se o mesmo em pequeno, sem ficheiros das demos: um produtor e um consumidor por queue, dois contadores e uma flag de erro. O check timer (auto-reload, 1 s) verifica que os dois contadores avançaram desde a última vez e que a sequência recebida está certa; em caso de erro muda o período para 200 ms com xTimerChangePeriod e block time 0, porque um callback nunca pode bloquear (corre na daemon task). Só precisa de configUSE_TIMERS = 1, com a daemon a configMAX_PRIORITIES − 1 como na sessão 3 (se se fez o Ex. 1, repor o − 1). No main(), criar o produtor com prioridade 1 e o consumidor com 2 (xTaskCreate, 512 words), além da queue e do timer que estão no slide. O LED é o externo do GP1 (LED_PIN = 1, configurado como saída no main() como na prática 1). Erro provocado: uma task a configMAX_PRIORITIES − 2 com um for( ;; ) vazio deixa o produtor e o consumidor sem CPU; a daemon, mais prioritária, continua a correr o check timer e deteta a falha. Outras falhas para experimentar: tirar o vTaskDelay do produtor e baixar-lhe a prioridade, ou trocar a ordem do ulValue++.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 o módulo 6 (secções 8.3.2 e 8.3.3, Figuras 8.4 e 8.5 do livro): o mesmo cenário com um semáforo binário (sem herança de prioridade) e com um mutex (com herança). vBusyWaitMs é uma função da aplicação que ocupa o CPU durante N ms (por exemplo, a contar ticks com xTaskGetTickCount() sem bloquear). As tasks MP e HP podem ser acordadas com vTaskDelay() calibrado para aparecerem depois de LP tirar o recurso. O semáforo binário é criado vazio e precisa de um xSemaphoreGive() inicial para servir de lock. Opcional: juntar o trace com um pino por task da sessão prática 2 (slide 78) e ver num analisador lógico; com o binário, o pino de LP fica em baixo enquanto MP corre; com o mutex, LP continua até devolver. Nota: nos exercícios, o priority inheritance torna-se visível também em uxTaskPriorityGet() de LP durante a espera. Código meu, a completar pelos formandos. Vem logo antes do deadlock porque usa os mesmos mutexes. (Estava na sessão prática 2, mas aí ainda não se tinha dado o módulo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Secção 8.3.4 (Deadlock, ou deadly embrace): duas tasks à espera de recursos que a outra tem. O livro diz que a melhor forma de evitar o deadlock é considerá-lo no desenho, e que esperar sem timeout por um mutex é normalmente má prática: um timeout um pouco maior do que a espera máxima esperada faz da falha um sintoma de erro de desenho; em sistemas embebidos pequenos não costuma ser um grande problema. O vTaskDelay( 1 ) garante que a outra task corre entre os dois takes, para o deadlock acontecer sempre. Na vista RTOS Views (ou olhando para as listas do kernel no Watch), as duas tasks aparecem em Blocked; com configQUEUE_REGISTRY_SIZE &gt; 0 e vQueueAddToRegistry, os mutexes podem aparecer com nome (confirmar na extensão). O código é meu, para ilustrar a secção.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Fecho da sessão extra. Reforçar que as demos oficiais (FreeRTOS/Demo) e o repositório do livro são a referência para continuar: cada port tem uma demo com as standard demo tasks e um check timer ou check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7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2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latin typeface="IBM Plex Sans" charset="0"/>
              <a:ea typeface="IBM Plex Sans" charset="0"/>
              <a:cs typeface="IBM Plex Sans" charset="0"/>
            </a:endParaRPr>
          </a:p>
        </p:txBody>
      </p:sp>
      <p:sp>
        <p:nvSpPr>
          <p:cNvPr id="3" name="Text Placeholder 2"/>
          <p:cNvSpPr/>
          <p:nvPr>
            <p:ph idx="101" type="body"/>
          </p:nvPr>
        </p:nvSpPr>
        <p:spPr>
          <a:xfrm>
            <a:off x="812800" y="1899930"/>
            <a:ext cx="10566400" cy="4145270"/>
          </a:xfrm>
          <a:prstGeom prst="rect">
            <a:avLst/>
          </a:prstGeom>
          <a:noFill/>
          <a:ln/>
        </p:spPr>
        <p:txBody>
          <a:bodyPr wrap="square" lIns="0" tIns="0" rIns="0" bIns="0" rtlCol="0" anchor="t"/>
          <a:lstStyle>
            <a:lvl1pPr algn="l" indent="0" marL="0">
              <a:lnSpc>
                <a:spcPct val="140000"/>
              </a:lnSpc>
              <a:buNone/>
              <a:defRPr lang="en-US" sz="1600" dirty="0">
                <a:solidFill>
                  <a:srgbClr val="1422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7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2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latin typeface="IBM Plex Sans" charset="0"/>
              <a:ea typeface="IBM Plex Sans" charset="0"/>
              <a:cs typeface="IBM Plex Sans" charset="0"/>
            </a:endParaRPr>
          </a:p>
        </p:txBody>
      </p:sp>
      <p:sp>
        <p:nvSpPr>
          <p:cNvPr id="3" name="Text Placeholder 2"/>
          <p:cNvSpPr/>
          <p:nvPr>
            <p:ph idx="101" type="body"/>
          </p:nvPr>
        </p:nvSpPr>
        <p:spPr>
          <a:xfrm>
            <a:off x="812800" y="1899930"/>
            <a:ext cx="10566400" cy="4145270"/>
          </a:xfrm>
          <a:prstGeom prst="rect">
            <a:avLst/>
          </a:prstGeom>
          <a:noFill/>
          <a:ln/>
        </p:spPr>
        <p:txBody>
          <a:bodyPr wrap="square" lIns="0" tIns="0" rIns="0" bIns="0" rtlCol="0" anchor="t"/>
          <a:lstStyle>
            <a:lvl1pPr algn="l" indent="0" marL="0">
              <a:lnSpc>
                <a:spcPct val="140000"/>
              </a:lnSpc>
              <a:buNone/>
              <a:defRPr lang="en-US" sz="1600" dirty="0">
                <a:solidFill>
                  <a:srgbClr val="1422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latin typeface="IBM Plex Sans" charset="0"/>
              <a:ea typeface="IBM Plex Sans" charset="0"/>
              <a:cs typeface="IBM Plex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2.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image" Target="../media/image-36-11.png"/><Relationship Id="rId12" Type="http://schemas.openxmlformats.org/officeDocument/2006/relationships/image" Target="../media/image-36-12.png"/><Relationship Id="rId13" Type="http://schemas.openxmlformats.org/officeDocument/2006/relationships/slideLayout" Target="../slideLayouts/slideLayout2.xml"/><Relationship Id="rId1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slideLayout" Target="../slideLayouts/slideLayout2.xml"/><Relationship Id="rId9"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2.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hyperlink" Target="https://github.com/FreeRTOS/FreeRTOS-Kernel-Book" TargetMode="External"/><Relationship Id="rId2" Type="http://schemas.openxmlformats.org/officeDocument/2006/relationships/hyperlink" Target="https://github.com/FreeRTOS/FreeRTOS-Kernel-Book/tree/main/examples/Win32-simulator-MSVC" TargetMode="External"/><Relationship Id="rId3" Type="http://schemas.openxmlformats.org/officeDocument/2006/relationships/hyperlink" Target="https://github.com/FreeRTOS/FreeRTOS-Kernel-Book/tree/main/examples/Win32-simulator-MSVC" TargetMode="External"/><Relationship Id="rId4" Type="http://schemas.openxmlformats.org/officeDocument/2006/relationships/slideLayout" Target="../slideLayouts/slideLayout2.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slideLayout" Target="../slideLayouts/slideLayout2.xml"/><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2.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2.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slideLayout" Target="../slideLayouts/slideLayout2.xm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2.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slideLayout" Target="../slideLayouts/slideLayout2.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2.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image" Target="../media/image-112-4.png"/><Relationship Id="rId5" Type="http://schemas.openxmlformats.org/officeDocument/2006/relationships/slideLayout" Target="../slideLayouts/slideLayout2.xml"/><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image" Target="../media/image-113-3.png"/><Relationship Id="rId4" Type="http://schemas.openxmlformats.org/officeDocument/2006/relationships/image" Target="../media/image-113-4.png"/><Relationship Id="rId5" Type="http://schemas.openxmlformats.org/officeDocument/2006/relationships/image" Target="../media/image-113-5.png"/><Relationship Id="rId6" Type="http://schemas.openxmlformats.org/officeDocument/2006/relationships/slideLayout" Target="../slideLayouts/slideLayout2.xml"/><Relationship Id="rId7"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2.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image" Target="../media/image-121-2.png"/><Relationship Id="rId3" Type="http://schemas.openxmlformats.org/officeDocument/2006/relationships/image" Target="../media/image-121-3.png"/><Relationship Id="rId4" Type="http://schemas.openxmlformats.org/officeDocument/2006/relationships/image" Target="../media/image-121-4.png"/><Relationship Id="rId5" Type="http://schemas.openxmlformats.org/officeDocument/2006/relationships/image" Target="../media/image-121-5.png"/><Relationship Id="rId6" Type="http://schemas.openxmlformats.org/officeDocument/2006/relationships/image" Target="../media/image-121-6.png"/><Relationship Id="rId7" Type="http://schemas.openxmlformats.org/officeDocument/2006/relationships/image" Target="../media/image-121-7.png"/><Relationship Id="rId8" Type="http://schemas.openxmlformats.org/officeDocument/2006/relationships/image" Target="../media/image-121-8.png"/><Relationship Id="rId9" Type="http://schemas.openxmlformats.org/officeDocument/2006/relationships/image" Target="../media/image-121-9.png"/><Relationship Id="rId10" Type="http://schemas.openxmlformats.org/officeDocument/2006/relationships/image" Target="../media/image-121-10.png"/><Relationship Id="rId11" Type="http://schemas.openxmlformats.org/officeDocument/2006/relationships/slideLayout" Target="../slideLayouts/slideLayout2.xml"/><Relationship Id="rId1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image" Target="../media/image-122-2.png"/><Relationship Id="rId3" Type="http://schemas.openxmlformats.org/officeDocument/2006/relationships/slideLayout" Target="../slideLayouts/slideLayout2.xml"/><Relationship Id="rId4"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slideLayout" Target="../slideLayouts/slideLayout2.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2.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130-1.png"/><Relationship Id="rId2" Type="http://schemas.openxmlformats.org/officeDocument/2006/relationships/slideLayout" Target="../slideLayouts/slideLayout2.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image" Target="../media/image-134-2.png"/><Relationship Id="rId3" Type="http://schemas.openxmlformats.org/officeDocument/2006/relationships/image" Target="../media/image-134-3.png"/><Relationship Id="rId4" Type="http://schemas.openxmlformats.org/officeDocument/2006/relationships/image" Target="../media/image-134-4.png"/><Relationship Id="rId5" Type="http://schemas.openxmlformats.org/officeDocument/2006/relationships/slideLayout" Target="../slideLayouts/slideLayout2.xml"/><Relationship Id="rId6"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slideLayout" Target="../slideLayouts/slideLayout2.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38-1.png"/><Relationship Id="rId2" Type="http://schemas.openxmlformats.org/officeDocument/2006/relationships/image" Target="../media/image-138-2.png"/><Relationship Id="rId3" Type="http://schemas.openxmlformats.org/officeDocument/2006/relationships/image" Target="../media/image-138-3.png"/><Relationship Id="rId4" Type="http://schemas.openxmlformats.org/officeDocument/2006/relationships/image" Target="../media/image-138-4.png"/><Relationship Id="rId5" Type="http://schemas.openxmlformats.org/officeDocument/2006/relationships/image" Target="../media/image-138-5.png"/><Relationship Id="rId6" Type="http://schemas.openxmlformats.org/officeDocument/2006/relationships/image" Target="../media/image-138-6.png"/><Relationship Id="rId7" Type="http://schemas.openxmlformats.org/officeDocument/2006/relationships/slideLayout" Target="../slideLayouts/slideLayout2.xml"/><Relationship Id="rId8"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hyperlink" Target="https://github.com/FreeRTOS/FreeRTOS-Kernel-Book" TargetMode="External"/><Relationship Id="rId2" Type="http://schemas.openxmlformats.org/officeDocument/2006/relationships/hyperlink" Target="https://github.com/FreeRTOS/FreeRTOS-Kernel-Book/tree/main/examples/Win32-simulator-MSVC" TargetMode="External"/><Relationship Id="rId3" Type="http://schemas.openxmlformats.org/officeDocument/2006/relationships/hyperlink" Target="https://github.com/FreeRTOS/FreeRTOS-Kernel-Book/tree/main/examples/Win32-simulator-MSVC" TargetMode="External"/><Relationship Id="rId4" Type="http://schemas.openxmlformats.org/officeDocument/2006/relationships/slideLayout" Target="../slideLayouts/slideLayout2.xml"/><Relationship Id="rId5"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image" Target="../media/image-153-2.png"/><Relationship Id="rId3" Type="http://schemas.openxmlformats.org/officeDocument/2006/relationships/image" Target="../media/image-153-3.png"/><Relationship Id="rId4" Type="http://schemas.openxmlformats.org/officeDocument/2006/relationships/image" Target="../media/image-153-4.png"/><Relationship Id="rId5" Type="http://schemas.openxmlformats.org/officeDocument/2006/relationships/image" Target="../media/image-153-5.png"/><Relationship Id="rId6" Type="http://schemas.openxmlformats.org/officeDocument/2006/relationships/image" Target="../media/image-153-6.png"/><Relationship Id="rId7" Type="http://schemas.openxmlformats.org/officeDocument/2006/relationships/slideLayout" Target="../slideLayouts/slideLayout2.xml"/><Relationship Id="rId8"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hyperlink" Target="https://github.com/FreeRTOS/FreeRTOS-Kernel-Book" TargetMode="External"/><Relationship Id="rId2" Type="http://schemas.openxmlformats.org/officeDocument/2006/relationships/hyperlink" Target="https://github.com/FreeRTOS/FreeRTOS-Kernel-Book/tree/main/examples/Win32-simulator-MSVC" TargetMode="External"/><Relationship Id="rId3" Type="http://schemas.openxmlformats.org/officeDocument/2006/relationships/hyperlink" Target="https://github.com/FreeRTOS/FreeRTOS-Kernel-Book/tree/main/examples/Win32-simulator-MSVC" TargetMode="External"/><Relationship Id="rId4" Type="http://schemas.openxmlformats.org/officeDocument/2006/relationships/slideLayout" Target="../slideLayouts/slideLayout2.xml"/><Relationship Id="rId5"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22E"/>
        </a:solidFill>
      </p:bgPr>
    </p:bg>
    <p:spTree>
      <p:nvGrpSpPr>
        <p:cNvPr id="1" name=""/>
        <p:cNvGrpSpPr/>
        <p:nvPr/>
      </p:nvGrpSpPr>
      <p:grpSpPr>
        <a:xfrm>
          <a:off x="0" y="0"/>
          <a:ext cx="0" cy="0"/>
          <a:chOff x="0" y="0"/>
          <a:chExt cx="0" cy="0"/>
        </a:xfrm>
      </p:grpSpPr>
      <p:sp>
        <p:nvSpPr>
          <p:cNvPr id="2" name="Shape 0"/>
          <p:cNvSpPr/>
          <p:nvPr/>
        </p:nvSpPr>
        <p:spPr>
          <a:xfrm>
            <a:off x="5029200" y="4953000"/>
            <a:ext cx="1397000" cy="152400"/>
          </a:xfrm>
          <a:prstGeom prst="roundRect">
            <a:avLst>
              <a:gd name="adj" fmla="val 16667"/>
            </a:avLst>
          </a:prstGeom>
          <a:solidFill>
            <a:srgbClr val="2F6FD0"/>
          </a:solidFill>
          <a:ln/>
        </p:spPr>
      </p:sp>
      <p:sp>
        <p:nvSpPr>
          <p:cNvPr id="3" name="Shape 1"/>
          <p:cNvSpPr/>
          <p:nvPr/>
        </p:nvSpPr>
        <p:spPr>
          <a:xfrm>
            <a:off x="6426200" y="5207000"/>
            <a:ext cx="1143000" cy="152400"/>
          </a:xfrm>
          <a:prstGeom prst="roundRect">
            <a:avLst>
              <a:gd name="adj" fmla="val 16667"/>
            </a:avLst>
          </a:prstGeom>
          <a:solidFill>
            <a:srgbClr val="D0612A"/>
          </a:solidFill>
          <a:ln/>
        </p:spPr>
      </p:sp>
      <p:sp>
        <p:nvSpPr>
          <p:cNvPr id="4" name="Shape 2"/>
          <p:cNvSpPr/>
          <p:nvPr/>
        </p:nvSpPr>
        <p:spPr>
          <a:xfrm>
            <a:off x="7569200" y="5461000"/>
            <a:ext cx="762000" cy="152400"/>
          </a:xfrm>
          <a:prstGeom prst="roundRect">
            <a:avLst>
              <a:gd name="adj" fmla="val 16667"/>
            </a:avLst>
          </a:prstGeom>
          <a:solidFill>
            <a:srgbClr val="2E9A62"/>
          </a:solidFill>
          <a:ln/>
        </p:spPr>
      </p:sp>
      <p:sp>
        <p:nvSpPr>
          <p:cNvPr id="5" name="Shape 3"/>
          <p:cNvSpPr/>
          <p:nvPr/>
        </p:nvSpPr>
        <p:spPr>
          <a:xfrm>
            <a:off x="8331200" y="4953000"/>
            <a:ext cx="1143000" cy="152400"/>
          </a:xfrm>
          <a:prstGeom prst="roundRect">
            <a:avLst>
              <a:gd name="adj" fmla="val 16667"/>
            </a:avLst>
          </a:prstGeom>
          <a:solidFill>
            <a:srgbClr val="2F6FD0"/>
          </a:solidFill>
          <a:ln/>
        </p:spPr>
      </p:sp>
      <p:sp>
        <p:nvSpPr>
          <p:cNvPr id="6" name="Shape 4"/>
          <p:cNvSpPr/>
          <p:nvPr/>
        </p:nvSpPr>
        <p:spPr>
          <a:xfrm>
            <a:off x="9474200" y="5461000"/>
            <a:ext cx="762000" cy="152400"/>
          </a:xfrm>
          <a:prstGeom prst="roundRect">
            <a:avLst>
              <a:gd name="adj" fmla="val 16667"/>
            </a:avLst>
          </a:prstGeom>
          <a:solidFill>
            <a:srgbClr val="2E9A62"/>
          </a:solidFill>
          <a:ln/>
        </p:spPr>
      </p:sp>
      <p:sp>
        <p:nvSpPr>
          <p:cNvPr id="7" name="Shape 5"/>
          <p:cNvSpPr/>
          <p:nvPr/>
        </p:nvSpPr>
        <p:spPr>
          <a:xfrm>
            <a:off x="10236200" y="5207000"/>
            <a:ext cx="1143000" cy="152400"/>
          </a:xfrm>
          <a:prstGeom prst="roundRect">
            <a:avLst>
              <a:gd name="adj" fmla="val 16667"/>
            </a:avLst>
          </a:prstGeom>
          <a:solidFill>
            <a:srgbClr val="D0612A"/>
          </a:solidFill>
          <a:ln/>
        </p:spPr>
      </p:sp>
      <p:sp>
        <p:nvSpPr>
          <p:cNvPr id="8" name="Text 6"/>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1</a:t>
            </a:r>
            <a:endParaRPr lang="en-US" sz="1400" dirty="0">
              <a:latin typeface="IBM Plex Sans" charset="0"/>
              <a:ea typeface="IBM Plex Sans" charset="0"/>
              <a:cs typeface="IBM Plex Sans" charset="0"/>
            </a:endParaRPr>
          </a:p>
        </p:txBody>
      </p:sp>
      <p:sp>
        <p:nvSpPr>
          <p:cNvPr id="9" name="Text 7"/>
          <p:cNvSpPr/>
          <p:nvPr>
            <p:ph type="title"/>
          </p:nvPr>
        </p:nvSpPr>
        <p:spPr>
          <a:xfrm>
            <a:off x="812800" y="12141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2F1EC"/>
                </a:solidFill>
                <a:latin typeface="IBM Plex Sans" pitchFamily="34" charset="0"/>
                <a:ea typeface="IBM Plex Sans" pitchFamily="34" charset="-122"/>
                <a:cs typeface="IBM Plex Sans" pitchFamily="34" charset="-120"/>
              </a:rPr>
              <a:t>FreeRTOS</a:t>
            </a:r>
            <a:endParaRPr lang="en-US" sz="8000" dirty="0">
              <a:latin typeface="IBM Plex Sans" charset="0"/>
              <a:ea typeface="IBM Plex Sans" charset="0"/>
              <a:cs typeface="IBM Plex Sans" charset="0"/>
            </a:endParaRPr>
          </a:p>
        </p:txBody>
      </p:sp>
      <p:sp>
        <p:nvSpPr>
          <p:cNvPr id="10" name="Text 8"/>
          <p:cNvSpPr/>
          <p:nvPr/>
        </p:nvSpPr>
        <p:spPr>
          <a:xfrm>
            <a:off x="812800" y="2382520"/>
            <a:ext cx="10883392"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C9D3D8"/>
                </a:solidFill>
                <a:latin typeface="IBM Plex Sans" pitchFamily="34" charset="0"/>
                <a:ea typeface="IBM Plex Sans" pitchFamily="34" charset="-122"/>
                <a:cs typeface="IBM Plex Sans" pitchFamily="34" charset="-120"/>
              </a:rPr>
              <a:t>Fundamentos de sistemas operativos</a:t>
            </a:r>
            <a:endParaRPr lang="en-US" sz="2200" dirty="0">
              <a:latin typeface="IBM Plex Sans" charset="0"/>
              <a:ea typeface="IBM Plex Sans" charset="0"/>
              <a:cs typeface="IBM Plex Sans" charset="0"/>
            </a:endParaRPr>
          </a:p>
          <a:p>
            <a:pPr algn="l" indent="0" marL="0">
              <a:lnSpc>
                <a:spcPts val="2860"/>
              </a:lnSpc>
              <a:buNone/>
            </a:pPr>
            <a:r>
              <a:rPr lang="en-US" sz="2200" dirty="0">
                <a:solidFill>
                  <a:srgbClr val="C9D3D8"/>
                </a:solidFill>
                <a:latin typeface="IBM Plex Sans" pitchFamily="34" charset="0"/>
                <a:ea typeface="IBM Plex Sans" pitchFamily="34" charset="-122"/>
                <a:cs typeface="IBM Plex Sans" pitchFamily="34" charset="-120"/>
              </a:rPr>
              <a:t>de tempo real</a:t>
            </a:r>
            <a:endParaRPr lang="en-US" sz="2200" dirty="0">
              <a:latin typeface="IBM Plex Sans" charset="0"/>
              <a:ea typeface="IBM Plex Sans" charset="0"/>
              <a:cs typeface="IBM Plex Sans" charset="0"/>
            </a:endParaRPr>
          </a:p>
        </p:txBody>
      </p:sp>
      <p:sp>
        <p:nvSpPr>
          <p:cNvPr id="11" name="Text 9"/>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B8"/>
                </a:solidFill>
                <a:latin typeface="IBM Plex Sans" pitchFamily="34" charset="0"/>
                <a:ea typeface="IBM Plex Sans" pitchFamily="34" charset="-122"/>
                <a:cs typeface="IBM Plex Sans" pitchFamily="34" charset="-120"/>
              </a:rPr>
              <a:t>Rúben Marques · 24 de setembro de 2026</a:t>
            </a:r>
            <a:endParaRPr lang="en-US" sz="1400" dirty="0">
              <a:latin typeface="IBM Plex Sans" charset="0"/>
              <a:ea typeface="IBM Plex Sans" charset="0"/>
              <a:cs typeface="IBM Plex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280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PLANO DA FORMAÇÃO</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1807"/>
            <a:ext cx="10883392" cy="479663"/>
          </a:xfrm>
          <a:prstGeom prst="rect">
            <a:avLst/>
          </a:prstGeom>
          <a:noFill/>
          <a:ln/>
        </p:spPr>
        <p:txBody>
          <a:bodyPr wrap="square" lIns="0" tIns="0" rIns="0" bIns="0" rtlCol="0" anchor="t">
            <a:normAutofit/>
          </a:bodyPr>
          <a:lstStyle/>
          <a:p>
            <a:pPr algn="l" indent="0" marL="0">
              <a:lnSpc>
                <a:spcPts val="3622"/>
              </a:lnSpc>
              <a:buNone/>
            </a:pPr>
            <a:r>
              <a:rPr lang="en-US" sz="3150" b="1" i="0" dirty="0">
                <a:solidFill>
                  <a:srgbClr val="14222E"/>
                </a:solidFill>
                <a:latin typeface="IBM Plex Sans" pitchFamily="34" charset="0"/>
                <a:ea typeface="IBM Plex Sans" pitchFamily="34" charset="-122"/>
                <a:cs typeface="IBM Plex Sans" pitchFamily="34" charset="-120"/>
              </a:rPr>
              <a:t>Módulos e sessões práticas, pela ordem da formação</a:t>
            </a:r>
            <a:endParaRPr lang="en-US" sz="3150" dirty="0">
              <a:latin typeface="IBM Plex Sans" charset="0"/>
              <a:ea typeface="IBM Plex Sans" charset="0"/>
              <a:cs typeface="IBM Plex Sans" charset="0"/>
            </a:endParaRPr>
          </a:p>
        </p:txBody>
      </p:sp>
      <p:sp>
        <p:nvSpPr>
          <p:cNvPr id="4" name="Shape 2"/>
          <p:cNvSpPr/>
          <p:nvPr/>
        </p:nvSpPr>
        <p:spPr>
          <a:xfrm>
            <a:off x="812800" y="1830070"/>
            <a:ext cx="10566400" cy="316389"/>
          </a:xfrm>
          <a:prstGeom prst="roundRect">
            <a:avLst>
              <a:gd name="adj" fmla="val 24084"/>
            </a:avLst>
          </a:prstGeom>
          <a:solidFill>
            <a:srgbClr val="E3EFEC"/>
          </a:solidFill>
          <a:ln/>
        </p:spPr>
      </p:sp>
      <p:sp>
        <p:nvSpPr>
          <p:cNvPr id="5" name="Text 3"/>
          <p:cNvSpPr/>
          <p:nvPr/>
        </p:nvSpPr>
        <p:spPr>
          <a:xfrm>
            <a:off x="965200" y="1872694"/>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01</a:t>
            </a:r>
            <a:endParaRPr lang="en-US" sz="1300" dirty="0">
              <a:latin typeface="JetBrains Mono" charset="0"/>
              <a:ea typeface="JetBrains Mono" charset="0"/>
              <a:cs typeface="JetBrains Mono" charset="0"/>
            </a:endParaRPr>
          </a:p>
        </p:txBody>
      </p:sp>
      <p:sp>
        <p:nvSpPr>
          <p:cNvPr id="6" name="Text 4"/>
          <p:cNvSpPr/>
          <p:nvPr/>
        </p:nvSpPr>
        <p:spPr>
          <a:xfrm>
            <a:off x="1473200" y="1863805"/>
            <a:ext cx="618086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1 · Fundamentos de sistemas operativos de tempo real</a:t>
            </a:r>
            <a:endParaRPr lang="en-US" sz="1400" dirty="0">
              <a:latin typeface="IBM Plex Sans" charset="0"/>
              <a:ea typeface="IBM Plex Sans" charset="0"/>
              <a:cs typeface="IBM Plex Sans" charset="0"/>
            </a:endParaRPr>
          </a:p>
        </p:txBody>
      </p:sp>
      <p:sp>
        <p:nvSpPr>
          <p:cNvPr id="7" name="Text 5"/>
          <p:cNvSpPr/>
          <p:nvPr/>
        </p:nvSpPr>
        <p:spPr>
          <a:xfrm>
            <a:off x="9697800" y="1877775"/>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8" name="Text 6"/>
          <p:cNvSpPr/>
          <p:nvPr/>
        </p:nvSpPr>
        <p:spPr>
          <a:xfrm>
            <a:off x="10703005" y="1868884"/>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9" name="Shape 7"/>
          <p:cNvSpPr/>
          <p:nvPr/>
        </p:nvSpPr>
        <p:spPr>
          <a:xfrm>
            <a:off x="812800" y="2184559"/>
            <a:ext cx="10566400" cy="316309"/>
          </a:xfrm>
          <a:prstGeom prst="roundRect">
            <a:avLst>
              <a:gd name="adj" fmla="val 24090"/>
            </a:avLst>
          </a:prstGeom>
          <a:solidFill>
            <a:srgbClr val="E3EFEC"/>
          </a:solidFill>
          <a:ln/>
        </p:spPr>
      </p:sp>
      <p:sp>
        <p:nvSpPr>
          <p:cNvPr id="10" name="Text 8"/>
          <p:cNvSpPr/>
          <p:nvPr/>
        </p:nvSpPr>
        <p:spPr>
          <a:xfrm>
            <a:off x="965200" y="2227104"/>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02</a:t>
            </a:r>
            <a:endParaRPr lang="en-US" sz="1300" dirty="0">
              <a:latin typeface="JetBrains Mono" charset="0"/>
              <a:ea typeface="JetBrains Mono" charset="0"/>
              <a:cs typeface="JetBrains Mono" charset="0"/>
            </a:endParaRPr>
          </a:p>
        </p:txBody>
      </p:sp>
      <p:sp>
        <p:nvSpPr>
          <p:cNvPr id="11" name="Text 9"/>
          <p:cNvSpPr/>
          <p:nvPr/>
        </p:nvSpPr>
        <p:spPr>
          <a:xfrm>
            <a:off x="1473200" y="2218293"/>
            <a:ext cx="300694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2 · Gestão de memória</a:t>
            </a:r>
            <a:endParaRPr lang="en-US" sz="1400" dirty="0">
              <a:latin typeface="IBM Plex Sans" charset="0"/>
              <a:ea typeface="IBM Plex Sans" charset="0"/>
              <a:cs typeface="IBM Plex Sans" charset="0"/>
            </a:endParaRPr>
          </a:p>
        </p:txBody>
      </p:sp>
      <p:sp>
        <p:nvSpPr>
          <p:cNvPr id="12" name="Text 10"/>
          <p:cNvSpPr/>
          <p:nvPr/>
        </p:nvSpPr>
        <p:spPr>
          <a:xfrm>
            <a:off x="9697800" y="2232184"/>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13" name="Text 11"/>
          <p:cNvSpPr/>
          <p:nvPr/>
        </p:nvSpPr>
        <p:spPr>
          <a:xfrm>
            <a:off x="10703005" y="2223294"/>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14" name="Shape 12"/>
          <p:cNvSpPr/>
          <p:nvPr/>
        </p:nvSpPr>
        <p:spPr>
          <a:xfrm>
            <a:off x="812800" y="2538968"/>
            <a:ext cx="10566400" cy="316389"/>
          </a:xfrm>
          <a:prstGeom prst="roundRect">
            <a:avLst>
              <a:gd name="adj" fmla="val 24084"/>
            </a:avLst>
          </a:prstGeom>
          <a:solidFill>
            <a:srgbClr val="E3EFEC"/>
          </a:solidFill>
          <a:ln/>
        </p:spPr>
      </p:sp>
      <p:sp>
        <p:nvSpPr>
          <p:cNvPr id="15" name="Text 13"/>
          <p:cNvSpPr/>
          <p:nvPr/>
        </p:nvSpPr>
        <p:spPr>
          <a:xfrm>
            <a:off x="965200" y="2581593"/>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03</a:t>
            </a:r>
            <a:endParaRPr lang="en-US" sz="1300" dirty="0">
              <a:latin typeface="JetBrains Mono" charset="0"/>
              <a:ea typeface="JetBrains Mono" charset="0"/>
              <a:cs typeface="JetBrains Mono" charset="0"/>
            </a:endParaRPr>
          </a:p>
        </p:txBody>
      </p:sp>
      <p:sp>
        <p:nvSpPr>
          <p:cNvPr id="16" name="Text 14"/>
          <p:cNvSpPr/>
          <p:nvPr/>
        </p:nvSpPr>
        <p:spPr>
          <a:xfrm>
            <a:off x="1473200" y="2572703"/>
            <a:ext cx="26569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3 · Gestão de tasks</a:t>
            </a:r>
            <a:endParaRPr lang="en-US" sz="1400" dirty="0">
              <a:latin typeface="IBM Plex Sans" charset="0"/>
              <a:ea typeface="IBM Plex Sans" charset="0"/>
              <a:cs typeface="IBM Plex Sans" charset="0"/>
            </a:endParaRPr>
          </a:p>
        </p:txBody>
      </p:sp>
      <p:sp>
        <p:nvSpPr>
          <p:cNvPr id="17" name="Text 15"/>
          <p:cNvSpPr/>
          <p:nvPr/>
        </p:nvSpPr>
        <p:spPr>
          <a:xfrm>
            <a:off x="9697800" y="2586672"/>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18" name="Text 16"/>
          <p:cNvSpPr/>
          <p:nvPr/>
        </p:nvSpPr>
        <p:spPr>
          <a:xfrm>
            <a:off x="10703005" y="2577783"/>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19" name="Shape 17"/>
          <p:cNvSpPr/>
          <p:nvPr/>
        </p:nvSpPr>
        <p:spPr>
          <a:xfrm>
            <a:off x="812800" y="2893457"/>
            <a:ext cx="10566400" cy="316309"/>
          </a:xfrm>
          <a:prstGeom prst="roundRect">
            <a:avLst>
              <a:gd name="adj" fmla="val 24090"/>
            </a:avLst>
          </a:prstGeom>
          <a:solidFill>
            <a:srgbClr val="E3EFEC"/>
          </a:solidFill>
          <a:ln/>
        </p:spPr>
      </p:sp>
      <p:sp>
        <p:nvSpPr>
          <p:cNvPr id="20" name="Text 18"/>
          <p:cNvSpPr/>
          <p:nvPr/>
        </p:nvSpPr>
        <p:spPr>
          <a:xfrm>
            <a:off x="965200" y="2936002"/>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04</a:t>
            </a:r>
            <a:endParaRPr lang="en-US" sz="1300" dirty="0">
              <a:latin typeface="JetBrains Mono" charset="0"/>
              <a:ea typeface="JetBrains Mono" charset="0"/>
              <a:cs typeface="JetBrains Mono" charset="0"/>
            </a:endParaRPr>
          </a:p>
        </p:txBody>
      </p:sp>
      <p:sp>
        <p:nvSpPr>
          <p:cNvPr id="21" name="Text 19"/>
          <p:cNvSpPr/>
          <p:nvPr/>
        </p:nvSpPr>
        <p:spPr>
          <a:xfrm>
            <a:off x="1473200" y="2927191"/>
            <a:ext cx="24722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4 · Filas (queues)</a:t>
            </a:r>
            <a:endParaRPr lang="en-US" sz="1400" dirty="0">
              <a:latin typeface="IBM Plex Sans" charset="0"/>
              <a:ea typeface="IBM Plex Sans" charset="0"/>
              <a:cs typeface="IBM Plex Sans" charset="0"/>
            </a:endParaRPr>
          </a:p>
        </p:txBody>
      </p:sp>
      <p:sp>
        <p:nvSpPr>
          <p:cNvPr id="22" name="Text 20"/>
          <p:cNvSpPr/>
          <p:nvPr/>
        </p:nvSpPr>
        <p:spPr>
          <a:xfrm>
            <a:off x="9697800" y="2941082"/>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23" name="Text 21"/>
          <p:cNvSpPr/>
          <p:nvPr/>
        </p:nvSpPr>
        <p:spPr>
          <a:xfrm>
            <a:off x="10703005" y="2932192"/>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24" name="Shape 22"/>
          <p:cNvSpPr/>
          <p:nvPr/>
        </p:nvSpPr>
        <p:spPr>
          <a:xfrm>
            <a:off x="812800" y="3247866"/>
            <a:ext cx="10566400" cy="316389"/>
          </a:xfrm>
          <a:prstGeom prst="roundRect">
            <a:avLst>
              <a:gd name="adj" fmla="val 24084"/>
            </a:avLst>
          </a:prstGeom>
          <a:solidFill>
            <a:srgbClr val="FBEFE7"/>
          </a:solidFill>
          <a:ln/>
        </p:spPr>
      </p:sp>
      <p:sp>
        <p:nvSpPr>
          <p:cNvPr id="25" name="Text 23"/>
          <p:cNvSpPr/>
          <p:nvPr/>
        </p:nvSpPr>
        <p:spPr>
          <a:xfrm>
            <a:off x="965200" y="3290491"/>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solidFill>
                <a:latin typeface="JetBrains Mono" pitchFamily="49" charset="0"/>
                <a:ea typeface="JetBrains Mono" pitchFamily="49" charset="-122"/>
                <a:cs typeface="JetBrains Mono" pitchFamily="49" charset="-120"/>
              </a:rPr>
              <a:t>P1</a:t>
            </a:r>
            <a:endParaRPr lang="en-US" sz="1300" dirty="0">
              <a:latin typeface="JetBrains Mono" charset="0"/>
              <a:ea typeface="JetBrains Mono" charset="0"/>
              <a:cs typeface="JetBrains Mono" charset="0"/>
            </a:endParaRPr>
          </a:p>
        </p:txBody>
      </p:sp>
      <p:sp>
        <p:nvSpPr>
          <p:cNvPr id="26" name="Text 24"/>
          <p:cNvSpPr/>
          <p:nvPr/>
        </p:nvSpPr>
        <p:spPr>
          <a:xfrm>
            <a:off x="1473200" y="3281600"/>
            <a:ext cx="383581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Prática 1 · Ambiente e primeiro projeto</a:t>
            </a:r>
            <a:endParaRPr lang="en-US" sz="1400" dirty="0">
              <a:latin typeface="IBM Plex Sans" charset="0"/>
              <a:ea typeface="IBM Plex Sans" charset="0"/>
              <a:cs typeface="IBM Plex Sans" charset="0"/>
            </a:endParaRPr>
          </a:p>
        </p:txBody>
      </p:sp>
      <p:sp>
        <p:nvSpPr>
          <p:cNvPr id="27" name="Text 25"/>
          <p:cNvSpPr/>
          <p:nvPr/>
        </p:nvSpPr>
        <p:spPr>
          <a:xfrm>
            <a:off x="9751299" y="3295571"/>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D0612A"/>
            </a:solidFill>
            <a:prstDash val="solid"/>
          </a:ln>
        </p:spPr>
        <p:txBody>
          <a:bodyPr wrap="none" lIns="0" tIns="0" rIns="0" bIns="0" rtlCol="0" anchor="ctr">
            <a:normAutofit/>
          </a:bodyPr>
          <a:lstStyle/>
          <a:p>
            <a:pPr algn="ctr" indent="0" marL="0">
              <a:lnSpc>
                <a:spcPts val="1680"/>
              </a:lnSpc>
              <a:buNone/>
            </a:pPr>
            <a:r>
              <a:rPr lang="en-US" sz="1200" b="1" dirty="0">
                <a:solidFill>
                  <a:srgbClr val="A8491A"/>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28" name="Text 26"/>
          <p:cNvSpPr/>
          <p:nvPr/>
        </p:nvSpPr>
        <p:spPr>
          <a:xfrm>
            <a:off x="10703005" y="3286681"/>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29" name="Shape 27"/>
          <p:cNvSpPr/>
          <p:nvPr/>
        </p:nvSpPr>
        <p:spPr>
          <a:xfrm>
            <a:off x="812800" y="3602355"/>
            <a:ext cx="10566400" cy="316309"/>
          </a:xfrm>
          <a:prstGeom prst="roundRect">
            <a:avLst>
              <a:gd name="adj" fmla="val 24090"/>
            </a:avLst>
          </a:prstGeom>
          <a:solidFill>
            <a:srgbClr val="FBEFE7"/>
          </a:solidFill>
          <a:ln/>
        </p:spPr>
      </p:sp>
      <p:sp>
        <p:nvSpPr>
          <p:cNvPr id="30" name="Text 28"/>
          <p:cNvSpPr/>
          <p:nvPr/>
        </p:nvSpPr>
        <p:spPr>
          <a:xfrm>
            <a:off x="965200" y="3644900"/>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solidFill>
                <a:latin typeface="JetBrains Mono" pitchFamily="49" charset="0"/>
                <a:ea typeface="JetBrains Mono" pitchFamily="49" charset="-122"/>
                <a:cs typeface="JetBrains Mono" pitchFamily="49" charset="-120"/>
              </a:rPr>
              <a:t>P2</a:t>
            </a:r>
            <a:endParaRPr lang="en-US" sz="1300" dirty="0">
              <a:latin typeface="JetBrains Mono" charset="0"/>
              <a:ea typeface="JetBrains Mono" charset="0"/>
              <a:cs typeface="JetBrains Mono" charset="0"/>
            </a:endParaRPr>
          </a:p>
        </p:txBody>
      </p:sp>
      <p:sp>
        <p:nvSpPr>
          <p:cNvPr id="31" name="Text 29"/>
          <p:cNvSpPr/>
          <p:nvPr/>
        </p:nvSpPr>
        <p:spPr>
          <a:xfrm>
            <a:off x="1473200" y="3636090"/>
            <a:ext cx="304403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Prática 2 · Preempção e prioridades</a:t>
            </a:r>
            <a:endParaRPr lang="en-US" sz="1400" dirty="0">
              <a:latin typeface="IBM Plex Sans" charset="0"/>
              <a:ea typeface="IBM Plex Sans" charset="0"/>
              <a:cs typeface="IBM Plex Sans" charset="0"/>
            </a:endParaRPr>
          </a:p>
        </p:txBody>
      </p:sp>
      <p:sp>
        <p:nvSpPr>
          <p:cNvPr id="32" name="Text 30"/>
          <p:cNvSpPr/>
          <p:nvPr/>
        </p:nvSpPr>
        <p:spPr>
          <a:xfrm>
            <a:off x="4517231" y="3658950"/>
            <a:ext cx="625237" cy="203200"/>
          </a:xfrm>
          <a:prstGeom prst="roundRect">
            <a:avLst>
              <a:gd name="adj" fmla="val 18750"/>
            </a:avLst>
          </a:prstGeom>
          <a:solidFill>
            <a:srgbClr val="D0612A"/>
          </a:solidFill>
          <a:ln/>
        </p:spPr>
        <p:txBody>
          <a:bodyPr wrap="none" lIns="0" tIns="0" rIns="0" bIns="0" rtlCol="0" anchor="ctr">
            <a:normAutofit/>
          </a:bodyPr>
          <a:lstStyle/>
          <a:p>
            <a:pPr algn="ctr" indent="0" marL="0">
              <a:lnSpc>
                <a:spcPts val="1400"/>
              </a:lnSpc>
              <a:buNone/>
            </a:pPr>
            <a:r>
              <a:rPr lang="en-US" sz="1000" b="1" spc="100" kern="0" dirty="0">
                <a:solidFill>
                  <a:srgbClr val="F5F4EF"/>
                </a:solidFill>
                <a:latin typeface="IBM Plex Sans" pitchFamily="34" charset="0"/>
                <a:ea typeface="IBM Plex Sans" pitchFamily="34" charset="-122"/>
                <a:cs typeface="IBM Plex Sans" pitchFamily="34" charset="-120"/>
              </a:rPr>
              <a:t>EXTRA</a:t>
            </a:r>
            <a:endParaRPr lang="en-US" sz="1000" dirty="0">
              <a:latin typeface="IBM Plex Sans" charset="0"/>
              <a:ea typeface="IBM Plex Sans" charset="0"/>
              <a:cs typeface="IBM Plex Sans" charset="0"/>
            </a:endParaRPr>
          </a:p>
        </p:txBody>
      </p:sp>
      <p:sp>
        <p:nvSpPr>
          <p:cNvPr id="33" name="Text 31"/>
          <p:cNvSpPr/>
          <p:nvPr/>
        </p:nvSpPr>
        <p:spPr>
          <a:xfrm>
            <a:off x="9751299" y="3649980"/>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D0612A"/>
            </a:solidFill>
            <a:prstDash val="solid"/>
          </a:ln>
        </p:spPr>
        <p:txBody>
          <a:bodyPr wrap="none" lIns="0" tIns="0" rIns="0" bIns="0" rtlCol="0" anchor="ctr">
            <a:normAutofit/>
          </a:bodyPr>
          <a:lstStyle/>
          <a:p>
            <a:pPr algn="ctr" indent="0" marL="0">
              <a:lnSpc>
                <a:spcPts val="1680"/>
              </a:lnSpc>
              <a:buNone/>
            </a:pPr>
            <a:r>
              <a:rPr lang="en-US" sz="1200" b="1" dirty="0">
                <a:solidFill>
                  <a:srgbClr val="A8491A"/>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34" name="Text 32"/>
          <p:cNvSpPr/>
          <p:nvPr/>
        </p:nvSpPr>
        <p:spPr>
          <a:xfrm>
            <a:off x="10703005" y="3641090"/>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35" name="Shape 33"/>
          <p:cNvSpPr/>
          <p:nvPr/>
        </p:nvSpPr>
        <p:spPr>
          <a:xfrm>
            <a:off x="812800" y="3956765"/>
            <a:ext cx="10566400" cy="316389"/>
          </a:xfrm>
          <a:prstGeom prst="roundRect">
            <a:avLst>
              <a:gd name="adj" fmla="val 24084"/>
            </a:avLst>
          </a:prstGeom>
          <a:solidFill>
            <a:srgbClr val="E3EFEC">
              <a:alpha val="40000"/>
            </a:srgbClr>
          </a:solidFill>
          <a:ln/>
        </p:spPr>
      </p:sp>
      <p:sp>
        <p:nvSpPr>
          <p:cNvPr id="36" name="Text 34"/>
          <p:cNvSpPr/>
          <p:nvPr/>
        </p:nvSpPr>
        <p:spPr>
          <a:xfrm>
            <a:off x="965200" y="3999389"/>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05</a:t>
            </a:r>
            <a:endParaRPr lang="en-US" sz="1300" dirty="0">
              <a:latin typeface="JetBrains Mono" charset="0"/>
              <a:ea typeface="JetBrains Mono" charset="0"/>
              <a:cs typeface="JetBrains Mono" charset="0"/>
            </a:endParaRPr>
          </a:p>
        </p:txBody>
      </p:sp>
      <p:sp>
        <p:nvSpPr>
          <p:cNvPr id="37" name="Text 35"/>
          <p:cNvSpPr/>
          <p:nvPr/>
        </p:nvSpPr>
        <p:spPr>
          <a:xfrm>
            <a:off x="1473200" y="3990499"/>
            <a:ext cx="33843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5 · Gestão de interrupções</a:t>
            </a:r>
            <a:endParaRPr lang="en-US" sz="1400" dirty="0">
              <a:latin typeface="IBM Plex Sans" charset="0"/>
              <a:ea typeface="IBM Plex Sans" charset="0"/>
              <a:cs typeface="IBM Plex Sans" charset="0"/>
            </a:endParaRPr>
          </a:p>
        </p:txBody>
      </p:sp>
      <p:sp>
        <p:nvSpPr>
          <p:cNvPr id="38" name="Text 36"/>
          <p:cNvSpPr/>
          <p:nvPr/>
        </p:nvSpPr>
        <p:spPr>
          <a:xfrm>
            <a:off x="9697800" y="4004469"/>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39" name="Text 37"/>
          <p:cNvSpPr/>
          <p:nvPr/>
        </p:nvSpPr>
        <p:spPr>
          <a:xfrm>
            <a:off x="10703005" y="3995579"/>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40" name="Shape 38"/>
          <p:cNvSpPr/>
          <p:nvPr/>
        </p:nvSpPr>
        <p:spPr>
          <a:xfrm>
            <a:off x="812800" y="4311253"/>
            <a:ext cx="10566400" cy="316309"/>
          </a:xfrm>
          <a:prstGeom prst="roundRect">
            <a:avLst>
              <a:gd name="adj" fmla="val 24090"/>
            </a:avLst>
          </a:prstGeom>
          <a:solidFill>
            <a:srgbClr val="E3EFEC">
              <a:alpha val="40000"/>
            </a:srgbClr>
          </a:solidFill>
          <a:ln/>
        </p:spPr>
      </p:sp>
      <p:sp>
        <p:nvSpPr>
          <p:cNvPr id="41" name="Text 39"/>
          <p:cNvSpPr/>
          <p:nvPr/>
        </p:nvSpPr>
        <p:spPr>
          <a:xfrm>
            <a:off x="965200" y="4353799"/>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06</a:t>
            </a:r>
            <a:endParaRPr lang="en-US" sz="1300" dirty="0">
              <a:latin typeface="JetBrains Mono" charset="0"/>
              <a:ea typeface="JetBrains Mono" charset="0"/>
              <a:cs typeface="JetBrains Mono" charset="0"/>
            </a:endParaRPr>
          </a:p>
        </p:txBody>
      </p:sp>
      <p:sp>
        <p:nvSpPr>
          <p:cNvPr id="42" name="Text 40"/>
          <p:cNvSpPr/>
          <p:nvPr/>
        </p:nvSpPr>
        <p:spPr>
          <a:xfrm>
            <a:off x="1473200" y="4344988"/>
            <a:ext cx="29807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6 · Gestão de recursos</a:t>
            </a:r>
            <a:endParaRPr lang="en-US" sz="1400" dirty="0">
              <a:latin typeface="IBM Plex Sans" charset="0"/>
              <a:ea typeface="IBM Plex Sans" charset="0"/>
              <a:cs typeface="IBM Plex Sans" charset="0"/>
            </a:endParaRPr>
          </a:p>
        </p:txBody>
      </p:sp>
      <p:sp>
        <p:nvSpPr>
          <p:cNvPr id="43" name="Text 41"/>
          <p:cNvSpPr/>
          <p:nvPr/>
        </p:nvSpPr>
        <p:spPr>
          <a:xfrm>
            <a:off x="9697800" y="4358878"/>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44" name="Text 42"/>
          <p:cNvSpPr/>
          <p:nvPr/>
        </p:nvSpPr>
        <p:spPr>
          <a:xfrm>
            <a:off x="10703005" y="4349988"/>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45" name="Shape 43"/>
          <p:cNvSpPr/>
          <p:nvPr/>
        </p:nvSpPr>
        <p:spPr>
          <a:xfrm>
            <a:off x="812800" y="4665663"/>
            <a:ext cx="10566400" cy="316309"/>
          </a:xfrm>
          <a:prstGeom prst="roundRect">
            <a:avLst>
              <a:gd name="adj" fmla="val 24090"/>
            </a:avLst>
          </a:prstGeom>
          <a:solidFill>
            <a:srgbClr val="E3EFEC">
              <a:alpha val="40000"/>
            </a:srgbClr>
          </a:solidFill>
          <a:ln/>
        </p:spPr>
      </p:sp>
      <p:sp>
        <p:nvSpPr>
          <p:cNvPr id="46" name="Text 44"/>
          <p:cNvSpPr/>
          <p:nvPr/>
        </p:nvSpPr>
        <p:spPr>
          <a:xfrm>
            <a:off x="965200" y="4708208"/>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07</a:t>
            </a:r>
            <a:endParaRPr lang="en-US" sz="1300" dirty="0">
              <a:latin typeface="JetBrains Mono" charset="0"/>
              <a:ea typeface="JetBrains Mono" charset="0"/>
              <a:cs typeface="JetBrains Mono" charset="0"/>
            </a:endParaRPr>
          </a:p>
        </p:txBody>
      </p:sp>
      <p:sp>
        <p:nvSpPr>
          <p:cNvPr id="47" name="Text 45"/>
          <p:cNvSpPr/>
          <p:nvPr/>
        </p:nvSpPr>
        <p:spPr>
          <a:xfrm>
            <a:off x="1473200" y="4699397"/>
            <a:ext cx="26688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7 · Software timers</a:t>
            </a:r>
            <a:endParaRPr lang="en-US" sz="1400" dirty="0">
              <a:latin typeface="IBM Plex Sans" charset="0"/>
              <a:ea typeface="IBM Plex Sans" charset="0"/>
              <a:cs typeface="IBM Plex Sans" charset="0"/>
            </a:endParaRPr>
          </a:p>
        </p:txBody>
      </p:sp>
      <p:sp>
        <p:nvSpPr>
          <p:cNvPr id="48" name="Text 46"/>
          <p:cNvSpPr/>
          <p:nvPr/>
        </p:nvSpPr>
        <p:spPr>
          <a:xfrm>
            <a:off x="9697800" y="4713288"/>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49" name="Text 47"/>
          <p:cNvSpPr/>
          <p:nvPr/>
        </p:nvSpPr>
        <p:spPr>
          <a:xfrm>
            <a:off x="10703005" y="4704397"/>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50" name="Shape 48"/>
          <p:cNvSpPr/>
          <p:nvPr/>
        </p:nvSpPr>
        <p:spPr>
          <a:xfrm>
            <a:off x="812800" y="5020072"/>
            <a:ext cx="10566400" cy="316309"/>
          </a:xfrm>
          <a:prstGeom prst="roundRect">
            <a:avLst>
              <a:gd name="adj" fmla="val 24090"/>
            </a:avLst>
          </a:prstGeom>
          <a:solidFill>
            <a:srgbClr val="E3EFEC">
              <a:alpha val="40000"/>
            </a:srgbClr>
          </a:solidFill>
          <a:ln/>
        </p:spPr>
      </p:sp>
      <p:sp>
        <p:nvSpPr>
          <p:cNvPr id="51" name="Text 49"/>
          <p:cNvSpPr/>
          <p:nvPr/>
        </p:nvSpPr>
        <p:spPr>
          <a:xfrm>
            <a:off x="965200" y="5062617"/>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08</a:t>
            </a:r>
            <a:endParaRPr lang="en-US" sz="1300" dirty="0">
              <a:latin typeface="JetBrains Mono" charset="0"/>
              <a:ea typeface="JetBrains Mono" charset="0"/>
              <a:cs typeface="JetBrains Mono" charset="0"/>
            </a:endParaRPr>
          </a:p>
        </p:txBody>
      </p:sp>
      <p:sp>
        <p:nvSpPr>
          <p:cNvPr id="52" name="Text 50"/>
          <p:cNvSpPr/>
          <p:nvPr/>
        </p:nvSpPr>
        <p:spPr>
          <a:xfrm>
            <a:off x="1473200" y="5053806"/>
            <a:ext cx="3524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8 · Troubleshooting e debug</a:t>
            </a:r>
            <a:endParaRPr lang="en-US" sz="1400" dirty="0">
              <a:latin typeface="IBM Plex Sans" charset="0"/>
              <a:ea typeface="IBM Plex Sans" charset="0"/>
              <a:cs typeface="IBM Plex Sans" charset="0"/>
            </a:endParaRPr>
          </a:p>
        </p:txBody>
      </p:sp>
      <p:sp>
        <p:nvSpPr>
          <p:cNvPr id="53" name="Text 51"/>
          <p:cNvSpPr/>
          <p:nvPr/>
        </p:nvSpPr>
        <p:spPr>
          <a:xfrm>
            <a:off x="9697800" y="5067697"/>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54" name="Text 52"/>
          <p:cNvSpPr/>
          <p:nvPr/>
        </p:nvSpPr>
        <p:spPr>
          <a:xfrm>
            <a:off x="10703005" y="5058807"/>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55" name="Shape 53"/>
          <p:cNvSpPr/>
          <p:nvPr/>
        </p:nvSpPr>
        <p:spPr>
          <a:xfrm>
            <a:off x="812800" y="5374481"/>
            <a:ext cx="10566400" cy="316309"/>
          </a:xfrm>
          <a:prstGeom prst="roundRect">
            <a:avLst>
              <a:gd name="adj" fmla="val 24090"/>
            </a:avLst>
          </a:prstGeom>
          <a:solidFill>
            <a:srgbClr val="FBEFE7">
              <a:alpha val="40000"/>
            </a:srgbClr>
          </a:solidFill>
          <a:ln/>
        </p:spPr>
      </p:sp>
      <p:sp>
        <p:nvSpPr>
          <p:cNvPr id="56" name="Text 54"/>
          <p:cNvSpPr/>
          <p:nvPr/>
        </p:nvSpPr>
        <p:spPr>
          <a:xfrm>
            <a:off x="965200" y="5417027"/>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alpha val="40000"/>
                  </a:srgbClr>
                </a:solidFill>
                <a:latin typeface="JetBrains Mono" pitchFamily="49" charset="0"/>
                <a:ea typeface="JetBrains Mono" pitchFamily="49" charset="-122"/>
                <a:cs typeface="JetBrains Mono" pitchFamily="49" charset="-120"/>
              </a:rPr>
              <a:t>P3</a:t>
            </a:r>
            <a:endParaRPr lang="en-US" sz="1300" dirty="0">
              <a:latin typeface="JetBrains Mono" charset="0"/>
              <a:ea typeface="JetBrains Mono" charset="0"/>
              <a:cs typeface="JetBrains Mono" charset="0"/>
            </a:endParaRPr>
          </a:p>
        </p:txBody>
      </p:sp>
      <p:sp>
        <p:nvSpPr>
          <p:cNvPr id="57" name="Text 55"/>
          <p:cNvSpPr/>
          <p:nvPr/>
        </p:nvSpPr>
        <p:spPr>
          <a:xfrm>
            <a:off x="1473200" y="5408216"/>
            <a:ext cx="489689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Prática 3 · Interrupções, recursos, timers e debug</a:t>
            </a:r>
            <a:endParaRPr lang="en-US" sz="1400" dirty="0">
              <a:latin typeface="IBM Plex Sans" charset="0"/>
              <a:ea typeface="IBM Plex Sans" charset="0"/>
              <a:cs typeface="IBM Plex Sans" charset="0"/>
            </a:endParaRPr>
          </a:p>
        </p:txBody>
      </p:sp>
      <p:sp>
        <p:nvSpPr>
          <p:cNvPr id="58" name="Text 56"/>
          <p:cNvSpPr/>
          <p:nvPr/>
        </p:nvSpPr>
        <p:spPr>
          <a:xfrm>
            <a:off x="9751299" y="5422106"/>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D0612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A8491A">
                    <a:alpha val="40000"/>
                  </a:srgbClr>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59" name="Text 57"/>
          <p:cNvSpPr/>
          <p:nvPr/>
        </p:nvSpPr>
        <p:spPr>
          <a:xfrm>
            <a:off x="10703005" y="5413216"/>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60" name="Shape 58"/>
          <p:cNvSpPr/>
          <p:nvPr/>
        </p:nvSpPr>
        <p:spPr>
          <a:xfrm>
            <a:off x="812800" y="5728891"/>
            <a:ext cx="10566400" cy="316309"/>
          </a:xfrm>
          <a:prstGeom prst="roundRect">
            <a:avLst>
              <a:gd name="adj" fmla="val 24090"/>
            </a:avLst>
          </a:prstGeom>
          <a:solidFill>
            <a:srgbClr val="FBEFE7">
              <a:alpha val="40000"/>
            </a:srgbClr>
          </a:solidFill>
          <a:ln/>
        </p:spPr>
      </p:sp>
      <p:sp>
        <p:nvSpPr>
          <p:cNvPr id="61" name="Text 59"/>
          <p:cNvSpPr/>
          <p:nvPr/>
        </p:nvSpPr>
        <p:spPr>
          <a:xfrm>
            <a:off x="965200" y="5771436"/>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alpha val="40000"/>
                  </a:srgbClr>
                </a:solidFill>
                <a:latin typeface="JetBrains Mono" pitchFamily="49" charset="0"/>
                <a:ea typeface="JetBrains Mono" pitchFamily="49" charset="-122"/>
                <a:cs typeface="JetBrains Mono" pitchFamily="49" charset="-120"/>
              </a:rPr>
              <a:t>P4</a:t>
            </a:r>
            <a:endParaRPr lang="en-US" sz="1300" dirty="0">
              <a:latin typeface="JetBrains Mono" charset="0"/>
              <a:ea typeface="JetBrains Mono" charset="0"/>
              <a:cs typeface="JetBrains Mono" charset="0"/>
            </a:endParaRPr>
          </a:p>
        </p:txBody>
      </p:sp>
      <p:sp>
        <p:nvSpPr>
          <p:cNvPr id="62" name="Text 60"/>
          <p:cNvSpPr/>
          <p:nvPr/>
        </p:nvSpPr>
        <p:spPr>
          <a:xfrm>
            <a:off x="1473200" y="5762625"/>
            <a:ext cx="457058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Prática 4 · Aprofundar: ISRs, recursos, timers e debug</a:t>
            </a:r>
            <a:endParaRPr lang="en-US" sz="1400" dirty="0">
              <a:latin typeface="IBM Plex Sans" charset="0"/>
              <a:ea typeface="IBM Plex Sans" charset="0"/>
              <a:cs typeface="IBM Plex Sans" charset="0"/>
            </a:endParaRPr>
          </a:p>
        </p:txBody>
      </p:sp>
      <p:sp>
        <p:nvSpPr>
          <p:cNvPr id="63" name="Text 61"/>
          <p:cNvSpPr/>
          <p:nvPr/>
        </p:nvSpPr>
        <p:spPr>
          <a:xfrm>
            <a:off x="6012259" y="5785485"/>
            <a:ext cx="625237" cy="203200"/>
          </a:xfrm>
          <a:prstGeom prst="roundRect">
            <a:avLst>
              <a:gd name="adj" fmla="val 18750"/>
            </a:avLst>
          </a:prstGeom>
          <a:solidFill>
            <a:srgbClr val="D0612A">
              <a:alpha val="40000"/>
            </a:srgbClr>
          </a:solidFill>
          <a:ln/>
        </p:spPr>
        <p:txBody>
          <a:bodyPr wrap="none" lIns="0" tIns="0" rIns="0" bIns="0" rtlCol="0" anchor="ctr">
            <a:normAutofit/>
          </a:bodyPr>
          <a:lstStyle/>
          <a:p>
            <a:pPr algn="ctr" indent="0" marL="0">
              <a:lnSpc>
                <a:spcPts val="1400"/>
              </a:lnSpc>
              <a:buNone/>
            </a:pPr>
            <a:r>
              <a:rPr lang="en-US" sz="1000" b="1" spc="100" kern="0" dirty="0">
                <a:solidFill>
                  <a:srgbClr val="F5F4EF">
                    <a:alpha val="40000"/>
                  </a:srgbClr>
                </a:solidFill>
                <a:latin typeface="IBM Plex Sans" pitchFamily="34" charset="0"/>
                <a:ea typeface="IBM Plex Sans" pitchFamily="34" charset="-122"/>
                <a:cs typeface="IBM Plex Sans" pitchFamily="34" charset="-120"/>
              </a:rPr>
              <a:t>EXTRA</a:t>
            </a:r>
            <a:endParaRPr lang="en-US" sz="1000" dirty="0">
              <a:latin typeface="IBM Plex Sans" charset="0"/>
              <a:ea typeface="IBM Plex Sans" charset="0"/>
              <a:cs typeface="IBM Plex Sans" charset="0"/>
            </a:endParaRPr>
          </a:p>
        </p:txBody>
      </p:sp>
      <p:sp>
        <p:nvSpPr>
          <p:cNvPr id="64" name="Text 62"/>
          <p:cNvSpPr/>
          <p:nvPr/>
        </p:nvSpPr>
        <p:spPr>
          <a:xfrm>
            <a:off x="9751299" y="5776516"/>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D0612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A8491A">
                    <a:alpha val="40000"/>
                  </a:srgbClr>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65" name="Text 63"/>
          <p:cNvSpPr/>
          <p:nvPr/>
        </p:nvSpPr>
        <p:spPr>
          <a:xfrm>
            <a:off x="10703005" y="5767625"/>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INTRODUÇÃO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que é um RTOS</a:t>
            </a:r>
            <a:endParaRPr lang="en-US" sz="3200" dirty="0">
              <a:latin typeface="IBM Plex Sans" charset="0"/>
              <a:ea typeface="IBM Plex Sans" charset="0"/>
              <a:cs typeface="IBM Plex Sans" charset="0"/>
            </a:endParaRPr>
          </a:p>
        </p:txBody>
      </p:sp>
      <p:sp>
        <p:nvSpPr>
          <p:cNvPr id="4" name="Text 2"/>
          <p:cNvSpPr/>
          <p:nvPr/>
        </p:nvSpPr>
        <p:spPr>
          <a:xfrm>
            <a:off x="812800" y="3048000"/>
            <a:ext cx="5494020" cy="878840"/>
          </a:xfrm>
          <a:prstGeom prst="rect">
            <a:avLst/>
          </a:prstGeom>
          <a:noFill/>
          <a:ln/>
        </p:spPr>
        <p:txBody>
          <a:bodyPr wrap="square" lIns="0" tIns="0" rIns="0" bIns="0" rtlCol="0" anchor="t">
            <a:normAutofit/>
          </a:bodyPr>
          <a:lstStyle/>
          <a:p>
            <a:pPr algn="l" indent="0" marL="0">
              <a:lnSpc>
                <a:spcPts val="3360"/>
              </a:lnSpc>
              <a:buNone/>
            </a:pPr>
            <a:r>
              <a:rPr lang="en-US" sz="2800" b="1" dirty="0">
                <a:solidFill>
                  <a:srgbClr val="14222E"/>
                </a:solidFill>
                <a:latin typeface="IBM Plex Sans" pitchFamily="34" charset="0"/>
                <a:ea typeface="IBM Plex Sans" pitchFamily="34" charset="-122"/>
                <a:cs typeface="IBM Plex Sans" pitchFamily="34" charset="-120"/>
              </a:rPr>
              <a:t>Um sistema operativo </a:t>
            </a:r>
            <a:r>
              <a:rPr lang="en-US" sz="2800" b="1" dirty="0">
                <a:solidFill>
                  <a:srgbClr val="17766A"/>
                </a:solidFill>
                <a:latin typeface="IBM Plex Sans" pitchFamily="34" charset="0"/>
                <a:ea typeface="IBM Plex Sans" pitchFamily="34" charset="-122"/>
                <a:cs typeface="IBM Plex Sans" pitchFamily="34" charset="-120"/>
              </a:rPr>
              <a:t>pequeno</a:t>
            </a:r>
            <a:r>
              <a:rPr lang="en-US" sz="2800" b="1" dirty="0">
                <a:solidFill>
                  <a:srgbClr val="14222E"/>
                </a:solidFill>
                <a:latin typeface="IBM Plex Sans" pitchFamily="34" charset="0"/>
                <a:ea typeface="IBM Plex Sans" pitchFamily="34" charset="-122"/>
                <a:cs typeface="IBM Plex Sans" pitchFamily="34" charset="-120"/>
              </a:rPr>
              <a:t> e </a:t>
            </a:r>
            <a:r>
              <a:rPr lang="en-US" sz="2800" b="1" dirty="0">
                <a:solidFill>
                  <a:srgbClr val="17766A"/>
                </a:solidFill>
                <a:latin typeface="IBM Plex Sans" pitchFamily="34" charset="0"/>
                <a:ea typeface="IBM Plex Sans" pitchFamily="34" charset="-122"/>
                <a:cs typeface="IBM Plex Sans" pitchFamily="34" charset="-120"/>
              </a:rPr>
              <a:t>determinístico</a:t>
            </a:r>
            <a:r>
              <a:rPr lang="en-US" sz="2800" b="1" dirty="0">
                <a:solidFill>
                  <a:srgbClr val="14222E"/>
                </a:solidFill>
                <a:latin typeface="IBM Plex Sans" pitchFamily="34" charset="0"/>
                <a:ea typeface="IBM Plex Sans" pitchFamily="34" charset="-122"/>
                <a:cs typeface="IBM Plex Sans" pitchFamily="34" charset="-120"/>
              </a:rPr>
              <a:t>.</a:t>
            </a:r>
            <a:endParaRPr lang="en-US" sz="2800" dirty="0">
              <a:latin typeface="IBM Plex Sans" charset="0"/>
              <a:ea typeface="IBM Plex Sans" charset="0"/>
              <a:cs typeface="IBM Plex Sans" charset="0"/>
            </a:endParaRPr>
          </a:p>
        </p:txBody>
      </p:sp>
      <p:sp>
        <p:nvSpPr>
          <p:cNvPr id="5" name="Text 3"/>
          <p:cNvSpPr/>
          <p:nvPr/>
        </p:nvSpPr>
        <p:spPr>
          <a:xfrm>
            <a:off x="812800" y="4104641"/>
            <a:ext cx="5494020"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05C"/>
                </a:solidFill>
                <a:latin typeface="IBM Plex Sans" pitchFamily="34" charset="0"/>
                <a:ea typeface="IBM Plex Sans" pitchFamily="34" charset="-122"/>
                <a:cs typeface="IBM Plex Sans" pitchFamily="34" charset="-120"/>
              </a:rPr>
              <a:t>Pensado para sistemas embebidos que têm de reagir a eventos externos dentro de restrições temporais estritas.</a:t>
            </a:r>
            <a:endParaRPr lang="en-US" sz="1600" dirty="0">
              <a:latin typeface="IBM Plex Sans" charset="0"/>
              <a:ea typeface="IBM Plex Sans" charset="0"/>
              <a:cs typeface="IBM Plex Sans" charset="0"/>
            </a:endParaRPr>
          </a:p>
        </p:txBody>
      </p:sp>
      <p:sp>
        <p:nvSpPr>
          <p:cNvPr id="6" name="Shape 4"/>
          <p:cNvSpPr/>
          <p:nvPr/>
        </p:nvSpPr>
        <p:spPr>
          <a:xfrm>
            <a:off x="6556375" y="1903095"/>
            <a:ext cx="4819650" cy="1202690"/>
          </a:xfrm>
          <a:prstGeom prst="roundRect">
            <a:avLst>
              <a:gd name="adj" fmla="val 8184"/>
            </a:avLst>
          </a:prstGeom>
          <a:solidFill>
            <a:srgbClr val="FCFBF8"/>
          </a:solidFill>
          <a:ln w="6350">
            <a:solidFill>
              <a:srgbClr val="DCDAD2"/>
            </a:solidFill>
            <a:prstDash val="solid"/>
          </a:ln>
        </p:spPr>
      </p:sp>
      <p:sp>
        <p:nvSpPr>
          <p:cNvPr id="7" name="Text 5"/>
          <p:cNvSpPr/>
          <p:nvPr/>
        </p:nvSpPr>
        <p:spPr>
          <a:xfrm>
            <a:off x="6761480" y="2108200"/>
            <a:ext cx="45417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22E"/>
                </a:solidFill>
                <a:latin typeface="IBM Plex Sans" pitchFamily="34" charset="0"/>
                <a:ea typeface="IBM Plex Sans" pitchFamily="34" charset="-122"/>
                <a:cs typeface="IBM Plex Sans" pitchFamily="34" charset="-120"/>
              </a:rPr>
              <a:t>Onde se usa</a:t>
            </a:r>
            <a:endParaRPr lang="en-US" sz="1600" dirty="0">
              <a:latin typeface="IBM Plex Sans" charset="0"/>
              <a:ea typeface="IBM Plex Sans" charset="0"/>
              <a:cs typeface="IBM Plex Sans" charset="0"/>
            </a:endParaRPr>
          </a:p>
        </p:txBody>
      </p:sp>
      <p:sp>
        <p:nvSpPr>
          <p:cNvPr id="8" name="Text 6"/>
          <p:cNvSpPr/>
          <p:nvPr/>
        </p:nvSpPr>
        <p:spPr>
          <a:xfrm>
            <a:off x="6761480" y="2402841"/>
            <a:ext cx="454172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Dispositivos médicos, ECUs automóveis e outros sistemas embebidos.</a:t>
            </a:r>
            <a:endParaRPr lang="en-US" sz="1400" dirty="0">
              <a:latin typeface="IBM Plex Sans" charset="0"/>
              <a:ea typeface="IBM Plex Sans" charset="0"/>
              <a:cs typeface="IBM Plex Sans" charset="0"/>
            </a:endParaRPr>
          </a:p>
        </p:txBody>
      </p:sp>
      <p:sp>
        <p:nvSpPr>
          <p:cNvPr id="9" name="Shape 7"/>
          <p:cNvSpPr/>
          <p:nvPr/>
        </p:nvSpPr>
        <p:spPr>
          <a:xfrm>
            <a:off x="6556375" y="3264536"/>
            <a:ext cx="4819650" cy="1202690"/>
          </a:xfrm>
          <a:prstGeom prst="roundRect">
            <a:avLst>
              <a:gd name="adj" fmla="val 8184"/>
            </a:avLst>
          </a:prstGeom>
          <a:solidFill>
            <a:srgbClr val="FCFBF8"/>
          </a:solidFill>
          <a:ln w="6350">
            <a:solidFill>
              <a:srgbClr val="DCDAD2"/>
            </a:solidFill>
            <a:prstDash val="solid"/>
          </a:ln>
        </p:spPr>
      </p:sp>
      <p:sp>
        <p:nvSpPr>
          <p:cNvPr id="10" name="Text 8"/>
          <p:cNvSpPr/>
          <p:nvPr/>
        </p:nvSpPr>
        <p:spPr>
          <a:xfrm>
            <a:off x="6761480" y="3469641"/>
            <a:ext cx="45417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22E"/>
                </a:solidFill>
                <a:latin typeface="IBM Plex Sans" pitchFamily="34" charset="0"/>
                <a:ea typeface="IBM Plex Sans" pitchFamily="34" charset="-122"/>
                <a:cs typeface="IBM Plex Sans" pitchFamily="34" charset="-120"/>
              </a:rPr>
              <a:t>Mais leve que um SO de uso geral</a:t>
            </a:r>
            <a:endParaRPr lang="en-US" sz="1600" dirty="0">
              <a:latin typeface="IBM Plex Sans" charset="0"/>
              <a:ea typeface="IBM Plex Sans" charset="0"/>
              <a:cs typeface="IBM Plex Sans" charset="0"/>
            </a:endParaRPr>
          </a:p>
        </p:txBody>
      </p:sp>
      <p:sp>
        <p:nvSpPr>
          <p:cNvPr id="11" name="Text 9"/>
          <p:cNvSpPr/>
          <p:nvPr/>
        </p:nvSpPr>
        <p:spPr>
          <a:xfrm>
            <a:off x="6761480" y="3764280"/>
            <a:ext cx="454172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Adequado a dispositivos com memória, CPU e energia limitadas.</a:t>
            </a:r>
            <a:endParaRPr lang="en-US" sz="1400" dirty="0">
              <a:latin typeface="IBM Plex Sans" charset="0"/>
              <a:ea typeface="IBM Plex Sans" charset="0"/>
              <a:cs typeface="IBM Plex Sans" charset="0"/>
            </a:endParaRPr>
          </a:p>
        </p:txBody>
      </p:sp>
      <p:sp>
        <p:nvSpPr>
          <p:cNvPr id="12" name="Shape 10"/>
          <p:cNvSpPr/>
          <p:nvPr/>
        </p:nvSpPr>
        <p:spPr>
          <a:xfrm>
            <a:off x="6556375" y="4625975"/>
            <a:ext cx="4819650" cy="1202690"/>
          </a:xfrm>
          <a:prstGeom prst="roundRect">
            <a:avLst>
              <a:gd name="adj" fmla="val 8184"/>
            </a:avLst>
          </a:prstGeom>
          <a:solidFill>
            <a:srgbClr val="FCFBF8"/>
          </a:solidFill>
          <a:ln w="6350">
            <a:solidFill>
              <a:srgbClr val="DCDAD2"/>
            </a:solidFill>
            <a:prstDash val="solid"/>
          </a:ln>
        </p:spPr>
      </p:sp>
      <p:sp>
        <p:nvSpPr>
          <p:cNvPr id="13" name="Text 11"/>
          <p:cNvSpPr/>
          <p:nvPr/>
        </p:nvSpPr>
        <p:spPr>
          <a:xfrm>
            <a:off x="6761480" y="4831080"/>
            <a:ext cx="454172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22E"/>
                </a:solidFill>
                <a:latin typeface="IBM Plex Sans" pitchFamily="34" charset="0"/>
                <a:ea typeface="IBM Plex Sans" pitchFamily="34" charset="-122"/>
                <a:cs typeface="IBM Plex Sans" pitchFamily="34" charset="-120"/>
              </a:rPr>
              <a:t>Útil mesmo sem hard real-time</a:t>
            </a:r>
            <a:endParaRPr lang="en-US" sz="1600" dirty="0">
              <a:latin typeface="IBM Plex Sans" charset="0"/>
              <a:ea typeface="IBM Plex Sans" charset="0"/>
              <a:cs typeface="IBM Plex Sans" charset="0"/>
            </a:endParaRPr>
          </a:p>
        </p:txBody>
      </p:sp>
      <p:sp>
        <p:nvSpPr>
          <p:cNvPr id="14" name="Text 12"/>
          <p:cNvSpPr/>
          <p:nvPr/>
        </p:nvSpPr>
        <p:spPr>
          <a:xfrm>
            <a:off x="6761480" y="5125720"/>
            <a:ext cx="454172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Muitas vezes só 1 ou 2 requisitos exigem timing determinístico.</a:t>
            </a:r>
            <a:endParaRPr lang="en-US" sz="1400" dirty="0">
              <a:latin typeface="IBM Plex Sans" charset="0"/>
              <a:ea typeface="IBM Plex Sans" charset="0"/>
              <a:cs typeface="IBM Plex Sans" charset="0"/>
            </a:endParaRPr>
          </a:p>
        </p:txBody>
      </p:sp>
      <p:sp>
        <p:nvSpPr>
          <p:cNvPr id="15" name="Text 13"/>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16" name="Text 14"/>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MULTITASKING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Kernel, threads e tasks</a:t>
            </a:r>
            <a:endParaRPr lang="en-US" sz="3200" dirty="0">
              <a:latin typeface="IBM Plex Sans" charset="0"/>
              <a:ea typeface="IBM Plex Sans" charset="0"/>
              <a:cs typeface="IBM Plex Sans" charset="0"/>
            </a:endParaRPr>
          </a:p>
        </p:txBody>
      </p:sp>
      <p:sp>
        <p:nvSpPr>
          <p:cNvPr id="4" name="Text 2"/>
          <p:cNvSpPr/>
          <p:nvPr/>
        </p:nvSpPr>
        <p:spPr>
          <a:xfrm>
            <a:off x="812800" y="1899920"/>
            <a:ext cx="10883392"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05C"/>
                </a:solidFill>
                <a:latin typeface="IBM Plex Sans" pitchFamily="34" charset="0"/>
                <a:ea typeface="IBM Plex Sans" pitchFamily="34" charset="-122"/>
                <a:cs typeface="IBM Plex Sans" pitchFamily="34" charset="-120"/>
              </a:rPr>
              <a:t>O </a:t>
            </a:r>
            <a:r>
              <a:rPr lang="en-US" sz="1600" b="1" dirty="0">
                <a:solidFill>
                  <a:srgbClr val="14222E"/>
                </a:solidFill>
                <a:latin typeface="IBM Plex Sans" pitchFamily="34" charset="0"/>
                <a:ea typeface="IBM Plex Sans" pitchFamily="34" charset="-122"/>
                <a:cs typeface="IBM Plex Sans" pitchFamily="34" charset="-120"/>
              </a:rPr>
              <a:t>kernel</a:t>
            </a:r>
            <a:r>
              <a:rPr lang="en-US" sz="1600" dirty="0">
                <a:solidFill>
                  <a:srgbClr val="44505C"/>
                </a:solidFill>
                <a:latin typeface="IBM Plex Sans" pitchFamily="34" charset="0"/>
                <a:ea typeface="IBM Plex Sans" pitchFamily="34" charset="-122"/>
                <a:cs typeface="IBM Plex Sans" pitchFamily="34" charset="-120"/>
              </a:rPr>
              <a:t> é o componente central do SO. Se consegue executar várias threads aparentemente em simultâneo, o SO é </a:t>
            </a:r>
            <a:r>
              <a:rPr lang="en-US" sz="1600" b="1" dirty="0">
                <a:solidFill>
                  <a:srgbClr val="14222E"/>
                </a:solidFill>
                <a:latin typeface="IBM Plex Sans" pitchFamily="34" charset="0"/>
                <a:ea typeface="IBM Plex Sans" pitchFamily="34" charset="-122"/>
                <a:cs typeface="IBM Plex Sans" pitchFamily="34" charset="-120"/>
              </a:rPr>
              <a:t>multitasking</a:t>
            </a:r>
            <a:r>
              <a:rPr lang="en-US" sz="1600" dirty="0">
                <a:solidFill>
                  <a:srgbClr val="44505C"/>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p:txBody>
      </p:sp>
      <p:sp>
        <p:nvSpPr>
          <p:cNvPr id="5" name="Shape 3"/>
          <p:cNvSpPr/>
          <p:nvPr/>
        </p:nvSpPr>
        <p:spPr>
          <a:xfrm>
            <a:off x="815975" y="2797175"/>
            <a:ext cx="5175250" cy="2137410"/>
          </a:xfrm>
          <a:prstGeom prst="roundRect">
            <a:avLst>
              <a:gd name="adj" fmla="val 4605"/>
            </a:avLst>
          </a:prstGeom>
          <a:solidFill>
            <a:srgbClr val="FCFBF8"/>
          </a:solidFill>
          <a:ln w="6350">
            <a:solidFill>
              <a:srgbClr val="DCDAD2"/>
            </a:solidFill>
            <a:prstDash val="solid"/>
          </a:ln>
        </p:spPr>
      </p:sp>
      <p:sp>
        <p:nvSpPr>
          <p:cNvPr id="6" name="Text 4"/>
          <p:cNvSpPr/>
          <p:nvPr/>
        </p:nvSpPr>
        <p:spPr>
          <a:xfrm>
            <a:off x="1071880" y="305308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SO DE USO GERAL · EX. LINUX</a:t>
            </a:r>
            <a:endParaRPr lang="en-US" sz="1200" dirty="0">
              <a:latin typeface="IBM Plex Sans" charset="0"/>
              <a:ea typeface="IBM Plex Sans" charset="0"/>
              <a:cs typeface="IBM Plex Sans" charset="0"/>
            </a:endParaRPr>
          </a:p>
        </p:txBody>
      </p:sp>
      <p:sp>
        <p:nvSpPr>
          <p:cNvPr id="7" name="Text 5"/>
          <p:cNvSpPr/>
          <p:nvPr/>
        </p:nvSpPr>
        <p:spPr>
          <a:xfrm>
            <a:off x="1071880" y="339344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22E"/>
                </a:solidFill>
                <a:latin typeface="IBM Plex Sans" pitchFamily="34" charset="0"/>
                <a:ea typeface="IBM Plex Sans" pitchFamily="34" charset="-122"/>
                <a:cs typeface="IBM Plex Sans" pitchFamily="34" charset="-120"/>
              </a:rPr>
              <a:t>Processos e threads</a:t>
            </a:r>
            <a:endParaRPr lang="en-US" sz="2000" dirty="0">
              <a:latin typeface="IBM Plex Sans" charset="0"/>
              <a:ea typeface="IBM Plex Sans" charset="0"/>
              <a:cs typeface="IBM Plex Sans" charset="0"/>
            </a:endParaRPr>
          </a:p>
        </p:txBody>
      </p:sp>
      <p:sp>
        <p:nvSpPr>
          <p:cNvPr id="8" name="Text 6"/>
          <p:cNvSpPr/>
          <p:nvPr/>
        </p:nvSpPr>
        <p:spPr>
          <a:xfrm>
            <a:off x="1275080" y="3825241"/>
            <a:ext cx="4594047" cy="87884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Vários utilizadores partilham o processador</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Cada programa = um ou mais threads</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Memória virtual separa processos</a:t>
            </a:r>
            <a:endParaRPr lang="en-US" sz="1600" dirty="0">
              <a:latin typeface="IBM Plex Sans" charset="0"/>
              <a:ea typeface="IBM Plex Sans" charset="0"/>
              <a:cs typeface="IBM Plex Sans" charset="0"/>
            </a:endParaRPr>
          </a:p>
        </p:txBody>
      </p:sp>
      <p:sp>
        <p:nvSpPr>
          <p:cNvPr id="9" name="Shape 7"/>
          <p:cNvSpPr/>
          <p:nvPr/>
        </p:nvSpPr>
        <p:spPr>
          <a:xfrm>
            <a:off x="6200775" y="2797175"/>
            <a:ext cx="5175250" cy="2137410"/>
          </a:xfrm>
          <a:prstGeom prst="roundRect">
            <a:avLst>
              <a:gd name="adj" fmla="val 4605"/>
            </a:avLst>
          </a:prstGeom>
          <a:solidFill>
            <a:srgbClr val="E3EFEC"/>
          </a:solidFill>
          <a:ln w="6350">
            <a:solidFill>
              <a:srgbClr val="DCDAD2"/>
            </a:solidFill>
            <a:prstDash val="solid"/>
          </a:ln>
        </p:spPr>
      </p:sp>
      <p:sp>
        <p:nvSpPr>
          <p:cNvPr id="10" name="Text 8"/>
          <p:cNvSpPr/>
          <p:nvPr/>
        </p:nvSpPr>
        <p:spPr>
          <a:xfrm>
            <a:off x="6456680" y="305308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RTOS PEQUENO · EX. FREERTOS</a:t>
            </a:r>
            <a:endParaRPr lang="en-US" sz="1200" dirty="0">
              <a:latin typeface="IBM Plex Sans" charset="0"/>
              <a:ea typeface="IBM Plex Sans" charset="0"/>
              <a:cs typeface="IBM Plex Sans" charset="0"/>
            </a:endParaRPr>
          </a:p>
        </p:txBody>
      </p:sp>
      <p:sp>
        <p:nvSpPr>
          <p:cNvPr id="11" name="Text 9"/>
          <p:cNvSpPr/>
          <p:nvPr/>
        </p:nvSpPr>
        <p:spPr>
          <a:xfrm>
            <a:off x="6456680" y="3393441"/>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22E"/>
                </a:solidFill>
                <a:latin typeface="IBM Plex Sans" pitchFamily="34" charset="0"/>
                <a:ea typeface="IBM Plex Sans" pitchFamily="34" charset="-122"/>
                <a:cs typeface="IBM Plex Sans" pitchFamily="34" charset="-120"/>
              </a:rPr>
              <a:t>Tasks</a:t>
            </a:r>
            <a:endParaRPr lang="en-US" sz="2000" dirty="0">
              <a:latin typeface="IBM Plex Sans" charset="0"/>
              <a:ea typeface="IBM Plex Sans" charset="0"/>
              <a:cs typeface="IBM Plex Sans" charset="0"/>
            </a:endParaRPr>
          </a:p>
        </p:txBody>
      </p:sp>
      <p:sp>
        <p:nvSpPr>
          <p:cNvPr id="12" name="Text 10"/>
          <p:cNvSpPr/>
          <p:nvPr/>
        </p:nvSpPr>
        <p:spPr>
          <a:xfrm>
            <a:off x="6659880" y="3825241"/>
            <a:ext cx="4594047" cy="87884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Sem memória virtual</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Logo, sem distinção processo / thread</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Aos threads chama-se tasks</a:t>
            </a:r>
            <a:endParaRPr lang="en-US" sz="1600" dirty="0">
              <a:latin typeface="IBM Plex Sans" charset="0"/>
              <a:ea typeface="IBM Plex Sans" charset="0"/>
              <a:cs typeface="IBM Plex Sans" charset="0"/>
            </a:endParaRPr>
          </a:p>
        </p:txBody>
      </p:sp>
      <p:sp>
        <p:nvSpPr>
          <p:cNvPr id="13"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MULTITASKING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Porque simplifica o design</a:t>
            </a:r>
            <a:endParaRPr lang="en-US" sz="3200" dirty="0">
              <a:latin typeface="IBM Plex Sans" charset="0"/>
              <a:ea typeface="IBM Plex Sans" charset="0"/>
              <a:cs typeface="IBM Plex Sans" charset="0"/>
            </a:endParaRPr>
          </a:p>
        </p:txBody>
      </p:sp>
      <p:sp>
        <p:nvSpPr>
          <p:cNvPr id="4" name="Shape 2"/>
          <p:cNvSpPr/>
          <p:nvPr/>
        </p:nvSpPr>
        <p:spPr>
          <a:xfrm>
            <a:off x="815975" y="1903096"/>
            <a:ext cx="3380264" cy="3935730"/>
          </a:xfrm>
          <a:prstGeom prst="roundRect">
            <a:avLst>
              <a:gd name="adj" fmla="val 2912"/>
            </a:avLst>
          </a:prstGeom>
          <a:solidFill>
            <a:srgbClr val="FCFBF8"/>
          </a:solidFill>
          <a:ln w="6350">
            <a:solidFill>
              <a:srgbClr val="DCDAD2"/>
            </a:solidFill>
            <a:prstDash val="solid"/>
          </a:ln>
        </p:spPr>
      </p:sp>
      <p:pic>
        <p:nvPicPr>
          <p:cNvPr id="5" name="Image 0" descr="Settings">    </p:cNvPr>
          <p:cNvPicPr>
            <a:picLocks noChangeAspect="1"/>
          </p:cNvPicPr>
          <p:nvPr/>
        </p:nvPicPr>
        <p:blipFill>
          <a:blip r:embed="rId1"/>
          <a:srcRect l="0" r="0" t="0" b="0"/>
          <a:stretch/>
        </p:blipFill>
        <p:spPr>
          <a:xfrm>
            <a:off x="1071880" y="2159000"/>
            <a:ext cx="355600" cy="355600"/>
          </a:xfrm>
          <a:prstGeom prst="rect">
            <a:avLst/>
          </a:prstGeom>
        </p:spPr>
      </p:pic>
      <p:sp>
        <p:nvSpPr>
          <p:cNvPr id="6" name="Text 3"/>
          <p:cNvSpPr/>
          <p:nvPr/>
        </p:nvSpPr>
        <p:spPr>
          <a:xfrm>
            <a:off x="1071880" y="266700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Partir a aplicação</a:t>
            </a:r>
            <a:endParaRPr lang="en-US" sz="1800" dirty="0">
              <a:latin typeface="IBM Plex Sans" charset="0"/>
              <a:ea typeface="IBM Plex Sans" charset="0"/>
              <a:cs typeface="IBM Plex Sans" charset="0"/>
            </a:endParaRPr>
          </a:p>
        </p:txBody>
      </p:sp>
      <p:sp>
        <p:nvSpPr>
          <p:cNvPr id="7" name="Text 4"/>
          <p:cNvSpPr/>
          <p:nvPr/>
        </p:nvSpPr>
        <p:spPr>
          <a:xfrm>
            <a:off x="1071880" y="3093721"/>
            <a:ext cx="2954507"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C"/>
                </a:solidFill>
                <a:latin typeface="IBM Plex Sans" pitchFamily="34" charset="0"/>
                <a:ea typeface="IBM Plex Sans" pitchFamily="34" charset="-122"/>
                <a:cs typeface="IBM Plex Sans" pitchFamily="34" charset="-120"/>
              </a:rPr>
              <a:t>Multitasking e comunicação entre tasks permitem dividir uma aplicação complexa em tasks mais pequenas e geríveis.</a:t>
            </a:r>
            <a:endParaRPr lang="en-US" sz="1400" dirty="0">
              <a:latin typeface="IBM Plex Sans" charset="0"/>
              <a:ea typeface="IBM Plex Sans" charset="0"/>
              <a:cs typeface="IBM Plex Sans" charset="0"/>
            </a:endParaRPr>
          </a:p>
        </p:txBody>
      </p:sp>
      <p:sp>
        <p:nvSpPr>
          <p:cNvPr id="8" name="Shape 5"/>
          <p:cNvSpPr/>
          <p:nvPr/>
        </p:nvSpPr>
        <p:spPr>
          <a:xfrm>
            <a:off x="4405789" y="1903096"/>
            <a:ext cx="3380343" cy="3935730"/>
          </a:xfrm>
          <a:prstGeom prst="roundRect">
            <a:avLst>
              <a:gd name="adj" fmla="val 2912"/>
            </a:avLst>
          </a:prstGeom>
          <a:solidFill>
            <a:srgbClr val="FCFBF8"/>
          </a:solidFill>
          <a:ln w="6350">
            <a:solidFill>
              <a:srgbClr val="DCDAD2"/>
            </a:solidFill>
            <a:prstDash val="solid"/>
          </a:ln>
        </p:spPr>
      </p:sp>
      <p:pic>
        <p:nvPicPr>
          <p:cNvPr id="9" name="Image 1" descr="Users">    </p:cNvPr>
          <p:cNvPicPr>
            <a:picLocks noChangeAspect="1"/>
          </p:cNvPicPr>
          <p:nvPr/>
        </p:nvPicPr>
        <p:blipFill>
          <a:blip r:embed="rId2"/>
          <a:srcRect l="0" r="0" t="0" b="0"/>
          <a:stretch/>
        </p:blipFill>
        <p:spPr>
          <a:xfrm>
            <a:off x="4661694" y="2159000"/>
            <a:ext cx="355600" cy="355600"/>
          </a:xfrm>
          <a:prstGeom prst="rect">
            <a:avLst/>
          </a:prstGeom>
        </p:spPr>
      </p:pic>
      <p:sp>
        <p:nvSpPr>
          <p:cNvPr id="10" name="Text 6"/>
          <p:cNvSpPr/>
          <p:nvPr/>
        </p:nvSpPr>
        <p:spPr>
          <a:xfrm>
            <a:off x="4661694" y="26670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Testar, dividir, reutilizar</a:t>
            </a:r>
            <a:endParaRPr lang="en-US" sz="1800" dirty="0">
              <a:latin typeface="IBM Plex Sans" charset="0"/>
              <a:ea typeface="IBM Plex Sans" charset="0"/>
              <a:cs typeface="IBM Plex Sans" charset="0"/>
            </a:endParaRPr>
          </a:p>
        </p:txBody>
      </p:sp>
      <p:sp>
        <p:nvSpPr>
          <p:cNvPr id="11" name="Text 7"/>
          <p:cNvSpPr/>
          <p:nvPr/>
        </p:nvSpPr>
        <p:spPr>
          <a:xfrm>
            <a:off x="4661694" y="3093721"/>
            <a:ext cx="295458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C"/>
                </a:solidFill>
                <a:latin typeface="IBM Plex Sans" pitchFamily="34" charset="0"/>
                <a:ea typeface="IBM Plex Sans" pitchFamily="34" charset="-122"/>
                <a:cs typeface="IBM Plex Sans" pitchFamily="34" charset="-120"/>
              </a:rPr>
              <a:t>A partição facilita os testes, a divisão do trabalho entre equipas e a reutilização de código.</a:t>
            </a:r>
            <a:endParaRPr lang="en-US" sz="1400" dirty="0">
              <a:latin typeface="IBM Plex Sans" charset="0"/>
              <a:ea typeface="IBM Plex Sans" charset="0"/>
              <a:cs typeface="IBM Plex Sans" charset="0"/>
            </a:endParaRPr>
          </a:p>
        </p:txBody>
      </p:sp>
      <p:sp>
        <p:nvSpPr>
          <p:cNvPr id="12" name="Shape 8"/>
          <p:cNvSpPr/>
          <p:nvPr/>
        </p:nvSpPr>
        <p:spPr>
          <a:xfrm>
            <a:off x="7995682" y="1903096"/>
            <a:ext cx="3380343" cy="3935730"/>
          </a:xfrm>
          <a:prstGeom prst="roundRect">
            <a:avLst>
              <a:gd name="adj" fmla="val 2912"/>
            </a:avLst>
          </a:prstGeom>
          <a:solidFill>
            <a:srgbClr val="FCFBF8"/>
          </a:solidFill>
          <a:ln w="6350">
            <a:solidFill>
              <a:srgbClr val="DCDAD2"/>
            </a:solidFill>
            <a:prstDash val="solid"/>
          </a:ln>
        </p:spPr>
      </p:sp>
      <p:pic>
        <p:nvPicPr>
          <p:cNvPr id="13" name="Image 2" descr="Clock">    </p:cNvPr>
          <p:cNvPicPr>
            <a:picLocks noChangeAspect="1"/>
          </p:cNvPicPr>
          <p:nvPr/>
        </p:nvPicPr>
        <p:blipFill>
          <a:blip r:embed="rId3"/>
          <a:srcRect l="0" r="0" t="0" b="0"/>
          <a:stretch/>
        </p:blipFill>
        <p:spPr>
          <a:xfrm>
            <a:off x="8251587" y="2159000"/>
            <a:ext cx="355600" cy="355600"/>
          </a:xfrm>
          <a:prstGeom prst="rect">
            <a:avLst/>
          </a:prstGeom>
        </p:spPr>
      </p:pic>
      <p:sp>
        <p:nvSpPr>
          <p:cNvPr id="14" name="Text 9"/>
          <p:cNvSpPr/>
          <p:nvPr/>
        </p:nvSpPr>
        <p:spPr>
          <a:xfrm>
            <a:off x="8251587" y="26670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Timing no kernel</a:t>
            </a:r>
            <a:endParaRPr lang="en-US" sz="1800" dirty="0">
              <a:latin typeface="IBM Plex Sans" charset="0"/>
              <a:ea typeface="IBM Plex Sans" charset="0"/>
              <a:cs typeface="IBM Plex Sans" charset="0"/>
            </a:endParaRPr>
          </a:p>
        </p:txBody>
      </p:sp>
      <p:sp>
        <p:nvSpPr>
          <p:cNvPr id="15" name="Text 10"/>
          <p:cNvSpPr/>
          <p:nvPr/>
        </p:nvSpPr>
        <p:spPr>
          <a:xfrm>
            <a:off x="8251587" y="3093721"/>
            <a:ext cx="2954589"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C"/>
                </a:solidFill>
                <a:latin typeface="IBM Plex Sans" pitchFamily="34" charset="0"/>
                <a:ea typeface="IBM Plex Sans" pitchFamily="34" charset="-122"/>
                <a:cs typeface="IBM Plex Sans" pitchFamily="34" charset="-120"/>
              </a:rPr>
              <a:t>Os detalhes de timing e sequenciação passam a ser responsabilidade do kernel, e não do código da aplicação.</a:t>
            </a:r>
            <a:endParaRPr lang="en-US" sz="1400" dirty="0">
              <a:latin typeface="IBM Plex Sans" charset="0"/>
              <a:ea typeface="IBM Plex Sans" charset="0"/>
              <a:cs typeface="IBM Plex Sans" charset="0"/>
            </a:endParaRPr>
          </a:p>
        </p:txBody>
      </p:sp>
      <p:sp>
        <p:nvSpPr>
          <p:cNvPr id="16"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17"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MULTITASKING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Multitasking vs. concorrência</a:t>
            </a:r>
            <a:endParaRPr lang="en-US" sz="3200" dirty="0">
              <a:latin typeface="IBM Plex Sans" charset="0"/>
              <a:ea typeface="IBM Plex Sans" charset="0"/>
              <a:cs typeface="IBM Plex Sans" charset="0"/>
            </a:endParaRPr>
          </a:p>
        </p:txBody>
      </p:sp>
      <p:sp>
        <p:nvSpPr>
          <p:cNvPr id="4" name="Text 2"/>
          <p:cNvSpPr/>
          <p:nvPr/>
        </p:nvSpPr>
        <p:spPr>
          <a:xfrm>
            <a:off x="812800" y="174752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C"/>
                </a:solidFill>
                <a:latin typeface="IBM Plex Sans" pitchFamily="34" charset="0"/>
                <a:ea typeface="IBM Plex Sans" pitchFamily="34" charset="-122"/>
                <a:cs typeface="IBM Plex Sans" pitchFamily="34" charset="-120"/>
              </a:rPr>
              <a:t>Um core executa uma task de cada vez; ao trocar rapidamente entre elas, o SO faz parecer que correm em simultâneo. Com dois cores, duas correm de facto.</a:t>
            </a:r>
            <a:endParaRPr lang="en-US" sz="1600" dirty="0">
              <a:latin typeface="IBM Plex Sans" charset="0"/>
              <a:ea typeface="IBM Plex Sans" charset="0"/>
              <a:cs typeface="IBM Plex Sans" charset="0"/>
            </a:endParaRPr>
          </a:p>
        </p:txBody>
      </p:sp>
      <p:pic>
        <p:nvPicPr>
          <p:cNvPr id="5" name="Image 0" descr="Em cima, três tasks parecem correr em paralelo; ao meio, num só core, alternam uma de cada vez; em baixo, com dois cores, em cada instante correm duas tasks ao mesmo tempo, uma em cada core.">    </p:cNvPr>
          <p:cNvPicPr>
            <a:picLocks noChangeAspect="1"/>
          </p:cNvPicPr>
          <p:nvPr/>
        </p:nvPicPr>
        <p:blipFill>
          <a:blip r:embed="rId1"/>
          <a:srcRect l="-25" r="-25" t="0" b="0"/>
          <a:stretch/>
        </p:blipFill>
        <p:spPr>
          <a:xfrm>
            <a:off x="812800" y="2468882"/>
            <a:ext cx="10566400" cy="3238500"/>
          </a:xfrm>
          <a:prstGeom prst="rect">
            <a:avLst/>
          </a:prstGeom>
        </p:spPr>
      </p:pic>
      <p:sp>
        <p:nvSpPr>
          <p:cNvPr id="6" name="Text 3"/>
          <p:cNvSpPr/>
          <p:nvPr/>
        </p:nvSpPr>
        <p:spPr>
          <a:xfrm>
            <a:off x="812800" y="2468882"/>
            <a:ext cx="9156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O que parece: execução concorrente</a:t>
            </a:r>
            <a:endParaRPr lang="en-US" sz="1400" dirty="0">
              <a:latin typeface="IBM Plex Sans" charset="0"/>
              <a:ea typeface="IBM Plex Sans" charset="0"/>
              <a:cs typeface="IBM Plex Sans" charset="0"/>
            </a:endParaRPr>
          </a:p>
        </p:txBody>
      </p:sp>
      <p:sp>
        <p:nvSpPr>
          <p:cNvPr id="7" name="Text 4"/>
          <p:cNvSpPr/>
          <p:nvPr/>
        </p:nvSpPr>
        <p:spPr>
          <a:xfrm>
            <a:off x="812800" y="3510282"/>
            <a:ext cx="9156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O que acontece num único core: uma task de cada vez</a:t>
            </a:r>
            <a:endParaRPr lang="en-US" sz="1400" dirty="0">
              <a:latin typeface="IBM Plex Sans" charset="0"/>
              <a:ea typeface="IBM Plex Sans" charset="0"/>
              <a:cs typeface="IBM Plex Sans" charset="0"/>
            </a:endParaRPr>
          </a:p>
        </p:txBody>
      </p:sp>
      <p:sp>
        <p:nvSpPr>
          <p:cNvPr id="8" name="Text 5"/>
          <p:cNvSpPr/>
          <p:nvPr/>
        </p:nvSpPr>
        <p:spPr>
          <a:xfrm>
            <a:off x="812800" y="4564382"/>
            <a:ext cx="91567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Com dois cores (ex.: RP2350): duas tasks correm mesmo ao mesmo tempo</a:t>
            </a:r>
            <a:endParaRPr lang="en-US" sz="1400" dirty="0">
              <a:latin typeface="IBM Plex Sans" charset="0"/>
              <a:ea typeface="IBM Plex Sans" charset="0"/>
              <a:cs typeface="IBM Plex Sans" charset="0"/>
            </a:endParaRPr>
          </a:p>
        </p:txBody>
      </p:sp>
      <p:sp>
        <p:nvSpPr>
          <p:cNvPr id="9" name="Text 6"/>
          <p:cNvSpPr/>
          <p:nvPr/>
        </p:nvSpPr>
        <p:spPr>
          <a:xfrm>
            <a:off x="812800" y="27482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Task 1</a:t>
            </a:r>
            <a:endParaRPr lang="en-US" sz="1200" dirty="0">
              <a:latin typeface="IBM Plex Sans" charset="0"/>
              <a:ea typeface="IBM Plex Sans" charset="0"/>
              <a:cs typeface="IBM Plex Sans" charset="0"/>
            </a:endParaRPr>
          </a:p>
        </p:txBody>
      </p:sp>
      <p:sp>
        <p:nvSpPr>
          <p:cNvPr id="10" name="Text 7"/>
          <p:cNvSpPr/>
          <p:nvPr/>
        </p:nvSpPr>
        <p:spPr>
          <a:xfrm>
            <a:off x="812800" y="29641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D0612A"/>
                </a:solidFill>
                <a:latin typeface="IBM Plex Sans" pitchFamily="34" charset="0"/>
                <a:ea typeface="IBM Plex Sans" pitchFamily="34" charset="-122"/>
                <a:cs typeface="IBM Plex Sans" pitchFamily="34" charset="-120"/>
              </a:rPr>
              <a:t>Task 2</a:t>
            </a:r>
            <a:endParaRPr lang="en-US" sz="1200" dirty="0">
              <a:latin typeface="IBM Plex Sans" charset="0"/>
              <a:ea typeface="IBM Plex Sans" charset="0"/>
              <a:cs typeface="IBM Plex Sans" charset="0"/>
            </a:endParaRPr>
          </a:p>
        </p:txBody>
      </p:sp>
      <p:sp>
        <p:nvSpPr>
          <p:cNvPr id="11" name="Text 8"/>
          <p:cNvSpPr/>
          <p:nvPr/>
        </p:nvSpPr>
        <p:spPr>
          <a:xfrm>
            <a:off x="812800" y="31800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E9A62"/>
                </a:solidFill>
                <a:latin typeface="IBM Plex Sans" pitchFamily="34" charset="0"/>
                <a:ea typeface="IBM Plex Sans" pitchFamily="34" charset="-122"/>
                <a:cs typeface="IBM Plex Sans" pitchFamily="34" charset="-120"/>
              </a:rPr>
              <a:t>Task 3</a:t>
            </a:r>
            <a:endParaRPr lang="en-US" sz="1200" dirty="0">
              <a:latin typeface="IBM Plex Sans" charset="0"/>
              <a:ea typeface="IBM Plex Sans" charset="0"/>
              <a:cs typeface="IBM Plex Sans" charset="0"/>
            </a:endParaRPr>
          </a:p>
        </p:txBody>
      </p:sp>
      <p:sp>
        <p:nvSpPr>
          <p:cNvPr id="12" name="Text 9"/>
          <p:cNvSpPr/>
          <p:nvPr/>
        </p:nvSpPr>
        <p:spPr>
          <a:xfrm>
            <a:off x="812800" y="38277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Task 1</a:t>
            </a:r>
            <a:endParaRPr lang="en-US" sz="1200" dirty="0">
              <a:latin typeface="IBM Plex Sans" charset="0"/>
              <a:ea typeface="IBM Plex Sans" charset="0"/>
              <a:cs typeface="IBM Plex Sans" charset="0"/>
            </a:endParaRPr>
          </a:p>
        </p:txBody>
      </p:sp>
      <p:sp>
        <p:nvSpPr>
          <p:cNvPr id="13" name="Text 10"/>
          <p:cNvSpPr/>
          <p:nvPr/>
        </p:nvSpPr>
        <p:spPr>
          <a:xfrm>
            <a:off x="812800" y="40436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D0612A"/>
                </a:solidFill>
                <a:latin typeface="IBM Plex Sans" pitchFamily="34" charset="0"/>
                <a:ea typeface="IBM Plex Sans" pitchFamily="34" charset="-122"/>
                <a:cs typeface="IBM Plex Sans" pitchFamily="34" charset="-120"/>
              </a:rPr>
              <a:t>Task 2</a:t>
            </a:r>
            <a:endParaRPr lang="en-US" sz="1200" dirty="0">
              <a:latin typeface="IBM Plex Sans" charset="0"/>
              <a:ea typeface="IBM Plex Sans" charset="0"/>
              <a:cs typeface="IBM Plex Sans" charset="0"/>
            </a:endParaRPr>
          </a:p>
        </p:txBody>
      </p:sp>
      <p:sp>
        <p:nvSpPr>
          <p:cNvPr id="14" name="Text 11"/>
          <p:cNvSpPr/>
          <p:nvPr/>
        </p:nvSpPr>
        <p:spPr>
          <a:xfrm>
            <a:off x="812800" y="42595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E9A62"/>
                </a:solidFill>
                <a:latin typeface="IBM Plex Sans" pitchFamily="34" charset="0"/>
                <a:ea typeface="IBM Plex Sans" pitchFamily="34" charset="-122"/>
                <a:cs typeface="IBM Plex Sans" pitchFamily="34" charset="-120"/>
              </a:rPr>
              <a:t>Task 3</a:t>
            </a:r>
            <a:endParaRPr lang="en-US" sz="1200" dirty="0">
              <a:latin typeface="IBM Plex Sans" charset="0"/>
              <a:ea typeface="IBM Plex Sans" charset="0"/>
              <a:cs typeface="IBM Plex Sans" charset="0"/>
            </a:endParaRPr>
          </a:p>
        </p:txBody>
      </p:sp>
      <p:sp>
        <p:nvSpPr>
          <p:cNvPr id="15" name="Text 12"/>
          <p:cNvSpPr/>
          <p:nvPr/>
        </p:nvSpPr>
        <p:spPr>
          <a:xfrm>
            <a:off x="812800" y="48818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Core 0</a:t>
            </a:r>
            <a:endParaRPr lang="en-US" sz="1200" dirty="0">
              <a:latin typeface="IBM Plex Sans" charset="0"/>
              <a:ea typeface="IBM Plex Sans" charset="0"/>
              <a:cs typeface="IBM Plex Sans" charset="0"/>
            </a:endParaRPr>
          </a:p>
        </p:txBody>
      </p:sp>
      <p:sp>
        <p:nvSpPr>
          <p:cNvPr id="16" name="Text 13"/>
          <p:cNvSpPr/>
          <p:nvPr/>
        </p:nvSpPr>
        <p:spPr>
          <a:xfrm>
            <a:off x="812800" y="5110482"/>
            <a:ext cx="1193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Core 1</a:t>
            </a:r>
            <a:endParaRPr lang="en-US" sz="1200" dirty="0">
              <a:latin typeface="IBM Plex Sans" charset="0"/>
              <a:ea typeface="IBM Plex Sans" charset="0"/>
              <a:cs typeface="IBM Plex Sans" charset="0"/>
            </a:endParaRPr>
          </a:p>
        </p:txBody>
      </p:sp>
      <p:sp>
        <p:nvSpPr>
          <p:cNvPr id="17" name="Text 14"/>
          <p:cNvSpPr/>
          <p:nvPr/>
        </p:nvSpPr>
        <p:spPr>
          <a:xfrm>
            <a:off x="9906000" y="5478782"/>
            <a:ext cx="1320800" cy="241776"/>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tempo →</a:t>
            </a:r>
            <a:endParaRPr lang="en-US" sz="1200" dirty="0">
              <a:latin typeface="IBM Plex Sans" charset="0"/>
              <a:ea typeface="IBM Plex Sans" charset="0"/>
              <a:cs typeface="IBM Plex Sans" charset="0"/>
            </a:endParaRPr>
          </a:p>
        </p:txBody>
      </p:sp>
      <p:sp>
        <p:nvSpPr>
          <p:cNvPr id="18" name="Text 1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 (alterado)</a:t>
            </a:r>
            <a:endParaRPr lang="en-US" sz="1200" dirty="0">
              <a:latin typeface="IBM Plex Sans" charset="0"/>
              <a:ea typeface="IBM Plex Sans" charset="0"/>
              <a:cs typeface="IBM Plex Sans" charset="0"/>
            </a:endParaRPr>
          </a:p>
        </p:txBody>
      </p:sp>
      <p:sp>
        <p:nvSpPr>
          <p:cNvPr id="19"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SCHEDULING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Quem decide o que corre</a:t>
            </a:r>
            <a:endParaRPr lang="en-US" sz="3200" dirty="0">
              <a:latin typeface="IBM Plex Sans" charset="0"/>
              <a:ea typeface="IBM Plex Sans" charset="0"/>
              <a:cs typeface="IBM Plex Sans" charset="0"/>
            </a:endParaRPr>
          </a:p>
        </p:txBody>
      </p:sp>
      <p:sp>
        <p:nvSpPr>
          <p:cNvPr id="4" name="Text 2"/>
          <p:cNvSpPr/>
          <p:nvPr/>
        </p:nvSpPr>
        <p:spPr>
          <a:xfrm>
            <a:off x="812800" y="2103121"/>
            <a:ext cx="28778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Scheduler</a:t>
            </a:r>
            <a:endParaRPr lang="en-US" sz="1600" dirty="0">
              <a:latin typeface="JetBrains Mono" charset="0"/>
              <a:ea typeface="JetBrains Mono" charset="0"/>
              <a:cs typeface="JetBrains Mono" charset="0"/>
            </a:endParaRPr>
          </a:p>
        </p:txBody>
      </p:sp>
      <p:sp>
        <p:nvSpPr>
          <p:cNvPr id="5" name="Text 3"/>
          <p:cNvSpPr/>
          <p:nvPr/>
        </p:nvSpPr>
        <p:spPr>
          <a:xfrm>
            <a:off x="3911600" y="2103121"/>
            <a:ext cx="7691628"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05C"/>
                </a:solidFill>
                <a:latin typeface="IBM Plex Sans" pitchFamily="34" charset="0"/>
                <a:ea typeface="IBM Plex Sans" pitchFamily="34" charset="-122"/>
                <a:cs typeface="IBM Plex Sans" pitchFamily="34" charset="-120"/>
              </a:rPr>
              <a:t>A parte do kernel que decide </a:t>
            </a:r>
            <a:r>
              <a:rPr lang="en-US" sz="1600" b="1" dirty="0">
                <a:solidFill>
                  <a:srgbClr val="14222E"/>
                </a:solidFill>
                <a:latin typeface="IBM Plex Sans" pitchFamily="34" charset="0"/>
                <a:ea typeface="IBM Plex Sans" pitchFamily="34" charset="-122"/>
                <a:cs typeface="IBM Plex Sans" pitchFamily="34" charset="-120"/>
              </a:rPr>
              <a:t>que task executa em cada instante</a:t>
            </a:r>
            <a:r>
              <a:rPr lang="en-US" sz="1600" dirty="0">
                <a:solidFill>
                  <a:srgbClr val="44505C"/>
                </a:solidFill>
                <a:latin typeface="IBM Plex Sans" pitchFamily="34" charset="0"/>
                <a:ea typeface="IBM Plex Sans" pitchFamily="34" charset="-122"/>
                <a:cs typeface="IBM Plex Sans" pitchFamily="34" charset="-120"/>
              </a:rPr>
              <a:t>. Pode pausar e retomar uma task muitas vezes durante a sua vida.</a:t>
            </a:r>
            <a:endParaRPr lang="en-US" sz="1600" dirty="0">
              <a:latin typeface="IBM Plex Sans" charset="0"/>
              <a:ea typeface="IBM Plex Sans" charset="0"/>
              <a:cs typeface="IBM Plex Sans" charset="0"/>
            </a:endParaRPr>
          </a:p>
        </p:txBody>
      </p:sp>
      <p:sp>
        <p:nvSpPr>
          <p:cNvPr id="6" name="Shape 4"/>
          <p:cNvSpPr/>
          <p:nvPr/>
        </p:nvSpPr>
        <p:spPr>
          <a:xfrm>
            <a:off x="812800" y="2898775"/>
            <a:ext cx="10566400" cy="0"/>
          </a:xfrm>
          <a:prstGeom prst="line">
            <a:avLst/>
          </a:prstGeom>
          <a:noFill/>
          <a:ln w="6350">
            <a:solidFill>
              <a:srgbClr val="DCDAD2"/>
            </a:solidFill>
            <a:prstDash val="solid"/>
          </a:ln>
        </p:spPr>
      </p:sp>
      <p:sp>
        <p:nvSpPr>
          <p:cNvPr id="7" name="Text 5"/>
          <p:cNvSpPr/>
          <p:nvPr/>
        </p:nvSpPr>
        <p:spPr>
          <a:xfrm>
            <a:off x="812800" y="3103882"/>
            <a:ext cx="28778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Swap out / in</a:t>
            </a:r>
            <a:endParaRPr lang="en-US" sz="1600" dirty="0">
              <a:latin typeface="JetBrains Mono" charset="0"/>
              <a:ea typeface="JetBrains Mono" charset="0"/>
              <a:cs typeface="JetBrains Mono" charset="0"/>
            </a:endParaRPr>
          </a:p>
        </p:txBody>
      </p:sp>
      <p:sp>
        <p:nvSpPr>
          <p:cNvPr id="8" name="Text 6"/>
          <p:cNvSpPr/>
          <p:nvPr/>
        </p:nvSpPr>
        <p:spPr>
          <a:xfrm>
            <a:off x="3911600" y="3103882"/>
            <a:ext cx="7691628"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05C"/>
                </a:solidFill>
                <a:latin typeface="IBM Plex Sans" pitchFamily="34" charset="0"/>
                <a:ea typeface="IBM Plex Sans" pitchFamily="34" charset="-122"/>
                <a:cs typeface="IBM Plex Sans" pitchFamily="34" charset="-120"/>
              </a:rPr>
              <a:t>Se a task B substitui a task A, A foi </a:t>
            </a:r>
            <a:r>
              <a:rPr lang="en-US" sz="1600" b="1" dirty="0">
                <a:solidFill>
                  <a:srgbClr val="14222E"/>
                </a:solidFill>
                <a:latin typeface="IBM Plex Sans" pitchFamily="34" charset="0"/>
                <a:ea typeface="IBM Plex Sans" pitchFamily="34" charset="-122"/>
                <a:cs typeface="IBM Plex Sans" pitchFamily="34" charset="-120"/>
              </a:rPr>
              <a:t>swapped out</a:t>
            </a:r>
            <a:r>
              <a:rPr lang="en-US" sz="1600" dirty="0">
                <a:solidFill>
                  <a:srgbClr val="44505C"/>
                </a:solidFill>
                <a:latin typeface="IBM Plex Sans" pitchFamily="34" charset="0"/>
                <a:ea typeface="IBM Plex Sans" pitchFamily="34" charset="-122"/>
                <a:cs typeface="IBM Plex Sans" pitchFamily="34" charset="-120"/>
              </a:rPr>
              <a:t> (pausada) e B </a:t>
            </a:r>
            <a:r>
              <a:rPr lang="en-US" sz="1600" b="1" dirty="0">
                <a:solidFill>
                  <a:srgbClr val="14222E"/>
                </a:solidFill>
                <a:latin typeface="IBM Plex Sans" pitchFamily="34" charset="0"/>
                <a:ea typeface="IBM Plex Sans" pitchFamily="34" charset="-122"/>
                <a:cs typeface="IBM Plex Sans" pitchFamily="34" charset="-120"/>
              </a:rPr>
              <a:t>swapped in</a:t>
            </a:r>
            <a:r>
              <a:rPr lang="en-US" sz="1600" dirty="0">
                <a:solidFill>
                  <a:srgbClr val="44505C"/>
                </a:solidFill>
                <a:latin typeface="IBM Plex Sans" pitchFamily="34" charset="0"/>
                <a:ea typeface="IBM Plex Sans" pitchFamily="34" charset="-122"/>
                <a:cs typeface="IBM Plex Sans" pitchFamily="34" charset="-120"/>
              </a:rPr>
              <a:t> (retomada).</a:t>
            </a:r>
            <a:endParaRPr lang="en-US" sz="1600" dirty="0">
              <a:latin typeface="IBM Plex Sans" charset="0"/>
              <a:ea typeface="IBM Plex Sans" charset="0"/>
              <a:cs typeface="IBM Plex Sans" charset="0"/>
            </a:endParaRPr>
          </a:p>
        </p:txBody>
      </p:sp>
      <p:sp>
        <p:nvSpPr>
          <p:cNvPr id="9" name="Shape 7"/>
          <p:cNvSpPr/>
          <p:nvPr/>
        </p:nvSpPr>
        <p:spPr>
          <a:xfrm>
            <a:off x="812800" y="3899536"/>
            <a:ext cx="10566400" cy="0"/>
          </a:xfrm>
          <a:prstGeom prst="line">
            <a:avLst/>
          </a:prstGeom>
          <a:noFill/>
          <a:ln w="6350">
            <a:solidFill>
              <a:srgbClr val="DCDAD2"/>
            </a:solidFill>
            <a:prstDash val="solid"/>
          </a:ln>
        </p:spPr>
      </p:sp>
      <p:sp>
        <p:nvSpPr>
          <p:cNvPr id="10" name="Text 8"/>
          <p:cNvSpPr/>
          <p:nvPr/>
        </p:nvSpPr>
        <p:spPr>
          <a:xfrm>
            <a:off x="812800" y="4104639"/>
            <a:ext cx="28778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Scheduling policy</a:t>
            </a:r>
            <a:endParaRPr lang="en-US" sz="1600" dirty="0">
              <a:latin typeface="JetBrains Mono" charset="0"/>
              <a:ea typeface="JetBrains Mono" charset="0"/>
              <a:cs typeface="JetBrains Mono" charset="0"/>
            </a:endParaRPr>
          </a:p>
        </p:txBody>
      </p:sp>
      <p:sp>
        <p:nvSpPr>
          <p:cNvPr id="11" name="Text 9"/>
          <p:cNvSpPr/>
          <p:nvPr/>
        </p:nvSpPr>
        <p:spPr>
          <a:xfrm>
            <a:off x="3911600" y="4104639"/>
            <a:ext cx="7691628" cy="61468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4505C"/>
                </a:solidFill>
                <a:latin typeface="IBM Plex Sans" pitchFamily="34" charset="0"/>
                <a:ea typeface="IBM Plex Sans" pitchFamily="34" charset="-122"/>
                <a:cs typeface="IBM Plex Sans" pitchFamily="34" charset="-120"/>
              </a:rPr>
              <a:t>O algoritmo usado para decidir. Num SO multi-utilizador procura dar a cada task uma fatia </a:t>
            </a:r>
            <a:r>
              <a:rPr lang="en-US" sz="1600" i="1" dirty="0">
                <a:solidFill>
                  <a:srgbClr val="44505C"/>
                </a:solidFill>
                <a:latin typeface="IBM Plex Sans" pitchFamily="34" charset="0"/>
                <a:ea typeface="IBM Plex Sans" pitchFamily="34" charset="-122"/>
                <a:cs typeface="IBM Plex Sans" pitchFamily="34" charset="-120"/>
              </a:rPr>
              <a:t>justa</a:t>
            </a:r>
            <a:r>
              <a:rPr lang="en-US" sz="1600" dirty="0">
                <a:solidFill>
                  <a:srgbClr val="44505C"/>
                </a:solidFill>
                <a:latin typeface="IBM Plex Sans" pitchFamily="34" charset="0"/>
                <a:ea typeface="IBM Plex Sans" pitchFamily="34" charset="-122"/>
                <a:cs typeface="IBM Plex Sans" pitchFamily="34" charset="-120"/>
              </a:rPr>
              <a:t> de CPU; num sistema real-time o objetivo é outro (já a seguir).</a:t>
            </a:r>
            <a:endParaRPr lang="en-US" sz="1600" dirty="0">
              <a:latin typeface="IBM Plex Sans" charset="0"/>
              <a:ea typeface="IBM Plex Sans" charset="0"/>
              <a:cs typeface="IBM Plex Sans" charset="0"/>
            </a:endParaRPr>
          </a:p>
        </p:txBody>
      </p:sp>
      <p:sp>
        <p:nvSpPr>
          <p:cNvPr id="12" name="Text 10"/>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13" name="Text 1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SCHEDULING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Quando uma task sai do CPU</a:t>
            </a:r>
            <a:endParaRPr lang="en-US" sz="3200" dirty="0">
              <a:latin typeface="IBM Plex Sans" charset="0"/>
              <a:ea typeface="IBM Plex Sans" charset="0"/>
              <a:cs typeface="IBM Plex Sans" charset="0"/>
            </a:endParaRPr>
          </a:p>
        </p:txBody>
      </p:sp>
      <p:sp>
        <p:nvSpPr>
          <p:cNvPr id="4" name="Text 2"/>
          <p:cNvSpPr/>
          <p:nvPr/>
        </p:nvSpPr>
        <p:spPr>
          <a:xfrm>
            <a:off x="812800" y="1849121"/>
            <a:ext cx="113792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C"/>
                </a:solidFill>
                <a:latin typeface="IBM Plex Sans" pitchFamily="34" charset="0"/>
                <a:ea typeface="IBM Plex Sans" pitchFamily="34" charset="-122"/>
                <a:cs typeface="IBM Plex Sans" pitchFamily="34" charset="-120"/>
              </a:rPr>
              <a:t>Uma task só é swapped out quando o scheduling algorithm decide executar outra. Isso acontece de duas formas:</a:t>
            </a:r>
            <a:endParaRPr lang="en-US" sz="1600" dirty="0">
              <a:latin typeface="IBM Plex Sans" charset="0"/>
              <a:ea typeface="IBM Plex Sans" charset="0"/>
              <a:cs typeface="IBM Plex Sans" charset="0"/>
            </a:endParaRPr>
          </a:p>
        </p:txBody>
      </p:sp>
      <p:sp>
        <p:nvSpPr>
          <p:cNvPr id="5" name="Shape 3"/>
          <p:cNvSpPr/>
          <p:nvPr/>
        </p:nvSpPr>
        <p:spPr>
          <a:xfrm>
            <a:off x="815975" y="2390775"/>
            <a:ext cx="3930650" cy="3448050"/>
          </a:xfrm>
          <a:prstGeom prst="roundRect">
            <a:avLst>
              <a:gd name="adj" fmla="val 2855"/>
            </a:avLst>
          </a:prstGeom>
          <a:solidFill>
            <a:srgbClr val="FCFBF8"/>
          </a:solidFill>
          <a:ln w="6350">
            <a:solidFill>
              <a:srgbClr val="DCDAD2"/>
            </a:solidFill>
            <a:prstDash val="solid"/>
          </a:ln>
        </p:spPr>
      </p:sp>
      <p:sp>
        <p:nvSpPr>
          <p:cNvPr id="6" name="Text 4"/>
          <p:cNvSpPr/>
          <p:nvPr/>
        </p:nvSpPr>
        <p:spPr>
          <a:xfrm>
            <a:off x="1021080" y="2595882"/>
            <a:ext cx="3626053" cy="212328"/>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66717C"/>
                </a:solidFill>
                <a:latin typeface="IBM Plex Sans" pitchFamily="34" charset="0"/>
                <a:ea typeface="IBM Plex Sans" pitchFamily="34" charset="-122"/>
                <a:cs typeface="IBM Plex Sans" pitchFamily="34" charset="-120"/>
              </a:rPr>
              <a:t>SEM A TASK SABER</a:t>
            </a:r>
            <a:endParaRPr lang="en-US" sz="1050" dirty="0">
              <a:latin typeface="IBM Plex Sans" charset="0"/>
              <a:ea typeface="IBM Plex Sans" charset="0"/>
              <a:cs typeface="IBM Plex Sans" charset="0"/>
            </a:endParaRPr>
          </a:p>
        </p:txBody>
      </p:sp>
      <p:sp>
        <p:nvSpPr>
          <p:cNvPr id="7" name="Text 5"/>
          <p:cNvSpPr/>
          <p:nvPr/>
        </p:nvSpPr>
        <p:spPr>
          <a:xfrm>
            <a:off x="1021080" y="2884410"/>
            <a:ext cx="3626053" cy="452755"/>
          </a:xfrm>
          <a:prstGeom prst="rect">
            <a:avLst/>
          </a:prstGeom>
          <a:noFill/>
          <a:ln/>
        </p:spPr>
        <p:txBody>
          <a:bodyPr wrap="square" lIns="0" tIns="0" rIns="0" bIns="0" rtlCol="0" anchor="t">
            <a:normAutofit/>
          </a:bodyPr>
          <a:lstStyle/>
          <a:p>
            <a:pPr algn="l" indent="0" marL="0">
              <a:lnSpc>
                <a:spcPts val="1686"/>
              </a:lnSpc>
              <a:buNone/>
            </a:pPr>
            <a:r>
              <a:rPr lang="en-US" sz="1405" b="1" dirty="0">
                <a:solidFill>
                  <a:srgbClr val="14222E"/>
                </a:solidFill>
                <a:latin typeface="IBM Plex Sans" pitchFamily="34" charset="0"/>
                <a:ea typeface="IBM Plex Sans" pitchFamily="34" charset="-122"/>
                <a:cs typeface="IBM Plex Sans" pitchFamily="34" charset="-120"/>
              </a:rPr>
              <a:t>Fica pronta uma task de prioridade mais alta</a:t>
            </a:r>
            <a:endParaRPr lang="en-US" sz="1405" dirty="0">
              <a:latin typeface="IBM Plex Sans" charset="0"/>
              <a:ea typeface="IBM Plex Sans" charset="0"/>
              <a:cs typeface="IBM Plex Sans" charset="0"/>
            </a:endParaRPr>
          </a:p>
        </p:txBody>
      </p:sp>
      <p:sp>
        <p:nvSpPr>
          <p:cNvPr id="8" name="Text 6"/>
          <p:cNvSpPr/>
          <p:nvPr/>
        </p:nvSpPr>
        <p:spPr>
          <a:xfrm>
            <a:off x="1198880" y="3413364"/>
            <a:ext cx="3442919" cy="1770221"/>
          </a:xfrm>
          <a:prstGeom prst="rect">
            <a:avLst/>
          </a:prstGeom>
          <a:noFill/>
          <a:ln/>
        </p:spPr>
        <p:txBody>
          <a:bodyPr wrap="square" lIns="0" tIns="0" rIns="0" bIns="0" rtlCol="0" anchor="t">
            <a:normAutofit/>
          </a:bodyPr>
          <a:lstStyle/>
          <a:p>
            <a:pPr algn="l" marL="236220" indent="-189611">
              <a:lnSpc>
                <a:spcPts val="2170"/>
              </a:lnSpc>
              <a:buSzPct val="100000"/>
              <a:buChar char="•"/>
            </a:pPr>
            <a:r>
              <a:rPr lang="en-US" sz="1550" dirty="0">
                <a:solidFill>
                  <a:srgbClr val="14222E"/>
                </a:solidFill>
                <a:latin typeface="IBM Plex Sans" pitchFamily="34" charset="0"/>
                <a:ea typeface="IBM Plex Sans" pitchFamily="34" charset="-122"/>
                <a:cs typeface="IBM Plex Sans" pitchFamily="34" charset="-120"/>
              </a:rPr>
              <a:t>No tick: acaba um delay ou um timeout</a:t>
            </a:r>
            <a:endParaRPr lang="en-US" sz="1550" dirty="0">
              <a:latin typeface="IBM Plex Sans" charset="0"/>
              <a:ea typeface="IBM Plex Sans" charset="0"/>
              <a:cs typeface="IBM Plex Sans" charset="0"/>
            </a:endParaRPr>
          </a:p>
          <a:p>
            <a:pPr algn="l" marL="236220" indent="-189611">
              <a:lnSpc>
                <a:spcPts val="2170"/>
              </a:lnSpc>
              <a:buSzPct val="100000"/>
              <a:buChar char="•"/>
            </a:pPr>
            <a:r>
              <a:rPr lang="en-US" sz="1550" dirty="0">
                <a:solidFill>
                  <a:srgbClr val="14222E"/>
                </a:solidFill>
                <a:latin typeface="IBM Plex Sans" pitchFamily="34" charset="0"/>
                <a:ea typeface="IBM Plex Sans" pitchFamily="34" charset="-122"/>
                <a:cs typeface="IBM Plex Sans" pitchFamily="34" charset="-120"/>
              </a:rPr>
              <a:t>Numa interrupção: a ISR dá um semáforo ou envia para uma queue</a:t>
            </a:r>
            <a:endParaRPr lang="en-US" sz="1550" dirty="0">
              <a:latin typeface="IBM Plex Sans" charset="0"/>
              <a:ea typeface="IBM Plex Sans" charset="0"/>
              <a:cs typeface="IBM Plex Sans" charset="0"/>
            </a:endParaRPr>
          </a:p>
          <a:p>
            <a:pPr algn="l" marL="236220" indent="-189611">
              <a:lnSpc>
                <a:spcPts val="2170"/>
              </a:lnSpc>
              <a:buSzPct val="100000"/>
              <a:buChar char="•"/>
            </a:pPr>
            <a:r>
              <a:rPr lang="en-US" sz="1550" dirty="0">
                <a:solidFill>
                  <a:srgbClr val="14222E"/>
                </a:solidFill>
                <a:latin typeface="IBM Plex Sans" pitchFamily="34" charset="0"/>
                <a:ea typeface="IBM Plex Sans" pitchFamily="34" charset="-122"/>
                <a:cs typeface="IBM Plex Sans" pitchFamily="34" charset="-120"/>
              </a:rPr>
              <a:t>Noutra task: uma chamada à API acorda-a</a:t>
            </a:r>
            <a:endParaRPr lang="en-US" sz="1550" dirty="0">
              <a:latin typeface="IBM Plex Sans" charset="0"/>
              <a:ea typeface="IBM Plex Sans" charset="0"/>
              <a:cs typeface="IBM Plex Sans" charset="0"/>
            </a:endParaRPr>
          </a:p>
        </p:txBody>
      </p:sp>
      <p:sp>
        <p:nvSpPr>
          <p:cNvPr id="9" name="Text 7"/>
          <p:cNvSpPr/>
          <p:nvPr/>
        </p:nvSpPr>
        <p:spPr>
          <a:xfrm>
            <a:off x="1021080" y="5259784"/>
            <a:ext cx="3626053" cy="399336"/>
          </a:xfrm>
          <a:prstGeom prst="rect">
            <a:avLst/>
          </a:prstGeom>
          <a:noFill/>
          <a:ln/>
        </p:spPr>
        <p:txBody>
          <a:bodyPr wrap="square" lIns="0" tIns="0" rIns="0" bIns="0" rtlCol="0" anchor="t">
            <a:normAutofit/>
          </a:bodyPr>
          <a:lstStyle/>
          <a:p>
            <a:pPr algn="l" indent="0" marL="0">
              <a:lnSpc>
                <a:spcPts val="1486"/>
              </a:lnSpc>
              <a:buNone/>
            </a:pPr>
            <a:r>
              <a:rPr lang="en-US" sz="1061" dirty="0">
                <a:solidFill>
                  <a:srgbClr val="66717C"/>
                </a:solidFill>
                <a:latin typeface="IBM Plex Sans" pitchFamily="34" charset="0"/>
                <a:ea typeface="IBM Plex Sans" pitchFamily="34" charset="-122"/>
                <a:cs typeface="IBM Plex Sans" pitchFamily="34" charset="-120"/>
              </a:rPr>
              <a:t>Com time slicing, o tick também troca entre tasks da mesma prioridade.</a:t>
            </a:r>
            <a:endParaRPr lang="en-US" sz="1061" dirty="0">
              <a:latin typeface="IBM Plex Sans" charset="0"/>
              <a:ea typeface="IBM Plex Sans" charset="0"/>
              <a:cs typeface="IBM Plex Sans" charset="0"/>
            </a:endParaRPr>
          </a:p>
        </p:txBody>
      </p:sp>
      <p:sp>
        <p:nvSpPr>
          <p:cNvPr id="10" name="Shape 8"/>
          <p:cNvSpPr/>
          <p:nvPr/>
        </p:nvSpPr>
        <p:spPr>
          <a:xfrm>
            <a:off x="4956175" y="2390775"/>
            <a:ext cx="6419850" cy="3448050"/>
          </a:xfrm>
          <a:prstGeom prst="roundRect">
            <a:avLst>
              <a:gd name="adj" fmla="val 2855"/>
            </a:avLst>
          </a:prstGeom>
          <a:solidFill>
            <a:srgbClr val="FCFBF8"/>
          </a:solidFill>
          <a:ln w="6350">
            <a:solidFill>
              <a:srgbClr val="DCDAD2"/>
            </a:solidFill>
            <a:prstDash val="solid"/>
          </a:ln>
        </p:spPr>
      </p:sp>
      <p:sp>
        <p:nvSpPr>
          <p:cNvPr id="11" name="Text 9"/>
          <p:cNvSpPr/>
          <p:nvPr/>
        </p:nvSpPr>
        <p:spPr>
          <a:xfrm>
            <a:off x="5212080" y="2646682"/>
            <a:ext cx="608528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A PRÓPRIA TASK CHAMA A API</a:t>
            </a:r>
            <a:endParaRPr lang="en-US" sz="1200" dirty="0">
              <a:latin typeface="IBM Plex Sans" charset="0"/>
              <a:ea typeface="IBM Plex Sans" charset="0"/>
              <a:cs typeface="IBM Plex Sans" charset="0"/>
            </a:endParaRPr>
          </a:p>
        </p:txBody>
      </p:sp>
      <p:sp>
        <p:nvSpPr>
          <p:cNvPr id="12" name="Shape 10"/>
          <p:cNvSpPr/>
          <p:nvPr/>
        </p:nvSpPr>
        <p:spPr>
          <a:xfrm>
            <a:off x="5212080" y="2992119"/>
            <a:ext cx="5908040" cy="0"/>
          </a:xfrm>
          <a:prstGeom prst="line">
            <a:avLst/>
          </a:prstGeom>
          <a:noFill/>
          <a:ln w="10160">
            <a:solidFill>
              <a:srgbClr val="141413">
                <a:alpha val="22000"/>
              </a:srgbClr>
            </a:solidFill>
            <a:prstDash val="solid"/>
          </a:ln>
        </p:spPr>
      </p:sp>
      <p:sp>
        <p:nvSpPr>
          <p:cNvPr id="13" name="Shape 11"/>
          <p:cNvSpPr/>
          <p:nvPr/>
        </p:nvSpPr>
        <p:spPr>
          <a:xfrm>
            <a:off x="5217160" y="2987039"/>
            <a:ext cx="0" cy="2059940"/>
          </a:xfrm>
          <a:prstGeom prst="line">
            <a:avLst/>
          </a:prstGeom>
          <a:noFill/>
          <a:ln w="10160">
            <a:solidFill>
              <a:srgbClr val="141413">
                <a:alpha val="22000"/>
              </a:srgbClr>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23840" y="3073399"/>
          <a:ext cx="5694680" cy="1897380"/>
        </p:xfrm>
        <a:graphic>
          <a:graphicData uri="http://schemas.openxmlformats.org/drawingml/2006/table">
            <a:tbl>
              <a:tblPr/>
              <a:tblGrid>
                <a:gridCol w="1708404"/>
                <a:gridCol w="3986276"/>
              </a:tblGrid>
              <a:tr h="632460">
                <a:tc>
                  <a:txBody>
                    <a:bodyPr/>
                    <a:lstStyle/>
                    <a:p>
                      <a:pPr indent="0" marL="0">
                        <a:lnSpc>
                          <a:spcPts val="1960"/>
                        </a:lnSpc>
                        <a:buNone/>
                      </a:pPr>
                      <a:r>
                        <a:rPr lang="en-US" sz="1400" dirty="0">
                          <a:solidFill>
                            <a:srgbClr val="17766A"/>
                          </a:solidFill>
                          <a:latin typeface="IBM Plex Sans" pitchFamily="34" charset="0"/>
                          <a:ea typeface="IBM Plex Sans" pitchFamily="34" charset="-122"/>
                          <a:cs typeface="IBM Plex Sans" pitchFamily="34" charset="-120"/>
                        </a:rPr>
                        <a:t>Yield</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0" cap="flat" cmpd="sng" algn="ctr">
                      <a:noFill/>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Cede o CPU; o scheduler pode voltar a escolher a mesma 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0" cap="flat" cmpd="sng" algn="ctr">
                      <a:noFill/>
                    </a:lnT>
                    <a:lnB w="12700" cap="flat" cmpd="sng" algn="ctr">
                      <a:solidFill>
                        <a:srgbClr val="C9C8C6"/>
                      </a:solidFill>
                      <a:prstDash val="solid"/>
                      <a:round/>
                      <a:headEnd type="none" w="med" len="med"/>
                      <a:tailEnd type="none" w="med" len="med"/>
                    </a:lnB>
                  </a:tcPr>
                </a:tc>
              </a:tr>
              <a:tr h="632460">
                <a:tc>
                  <a:txBody>
                    <a:bodyPr/>
                    <a:lstStyle/>
                    <a:p>
                      <a:pPr indent="0" marL="0">
                        <a:lnSpc>
                          <a:spcPts val="1960"/>
                        </a:lnSpc>
                        <a:buNone/>
                      </a:pPr>
                      <a:r>
                        <a:rPr lang="en-US" sz="1400" dirty="0">
                          <a:solidFill>
                            <a:srgbClr val="17766A"/>
                          </a:solidFill>
                          <a:latin typeface="IBM Plex Sans" pitchFamily="34" charset="0"/>
                          <a:ea typeface="IBM Plex Sans" pitchFamily="34" charset="-122"/>
                          <a:cs typeface="IBM Plex Sans" pitchFamily="34" charset="-120"/>
                        </a:rPr>
                        <a:t>Sleep / delay</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Fica indisponível até passar o período de atraso indicado.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r h="632460">
                <a:tc>
                  <a:txBody>
                    <a:bodyPr/>
                    <a:lstStyle/>
                    <a:p>
                      <a:pPr indent="0" marL="0">
                        <a:lnSpc>
                          <a:spcPts val="1960"/>
                        </a:lnSpc>
                        <a:buNone/>
                      </a:pPr>
                      <a:r>
                        <a:rPr lang="en-US" sz="1400" dirty="0">
                          <a:solidFill>
                            <a:srgbClr val="17766A"/>
                          </a:solidFill>
                          <a:latin typeface="IBM Plex Sans" pitchFamily="34" charset="0"/>
                          <a:ea typeface="IBM Plex Sans" pitchFamily="34" charset="-122"/>
                          <a:cs typeface="IBM Plex Sans" pitchFamily="34" charset="-120"/>
                        </a:rPr>
                        <a:t>Block</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c>
                  <a:txBody>
                    <a:bodyPr/>
                    <a:lstStyle/>
                    <a:p>
                      <a:pPr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Fica indisponível até ocorrer um evento (ex.: dados na UART) ou expirar um timeout.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tcPr>
                </a:tc>
              </a:tr>
            </a:tbl>
          </a:graphicData>
        </a:graphic>
      </p:graphicFrame>
      <p:sp>
        <p:nvSpPr>
          <p:cNvPr id="15"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 Mastering the FreeRTOS Real Time Kernel (V1.1.0), cap. 4</a:t>
            </a:r>
            <a:endParaRPr lang="en-US" sz="1200" dirty="0">
              <a:latin typeface="IBM Plex Sans" charset="0"/>
              <a:ea typeface="IBM Plex Sans" charset="0"/>
              <a:cs typeface="IBM Plex Sans" charset="0"/>
            </a:endParaRPr>
          </a:p>
        </p:txBody>
      </p:sp>
      <p:sp>
        <p:nvSpPr>
          <p:cNvPr id="16"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SCHEDULING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Exemplo: três tasks e um periférico</a:t>
            </a:r>
            <a:endParaRPr lang="en-US" sz="3200" dirty="0">
              <a:latin typeface="IBM Plex Sans" charset="0"/>
              <a:ea typeface="IBM Plex Sans" charset="0"/>
              <a:cs typeface="IBM Plex Sans" charset="0"/>
            </a:endParaRPr>
          </a:p>
        </p:txBody>
      </p:sp>
      <p:pic>
        <p:nvPicPr>
          <p:cNvPr id="4" name="Image 0" descr="Linha temporal de três tasks: task 1, depois task 2, depois task 3, task 1, task 2 e task 3.">    </p:cNvPr>
          <p:cNvPicPr>
            <a:picLocks noChangeAspect="1"/>
          </p:cNvPicPr>
          <p:nvPr/>
        </p:nvPicPr>
        <p:blipFill>
          <a:blip r:embed="rId1"/>
          <a:srcRect l="0" r="0" t="-31" b="-31"/>
          <a:stretch/>
        </p:blipFill>
        <p:spPr>
          <a:xfrm>
            <a:off x="812800" y="1747521"/>
            <a:ext cx="10566400" cy="2540000"/>
          </a:xfrm>
          <a:prstGeom prst="rect">
            <a:avLst/>
          </a:prstGeom>
        </p:spPr>
      </p:pic>
      <p:sp>
        <p:nvSpPr>
          <p:cNvPr id="5" name="Text 2"/>
          <p:cNvSpPr/>
          <p:nvPr/>
        </p:nvSpPr>
        <p:spPr>
          <a:xfrm>
            <a:off x="812800" y="2109471"/>
            <a:ext cx="1066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Task 1</a:t>
            </a:r>
            <a:endParaRPr lang="en-US" sz="1200" dirty="0">
              <a:latin typeface="IBM Plex Sans" charset="0"/>
              <a:ea typeface="IBM Plex Sans" charset="0"/>
              <a:cs typeface="IBM Plex Sans" charset="0"/>
            </a:endParaRPr>
          </a:p>
        </p:txBody>
      </p:sp>
      <p:sp>
        <p:nvSpPr>
          <p:cNvPr id="6" name="Text 3"/>
          <p:cNvSpPr/>
          <p:nvPr/>
        </p:nvSpPr>
        <p:spPr>
          <a:xfrm>
            <a:off x="812800" y="2839721"/>
            <a:ext cx="1066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D0612A"/>
                </a:solidFill>
                <a:latin typeface="IBM Plex Sans" pitchFamily="34" charset="0"/>
                <a:ea typeface="IBM Plex Sans" pitchFamily="34" charset="-122"/>
                <a:cs typeface="IBM Plex Sans" pitchFamily="34" charset="-120"/>
              </a:rPr>
              <a:t>Task 2</a:t>
            </a:r>
            <a:endParaRPr lang="en-US" sz="1200" dirty="0">
              <a:latin typeface="IBM Plex Sans" charset="0"/>
              <a:ea typeface="IBM Plex Sans" charset="0"/>
              <a:cs typeface="IBM Plex Sans" charset="0"/>
            </a:endParaRPr>
          </a:p>
        </p:txBody>
      </p:sp>
      <p:sp>
        <p:nvSpPr>
          <p:cNvPr id="7" name="Text 4"/>
          <p:cNvSpPr/>
          <p:nvPr/>
        </p:nvSpPr>
        <p:spPr>
          <a:xfrm>
            <a:off x="812800" y="3569971"/>
            <a:ext cx="106680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E9A62"/>
                </a:solidFill>
                <a:latin typeface="IBM Plex Sans" pitchFamily="34" charset="0"/>
                <a:ea typeface="IBM Plex Sans" pitchFamily="34" charset="-122"/>
                <a:cs typeface="IBM Plex Sans" pitchFamily="34" charset="-120"/>
              </a:rPr>
              <a:t>Task 3</a:t>
            </a:r>
            <a:endParaRPr lang="en-US" sz="1200" dirty="0">
              <a:latin typeface="IBM Plex Sans" charset="0"/>
              <a:ea typeface="IBM Plex Sans" charset="0"/>
              <a:cs typeface="IBM Plex Sans" charset="0"/>
            </a:endParaRPr>
          </a:p>
        </p:txBody>
      </p:sp>
      <p:sp>
        <p:nvSpPr>
          <p:cNvPr id="8" name="Text 5"/>
          <p:cNvSpPr/>
          <p:nvPr/>
        </p:nvSpPr>
        <p:spPr>
          <a:xfrm>
            <a:off x="2705100" y="177292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9" name="Text 6"/>
          <p:cNvSpPr/>
          <p:nvPr/>
        </p:nvSpPr>
        <p:spPr>
          <a:xfrm>
            <a:off x="3721100" y="177292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10" name="Text 7"/>
          <p:cNvSpPr/>
          <p:nvPr/>
        </p:nvSpPr>
        <p:spPr>
          <a:xfrm>
            <a:off x="3721100" y="250317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11" name="Text 8"/>
          <p:cNvSpPr/>
          <p:nvPr/>
        </p:nvSpPr>
        <p:spPr>
          <a:xfrm>
            <a:off x="4610100" y="250317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7766A"/>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12" name="Text 9"/>
          <p:cNvSpPr/>
          <p:nvPr/>
        </p:nvSpPr>
        <p:spPr>
          <a:xfrm>
            <a:off x="5499100" y="250317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p:txBody>
      </p:sp>
      <p:sp>
        <p:nvSpPr>
          <p:cNvPr id="13" name="Text 10"/>
          <p:cNvSpPr/>
          <p:nvPr/>
        </p:nvSpPr>
        <p:spPr>
          <a:xfrm>
            <a:off x="5499100" y="323342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p:txBody>
      </p:sp>
      <p:sp>
        <p:nvSpPr>
          <p:cNvPr id="14" name="Text 11"/>
          <p:cNvSpPr/>
          <p:nvPr/>
        </p:nvSpPr>
        <p:spPr>
          <a:xfrm>
            <a:off x="6515100" y="323342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7766A"/>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p:txBody>
      </p:sp>
      <p:sp>
        <p:nvSpPr>
          <p:cNvPr id="15" name="Text 12"/>
          <p:cNvSpPr/>
          <p:nvPr/>
        </p:nvSpPr>
        <p:spPr>
          <a:xfrm>
            <a:off x="6515100" y="177292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p:txBody>
      </p:sp>
      <p:sp>
        <p:nvSpPr>
          <p:cNvPr id="16" name="Text 13"/>
          <p:cNvSpPr/>
          <p:nvPr/>
        </p:nvSpPr>
        <p:spPr>
          <a:xfrm>
            <a:off x="8420100" y="250317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7766A"/>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p:txBody>
      </p:sp>
      <p:sp>
        <p:nvSpPr>
          <p:cNvPr id="17" name="Text 14"/>
          <p:cNvSpPr/>
          <p:nvPr/>
        </p:nvSpPr>
        <p:spPr>
          <a:xfrm>
            <a:off x="9055100" y="3233421"/>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p:txBody>
      </p:sp>
      <p:sp>
        <p:nvSpPr>
          <p:cNvPr id="18" name="Text 15"/>
          <p:cNvSpPr/>
          <p:nvPr/>
        </p:nvSpPr>
        <p:spPr>
          <a:xfrm>
            <a:off x="9906000" y="4008121"/>
            <a:ext cx="1320800" cy="241776"/>
          </a:xfrm>
          <a:prstGeom prst="rect">
            <a:avLst/>
          </a:prstGeom>
          <a:noFill/>
          <a:ln/>
        </p:spPr>
        <p:txBody>
          <a:bodyPr wrap="none" lIns="0" tIns="0" rIns="0" bIns="0" rtlCol="0" anchor="t">
            <a:normAutofit/>
          </a:bodyPr>
          <a:lstStyle/>
          <a:p>
            <a:pPr algn="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tempo →</a:t>
            </a:r>
            <a:endParaRPr lang="en-US" sz="1200" dirty="0">
              <a:latin typeface="IBM Plex Sans" charset="0"/>
              <a:ea typeface="IBM Plex Sans" charset="0"/>
              <a:cs typeface="IBM Plex Sans" charset="0"/>
            </a:endParaRPr>
          </a:p>
        </p:txBody>
      </p:sp>
      <p:sp>
        <p:nvSpPr>
          <p:cNvPr id="19" name="Text 16"/>
          <p:cNvSpPr/>
          <p:nvPr/>
        </p:nvSpPr>
        <p:spPr>
          <a:xfrm>
            <a:off x="812800" y="4439921"/>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1</a:t>
            </a:r>
            <a:r>
              <a:rPr lang="en-US" sz="1200" dirty="0">
                <a:solidFill>
                  <a:srgbClr val="44505C"/>
                </a:solidFill>
                <a:latin typeface="IBM Plex Sans" pitchFamily="34" charset="0"/>
                <a:ea typeface="IBM Plex Sans" pitchFamily="34" charset="-122"/>
                <a:cs typeface="IBM Plex Sans" pitchFamily="34" charset="-120"/>
              </a:rPr>
              <a:t>  Task 1 a executar</a:t>
            </a:r>
            <a:endParaRPr lang="en-US" sz="1200" dirty="0">
              <a:latin typeface="IBM Plex Sans" charset="0"/>
              <a:ea typeface="IBM Plex Sans" charset="0"/>
              <a:cs typeface="IBM Plex Sans" charset="0"/>
            </a:endParaRPr>
          </a:p>
        </p:txBody>
      </p:sp>
      <p:sp>
        <p:nvSpPr>
          <p:cNvPr id="20" name="Text 17"/>
          <p:cNvSpPr/>
          <p:nvPr/>
        </p:nvSpPr>
        <p:spPr>
          <a:xfrm>
            <a:off x="6134100" y="4439921"/>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2</a:t>
            </a:r>
            <a:r>
              <a:rPr lang="en-US" sz="1200" dirty="0">
                <a:solidFill>
                  <a:srgbClr val="44505C"/>
                </a:solidFill>
                <a:latin typeface="IBM Plex Sans" pitchFamily="34" charset="0"/>
                <a:ea typeface="IBM Plex Sans" pitchFamily="34" charset="-122"/>
                <a:cs typeface="IBM Plex Sans" pitchFamily="34" charset="-120"/>
              </a:rPr>
              <a:t>  O kernel faz swap out da task 1…</a:t>
            </a:r>
            <a:endParaRPr lang="en-US" sz="1200" dirty="0">
              <a:latin typeface="IBM Plex Sans" charset="0"/>
              <a:ea typeface="IBM Plex Sans" charset="0"/>
              <a:cs typeface="IBM Plex Sans" charset="0"/>
            </a:endParaRPr>
          </a:p>
        </p:txBody>
      </p:sp>
      <p:sp>
        <p:nvSpPr>
          <p:cNvPr id="21" name="Text 18"/>
          <p:cNvSpPr/>
          <p:nvPr/>
        </p:nvSpPr>
        <p:spPr>
          <a:xfrm>
            <a:off x="812800" y="4729479"/>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3</a:t>
            </a:r>
            <a:r>
              <a:rPr lang="en-US" sz="1200" dirty="0">
                <a:solidFill>
                  <a:srgbClr val="44505C"/>
                </a:solidFill>
                <a:latin typeface="IBM Plex Sans" pitchFamily="34" charset="0"/>
                <a:ea typeface="IBM Plex Sans" pitchFamily="34" charset="-122"/>
                <a:cs typeface="IBM Plex Sans" pitchFamily="34" charset="-120"/>
              </a:rPr>
              <a:t>  …e swap in da task 2</a:t>
            </a:r>
            <a:endParaRPr lang="en-US" sz="1200" dirty="0">
              <a:latin typeface="IBM Plex Sans" charset="0"/>
              <a:ea typeface="IBM Plex Sans" charset="0"/>
              <a:cs typeface="IBM Plex Sans" charset="0"/>
            </a:endParaRPr>
          </a:p>
        </p:txBody>
      </p:sp>
      <p:sp>
        <p:nvSpPr>
          <p:cNvPr id="22" name="Text 19"/>
          <p:cNvSpPr/>
          <p:nvPr/>
        </p:nvSpPr>
        <p:spPr>
          <a:xfrm>
            <a:off x="6134100" y="4729479"/>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4</a:t>
            </a:r>
            <a:r>
              <a:rPr lang="en-US" sz="1200" dirty="0">
                <a:solidFill>
                  <a:srgbClr val="44505C"/>
                </a:solidFill>
                <a:latin typeface="IBM Plex Sans" pitchFamily="34" charset="0"/>
                <a:ea typeface="IBM Plex Sans" pitchFamily="34" charset="-122"/>
                <a:cs typeface="IBM Plex Sans" pitchFamily="34" charset="-120"/>
              </a:rPr>
              <a:t>  Task 2 bloqueia (lock) um periférico</a:t>
            </a:r>
            <a:endParaRPr lang="en-US" sz="1200" dirty="0">
              <a:latin typeface="IBM Plex Sans" charset="0"/>
              <a:ea typeface="IBM Plex Sans" charset="0"/>
              <a:cs typeface="IBM Plex Sans" charset="0"/>
            </a:endParaRPr>
          </a:p>
        </p:txBody>
      </p:sp>
      <p:sp>
        <p:nvSpPr>
          <p:cNvPr id="23" name="Text 20"/>
          <p:cNvSpPr/>
          <p:nvPr/>
        </p:nvSpPr>
        <p:spPr>
          <a:xfrm>
            <a:off x="812800" y="5019042"/>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5</a:t>
            </a:r>
            <a:r>
              <a:rPr lang="en-US" sz="1200" dirty="0">
                <a:solidFill>
                  <a:srgbClr val="44505C"/>
                </a:solidFill>
                <a:latin typeface="IBM Plex Sans" pitchFamily="34" charset="0"/>
                <a:ea typeface="IBM Plex Sans" pitchFamily="34" charset="-122"/>
                <a:cs typeface="IBM Plex Sans" pitchFamily="34" charset="-120"/>
              </a:rPr>
              <a:t>  Swap out da task 2…</a:t>
            </a:r>
            <a:endParaRPr lang="en-US" sz="1200" dirty="0">
              <a:latin typeface="IBM Plex Sans" charset="0"/>
              <a:ea typeface="IBM Plex Sans" charset="0"/>
              <a:cs typeface="IBM Plex Sans" charset="0"/>
            </a:endParaRPr>
          </a:p>
        </p:txBody>
      </p:sp>
      <p:sp>
        <p:nvSpPr>
          <p:cNvPr id="24" name="Text 21"/>
          <p:cNvSpPr/>
          <p:nvPr/>
        </p:nvSpPr>
        <p:spPr>
          <a:xfrm>
            <a:off x="6134100" y="5019042"/>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6</a:t>
            </a:r>
            <a:r>
              <a:rPr lang="en-US" sz="1200" dirty="0">
                <a:solidFill>
                  <a:srgbClr val="44505C"/>
                </a:solidFill>
                <a:latin typeface="IBM Plex Sans" pitchFamily="34" charset="0"/>
                <a:ea typeface="IBM Plex Sans" pitchFamily="34" charset="-122"/>
                <a:cs typeface="IBM Plex Sans" pitchFamily="34" charset="-120"/>
              </a:rPr>
              <a:t>  …e swap in da task 3</a:t>
            </a:r>
            <a:endParaRPr lang="en-US" sz="1200" dirty="0">
              <a:latin typeface="IBM Plex Sans" charset="0"/>
              <a:ea typeface="IBM Plex Sans" charset="0"/>
              <a:cs typeface="IBM Plex Sans" charset="0"/>
            </a:endParaRPr>
          </a:p>
        </p:txBody>
      </p:sp>
      <p:sp>
        <p:nvSpPr>
          <p:cNvPr id="25" name="Text 22"/>
          <p:cNvSpPr/>
          <p:nvPr/>
        </p:nvSpPr>
        <p:spPr>
          <a:xfrm>
            <a:off x="812800" y="5308600"/>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7</a:t>
            </a:r>
            <a:r>
              <a:rPr lang="en-US" sz="1200" dirty="0">
                <a:solidFill>
                  <a:srgbClr val="44505C"/>
                </a:solidFill>
                <a:latin typeface="IBM Plex Sans" pitchFamily="34" charset="0"/>
                <a:ea typeface="IBM Plex Sans" pitchFamily="34" charset="-122"/>
                <a:cs typeface="IBM Plex Sans" pitchFamily="34" charset="-120"/>
              </a:rPr>
              <a:t>  Task 3 encontra o periférico ocupado e bloqueia</a:t>
            </a:r>
            <a:endParaRPr lang="en-US" sz="1200" dirty="0">
              <a:latin typeface="IBM Plex Sans" charset="0"/>
              <a:ea typeface="IBM Plex Sans" charset="0"/>
              <a:cs typeface="IBM Plex Sans" charset="0"/>
            </a:endParaRPr>
          </a:p>
        </p:txBody>
      </p:sp>
      <p:sp>
        <p:nvSpPr>
          <p:cNvPr id="26" name="Text 23"/>
          <p:cNvSpPr/>
          <p:nvPr/>
        </p:nvSpPr>
        <p:spPr>
          <a:xfrm>
            <a:off x="6134100" y="5308600"/>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8</a:t>
            </a:r>
            <a:r>
              <a:rPr lang="en-US" sz="1200" dirty="0">
                <a:solidFill>
                  <a:srgbClr val="44505C"/>
                </a:solidFill>
                <a:latin typeface="IBM Plex Sans" pitchFamily="34" charset="0"/>
                <a:ea typeface="IBM Plex Sans" pitchFamily="34" charset="-122"/>
                <a:cs typeface="IBM Plex Sans" pitchFamily="34" charset="-120"/>
              </a:rPr>
              <a:t>  Swap in da task 1 (etc.)</a:t>
            </a:r>
            <a:endParaRPr lang="en-US" sz="1200" dirty="0">
              <a:latin typeface="IBM Plex Sans" charset="0"/>
              <a:ea typeface="IBM Plex Sans" charset="0"/>
              <a:cs typeface="IBM Plex Sans" charset="0"/>
            </a:endParaRPr>
          </a:p>
        </p:txBody>
      </p:sp>
      <p:sp>
        <p:nvSpPr>
          <p:cNvPr id="27" name="Text 24"/>
          <p:cNvSpPr/>
          <p:nvPr/>
        </p:nvSpPr>
        <p:spPr>
          <a:xfrm>
            <a:off x="812800" y="5598164"/>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9</a:t>
            </a:r>
            <a:r>
              <a:rPr lang="en-US" sz="1200" dirty="0">
                <a:solidFill>
                  <a:srgbClr val="44505C"/>
                </a:solidFill>
                <a:latin typeface="IBM Plex Sans" pitchFamily="34" charset="0"/>
                <a:ea typeface="IBM Plex Sans" pitchFamily="34" charset="-122"/>
                <a:cs typeface="IBM Plex Sans" pitchFamily="34" charset="-120"/>
              </a:rPr>
              <a:t>  Task 2 termina e liberta o periférico</a:t>
            </a:r>
            <a:endParaRPr lang="en-US" sz="1200" dirty="0">
              <a:latin typeface="IBM Plex Sans" charset="0"/>
              <a:ea typeface="IBM Plex Sans" charset="0"/>
              <a:cs typeface="IBM Plex Sans" charset="0"/>
            </a:endParaRPr>
          </a:p>
        </p:txBody>
      </p:sp>
      <p:sp>
        <p:nvSpPr>
          <p:cNvPr id="28" name="Text 25"/>
          <p:cNvSpPr/>
          <p:nvPr/>
        </p:nvSpPr>
        <p:spPr>
          <a:xfrm>
            <a:off x="6134100" y="5598164"/>
            <a:ext cx="54024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10</a:t>
            </a:r>
            <a:r>
              <a:rPr lang="en-US" sz="1200" dirty="0">
                <a:solidFill>
                  <a:srgbClr val="44505C"/>
                </a:solidFill>
                <a:latin typeface="IBM Plex Sans" pitchFamily="34" charset="0"/>
                <a:ea typeface="IBM Plex Sans" pitchFamily="34" charset="-122"/>
                <a:cs typeface="IBM Plex Sans" pitchFamily="34" charset="-120"/>
              </a:rPr>
              <a:t>  Task 3 encontra-o livre e continua</a:t>
            </a:r>
            <a:endParaRPr lang="en-US" sz="1200" dirty="0">
              <a:latin typeface="IBM Plex Sans" charset="0"/>
              <a:ea typeface="IBM Plex Sans" charset="0"/>
              <a:cs typeface="IBM Plex Sans" charset="0"/>
            </a:endParaRPr>
          </a:p>
        </p:txBody>
      </p:sp>
      <p:sp>
        <p:nvSpPr>
          <p:cNvPr id="29" name="Text 26"/>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30" name="Text 2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a:t>
            </a:r>
            <a:endParaRPr lang="en-US" sz="1200" dirty="0">
              <a:latin typeface="IBM Plex Sans" charset="0"/>
              <a:ea typeface="IBM Plex Sans" charset="0"/>
              <a:cs typeface="IBM Plex Sans"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3"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36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REAL-TIME SCHEDULING</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367"/>
            <a:ext cx="10883392" cy="491887"/>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Mesmos princípios, outro objetivo</a:t>
            </a:r>
            <a:endParaRPr lang="en-US" sz="3190" dirty="0">
              <a:latin typeface="IBM Plex Sans" charset="0"/>
              <a:ea typeface="IBM Plex Sans" charset="0"/>
              <a:cs typeface="IBM Plex Sans" charset="0"/>
            </a:endParaRPr>
          </a:p>
        </p:txBody>
      </p:sp>
      <p:sp>
        <p:nvSpPr>
          <p:cNvPr id="6" name="Text 4"/>
          <p:cNvSpPr/>
          <p:nvPr/>
        </p:nvSpPr>
        <p:spPr>
          <a:xfrm>
            <a:off x="812800" y="18224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C"/>
                </a:solidFill>
                <a:latin typeface="IBM Plex Sans" pitchFamily="34" charset="0"/>
                <a:ea typeface="IBM Plex Sans" pitchFamily="34" charset="-122"/>
                <a:cs typeface="IBM Plex Sans" pitchFamily="34" charset="-120"/>
              </a:rPr>
              <a:t>Os eventos do mundo real têm </a:t>
            </a:r>
            <a:r>
              <a:rPr lang="en-US" sz="1600" b="1" dirty="0">
                <a:solidFill>
                  <a:srgbClr val="14222E"/>
                </a:solidFill>
                <a:latin typeface="IBM Plex Sans" pitchFamily="34" charset="0"/>
                <a:ea typeface="IBM Plex Sans" pitchFamily="34" charset="-122"/>
                <a:cs typeface="IBM Plex Sans" pitchFamily="34" charset="-120"/>
              </a:rPr>
              <a:t>deadlines</a:t>
            </a:r>
            <a:r>
              <a:rPr lang="en-US" sz="1600" dirty="0">
                <a:solidFill>
                  <a:srgbClr val="44505C"/>
                </a:solidFill>
                <a:latin typeface="IBM Plex Sans" pitchFamily="34" charset="0"/>
                <a:ea typeface="IBM Plex Sans" pitchFamily="34" charset="-122"/>
                <a:cs typeface="IBM Plex Sans" pitchFamily="34" charset="-120"/>
              </a:rPr>
              <a:t>. A scheduling policy de um RTOS tem de garantir que são cumpridos.</a:t>
            </a:r>
            <a:endParaRPr lang="en-US" sz="1600" dirty="0">
              <a:latin typeface="IBM Plex Sans" charset="0"/>
              <a:ea typeface="IBM Plex Sans" charset="0"/>
              <a:cs typeface="IBM Plex Sans" charset="0"/>
            </a:endParaRPr>
          </a:p>
        </p:txBody>
      </p:sp>
      <p:sp>
        <p:nvSpPr>
          <p:cNvPr id="7" name="Shape 5"/>
          <p:cNvSpPr/>
          <p:nvPr/>
        </p:nvSpPr>
        <p:spPr>
          <a:xfrm>
            <a:off x="815975" y="2339975"/>
            <a:ext cx="3414157" cy="1847850"/>
          </a:xfrm>
          <a:prstGeom prst="roundRect">
            <a:avLst>
              <a:gd name="adj" fmla="val 5326"/>
            </a:avLst>
          </a:prstGeom>
          <a:solidFill>
            <a:srgbClr val="FCFBF8"/>
          </a:solidFill>
          <a:ln w="6350">
            <a:solidFill>
              <a:srgbClr val="DCDAD2"/>
            </a:solidFill>
            <a:prstDash val="solid"/>
          </a:ln>
        </p:spPr>
      </p:sp>
      <p:sp>
        <p:nvSpPr>
          <p:cNvPr id="8" name="Text 6"/>
          <p:cNvSpPr/>
          <p:nvPr/>
        </p:nvSpPr>
        <p:spPr>
          <a:xfrm>
            <a:off x="1021080" y="2545079"/>
            <a:ext cx="309406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01</a:t>
            </a:r>
            <a:endParaRPr lang="en-US" sz="1600" dirty="0">
              <a:latin typeface="JetBrains Mono" charset="0"/>
              <a:ea typeface="JetBrains Mono" charset="0"/>
              <a:cs typeface="JetBrains Mono" charset="0"/>
            </a:endParaRPr>
          </a:p>
        </p:txBody>
      </p:sp>
      <p:sp>
        <p:nvSpPr>
          <p:cNvPr id="9" name="Text 7"/>
          <p:cNvSpPr/>
          <p:nvPr/>
        </p:nvSpPr>
        <p:spPr>
          <a:xfrm>
            <a:off x="1021080" y="2905764"/>
            <a:ext cx="30940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22E"/>
                </a:solidFill>
                <a:latin typeface="IBM Plex Sans" pitchFamily="34" charset="0"/>
                <a:ea typeface="IBM Plex Sans" pitchFamily="34" charset="-122"/>
                <a:cs typeface="IBM Plex Sans" pitchFamily="34" charset="-120"/>
              </a:rPr>
              <a:t>Cada task tem uma prioridade</a:t>
            </a:r>
            <a:endParaRPr lang="en-US" sz="1600" dirty="0">
              <a:latin typeface="IBM Plex Sans" charset="0"/>
              <a:ea typeface="IBM Plex Sans" charset="0"/>
              <a:cs typeface="IBM Plex Sans" charset="0"/>
            </a:endParaRPr>
          </a:p>
        </p:txBody>
      </p:sp>
      <p:sp>
        <p:nvSpPr>
          <p:cNvPr id="10" name="Text 8"/>
          <p:cNvSpPr/>
          <p:nvPr/>
        </p:nvSpPr>
        <p:spPr>
          <a:xfrm>
            <a:off x="1021080" y="3235964"/>
            <a:ext cx="309406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Atribuída pelo engenheiro de software.</a:t>
            </a:r>
            <a:endParaRPr lang="en-US" sz="1400" dirty="0">
              <a:latin typeface="IBM Plex Sans" charset="0"/>
              <a:ea typeface="IBM Plex Sans" charset="0"/>
              <a:cs typeface="IBM Plex Sans" charset="0"/>
            </a:endParaRPr>
          </a:p>
        </p:txBody>
      </p:sp>
      <p:sp>
        <p:nvSpPr>
          <p:cNvPr id="11" name="Shape 9"/>
          <p:cNvSpPr/>
          <p:nvPr/>
        </p:nvSpPr>
        <p:spPr>
          <a:xfrm>
            <a:off x="4388882" y="2339975"/>
            <a:ext cx="3414236" cy="1847850"/>
          </a:xfrm>
          <a:prstGeom prst="roundRect">
            <a:avLst>
              <a:gd name="adj" fmla="val 5326"/>
            </a:avLst>
          </a:prstGeom>
          <a:solidFill>
            <a:srgbClr val="FCFBF8"/>
          </a:solidFill>
          <a:ln w="6350">
            <a:solidFill>
              <a:srgbClr val="DCDAD2"/>
            </a:solidFill>
            <a:prstDash val="solid"/>
          </a:ln>
        </p:spPr>
      </p:sp>
      <p:sp>
        <p:nvSpPr>
          <p:cNvPr id="12" name="Text 10"/>
          <p:cNvSpPr/>
          <p:nvPr/>
        </p:nvSpPr>
        <p:spPr>
          <a:xfrm>
            <a:off x="4593987" y="2545079"/>
            <a:ext cx="309414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02</a:t>
            </a:r>
            <a:endParaRPr lang="en-US" sz="1600" dirty="0">
              <a:latin typeface="JetBrains Mono" charset="0"/>
              <a:ea typeface="JetBrains Mono" charset="0"/>
              <a:cs typeface="JetBrains Mono" charset="0"/>
            </a:endParaRPr>
          </a:p>
        </p:txBody>
      </p:sp>
      <p:sp>
        <p:nvSpPr>
          <p:cNvPr id="13" name="Text 11"/>
          <p:cNvSpPr/>
          <p:nvPr/>
        </p:nvSpPr>
        <p:spPr>
          <a:xfrm>
            <a:off x="4593987" y="2905764"/>
            <a:ext cx="309414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22E"/>
                </a:solidFill>
                <a:latin typeface="IBM Plex Sans" pitchFamily="34" charset="0"/>
                <a:ea typeface="IBM Plex Sans" pitchFamily="34" charset="-122"/>
                <a:cs typeface="IBM Plex Sans" pitchFamily="34" charset="-120"/>
              </a:rPr>
              <a:t>Corre a mais prioritária</a:t>
            </a:r>
            <a:endParaRPr lang="en-US" sz="1600" dirty="0">
              <a:latin typeface="IBM Plex Sans" charset="0"/>
              <a:ea typeface="IBM Plex Sans" charset="0"/>
              <a:cs typeface="IBM Plex Sans" charset="0"/>
            </a:endParaRPr>
          </a:p>
        </p:txBody>
      </p:sp>
      <p:sp>
        <p:nvSpPr>
          <p:cNvPr id="14" name="Text 12"/>
          <p:cNvSpPr/>
          <p:nvPr/>
        </p:nvSpPr>
        <p:spPr>
          <a:xfrm>
            <a:off x="4593987" y="3235964"/>
            <a:ext cx="309414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Recebe CPU a task de maior prioridade que está apta a executar.</a:t>
            </a:r>
            <a:endParaRPr lang="en-US" sz="1400" dirty="0">
              <a:latin typeface="IBM Plex Sans" charset="0"/>
              <a:ea typeface="IBM Plex Sans" charset="0"/>
              <a:cs typeface="IBM Plex Sans" charset="0"/>
            </a:endParaRPr>
          </a:p>
        </p:txBody>
      </p:sp>
      <p:sp>
        <p:nvSpPr>
          <p:cNvPr id="15" name="Shape 13"/>
          <p:cNvSpPr/>
          <p:nvPr/>
        </p:nvSpPr>
        <p:spPr>
          <a:xfrm>
            <a:off x="7961868" y="2339975"/>
            <a:ext cx="3414157" cy="1847850"/>
          </a:xfrm>
          <a:prstGeom prst="roundRect">
            <a:avLst>
              <a:gd name="adj" fmla="val 5326"/>
            </a:avLst>
          </a:prstGeom>
          <a:solidFill>
            <a:srgbClr val="FCFBF8"/>
          </a:solidFill>
          <a:ln w="6350">
            <a:solidFill>
              <a:srgbClr val="DCDAD2"/>
            </a:solidFill>
            <a:prstDash val="solid"/>
          </a:ln>
        </p:spPr>
      </p:sp>
      <p:sp>
        <p:nvSpPr>
          <p:cNvPr id="16" name="Text 14"/>
          <p:cNvSpPr/>
          <p:nvPr/>
        </p:nvSpPr>
        <p:spPr>
          <a:xfrm>
            <a:off x="8166974" y="2545079"/>
            <a:ext cx="3094065"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03</a:t>
            </a:r>
            <a:endParaRPr lang="en-US" sz="1600" dirty="0">
              <a:latin typeface="JetBrains Mono" charset="0"/>
              <a:ea typeface="JetBrains Mono" charset="0"/>
              <a:cs typeface="JetBrains Mono" charset="0"/>
            </a:endParaRPr>
          </a:p>
        </p:txBody>
      </p:sp>
      <p:sp>
        <p:nvSpPr>
          <p:cNvPr id="17" name="Text 15"/>
          <p:cNvSpPr/>
          <p:nvPr/>
        </p:nvSpPr>
        <p:spPr>
          <a:xfrm>
            <a:off x="8166974" y="2905764"/>
            <a:ext cx="309406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4222E"/>
                </a:solidFill>
                <a:latin typeface="IBM Plex Sans" pitchFamily="34" charset="0"/>
                <a:ea typeface="IBM Plex Sans" pitchFamily="34" charset="-122"/>
                <a:cs typeface="IBM Plex Sans" pitchFamily="34" charset="-120"/>
              </a:rPr>
              <a:t>Opcional: partilha entre iguais</a:t>
            </a:r>
            <a:endParaRPr lang="en-US" sz="1600" dirty="0">
              <a:latin typeface="IBM Plex Sans" charset="0"/>
              <a:ea typeface="IBM Plex Sans" charset="0"/>
              <a:cs typeface="IBM Plex Sans" charset="0"/>
            </a:endParaRPr>
          </a:p>
        </p:txBody>
      </p:sp>
      <p:sp>
        <p:nvSpPr>
          <p:cNvPr id="18" name="Text 16"/>
          <p:cNvSpPr/>
          <p:nvPr/>
        </p:nvSpPr>
        <p:spPr>
          <a:xfrm>
            <a:off x="8166974" y="3235964"/>
            <a:ext cx="309406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Tempo dividido de forma justa entre tasks da mesma prioridade, se estiverem prontas.</a:t>
            </a:r>
            <a:endParaRPr lang="en-US" sz="1400" dirty="0">
              <a:latin typeface="IBM Plex Sans" charset="0"/>
              <a:ea typeface="IBM Plex Sans" charset="0"/>
              <a:cs typeface="IBM Plex Sans" charset="0"/>
            </a:endParaRPr>
          </a:p>
        </p:txBody>
      </p:sp>
      <p:sp>
        <p:nvSpPr>
          <p:cNvPr id="19" name="Shape 17"/>
          <p:cNvSpPr/>
          <p:nvPr/>
        </p:nvSpPr>
        <p:spPr>
          <a:xfrm>
            <a:off x="812800" y="4419600"/>
            <a:ext cx="10566400" cy="850900"/>
          </a:xfrm>
          <a:custGeom>
            <a:avLst/>
            <a:gdLst/>
            <a:ahLst/>
            <a:cxnLst/>
            <a:rect l="l" t="t" r="r" b="b"/>
            <a:pathLst>
              <a:path w="10566400" h="850900">
                <a:moveTo>
                  <a:pt x="0" y="0"/>
                </a:moveTo>
                <a:lnTo>
                  <a:pt x="10490200" y="0"/>
                </a:lnTo>
                <a:arcTo hR="76200" wR="76200" stAng="16200000" swAng="5400000"/>
                <a:lnTo>
                  <a:pt x="10566400" y="774700"/>
                </a:lnTo>
                <a:arcTo hR="76200" wR="76200" stAng="0" swAng="5400000"/>
                <a:lnTo>
                  <a:pt x="0" y="850900"/>
                </a:lnTo>
                <a:lnTo>
                  <a:pt x="0" y="0"/>
                </a:lnTo>
                <a:close/>
              </a:path>
            </a:pathLst>
          </a:custGeom>
          <a:solidFill>
            <a:srgbClr val="FBEFE7"/>
          </a:solidFill>
          <a:ln/>
        </p:spPr>
      </p:sp>
      <p:sp>
        <p:nvSpPr>
          <p:cNvPr id="20" name="Shape 18"/>
          <p:cNvSpPr/>
          <p:nvPr/>
        </p:nvSpPr>
        <p:spPr>
          <a:xfrm>
            <a:off x="812800" y="4419600"/>
            <a:ext cx="10566400" cy="850900"/>
          </a:xfrm>
          <a:custGeom>
            <a:avLst/>
            <a:gdLst/>
            <a:ahLst/>
            <a:cxnLst/>
            <a:rect l="l" t="t" r="r" b="b"/>
            <a:pathLst>
              <a:path w="10566400" h="850900">
                <a:moveTo>
                  <a:pt x="38100" y="850900"/>
                </a:moveTo>
                <a:lnTo>
                  <a:pt x="0" y="850900"/>
                </a:lnTo>
                <a:lnTo>
                  <a:pt x="0" y="0"/>
                </a:lnTo>
                <a:lnTo>
                  <a:pt x="38100" y="0"/>
                </a:lnTo>
                <a:lnTo>
                  <a:pt x="38100" y="850900"/>
                </a:lnTo>
                <a:close/>
              </a:path>
            </a:pathLst>
          </a:custGeom>
          <a:solidFill>
            <a:srgbClr val="D0612A"/>
          </a:solidFill>
          <a:ln/>
        </p:spPr>
      </p:sp>
      <p:pic>
        <p:nvPicPr>
          <p:cNvPr id="21" name="Image 0" descr="Warning">    </p:cNvPr>
          <p:cNvPicPr>
            <a:picLocks noChangeAspect="1"/>
          </p:cNvPicPr>
          <p:nvPr/>
        </p:nvPicPr>
        <p:blipFill>
          <a:blip r:embed="rId1"/>
          <a:srcRect l="0" r="0" t="0" b="0"/>
          <a:stretch/>
        </p:blipFill>
        <p:spPr>
          <a:xfrm>
            <a:off x="1051560" y="4692650"/>
            <a:ext cx="304800" cy="304800"/>
          </a:xfrm>
          <a:prstGeom prst="rect">
            <a:avLst/>
          </a:prstGeom>
        </p:spPr>
      </p:pic>
      <p:sp>
        <p:nvSpPr>
          <p:cNvPr id="22" name="Text 19"/>
          <p:cNvSpPr/>
          <p:nvPr/>
        </p:nvSpPr>
        <p:spPr>
          <a:xfrm>
            <a:off x="1508760" y="4596129"/>
            <a:ext cx="9957257"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Não é magia:</a:t>
            </a:r>
            <a:r>
              <a:rPr lang="en-US" sz="1400" dirty="0">
                <a:solidFill>
                  <a:srgbClr val="14222E"/>
                </a:solidFill>
                <a:latin typeface="IBM Plex Sans" pitchFamily="34" charset="0"/>
                <a:ea typeface="IBM Plex Sans" pitchFamily="34" charset="-122"/>
                <a:cs typeface="IBM Plex Sans" pitchFamily="34" charset="-120"/>
              </a:rPr>
              <a:t> não abranda nem acelera o tempo. Cabe a quem escreve a aplicação garantir que as restrições temporais são exequíveis com as prioridades escolhidas.</a:t>
            </a:r>
            <a:endParaRPr lang="en-US" sz="1400" dirty="0">
              <a:latin typeface="IBM Plex Sans" charset="0"/>
              <a:ea typeface="IBM Plex Sans" charset="0"/>
              <a:cs typeface="IBM Plex Sans"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REAL-TIME SCHEDULING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Exemplo: teclado, LCD e controlo</a:t>
            </a:r>
            <a:endParaRPr lang="en-US" sz="3200" dirty="0">
              <a:latin typeface="IBM Plex Sans" charset="0"/>
              <a:ea typeface="IBM Plex Sans" charset="0"/>
              <a:cs typeface="IBM Plex Sans" charset="0"/>
            </a:endParaRPr>
          </a:p>
        </p:txBody>
      </p:sp>
      <p:sp>
        <p:nvSpPr>
          <p:cNvPr id="4" name="Shape 2"/>
          <p:cNvSpPr/>
          <p:nvPr/>
        </p:nvSpPr>
        <p:spPr>
          <a:xfrm>
            <a:off x="815975" y="1801496"/>
            <a:ext cx="5175250" cy="3948430"/>
          </a:xfrm>
          <a:prstGeom prst="roundRect">
            <a:avLst>
              <a:gd name="adj" fmla="val 2493"/>
            </a:avLst>
          </a:prstGeom>
          <a:solidFill>
            <a:srgbClr val="FCFBF8"/>
          </a:solidFill>
          <a:ln w="6350">
            <a:solidFill>
              <a:srgbClr val="DCDAD2"/>
            </a:solidFill>
            <a:prstDash val="solid"/>
          </a:ln>
        </p:spPr>
      </p:sp>
      <p:sp>
        <p:nvSpPr>
          <p:cNvPr id="5" name="Text 3"/>
          <p:cNvSpPr/>
          <p:nvPr/>
        </p:nvSpPr>
        <p:spPr>
          <a:xfrm>
            <a:off x="1021080" y="2006600"/>
            <a:ext cx="49079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Teclado e LCD</a:t>
            </a:r>
            <a:endParaRPr lang="en-US" sz="1800" dirty="0">
              <a:latin typeface="IBM Plex Sans" charset="0"/>
              <a:ea typeface="IBM Plex Sans" charset="0"/>
              <a:cs typeface="IBM Plex Sans" charset="0"/>
            </a:endParaRPr>
          </a:p>
        </p:txBody>
      </p:sp>
      <p:sp>
        <p:nvSpPr>
          <p:cNvPr id="6" name="Text 4"/>
          <p:cNvSpPr/>
          <p:nvPr/>
        </p:nvSpPr>
        <p:spPr>
          <a:xfrm>
            <a:off x="1024255" y="2385696"/>
            <a:ext cx="1184513" cy="267970"/>
          </a:xfrm>
          <a:custGeom>
            <a:avLst/>
            <a:gdLst/>
            <a:ahLst/>
            <a:cxnLst/>
            <a:rect l="l" t="t" r="r" b="b"/>
            <a:pathLst>
              <a:path w="1184513" h="267970">
                <a:moveTo>
                  <a:pt x="133985" y="0"/>
                </a:moveTo>
                <a:lnTo>
                  <a:pt x="1050528" y="0"/>
                </a:lnTo>
                <a:arcTo hR="133985" wR="133985" stAng="16200000" swAng="5400000"/>
                <a:lnTo>
                  <a:pt x="1184513" y="133985"/>
                </a:lnTo>
                <a:arcTo hR="133985" wR="133985" stAng="0" swAng="5400000"/>
                <a:lnTo>
                  <a:pt x="133985" y="267970"/>
                </a:lnTo>
                <a:arcTo hR="133985" wR="133985" stAng="5400000" swAng="5400000"/>
                <a:lnTo>
                  <a:pt x="0" y="133985"/>
                </a:lnTo>
                <a:arcTo hR="133985" wR="133985" stAng="10800000" swAng="5400000"/>
                <a:close/>
              </a:path>
            </a:pathLst>
          </a:custGeom>
          <a:solidFill>
            <a:srgbClr val="F5F4EF"/>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b="1" dirty="0">
                <a:solidFill>
                  <a:srgbClr val="D0612A"/>
                </a:solidFill>
                <a:latin typeface="IBM Plex Sans" pitchFamily="34" charset="0"/>
                <a:ea typeface="IBM Plex Sans" pitchFamily="34" charset="-122"/>
                <a:cs typeface="IBM Plex Sans" pitchFamily="34" charset="-120"/>
              </a:rPr>
              <a:t>Soft real-time</a:t>
            </a:r>
            <a:endParaRPr lang="en-US" sz="1200" dirty="0">
              <a:latin typeface="IBM Plex Sans" charset="0"/>
              <a:ea typeface="IBM Plex Sans" charset="0"/>
              <a:cs typeface="IBM Plex Sans" charset="0"/>
            </a:endParaRPr>
          </a:p>
        </p:txBody>
      </p:sp>
      <p:sp>
        <p:nvSpPr>
          <p:cNvPr id="7" name="Text 5"/>
          <p:cNvSpPr/>
          <p:nvPr/>
        </p:nvSpPr>
        <p:spPr>
          <a:xfrm>
            <a:off x="2291318" y="2385696"/>
            <a:ext cx="1498838" cy="267970"/>
          </a:xfrm>
          <a:custGeom>
            <a:avLst/>
            <a:gdLst/>
            <a:ahLst/>
            <a:cxnLst/>
            <a:rect l="l" t="t" r="r" b="b"/>
            <a:pathLst>
              <a:path w="1498838" h="267970">
                <a:moveTo>
                  <a:pt x="133985" y="0"/>
                </a:moveTo>
                <a:lnTo>
                  <a:pt x="1364853" y="0"/>
                </a:lnTo>
                <a:arcTo hR="133985" wR="133985" stAng="16200000" swAng="5400000"/>
                <a:lnTo>
                  <a:pt x="1498838" y="133985"/>
                </a:lnTo>
                <a:arcTo hR="133985" wR="133985" stAng="0" swAng="5400000"/>
                <a:lnTo>
                  <a:pt x="133985" y="267970"/>
                </a:lnTo>
                <a:arcTo hR="133985" wR="133985" stAng="5400000" swAng="5400000"/>
                <a:lnTo>
                  <a:pt x="0" y="133985"/>
                </a:lnTo>
                <a:arcTo hR="133985" wR="133985" stAng="10800000" swAng="5400000"/>
                <a:close/>
              </a:path>
            </a:pathLst>
          </a:custGeom>
          <a:solidFill>
            <a:srgbClr val="F5F4EF"/>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resposta ≤ 100 ms</a:t>
            </a:r>
            <a:endParaRPr lang="en-US" sz="1200" dirty="0">
              <a:latin typeface="IBM Plex Sans" charset="0"/>
              <a:ea typeface="IBM Plex Sans" charset="0"/>
              <a:cs typeface="IBM Plex Sans" charset="0"/>
            </a:endParaRPr>
          </a:p>
        </p:txBody>
      </p:sp>
      <p:sp>
        <p:nvSpPr>
          <p:cNvPr id="8" name="Text 6"/>
          <p:cNvSpPr/>
          <p:nvPr/>
        </p:nvSpPr>
        <p:spPr>
          <a:xfrm>
            <a:off x="1021080" y="2758442"/>
            <a:ext cx="4765040" cy="2344420"/>
          </a:xfrm>
          <a:prstGeom prst="roundRect">
            <a:avLst>
              <a:gd name="adj" fmla="val 3250"/>
            </a:avLst>
          </a:prstGeom>
          <a:solidFill>
            <a:srgbClr val="14222E"/>
          </a:solidFill>
          <a:ln/>
        </p:spPr>
        <p:txBody>
          <a:bodyPr wrap="square" lIns="180882" tIns="155482" rIns="50123" bIns="130082" rtlCol="0" anchor="t">
            <a:normAutofit/>
          </a:bodyPr>
          <a:lstStyle/>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void vKeyHandlerTask( void *pvParameters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 Processo contínuo: loop infinito</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[Bloquear à espera de uma tecla]</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[Processar a tecla]</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9" name="Shape 7"/>
          <p:cNvSpPr/>
          <p:nvPr/>
        </p:nvSpPr>
        <p:spPr>
          <a:xfrm>
            <a:off x="6200775" y="1801496"/>
            <a:ext cx="5175250" cy="3948430"/>
          </a:xfrm>
          <a:prstGeom prst="roundRect">
            <a:avLst>
              <a:gd name="adj" fmla="val 2493"/>
            </a:avLst>
          </a:prstGeom>
          <a:solidFill>
            <a:srgbClr val="FCFBF8"/>
          </a:solidFill>
          <a:ln w="6350">
            <a:solidFill>
              <a:srgbClr val="DCDAD2"/>
            </a:solidFill>
            <a:prstDash val="solid"/>
          </a:ln>
        </p:spPr>
      </p:sp>
      <p:sp>
        <p:nvSpPr>
          <p:cNvPr id="10" name="Text 8"/>
          <p:cNvSpPr/>
          <p:nvPr/>
        </p:nvSpPr>
        <p:spPr>
          <a:xfrm>
            <a:off x="6405880" y="2006600"/>
            <a:ext cx="49079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Controlo com filtro digital</a:t>
            </a:r>
            <a:endParaRPr lang="en-US" sz="1800" dirty="0">
              <a:latin typeface="IBM Plex Sans" charset="0"/>
              <a:ea typeface="IBM Plex Sans" charset="0"/>
              <a:cs typeface="IBM Plex Sans" charset="0"/>
            </a:endParaRPr>
          </a:p>
        </p:txBody>
      </p:sp>
      <p:sp>
        <p:nvSpPr>
          <p:cNvPr id="11" name="Text 9"/>
          <p:cNvSpPr/>
          <p:nvPr/>
        </p:nvSpPr>
        <p:spPr>
          <a:xfrm>
            <a:off x="6409055" y="2385696"/>
            <a:ext cx="1142762" cy="267970"/>
          </a:xfrm>
          <a:custGeom>
            <a:avLst/>
            <a:gdLst/>
            <a:ahLst/>
            <a:cxnLst/>
            <a:rect l="l" t="t" r="r" b="b"/>
            <a:pathLst>
              <a:path w="1142762" h="267970">
                <a:moveTo>
                  <a:pt x="133985" y="0"/>
                </a:moveTo>
                <a:lnTo>
                  <a:pt x="1008777" y="0"/>
                </a:lnTo>
                <a:arcTo hR="133985" wR="133985" stAng="16200000" swAng="5400000"/>
                <a:lnTo>
                  <a:pt x="1142762" y="133985"/>
                </a:lnTo>
                <a:arcTo hR="133985" wR="133985" stAng="0" swAng="5400000"/>
                <a:lnTo>
                  <a:pt x="133985" y="267970"/>
                </a:lnTo>
                <a:arcTo hR="133985" wR="133985" stAng="5400000" swAng="5400000"/>
                <a:lnTo>
                  <a:pt x="0" y="133985"/>
                </a:lnTo>
                <a:arcTo hR="133985" wR="133985" stAng="10800000" swAng="5400000"/>
                <a:close/>
              </a:path>
            </a:pathLst>
          </a:custGeom>
          <a:solidFill>
            <a:srgbClr val="F5F4EF"/>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b="1" dirty="0">
                <a:solidFill>
                  <a:srgbClr val="2F6FD0"/>
                </a:solidFill>
                <a:latin typeface="IBM Plex Sans" pitchFamily="34" charset="0"/>
                <a:ea typeface="IBM Plex Sans" pitchFamily="34" charset="-122"/>
                <a:cs typeface="IBM Plex Sans" pitchFamily="34" charset="-120"/>
              </a:rPr>
              <a:t>Ciclo de 2 ms</a:t>
            </a:r>
            <a:endParaRPr lang="en-US" sz="1200" dirty="0">
              <a:latin typeface="IBM Plex Sans" charset="0"/>
              <a:ea typeface="IBM Plex Sans" charset="0"/>
              <a:cs typeface="IBM Plex Sans" charset="0"/>
            </a:endParaRPr>
          </a:p>
        </p:txBody>
      </p:sp>
      <p:sp>
        <p:nvSpPr>
          <p:cNvPr id="12" name="Text 10"/>
          <p:cNvSpPr/>
          <p:nvPr/>
        </p:nvSpPr>
        <p:spPr>
          <a:xfrm>
            <a:off x="7634367" y="2385696"/>
            <a:ext cx="1448991" cy="267970"/>
          </a:xfrm>
          <a:custGeom>
            <a:avLst/>
            <a:gdLst/>
            <a:ahLst/>
            <a:cxnLst/>
            <a:rect l="l" t="t" r="r" b="b"/>
            <a:pathLst>
              <a:path w="1448991" h="267970">
                <a:moveTo>
                  <a:pt x="133985" y="0"/>
                </a:moveTo>
                <a:lnTo>
                  <a:pt x="1315006" y="0"/>
                </a:lnTo>
                <a:arcTo hR="133985" wR="133985" stAng="16200000" swAng="5400000"/>
                <a:lnTo>
                  <a:pt x="1448991" y="133985"/>
                </a:lnTo>
                <a:arcTo hR="133985" wR="133985" stAng="0" swAng="5400000"/>
                <a:lnTo>
                  <a:pt x="133985" y="267970"/>
                </a:lnTo>
                <a:arcTo hR="133985" wR="133985" stAng="5400000" swAng="5400000"/>
                <a:lnTo>
                  <a:pt x="0" y="133985"/>
                </a:lnTo>
                <a:arcTo hR="133985" wR="133985" stAng="10800000" swAng="5400000"/>
                <a:close/>
              </a:path>
            </a:pathLst>
          </a:custGeom>
          <a:solidFill>
            <a:srgbClr val="F5F4EF"/>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precisão ± 0,5 ms</a:t>
            </a:r>
            <a:endParaRPr lang="en-US" sz="1200" dirty="0">
              <a:latin typeface="IBM Plex Sans" charset="0"/>
              <a:ea typeface="IBM Plex Sans" charset="0"/>
              <a:cs typeface="IBM Plex Sans" charset="0"/>
            </a:endParaRPr>
          </a:p>
        </p:txBody>
      </p:sp>
      <p:sp>
        <p:nvSpPr>
          <p:cNvPr id="13" name="Text 11"/>
          <p:cNvSpPr/>
          <p:nvPr/>
        </p:nvSpPr>
        <p:spPr>
          <a:xfrm>
            <a:off x="6405880" y="2758442"/>
            <a:ext cx="4765040" cy="2786380"/>
          </a:xfrm>
          <a:prstGeom prst="roundRect">
            <a:avLst>
              <a:gd name="adj" fmla="val 2735"/>
            </a:avLst>
          </a:prstGeom>
          <a:solidFill>
            <a:srgbClr val="14222E"/>
          </a:solidFill>
          <a:ln/>
        </p:spPr>
        <p:txBody>
          <a:bodyPr wrap="square" lIns="180882" tIns="155482" rIns="50123" bIns="130082" rtlCol="0" anchor="t">
            <a:normAutofit/>
          </a:bodyPr>
          <a:lstStyle/>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void vControlTask( void *pvParameters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[Esperar até 2 ms após o ciclo anterior]</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[Amostrar a entrada]</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[Filtrar a amostra]</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[Executar o algoritmo de controlo]</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[Escrever o resultado]</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74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REAL-TIME SCHEDULING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Quem fica com a prioridade mais alta</a:t>
            </a:r>
            <a:endParaRPr lang="en-US" sz="3200" dirty="0">
              <a:latin typeface="IBM Plex Sans" charset="0"/>
              <a:ea typeface="IBM Plex Sans" charset="0"/>
              <a:cs typeface="IBM Plex Sans" charset="0"/>
            </a:endParaRPr>
          </a:p>
        </p:txBody>
      </p:sp>
      <p:sp>
        <p:nvSpPr>
          <p:cNvPr id="4" name="Text 2"/>
          <p:cNvSpPr/>
          <p:nvPr/>
        </p:nvSpPr>
        <p:spPr>
          <a:xfrm>
            <a:off x="812800" y="1899921"/>
            <a:ext cx="630504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C"/>
                </a:solidFill>
                <a:latin typeface="IBM Plex Sans" pitchFamily="34" charset="0"/>
                <a:ea typeface="IBM Plex Sans" pitchFamily="34" charset="-122"/>
                <a:cs typeface="IBM Plex Sans" pitchFamily="34" charset="-120"/>
              </a:rPr>
              <a:t>A task de controlo recebe a prioridade mais alta porque:</a:t>
            </a:r>
            <a:endParaRPr lang="en-US" sz="1600" dirty="0">
              <a:latin typeface="IBM Plex Sans" charset="0"/>
              <a:ea typeface="IBM Plex Sans" charset="0"/>
              <a:cs typeface="IBM Plex Sans" charset="0"/>
            </a:endParaRPr>
          </a:p>
        </p:txBody>
      </p:sp>
      <p:sp>
        <p:nvSpPr>
          <p:cNvPr id="5" name="Text 3"/>
          <p:cNvSpPr/>
          <p:nvPr/>
        </p:nvSpPr>
        <p:spPr>
          <a:xfrm>
            <a:off x="812800" y="2438400"/>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66A"/>
                </a:solidFill>
                <a:latin typeface="JetBrains Mono" pitchFamily="49" charset="0"/>
                <a:ea typeface="JetBrains Mono" pitchFamily="49" charset="-122"/>
                <a:cs typeface="JetBrains Mono" pitchFamily="49" charset="-120"/>
              </a:rPr>
              <a:t>1</a:t>
            </a:r>
            <a:endParaRPr lang="en-US" sz="2200" dirty="0">
              <a:latin typeface="JetBrains Mono" charset="0"/>
              <a:ea typeface="JetBrains Mono" charset="0"/>
              <a:cs typeface="JetBrains Mono" charset="0"/>
            </a:endParaRPr>
          </a:p>
        </p:txBody>
      </p:sp>
      <p:sp>
        <p:nvSpPr>
          <p:cNvPr id="6" name="Text 4"/>
          <p:cNvSpPr/>
          <p:nvPr/>
        </p:nvSpPr>
        <p:spPr>
          <a:xfrm>
            <a:off x="1473200" y="2438400"/>
            <a:ext cx="56248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O prazo é mais apertado</a:t>
            </a:r>
            <a:endParaRPr lang="en-US" sz="1800" dirty="0">
              <a:latin typeface="IBM Plex Sans" charset="0"/>
              <a:ea typeface="IBM Plex Sans" charset="0"/>
              <a:cs typeface="IBM Plex Sans" charset="0"/>
            </a:endParaRPr>
          </a:p>
        </p:txBody>
      </p:sp>
      <p:sp>
        <p:nvSpPr>
          <p:cNvPr id="7" name="Text 5"/>
          <p:cNvSpPr/>
          <p:nvPr/>
        </p:nvSpPr>
        <p:spPr>
          <a:xfrm>
            <a:off x="1473200" y="2763521"/>
            <a:ext cx="56248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 deadline do controlo é mais restrito do que o do tratamento do teclado.</a:t>
            </a:r>
            <a:endParaRPr lang="en-US" sz="1400" dirty="0">
              <a:latin typeface="IBM Plex Sans" charset="0"/>
              <a:ea typeface="IBM Plex Sans" charset="0"/>
              <a:cs typeface="IBM Plex Sans" charset="0"/>
            </a:endParaRPr>
          </a:p>
        </p:txBody>
      </p:sp>
      <p:sp>
        <p:nvSpPr>
          <p:cNvPr id="8" name="Text 6"/>
          <p:cNvSpPr/>
          <p:nvPr/>
        </p:nvSpPr>
        <p:spPr>
          <a:xfrm>
            <a:off x="812800" y="3515364"/>
            <a:ext cx="558800"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66A"/>
                </a:solidFill>
                <a:latin typeface="JetBrains Mono" pitchFamily="49" charset="0"/>
                <a:ea typeface="JetBrains Mono" pitchFamily="49" charset="-122"/>
                <a:cs typeface="JetBrains Mono" pitchFamily="49" charset="-120"/>
              </a:rPr>
              <a:t>2</a:t>
            </a:r>
            <a:endParaRPr lang="en-US" sz="2200" dirty="0">
              <a:latin typeface="JetBrains Mono" charset="0"/>
              <a:ea typeface="JetBrains Mono" charset="0"/>
              <a:cs typeface="JetBrains Mono" charset="0"/>
            </a:endParaRPr>
          </a:p>
        </p:txBody>
      </p:sp>
      <p:sp>
        <p:nvSpPr>
          <p:cNvPr id="9" name="Text 7"/>
          <p:cNvSpPr/>
          <p:nvPr/>
        </p:nvSpPr>
        <p:spPr>
          <a:xfrm>
            <a:off x="1473200" y="3515364"/>
            <a:ext cx="56248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Falhar custa mais</a:t>
            </a:r>
            <a:endParaRPr lang="en-US" sz="1800" dirty="0">
              <a:latin typeface="IBM Plex Sans" charset="0"/>
              <a:ea typeface="IBM Plex Sans" charset="0"/>
              <a:cs typeface="IBM Plex Sans" charset="0"/>
            </a:endParaRPr>
          </a:p>
        </p:txBody>
      </p:sp>
      <p:sp>
        <p:nvSpPr>
          <p:cNvPr id="10" name="Text 8"/>
          <p:cNvSpPr/>
          <p:nvPr/>
        </p:nvSpPr>
        <p:spPr>
          <a:xfrm>
            <a:off x="1473200" y="3840479"/>
            <a:ext cx="56248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As consequências de um deadline falhado são maiores no controlo do que no teclado.</a:t>
            </a:r>
            <a:endParaRPr lang="en-US" sz="1400" dirty="0">
              <a:latin typeface="IBM Plex Sans" charset="0"/>
              <a:ea typeface="IBM Plex Sans" charset="0"/>
              <a:cs typeface="IBM Plex Sans" charset="0"/>
            </a:endParaRPr>
          </a:p>
        </p:txBody>
      </p:sp>
      <p:sp>
        <p:nvSpPr>
          <p:cNvPr id="11" name="Text 9"/>
          <p:cNvSpPr/>
          <p:nvPr/>
        </p:nvSpPr>
        <p:spPr>
          <a:xfrm>
            <a:off x="7442200" y="1899921"/>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PRIORIDADE ↓</a:t>
            </a:r>
            <a:endParaRPr lang="en-US" sz="1200" dirty="0">
              <a:latin typeface="IBM Plex Sans" charset="0"/>
              <a:ea typeface="IBM Plex Sans" charset="0"/>
              <a:cs typeface="IBM Plex Sans" charset="0"/>
            </a:endParaRPr>
          </a:p>
        </p:txBody>
      </p:sp>
      <p:sp>
        <p:nvSpPr>
          <p:cNvPr id="12" name="Shape 10"/>
          <p:cNvSpPr/>
          <p:nvPr/>
        </p:nvSpPr>
        <p:spPr>
          <a:xfrm>
            <a:off x="7442200" y="2214879"/>
            <a:ext cx="3937000" cy="810260"/>
          </a:xfrm>
          <a:prstGeom prst="roundRect">
            <a:avLst>
              <a:gd name="adj" fmla="val 9404"/>
            </a:avLst>
          </a:prstGeom>
          <a:solidFill>
            <a:srgbClr val="2F6FD0"/>
          </a:solidFill>
          <a:ln/>
        </p:spPr>
      </p:sp>
      <p:sp>
        <p:nvSpPr>
          <p:cNvPr id="13" name="Text 11"/>
          <p:cNvSpPr/>
          <p:nvPr/>
        </p:nvSpPr>
        <p:spPr>
          <a:xfrm>
            <a:off x="7645400" y="2367279"/>
            <a:ext cx="363651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4EF"/>
                </a:solidFill>
                <a:latin typeface="JetBrains Mono" pitchFamily="49" charset="0"/>
                <a:ea typeface="JetBrains Mono" pitchFamily="49" charset="-122"/>
                <a:cs typeface="JetBrains Mono" pitchFamily="49" charset="-120"/>
              </a:rPr>
              <a:t>vControlTask</a:t>
            </a:r>
            <a:endParaRPr lang="en-US" sz="1500" dirty="0">
              <a:latin typeface="JetBrains Mono" charset="0"/>
              <a:ea typeface="JetBrains Mono" charset="0"/>
              <a:cs typeface="JetBrains Mono" charset="0"/>
            </a:endParaRPr>
          </a:p>
        </p:txBody>
      </p:sp>
      <p:sp>
        <p:nvSpPr>
          <p:cNvPr id="14" name="Text 12"/>
          <p:cNvSpPr/>
          <p:nvPr/>
        </p:nvSpPr>
        <p:spPr>
          <a:xfrm>
            <a:off x="7645400" y="2659379"/>
            <a:ext cx="36365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8EC"/>
                </a:solidFill>
                <a:latin typeface="IBM Plex Sans" pitchFamily="34" charset="0"/>
                <a:ea typeface="IBM Plex Sans" pitchFamily="34" charset="-122"/>
                <a:cs typeface="IBM Plex Sans" pitchFamily="34" charset="-120"/>
              </a:rPr>
              <a:t>Mais alta</a:t>
            </a:r>
            <a:endParaRPr lang="en-US" sz="1200" dirty="0">
              <a:latin typeface="IBM Plex Sans" charset="0"/>
              <a:ea typeface="IBM Plex Sans" charset="0"/>
              <a:cs typeface="IBM Plex Sans" charset="0"/>
            </a:endParaRPr>
          </a:p>
        </p:txBody>
      </p:sp>
      <p:sp>
        <p:nvSpPr>
          <p:cNvPr id="15" name="Shape 13"/>
          <p:cNvSpPr/>
          <p:nvPr/>
        </p:nvSpPr>
        <p:spPr>
          <a:xfrm>
            <a:off x="7442200" y="3126742"/>
            <a:ext cx="3937000" cy="810260"/>
          </a:xfrm>
          <a:prstGeom prst="roundRect">
            <a:avLst>
              <a:gd name="adj" fmla="val 9404"/>
            </a:avLst>
          </a:prstGeom>
          <a:solidFill>
            <a:srgbClr val="D0612A"/>
          </a:solidFill>
          <a:ln/>
        </p:spPr>
      </p:sp>
      <p:sp>
        <p:nvSpPr>
          <p:cNvPr id="16" name="Text 14"/>
          <p:cNvSpPr/>
          <p:nvPr/>
        </p:nvSpPr>
        <p:spPr>
          <a:xfrm>
            <a:off x="7645400" y="3279142"/>
            <a:ext cx="363651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4EF"/>
                </a:solidFill>
                <a:latin typeface="JetBrains Mono" pitchFamily="49" charset="0"/>
                <a:ea typeface="JetBrains Mono" pitchFamily="49" charset="-122"/>
                <a:cs typeface="JetBrains Mono" pitchFamily="49" charset="-120"/>
              </a:rPr>
              <a:t>vKeyHandlerTask</a:t>
            </a:r>
            <a:endParaRPr lang="en-US" sz="1500" dirty="0">
              <a:latin typeface="JetBrains Mono" charset="0"/>
              <a:ea typeface="JetBrains Mono" charset="0"/>
              <a:cs typeface="JetBrains Mono" charset="0"/>
            </a:endParaRPr>
          </a:p>
        </p:txBody>
      </p:sp>
      <p:sp>
        <p:nvSpPr>
          <p:cNvPr id="17" name="Text 15"/>
          <p:cNvSpPr/>
          <p:nvPr/>
        </p:nvSpPr>
        <p:spPr>
          <a:xfrm>
            <a:off x="7645400" y="3571242"/>
            <a:ext cx="36365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8EC"/>
                </a:solidFill>
                <a:latin typeface="IBM Plex Sans" pitchFamily="34" charset="0"/>
                <a:ea typeface="IBM Plex Sans" pitchFamily="34" charset="-122"/>
                <a:cs typeface="IBM Plex Sans" pitchFamily="34" charset="-120"/>
              </a:rPr>
              <a:t>Intermédia</a:t>
            </a:r>
            <a:endParaRPr lang="en-US" sz="1200" dirty="0">
              <a:latin typeface="IBM Plex Sans" charset="0"/>
              <a:ea typeface="IBM Plex Sans" charset="0"/>
              <a:cs typeface="IBM Plex Sans" charset="0"/>
            </a:endParaRPr>
          </a:p>
        </p:txBody>
      </p:sp>
      <p:sp>
        <p:nvSpPr>
          <p:cNvPr id="18" name="Shape 16"/>
          <p:cNvSpPr/>
          <p:nvPr/>
        </p:nvSpPr>
        <p:spPr>
          <a:xfrm>
            <a:off x="7442200" y="4038600"/>
            <a:ext cx="3937000" cy="1236980"/>
          </a:xfrm>
          <a:prstGeom prst="roundRect">
            <a:avLst>
              <a:gd name="adj" fmla="val 6160"/>
            </a:avLst>
          </a:prstGeom>
          <a:solidFill>
            <a:srgbClr val="DDE1E4"/>
          </a:solidFill>
          <a:ln/>
        </p:spPr>
      </p:sp>
      <p:sp>
        <p:nvSpPr>
          <p:cNvPr id="19" name="Text 17"/>
          <p:cNvSpPr/>
          <p:nvPr/>
        </p:nvSpPr>
        <p:spPr>
          <a:xfrm>
            <a:off x="7645400" y="4191000"/>
            <a:ext cx="363651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22E"/>
                </a:solidFill>
                <a:latin typeface="JetBrains Mono" pitchFamily="49" charset="0"/>
                <a:ea typeface="JetBrains Mono" pitchFamily="49" charset="-122"/>
                <a:cs typeface="JetBrains Mono" pitchFamily="49" charset="-120"/>
              </a:rPr>
              <a:t>Idle task</a:t>
            </a:r>
            <a:endParaRPr lang="en-US" sz="1500" dirty="0">
              <a:latin typeface="JetBrains Mono" charset="0"/>
              <a:ea typeface="JetBrains Mono" charset="0"/>
              <a:cs typeface="JetBrains Mono" charset="0"/>
            </a:endParaRPr>
          </a:p>
        </p:txBody>
      </p:sp>
      <p:sp>
        <p:nvSpPr>
          <p:cNvPr id="20" name="Text 18"/>
          <p:cNvSpPr/>
          <p:nvPr/>
        </p:nvSpPr>
        <p:spPr>
          <a:xfrm>
            <a:off x="7645400" y="4483100"/>
            <a:ext cx="363651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Criada pelo próprio RTOS. Só executa quando nenhuma outra pode, e está sempre pronta a executar.</a:t>
            </a:r>
            <a:endParaRPr lang="en-US" sz="1200" dirty="0">
              <a:latin typeface="IBM Plex Sans" charset="0"/>
              <a:ea typeface="IBM Plex Sans" charset="0"/>
              <a:cs typeface="IBM Plex Sans" charset="0"/>
            </a:endParaRPr>
          </a:p>
        </p:txBody>
      </p:sp>
      <p:sp>
        <p:nvSpPr>
          <p:cNvPr id="21" name="Text 1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a:t>
            </a:r>
            <a:endParaRPr lang="en-US" sz="1200" dirty="0">
              <a:latin typeface="IBM Plex Sans" charset="0"/>
              <a:ea typeface="IBM Plex Sans" charset="0"/>
              <a:cs typeface="IBM Plex Sans"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REAL-TIME SCHEDULING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exemplo ao longo do tempo</a:t>
            </a:r>
            <a:endParaRPr lang="en-US" sz="3200" dirty="0">
              <a:latin typeface="IBM Plex Sans" charset="0"/>
              <a:ea typeface="IBM Plex Sans" charset="0"/>
              <a:cs typeface="IBM Plex Sans" charset="0"/>
            </a:endParaRPr>
          </a:p>
        </p:txBody>
      </p:sp>
      <p:pic>
        <p:nvPicPr>
          <p:cNvPr id="4" name="Image 0" descr="Linha temporal: a idle task corre quando nada está pronto; vControlTask corre sempre que o timer dispara, adiando ou interrompendo vKeyHandlerTask.">    </p:cNvPr>
          <p:cNvPicPr>
            <a:picLocks noChangeAspect="1"/>
          </p:cNvPicPr>
          <p:nvPr/>
        </p:nvPicPr>
        <p:blipFill>
          <a:blip r:embed="rId1"/>
          <a:srcRect l="0" r="0" t="-31" b="-31"/>
          <a:stretch/>
        </p:blipFill>
        <p:spPr>
          <a:xfrm>
            <a:off x="812800" y="1747521"/>
            <a:ext cx="10566400" cy="2540000"/>
          </a:xfrm>
          <a:prstGeom prst="rect">
            <a:avLst/>
          </a:prstGeom>
        </p:spPr>
      </p:pic>
      <p:sp>
        <p:nvSpPr>
          <p:cNvPr id="5" name="Text 2"/>
          <p:cNvSpPr/>
          <p:nvPr/>
        </p:nvSpPr>
        <p:spPr>
          <a:xfrm>
            <a:off x="812800" y="2007871"/>
            <a:ext cx="196215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2F6FD0"/>
                </a:solidFill>
                <a:latin typeface="JetBrains Mono" pitchFamily="49" charset="0"/>
                <a:ea typeface="JetBrains Mono" pitchFamily="49" charset="-122"/>
                <a:cs typeface="JetBrains Mono" pitchFamily="49" charset="-120"/>
              </a:rPr>
              <a:t>vControlTask</a:t>
            </a:r>
            <a:endParaRPr lang="en-US" sz="1200" dirty="0">
              <a:latin typeface="JetBrains Mono" charset="0"/>
              <a:ea typeface="JetBrains Mono" charset="0"/>
              <a:cs typeface="JetBrains Mono" charset="0"/>
            </a:endParaRPr>
          </a:p>
        </p:txBody>
      </p:sp>
      <p:sp>
        <p:nvSpPr>
          <p:cNvPr id="6" name="Text 3"/>
          <p:cNvSpPr/>
          <p:nvPr/>
        </p:nvSpPr>
        <p:spPr>
          <a:xfrm>
            <a:off x="812800" y="2706371"/>
            <a:ext cx="196215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D0612A"/>
                </a:solidFill>
                <a:latin typeface="JetBrains Mono" pitchFamily="49" charset="0"/>
                <a:ea typeface="JetBrains Mono" pitchFamily="49" charset="-122"/>
                <a:cs typeface="JetBrains Mono" pitchFamily="49" charset="-120"/>
              </a:rPr>
              <a:t>vKeyHandlerTask</a:t>
            </a:r>
            <a:endParaRPr lang="en-US" sz="1200" dirty="0">
              <a:latin typeface="JetBrains Mono" charset="0"/>
              <a:ea typeface="JetBrains Mono" charset="0"/>
              <a:cs typeface="JetBrains Mono" charset="0"/>
            </a:endParaRPr>
          </a:p>
        </p:txBody>
      </p:sp>
      <p:sp>
        <p:nvSpPr>
          <p:cNvPr id="7" name="Text 4"/>
          <p:cNvSpPr/>
          <p:nvPr/>
        </p:nvSpPr>
        <p:spPr>
          <a:xfrm>
            <a:off x="812800" y="3404871"/>
            <a:ext cx="1962150" cy="241776"/>
          </a:xfrm>
          <a:prstGeom prst="rect">
            <a:avLst/>
          </a:prstGeom>
          <a:noFill/>
          <a:ln/>
        </p:spPr>
        <p:txBody>
          <a:bodyPr wrap="none" lIns="0" tIns="0" rIns="0" bIns="0" rtlCol="0" anchor="t">
            <a:normAutofit/>
          </a:bodyPr>
          <a:lstStyle/>
          <a:p>
            <a:pPr algn="l" indent="0" marL="0">
              <a:lnSpc>
                <a:spcPts val="1704"/>
              </a:lnSpc>
              <a:buNone/>
            </a:pPr>
            <a:r>
              <a:rPr lang="en-US" sz="1200" b="1" dirty="0">
                <a:solidFill>
                  <a:srgbClr val="66717C"/>
                </a:solidFill>
                <a:latin typeface="JetBrains Mono" pitchFamily="49" charset="0"/>
                <a:ea typeface="JetBrains Mono" pitchFamily="49" charset="-122"/>
                <a:cs typeface="JetBrains Mono" pitchFamily="49" charset="-120"/>
              </a:rPr>
              <a:t>Idle task</a:t>
            </a:r>
            <a:endParaRPr lang="en-US" sz="1200" dirty="0">
              <a:latin typeface="JetBrains Mono" charset="0"/>
              <a:ea typeface="JetBrains Mono" charset="0"/>
              <a:cs typeface="JetBrains Mono" charset="0"/>
            </a:endParaRPr>
          </a:p>
        </p:txBody>
      </p:sp>
      <p:sp>
        <p:nvSpPr>
          <p:cNvPr id="8" name="Text 5"/>
          <p:cNvSpPr/>
          <p:nvPr/>
        </p:nvSpPr>
        <p:spPr>
          <a:xfrm>
            <a:off x="313055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9" name="Text 6"/>
          <p:cNvSpPr/>
          <p:nvPr/>
        </p:nvSpPr>
        <p:spPr>
          <a:xfrm>
            <a:off x="379730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p:txBody>
      </p:sp>
      <p:sp>
        <p:nvSpPr>
          <p:cNvPr id="10" name="Text 7"/>
          <p:cNvSpPr/>
          <p:nvPr/>
        </p:nvSpPr>
        <p:spPr>
          <a:xfrm>
            <a:off x="463550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p:txBody>
      </p:sp>
      <p:sp>
        <p:nvSpPr>
          <p:cNvPr id="11" name="Text 8"/>
          <p:cNvSpPr/>
          <p:nvPr/>
        </p:nvSpPr>
        <p:spPr>
          <a:xfrm>
            <a:off x="564515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t4</a:t>
            </a:r>
            <a:endParaRPr lang="en-US" sz="1200" dirty="0">
              <a:latin typeface="IBM Plex Sans" charset="0"/>
              <a:ea typeface="IBM Plex Sans" charset="0"/>
              <a:cs typeface="IBM Plex Sans" charset="0"/>
            </a:endParaRPr>
          </a:p>
        </p:txBody>
      </p:sp>
      <p:sp>
        <p:nvSpPr>
          <p:cNvPr id="12" name="Text 9"/>
          <p:cNvSpPr/>
          <p:nvPr/>
        </p:nvSpPr>
        <p:spPr>
          <a:xfrm>
            <a:off x="631190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t5</a:t>
            </a:r>
            <a:endParaRPr lang="en-US" sz="1200" dirty="0">
              <a:latin typeface="IBM Plex Sans" charset="0"/>
              <a:ea typeface="IBM Plex Sans" charset="0"/>
              <a:cs typeface="IBM Plex Sans" charset="0"/>
            </a:endParaRPr>
          </a:p>
        </p:txBody>
      </p:sp>
      <p:sp>
        <p:nvSpPr>
          <p:cNvPr id="13" name="Text 10"/>
          <p:cNvSpPr/>
          <p:nvPr/>
        </p:nvSpPr>
        <p:spPr>
          <a:xfrm>
            <a:off x="849630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t6</a:t>
            </a:r>
            <a:endParaRPr lang="en-US" sz="1200" dirty="0">
              <a:latin typeface="IBM Plex Sans" charset="0"/>
              <a:ea typeface="IBM Plex Sans" charset="0"/>
              <a:cs typeface="IBM Plex Sans" charset="0"/>
            </a:endParaRPr>
          </a:p>
        </p:txBody>
      </p:sp>
      <p:sp>
        <p:nvSpPr>
          <p:cNvPr id="14" name="Text 11"/>
          <p:cNvSpPr/>
          <p:nvPr/>
        </p:nvSpPr>
        <p:spPr>
          <a:xfrm>
            <a:off x="933450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t7</a:t>
            </a:r>
            <a:endParaRPr lang="en-US" sz="1200" dirty="0">
              <a:latin typeface="IBM Plex Sans" charset="0"/>
              <a:ea typeface="IBM Plex Sans" charset="0"/>
              <a:cs typeface="IBM Plex Sans" charset="0"/>
            </a:endParaRPr>
          </a:p>
        </p:txBody>
      </p:sp>
      <p:sp>
        <p:nvSpPr>
          <p:cNvPr id="15" name="Text 12"/>
          <p:cNvSpPr/>
          <p:nvPr/>
        </p:nvSpPr>
        <p:spPr>
          <a:xfrm>
            <a:off x="10337800" y="3982721"/>
            <a:ext cx="431800" cy="241776"/>
          </a:xfrm>
          <a:prstGeom prst="rect">
            <a:avLst/>
          </a:prstGeom>
          <a:noFill/>
          <a:ln/>
        </p:spPr>
        <p:txBody>
          <a:bodyPr wrap="non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t8</a:t>
            </a:r>
            <a:endParaRPr lang="en-US" sz="1200" dirty="0">
              <a:latin typeface="IBM Plex Sans" charset="0"/>
              <a:ea typeface="IBM Plex Sans" charset="0"/>
              <a:cs typeface="IBM Plex Sans" charset="0"/>
            </a:endParaRPr>
          </a:p>
        </p:txBody>
      </p:sp>
      <p:sp>
        <p:nvSpPr>
          <p:cNvPr id="16" name="Shape 13"/>
          <p:cNvSpPr/>
          <p:nvPr/>
        </p:nvSpPr>
        <p:spPr>
          <a:xfrm>
            <a:off x="815975" y="4443096"/>
            <a:ext cx="3414157" cy="1212850"/>
          </a:xfrm>
          <a:prstGeom prst="roundRect">
            <a:avLst>
              <a:gd name="adj" fmla="val 8115"/>
            </a:avLst>
          </a:prstGeom>
          <a:solidFill>
            <a:srgbClr val="FCFBF8"/>
          </a:solidFill>
          <a:ln w="6350">
            <a:solidFill>
              <a:srgbClr val="DCDAD2"/>
            </a:solidFill>
            <a:prstDash val="solid"/>
          </a:ln>
        </p:spPr>
      </p:sp>
      <p:sp>
        <p:nvSpPr>
          <p:cNvPr id="17" name="Text 14"/>
          <p:cNvSpPr/>
          <p:nvPr/>
        </p:nvSpPr>
        <p:spPr>
          <a:xfrm>
            <a:off x="970280" y="4597400"/>
            <a:ext cx="31987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Entre t3 e t4</a:t>
            </a:r>
            <a:endParaRPr lang="en-US" sz="1400" dirty="0">
              <a:latin typeface="IBM Plex Sans" charset="0"/>
              <a:ea typeface="IBM Plex Sans" charset="0"/>
              <a:cs typeface="IBM Plex Sans" charset="0"/>
            </a:endParaRPr>
          </a:p>
        </p:txBody>
      </p:sp>
      <p:sp>
        <p:nvSpPr>
          <p:cNvPr id="18" name="Text 15"/>
          <p:cNvSpPr/>
          <p:nvPr/>
        </p:nvSpPr>
        <p:spPr>
          <a:xfrm>
            <a:off x="970280" y="4861564"/>
            <a:ext cx="319871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Há uma tecla premida (tracejado), mas vControlTask tem maior prioridade: a tecla espera até t4.</a:t>
            </a:r>
            <a:endParaRPr lang="en-US" sz="1200" dirty="0">
              <a:latin typeface="IBM Plex Sans" charset="0"/>
              <a:ea typeface="IBM Plex Sans" charset="0"/>
              <a:cs typeface="IBM Plex Sans" charset="0"/>
            </a:endParaRPr>
          </a:p>
        </p:txBody>
      </p:sp>
      <p:sp>
        <p:nvSpPr>
          <p:cNvPr id="19" name="Shape 16"/>
          <p:cNvSpPr/>
          <p:nvPr/>
        </p:nvSpPr>
        <p:spPr>
          <a:xfrm>
            <a:off x="4388882" y="4443096"/>
            <a:ext cx="3414236" cy="1212850"/>
          </a:xfrm>
          <a:prstGeom prst="roundRect">
            <a:avLst>
              <a:gd name="adj" fmla="val 8115"/>
            </a:avLst>
          </a:prstGeom>
          <a:solidFill>
            <a:srgbClr val="FCFBF8"/>
          </a:solidFill>
          <a:ln w="6350">
            <a:solidFill>
              <a:srgbClr val="DCDAD2"/>
            </a:solidFill>
            <a:prstDash val="solid"/>
          </a:ln>
        </p:spPr>
      </p:sp>
      <p:sp>
        <p:nvSpPr>
          <p:cNvPr id="20" name="Text 17"/>
          <p:cNvSpPr/>
          <p:nvPr/>
        </p:nvSpPr>
        <p:spPr>
          <a:xfrm>
            <a:off x="4543187" y="4597400"/>
            <a:ext cx="31987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t7: preempção</a:t>
            </a:r>
            <a:endParaRPr lang="en-US" sz="1400" dirty="0">
              <a:latin typeface="IBM Plex Sans" charset="0"/>
              <a:ea typeface="IBM Plex Sans" charset="0"/>
              <a:cs typeface="IBM Plex Sans" charset="0"/>
            </a:endParaRPr>
          </a:p>
        </p:txBody>
      </p:sp>
      <p:sp>
        <p:nvSpPr>
          <p:cNvPr id="21" name="Text 18"/>
          <p:cNvSpPr/>
          <p:nvPr/>
        </p:nvSpPr>
        <p:spPr>
          <a:xfrm>
            <a:off x="4543187" y="4861564"/>
            <a:ext cx="319879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timer dispara a meio do processamento da tecla. vKeyHandlerTask para e só termina depois de t8.</a:t>
            </a:r>
            <a:endParaRPr lang="en-US" sz="1200" dirty="0">
              <a:latin typeface="IBM Plex Sans" charset="0"/>
              <a:ea typeface="IBM Plex Sans" charset="0"/>
              <a:cs typeface="IBM Plex Sans" charset="0"/>
            </a:endParaRPr>
          </a:p>
        </p:txBody>
      </p:sp>
      <p:sp>
        <p:nvSpPr>
          <p:cNvPr id="22" name="Shape 19"/>
          <p:cNvSpPr/>
          <p:nvPr/>
        </p:nvSpPr>
        <p:spPr>
          <a:xfrm>
            <a:off x="7961868" y="4443096"/>
            <a:ext cx="3414157" cy="1212850"/>
          </a:xfrm>
          <a:prstGeom prst="roundRect">
            <a:avLst>
              <a:gd name="adj" fmla="val 8115"/>
            </a:avLst>
          </a:prstGeom>
          <a:solidFill>
            <a:srgbClr val="FCFBF8"/>
          </a:solidFill>
          <a:ln w="6350">
            <a:solidFill>
              <a:srgbClr val="DCDAD2"/>
            </a:solidFill>
            <a:prstDash val="solid"/>
          </a:ln>
        </p:spPr>
      </p:sp>
      <p:sp>
        <p:nvSpPr>
          <p:cNvPr id="23" name="Text 20"/>
          <p:cNvSpPr/>
          <p:nvPr/>
        </p:nvSpPr>
        <p:spPr>
          <a:xfrm>
            <a:off x="8116174" y="4597400"/>
            <a:ext cx="31987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Sem nada pronto</a:t>
            </a:r>
            <a:endParaRPr lang="en-US" sz="1400" dirty="0">
              <a:latin typeface="IBM Plex Sans" charset="0"/>
              <a:ea typeface="IBM Plex Sans" charset="0"/>
              <a:cs typeface="IBM Plex Sans" charset="0"/>
            </a:endParaRPr>
          </a:p>
        </p:txBody>
      </p:sp>
      <p:sp>
        <p:nvSpPr>
          <p:cNvPr id="24" name="Text 21"/>
          <p:cNvSpPr/>
          <p:nvPr/>
        </p:nvSpPr>
        <p:spPr>
          <a:xfrm>
            <a:off x="8116174" y="4861564"/>
            <a:ext cx="31987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CPU vai para a idle task, que está sempre apta a executar.</a:t>
            </a:r>
            <a:endParaRPr lang="en-US" sz="1200" dirty="0">
              <a:latin typeface="IBM Plex Sans" charset="0"/>
              <a:ea typeface="IBM Plex Sans" charset="0"/>
              <a:cs typeface="IBM Plex Sans" charset="0"/>
            </a:endParaRPr>
          </a:p>
        </p:txBody>
      </p:sp>
      <p:sp>
        <p:nvSpPr>
          <p:cNvPr id="25" name="Text 2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freertos.org — RTOS Fundamentals</a:t>
            </a:r>
            <a:endParaRPr lang="en-US" sz="1200" dirty="0">
              <a:latin typeface="IBM Plex Sans" charset="0"/>
              <a:ea typeface="IBM Plex Sans" charset="0"/>
              <a:cs typeface="IBM Plex Sans" charset="0"/>
            </a:endParaRPr>
          </a:p>
        </p:txBody>
      </p:sp>
      <p:sp>
        <p:nvSpPr>
          <p:cNvPr id="26" name="Text 2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64"/>
            <a:ext cx="10883392" cy="11938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2F1EC"/>
                </a:solidFill>
                <a:latin typeface="IBM Plex Sans" pitchFamily="34" charset="0"/>
                <a:ea typeface="IBM Plex Sans" pitchFamily="34" charset="-122"/>
                <a:cs typeface="IBM Plex Sans" pitchFamily="34" charset="-120"/>
              </a:rPr>
              <a:t>Um RTOS dá sempre o CPU à task de maior prioridade que está pronta a executar.</a:t>
            </a:r>
            <a:endParaRPr lang="en-US" sz="4000" dirty="0">
              <a:latin typeface="IBM Plex Sans" charset="0"/>
              <a:ea typeface="IBM Plex Sans" charset="0"/>
              <a:cs typeface="IBM Plex Sans" charset="0"/>
            </a:endParaRPr>
          </a:p>
        </p:txBody>
      </p:sp>
      <p:sp>
        <p:nvSpPr>
          <p:cNvPr id="4" name="Text 2"/>
          <p:cNvSpPr/>
          <p:nvPr/>
        </p:nvSpPr>
        <p:spPr>
          <a:xfrm>
            <a:off x="819150" y="2708914"/>
            <a:ext cx="69119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Task</a:t>
            </a:r>
            <a:endParaRPr lang="en-US" sz="1400" dirty="0">
              <a:latin typeface="IBM Plex Sans" charset="0"/>
              <a:ea typeface="IBM Plex Sans" charset="0"/>
              <a:cs typeface="IBM Plex Sans" charset="0"/>
            </a:endParaRPr>
          </a:p>
        </p:txBody>
      </p:sp>
      <p:sp>
        <p:nvSpPr>
          <p:cNvPr id="5" name="Text 3"/>
          <p:cNvSpPr/>
          <p:nvPr/>
        </p:nvSpPr>
        <p:spPr>
          <a:xfrm>
            <a:off x="1624648" y="2708914"/>
            <a:ext cx="114863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Scheduler</a:t>
            </a:r>
            <a:endParaRPr lang="en-US" sz="1400" dirty="0">
              <a:latin typeface="IBM Plex Sans" charset="0"/>
              <a:ea typeface="IBM Plex Sans" charset="0"/>
              <a:cs typeface="IBM Plex Sans" charset="0"/>
            </a:endParaRPr>
          </a:p>
        </p:txBody>
      </p:sp>
      <p:sp>
        <p:nvSpPr>
          <p:cNvPr id="6" name="Text 4"/>
          <p:cNvSpPr/>
          <p:nvPr/>
        </p:nvSpPr>
        <p:spPr>
          <a:xfrm>
            <a:off x="2887583" y="2708914"/>
            <a:ext cx="139874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Swap in / out</a:t>
            </a:r>
            <a:endParaRPr lang="en-US" sz="1400" dirty="0">
              <a:latin typeface="IBM Plex Sans" charset="0"/>
              <a:ea typeface="IBM Plex Sans" charset="0"/>
              <a:cs typeface="IBM Plex Sans" charset="0"/>
            </a:endParaRPr>
          </a:p>
        </p:txBody>
      </p:sp>
      <p:sp>
        <p:nvSpPr>
          <p:cNvPr id="7" name="Text 5"/>
          <p:cNvSpPr/>
          <p:nvPr/>
        </p:nvSpPr>
        <p:spPr>
          <a:xfrm>
            <a:off x="4400629" y="2708914"/>
            <a:ext cx="192103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Yield · delay · block</a:t>
            </a:r>
            <a:endParaRPr lang="en-US" sz="1400" dirty="0">
              <a:latin typeface="IBM Plex Sans" charset="0"/>
              <a:ea typeface="IBM Plex Sans" charset="0"/>
              <a:cs typeface="IBM Plex Sans" charset="0"/>
            </a:endParaRPr>
          </a:p>
        </p:txBody>
      </p:sp>
      <p:sp>
        <p:nvSpPr>
          <p:cNvPr id="8" name="Text 6"/>
          <p:cNvSpPr/>
          <p:nvPr/>
        </p:nvSpPr>
        <p:spPr>
          <a:xfrm>
            <a:off x="6435963" y="2708914"/>
            <a:ext cx="117427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Prioridade</a:t>
            </a:r>
            <a:endParaRPr lang="en-US" sz="1400" dirty="0">
              <a:latin typeface="IBM Plex Sans" charset="0"/>
              <a:ea typeface="IBM Plex Sans" charset="0"/>
              <a:cs typeface="IBM Plex Sans" charset="0"/>
            </a:endParaRPr>
          </a:p>
        </p:txBody>
      </p:sp>
      <p:sp>
        <p:nvSpPr>
          <p:cNvPr id="9" name="Text 7"/>
          <p:cNvSpPr/>
          <p:nvPr/>
        </p:nvSpPr>
        <p:spPr>
          <a:xfrm>
            <a:off x="7724537" y="2708914"/>
            <a:ext cx="104140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Idle task</a:t>
            </a:r>
            <a:endParaRPr lang="en-US" sz="1400" dirty="0">
              <a:latin typeface="IBM Plex Sans" charset="0"/>
              <a:ea typeface="IBM Plex Sans" charset="0"/>
              <a:cs typeface="IBM Plex Sans" charset="0"/>
            </a:endParaRPr>
          </a:p>
        </p:txBody>
      </p:sp>
      <p:sp>
        <p:nvSpPr>
          <p:cNvPr id="10" name="Text 8"/>
          <p:cNvSpPr/>
          <p:nvPr/>
        </p:nvSpPr>
        <p:spPr>
          <a:xfrm>
            <a:off x="812800" y="576072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no Módulo 2: gestão de memória (heap).</a:t>
            </a:r>
            <a:endParaRPr lang="en-US" sz="1600" dirty="0">
              <a:latin typeface="IBM Plex Sans" charset="0"/>
              <a:ea typeface="IBM Plex Sans" charset="0"/>
              <a:cs typeface="IBM Plex Sans"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2</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21"/>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Gestão de memória</a:t>
            </a:r>
            <a:endParaRPr lang="en-US" sz="6000" dirty="0">
              <a:latin typeface="IBM Plex Sans" charset="0"/>
              <a:ea typeface="IBM Plex Sans" charset="0"/>
              <a:cs typeface="IBM Plex Sans" charset="0"/>
            </a:endParaRPr>
          </a:p>
        </p:txBody>
      </p:sp>
      <p:sp>
        <p:nvSpPr>
          <p:cNvPr id="4" name="Text 2"/>
          <p:cNvSpPr/>
          <p:nvPr/>
        </p:nvSpPr>
        <p:spPr>
          <a:xfrm>
            <a:off x="812800" y="212852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Heap memory management: de onde vem a RAM das tasks e dos objetos do kernel</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6964"/>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ESTÁTICA OU DINÂMICA</a:t>
            </a:r>
            <a:endParaRPr lang="en-US" sz="1200" dirty="0">
              <a:latin typeface="IBM Plex Sans" charset="0"/>
              <a:ea typeface="IBM Plex Sans" charset="0"/>
              <a:cs typeface="IBM Plex Sans" charset="0"/>
            </a:endParaRPr>
          </a:p>
        </p:txBody>
      </p:sp>
      <p:sp>
        <p:nvSpPr>
          <p:cNvPr id="7" name="Text 5"/>
          <p:cNvSpPr/>
          <p:nvPr/>
        </p:nvSpPr>
        <p:spPr>
          <a:xfrm>
            <a:off x="812800" y="5151121"/>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pvPortMalloc() e vPortFree(), e porque não o malloc() da biblioteca C</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6964"/>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HEAP_1 A HEAP_5</a:t>
            </a:r>
            <a:endParaRPr lang="en-US" sz="1200" dirty="0">
              <a:latin typeface="IBM Plex Sans" charset="0"/>
              <a:ea typeface="IBM Plex Sans" charset="0"/>
              <a:cs typeface="IBM Plex Sans" charset="0"/>
            </a:endParaRPr>
          </a:p>
        </p:txBody>
      </p:sp>
      <p:sp>
        <p:nvSpPr>
          <p:cNvPr id="10" name="Text 8"/>
          <p:cNvSpPr/>
          <p:nvPr/>
        </p:nvSpPr>
        <p:spPr>
          <a:xfrm>
            <a:off x="4402614" y="5151121"/>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Os cinco esquemas, fragmentação, best fit e first fit</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6964"/>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DIAGNÓSTICO</a:t>
            </a:r>
            <a:endParaRPr lang="en-US" sz="1200" dirty="0">
              <a:latin typeface="IBM Plex Sans" charset="0"/>
              <a:ea typeface="IBM Plex Sans" charset="0"/>
              <a:cs typeface="IBM Plex Sans" charset="0"/>
            </a:endParaRPr>
          </a:p>
        </p:txBody>
      </p:sp>
      <p:sp>
        <p:nvSpPr>
          <p:cNvPr id="13" name="Text 11"/>
          <p:cNvSpPr/>
          <p:nvPr/>
        </p:nvSpPr>
        <p:spPr>
          <a:xfrm>
            <a:off x="7992507" y="5151121"/>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Medir o heap, malloc failed hook, alocação estática</a:t>
            </a:r>
            <a:endParaRPr lang="en-US" sz="1200" dirty="0">
              <a:latin typeface="IBM Plex Sans" charset="0"/>
              <a:ea typeface="IBM Plex Sans" charset="0"/>
              <a:cs typeface="IBM Plex Sans" charset="0"/>
            </a:endParaRPr>
          </a:p>
        </p:txBody>
      </p:sp>
      <p:sp>
        <p:nvSpPr>
          <p:cNvPr id="14" name="Text 12"/>
          <p:cNvSpPr/>
          <p:nvPr/>
        </p:nvSpPr>
        <p:spPr>
          <a:xfrm>
            <a:off x="812800" y="5831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3</a:t>
            </a:r>
            <a:endParaRPr lang="en-US" sz="1200" dirty="0">
              <a:latin typeface="IBM Plex Sans" charset="0"/>
              <a:ea typeface="IBM Plex Sans" charset="0"/>
              <a:cs typeface="IBM Plex Sans"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linker script do pico-sdk e port RP2350_RISC-V; fora de escala</a:t>
            </a:r>
            <a:endParaRPr lang="en-US" sz="1200" dirty="0">
              <a:latin typeface="IBM Plex Sans" charset="0"/>
              <a:ea typeface="IBM Plex Sans" charset="0"/>
              <a:cs typeface="IBM Plex Sans" charset="0"/>
            </a:endParaRPr>
          </a:p>
        </p:txBody>
      </p:sp>
      <p:sp>
        <p:nvSpPr>
          <p:cNvPr id="3" name="Text 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16</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36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367"/>
            <a:ext cx="10883392" cy="491887"/>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Onde fica cada coisa na memória (Pico 2)</a:t>
            </a:r>
            <a:endParaRPr lang="en-US" sz="3190" dirty="0">
              <a:latin typeface="IBM Plex Sans" charset="0"/>
              <a:ea typeface="IBM Plex Sans" charset="0"/>
              <a:cs typeface="IBM Plex Sans" charset="0"/>
            </a:endParaRPr>
          </a:p>
        </p:txBody>
      </p:sp>
      <p:sp>
        <p:nvSpPr>
          <p:cNvPr id="6" name="Text 4"/>
          <p:cNvSpPr/>
          <p:nvPr/>
        </p:nvSpPr>
        <p:spPr>
          <a:xfrm>
            <a:off x="1993900" y="1797050"/>
            <a:ext cx="30086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RAM (512 KB + 2 × 4 KB)</a:t>
            </a:r>
            <a:endParaRPr lang="en-US" sz="1200" dirty="0">
              <a:latin typeface="IBM Plex Sans" charset="0"/>
              <a:ea typeface="IBM Plex Sans" charset="0"/>
              <a:cs typeface="IBM Plex Sans" charset="0"/>
            </a:endParaRPr>
          </a:p>
        </p:txBody>
      </p:sp>
      <p:sp>
        <p:nvSpPr>
          <p:cNvPr id="7" name="Text 5"/>
          <p:cNvSpPr/>
          <p:nvPr/>
        </p:nvSpPr>
        <p:spPr>
          <a:xfrm>
            <a:off x="795020" y="2327908"/>
            <a:ext cx="1097280" cy="177800"/>
          </a:xfrm>
          <a:prstGeom prst="rect">
            <a:avLst/>
          </a:prstGeom>
          <a:noFill/>
          <a:ln/>
        </p:spPr>
        <p:txBody>
          <a:bodyPr wrap="square" lIns="0" tIns="0" rIns="0" bIns="0" rtlCol="0" anchor="t">
            <a:normAutofit/>
          </a:bodyPr>
          <a:lstStyle/>
          <a:p>
            <a:pPr algn="r" indent="0" marL="0">
              <a:lnSpc>
                <a:spcPts val="1200"/>
              </a:lnSpc>
              <a:buNone/>
            </a:pPr>
            <a:r>
              <a:rPr lang="en-US" sz="1200" dirty="0">
                <a:solidFill>
                  <a:srgbClr val="66717C"/>
                </a:solidFill>
                <a:latin typeface="JetBrains Mono" pitchFamily="49" charset="0"/>
                <a:ea typeface="JetBrains Mono" pitchFamily="49" charset="-122"/>
                <a:cs typeface="JetBrains Mono" pitchFamily="49" charset="-120"/>
              </a:rPr>
              <a:t>0x20081000</a:t>
            </a:r>
            <a:endParaRPr lang="en-US" sz="1200" dirty="0">
              <a:latin typeface="JetBrains Mono" charset="0"/>
              <a:ea typeface="JetBrains Mono" charset="0"/>
              <a:cs typeface="JetBrains Mono" charset="0"/>
            </a:endParaRPr>
          </a:p>
        </p:txBody>
      </p:sp>
      <p:sp>
        <p:nvSpPr>
          <p:cNvPr id="8" name="Text 6"/>
          <p:cNvSpPr/>
          <p:nvPr/>
        </p:nvSpPr>
        <p:spPr>
          <a:xfrm>
            <a:off x="795020" y="2620008"/>
            <a:ext cx="1097280" cy="177800"/>
          </a:xfrm>
          <a:prstGeom prst="rect">
            <a:avLst/>
          </a:prstGeom>
          <a:noFill/>
          <a:ln/>
        </p:spPr>
        <p:txBody>
          <a:bodyPr wrap="square" lIns="0" tIns="0" rIns="0" bIns="0" rtlCol="0" anchor="t">
            <a:normAutofit/>
          </a:bodyPr>
          <a:lstStyle/>
          <a:p>
            <a:pPr algn="r" indent="0" marL="0">
              <a:lnSpc>
                <a:spcPts val="1200"/>
              </a:lnSpc>
              <a:buNone/>
            </a:pPr>
            <a:r>
              <a:rPr lang="en-US" sz="1200" dirty="0">
                <a:solidFill>
                  <a:srgbClr val="66717C"/>
                </a:solidFill>
                <a:latin typeface="JetBrains Mono" pitchFamily="49" charset="0"/>
                <a:ea typeface="JetBrains Mono" pitchFamily="49" charset="-122"/>
                <a:cs typeface="JetBrains Mono" pitchFamily="49" charset="-120"/>
              </a:rPr>
              <a:t>0x20080000</a:t>
            </a:r>
            <a:endParaRPr lang="en-US" sz="1200" dirty="0">
              <a:latin typeface="JetBrains Mono" charset="0"/>
              <a:ea typeface="JetBrains Mono" charset="0"/>
              <a:cs typeface="JetBrains Mono" charset="0"/>
            </a:endParaRPr>
          </a:p>
        </p:txBody>
      </p:sp>
      <p:sp>
        <p:nvSpPr>
          <p:cNvPr id="9" name="Text 7"/>
          <p:cNvSpPr/>
          <p:nvPr/>
        </p:nvSpPr>
        <p:spPr>
          <a:xfrm>
            <a:off x="795020" y="5045708"/>
            <a:ext cx="1097280" cy="177800"/>
          </a:xfrm>
          <a:prstGeom prst="rect">
            <a:avLst/>
          </a:prstGeom>
          <a:noFill/>
          <a:ln/>
        </p:spPr>
        <p:txBody>
          <a:bodyPr wrap="square" lIns="0" tIns="0" rIns="0" bIns="0" rtlCol="0" anchor="t">
            <a:normAutofit/>
          </a:bodyPr>
          <a:lstStyle/>
          <a:p>
            <a:pPr algn="r" indent="0" marL="0">
              <a:lnSpc>
                <a:spcPts val="1200"/>
              </a:lnSpc>
              <a:buNone/>
            </a:pPr>
            <a:r>
              <a:rPr lang="en-US" sz="1200" dirty="0">
                <a:solidFill>
                  <a:srgbClr val="66717C"/>
                </a:solidFill>
                <a:latin typeface="JetBrains Mono" pitchFamily="49" charset="0"/>
                <a:ea typeface="JetBrains Mono" pitchFamily="49" charset="-122"/>
                <a:cs typeface="JetBrains Mono" pitchFamily="49" charset="-120"/>
              </a:rPr>
              <a:t>0x20000000</a:t>
            </a:r>
            <a:endParaRPr lang="en-US" sz="1200" dirty="0">
              <a:latin typeface="JetBrains Mono" charset="0"/>
              <a:ea typeface="JetBrains Mono" charset="0"/>
              <a:cs typeface="JetBrains Mono" charset="0"/>
            </a:endParaRPr>
          </a:p>
        </p:txBody>
      </p:sp>
      <p:sp>
        <p:nvSpPr>
          <p:cNvPr id="10" name="Shape 8"/>
          <p:cNvSpPr/>
          <p:nvPr/>
        </p:nvSpPr>
        <p:spPr>
          <a:xfrm>
            <a:off x="2000250" y="2080258"/>
            <a:ext cx="2908300" cy="3119120"/>
          </a:xfrm>
          <a:prstGeom prst="rect">
            <a:avLst/>
          </a:prstGeom>
          <a:solidFill>
            <a:srgbClr val="FCFBF8"/>
          </a:solidFill>
          <a:ln w="12700">
            <a:solidFill>
              <a:srgbClr val="14222E"/>
            </a:solidFill>
            <a:prstDash val="solid"/>
          </a:ln>
        </p:spPr>
      </p:sp>
      <p:sp>
        <p:nvSpPr>
          <p:cNvPr id="11" name="Text 9"/>
          <p:cNvSpPr/>
          <p:nvPr/>
        </p:nvSpPr>
        <p:spPr>
          <a:xfrm>
            <a:off x="2004060" y="2084077"/>
            <a:ext cx="2900680" cy="393700"/>
          </a:xfrm>
          <a:prstGeom prst="rect">
            <a:avLst/>
          </a:prstGeom>
          <a:solidFill>
            <a:srgbClr val="D0612A"/>
          </a:solidFill>
          <a:ln/>
        </p:spPr>
        <p:txBody>
          <a:bodyPr wrap="square" lIns="0" tIns="0" rIns="0" bIns="0" rtlCol="0" anchor="ctr">
            <a:normAutofit/>
          </a:bodyPr>
          <a:lstStyle/>
          <a:p>
            <a:pPr algn="ctr" indent="0" marL="0">
              <a:lnSpc>
                <a:spcPts val="1380"/>
              </a:lnSpc>
              <a:buNone/>
            </a:pPr>
            <a:r>
              <a:rPr lang="en-US" sz="1200" b="1" dirty="0">
                <a:solidFill>
                  <a:srgbClr val="F5F4EF"/>
                </a:solidFill>
                <a:latin typeface="IBM Plex Sans" pitchFamily="34" charset="0"/>
                <a:ea typeface="IBM Plex Sans" pitchFamily="34" charset="-122"/>
                <a:cs typeface="IBM Plex Sans" pitchFamily="34" charset="-120"/>
              </a:rPr>
              <a:t>stack do main() → stack das ISRs</a:t>
            </a:r>
            <a:endParaRPr lang="en-US" sz="1200" dirty="0">
              <a:latin typeface="IBM Plex Sans" charset="0"/>
              <a:ea typeface="IBM Plex Sans" charset="0"/>
              <a:cs typeface="IBM Plex Sans" charset="0"/>
            </a:endParaRPr>
          </a:p>
        </p:txBody>
      </p:sp>
      <p:sp>
        <p:nvSpPr>
          <p:cNvPr id="12" name="Text 10"/>
          <p:cNvSpPr/>
          <p:nvPr/>
        </p:nvSpPr>
        <p:spPr>
          <a:xfrm>
            <a:off x="2004060" y="2477777"/>
            <a:ext cx="2900680" cy="292100"/>
          </a:xfrm>
          <a:prstGeom prst="rect">
            <a:avLst/>
          </a:prstGeom>
          <a:solidFill>
            <a:srgbClr val="DDE1E4"/>
          </a:solidFill>
          <a:ln/>
        </p:spPr>
        <p:txBody>
          <a:bodyPr wrap="square" lIns="0" tIns="10160" rIns="0" bIns="0" rtlCol="0" anchor="ctr">
            <a:normAutofit/>
          </a:bodyPr>
          <a:lstStyle/>
          <a:p>
            <a:pPr algn="ctr" indent="0" marL="0">
              <a:lnSpc>
                <a:spcPts val="1380"/>
              </a:lnSpc>
              <a:buNone/>
            </a:pPr>
            <a:r>
              <a:rPr lang="en-US" sz="1200" dirty="0">
                <a:solidFill>
                  <a:srgbClr val="44505C"/>
                </a:solidFill>
                <a:latin typeface="IBM Plex Sans" pitchFamily="34" charset="0"/>
                <a:ea typeface="IBM Plex Sans" pitchFamily="34" charset="-122"/>
                <a:cs typeface="IBM Plex Sans" pitchFamily="34" charset="-120"/>
              </a:rPr>
              <a:t>stack do core 1 (livre)</a:t>
            </a:r>
            <a:endParaRPr lang="en-US" sz="1200" dirty="0">
              <a:latin typeface="IBM Plex Sans" charset="0"/>
              <a:ea typeface="IBM Plex Sans" charset="0"/>
              <a:cs typeface="IBM Plex Sans" charset="0"/>
            </a:endParaRPr>
          </a:p>
        </p:txBody>
      </p:sp>
      <p:sp>
        <p:nvSpPr>
          <p:cNvPr id="13" name="Shape 11"/>
          <p:cNvSpPr/>
          <p:nvPr/>
        </p:nvSpPr>
        <p:spPr>
          <a:xfrm>
            <a:off x="2004060" y="2484127"/>
            <a:ext cx="2900680" cy="0"/>
          </a:xfrm>
          <a:prstGeom prst="line">
            <a:avLst/>
          </a:prstGeom>
          <a:noFill/>
          <a:ln w="12700">
            <a:solidFill>
              <a:srgbClr val="F5F4EF"/>
            </a:solidFill>
            <a:prstDash val="solid"/>
          </a:ln>
        </p:spPr>
      </p:sp>
      <p:sp>
        <p:nvSpPr>
          <p:cNvPr id="14" name="Text 12"/>
          <p:cNvSpPr/>
          <p:nvPr/>
        </p:nvSpPr>
        <p:spPr>
          <a:xfrm>
            <a:off x="2004060" y="2769877"/>
            <a:ext cx="2900680" cy="584200"/>
          </a:xfrm>
          <a:prstGeom prst="rect">
            <a:avLst/>
          </a:prstGeom>
          <a:solidFill>
            <a:srgbClr val="FCFBF8"/>
          </a:solidFill>
          <a:ln/>
        </p:spPr>
        <p:txBody>
          <a:bodyPr wrap="square" lIns="428879" tIns="10160" rIns="428958" bIns="0" rtlCol="0" anchor="ctr">
            <a:normAutofit/>
          </a:bodyPr>
          <a:lstStyle/>
          <a:p>
            <a:pPr algn="ctr" indent="0" marL="0">
              <a:lnSpc>
                <a:spcPts val="1380"/>
              </a:lnSpc>
              <a:buNone/>
            </a:pPr>
            <a:r>
              <a:rPr lang="en-US" sz="1200" dirty="0">
                <a:solidFill>
                  <a:srgbClr val="44505C"/>
                </a:solidFill>
                <a:latin typeface="IBM Plex Sans" pitchFamily="34" charset="0"/>
                <a:ea typeface="IBM Plex Sans" pitchFamily="34" charset="-122"/>
                <a:cs typeface="IBM Plex Sans" pitchFamily="34" charset="-120"/>
              </a:rPr>
              <a:t>heap da biblioteca C (malloc)</a:t>
            </a:r>
            <a:endParaRPr lang="en-US" sz="1200" dirty="0">
              <a:latin typeface="IBM Plex Sans" charset="0"/>
              <a:ea typeface="IBM Plex Sans" charset="0"/>
              <a:cs typeface="IBM Plex Sans" charset="0"/>
            </a:endParaRPr>
          </a:p>
          <a:p>
            <a:pPr algn="ctr" indent="0" marL="0">
              <a:lnSpc>
                <a:spcPts val="1380"/>
              </a:lnSpc>
              <a:buNone/>
            </a:pPr>
            <a:r>
              <a:rPr lang="en-US" sz="1200" dirty="0">
                <a:solidFill>
                  <a:srgbClr val="44505C"/>
                </a:solidFill>
                <a:latin typeface="IBM Plex Sans" pitchFamily="34" charset="0"/>
                <a:ea typeface="IBM Plex Sans" pitchFamily="34" charset="-122"/>
                <a:cs typeface="IBM Plex Sans" pitchFamily="34" charset="-120"/>
              </a:rPr>
              <a:t>o resto da RAM</a:t>
            </a:r>
            <a:endParaRPr lang="en-US" sz="1200" dirty="0">
              <a:latin typeface="IBM Plex Sans" charset="0"/>
              <a:ea typeface="IBM Plex Sans" charset="0"/>
              <a:cs typeface="IBM Plex Sans" charset="0"/>
            </a:endParaRPr>
          </a:p>
        </p:txBody>
      </p:sp>
      <p:sp>
        <p:nvSpPr>
          <p:cNvPr id="15" name="Shape 13"/>
          <p:cNvSpPr/>
          <p:nvPr/>
        </p:nvSpPr>
        <p:spPr>
          <a:xfrm>
            <a:off x="2004060" y="2776227"/>
            <a:ext cx="2900680" cy="0"/>
          </a:xfrm>
          <a:prstGeom prst="line">
            <a:avLst/>
          </a:prstGeom>
          <a:noFill/>
          <a:ln w="12700">
            <a:solidFill>
              <a:srgbClr val="F5F4EF"/>
            </a:solidFill>
            <a:prstDash val="solid"/>
          </a:ln>
        </p:spPr>
      </p:sp>
      <p:sp>
        <p:nvSpPr>
          <p:cNvPr id="16" name="Shape 14"/>
          <p:cNvSpPr/>
          <p:nvPr/>
        </p:nvSpPr>
        <p:spPr>
          <a:xfrm>
            <a:off x="2004060" y="3354077"/>
            <a:ext cx="2900680" cy="1498600"/>
          </a:xfrm>
          <a:prstGeom prst="rect">
            <a:avLst/>
          </a:prstGeom>
          <a:solidFill>
            <a:srgbClr val="E3EFEC"/>
          </a:solidFill>
          <a:ln/>
        </p:spPr>
      </p:sp>
      <p:sp>
        <p:nvSpPr>
          <p:cNvPr id="17" name="Shape 15"/>
          <p:cNvSpPr/>
          <p:nvPr/>
        </p:nvSpPr>
        <p:spPr>
          <a:xfrm>
            <a:off x="2004060" y="3360427"/>
            <a:ext cx="2900680" cy="0"/>
          </a:xfrm>
          <a:prstGeom prst="line">
            <a:avLst/>
          </a:prstGeom>
          <a:noFill/>
          <a:ln w="12700">
            <a:solidFill>
              <a:srgbClr val="F5F4EF"/>
            </a:solidFill>
            <a:prstDash val="solid"/>
          </a:ln>
        </p:spPr>
      </p:sp>
      <p:sp>
        <p:nvSpPr>
          <p:cNvPr id="18" name="Text 16"/>
          <p:cNvSpPr/>
          <p:nvPr/>
        </p:nvSpPr>
        <p:spPr>
          <a:xfrm>
            <a:off x="2092960" y="3427735"/>
            <a:ext cx="2804567" cy="20066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7766A"/>
                </a:solidFill>
                <a:latin typeface="IBM Plex Sans" pitchFamily="34" charset="0"/>
                <a:ea typeface="IBM Plex Sans" pitchFamily="34" charset="-122"/>
                <a:cs typeface="IBM Plex Sans" pitchFamily="34" charset="-120"/>
              </a:rPr>
              <a:t>.bss (globais sem valor inicial)</a:t>
            </a:r>
            <a:endParaRPr lang="en-US" sz="1200" dirty="0">
              <a:latin typeface="IBM Plex Sans" charset="0"/>
              <a:ea typeface="IBM Plex Sans" charset="0"/>
              <a:cs typeface="IBM Plex Sans" charset="0"/>
            </a:endParaRPr>
          </a:p>
        </p:txBody>
      </p:sp>
      <p:sp>
        <p:nvSpPr>
          <p:cNvPr id="19" name="Shape 17"/>
          <p:cNvSpPr/>
          <p:nvPr/>
        </p:nvSpPr>
        <p:spPr>
          <a:xfrm>
            <a:off x="2102485" y="3650617"/>
            <a:ext cx="2703830" cy="1129030"/>
          </a:xfrm>
          <a:prstGeom prst="roundRect">
            <a:avLst>
              <a:gd name="adj" fmla="val 3656"/>
            </a:avLst>
          </a:prstGeom>
          <a:solidFill>
            <a:srgbClr val="FCFBF8"/>
          </a:solidFill>
          <a:ln w="19050">
            <a:solidFill>
              <a:srgbClr val="17766A"/>
            </a:solidFill>
            <a:prstDash val="solid"/>
          </a:ln>
        </p:spPr>
      </p:sp>
      <p:sp>
        <p:nvSpPr>
          <p:cNvPr id="20" name="Text 18"/>
          <p:cNvSpPr/>
          <p:nvPr/>
        </p:nvSpPr>
        <p:spPr>
          <a:xfrm>
            <a:off x="2171700" y="3694435"/>
            <a:ext cx="2642362" cy="200660"/>
          </a:xfrm>
          <a:prstGeom prst="rect">
            <a:avLst/>
          </a:prstGeom>
          <a:noFill/>
          <a:ln/>
        </p:spPr>
        <p:txBody>
          <a:bodyPr wrap="square" lIns="0" tIns="0" rIns="0" bIns="0" rtlCol="0" anchor="t">
            <a:normAutofit/>
          </a:bodyPr>
          <a:lstStyle/>
          <a:p>
            <a:pPr algn="l" indent="0" marL="0">
              <a:lnSpc>
                <a:spcPts val="1380"/>
              </a:lnSpc>
              <a:buNone/>
            </a:pPr>
            <a:r>
              <a:rPr lang="en-US" sz="1200" b="1" dirty="0">
                <a:solidFill>
                  <a:srgbClr val="17766A"/>
                </a:solidFill>
                <a:latin typeface="IBM Plex Sans" pitchFamily="34" charset="0"/>
                <a:ea typeface="IBM Plex Sans" pitchFamily="34" charset="-122"/>
                <a:cs typeface="IBM Plex Sans" pitchFamily="34" charset="-120"/>
              </a:rPr>
              <a:t>ucHeap: o heap do FreeRTOS</a:t>
            </a:r>
            <a:endParaRPr lang="en-US" sz="1200" dirty="0">
              <a:latin typeface="IBM Plex Sans" charset="0"/>
              <a:ea typeface="IBM Plex Sans" charset="0"/>
              <a:cs typeface="IBM Plex Sans" charset="0"/>
            </a:endParaRPr>
          </a:p>
        </p:txBody>
      </p:sp>
      <p:sp>
        <p:nvSpPr>
          <p:cNvPr id="21" name="Text 19"/>
          <p:cNvSpPr/>
          <p:nvPr/>
        </p:nvSpPr>
        <p:spPr>
          <a:xfrm>
            <a:off x="2171700" y="3895092"/>
            <a:ext cx="1058069" cy="840740"/>
          </a:xfrm>
          <a:prstGeom prst="roundRect">
            <a:avLst>
              <a:gd name="adj" fmla="val 4532"/>
            </a:avLst>
          </a:prstGeom>
          <a:solidFill>
            <a:srgbClr val="2F6FD0"/>
          </a:solidFill>
          <a:ln/>
        </p:spPr>
        <p:txBody>
          <a:bodyPr wrap="square" lIns="46309" tIns="0" rIns="46308" bIns="0" rtlCol="0" anchor="ctr">
            <a:normAutofit/>
          </a:bodyPr>
          <a:lstStyle/>
          <a:p>
            <a:pPr algn="ctr" indent="0" marL="0">
              <a:lnSpc>
                <a:spcPts val="1320"/>
              </a:lnSpc>
              <a:buNone/>
            </a:pPr>
            <a:r>
              <a:rPr lang="en-US" sz="1200" b="1" dirty="0">
                <a:solidFill>
                  <a:srgbClr val="F5F4EF"/>
                </a:solidFill>
                <a:latin typeface="IBM Plex Sans" pitchFamily="34" charset="0"/>
                <a:ea typeface="IBM Plex Sans" pitchFamily="34" charset="-122"/>
                <a:cs typeface="IBM Plex Sans" pitchFamily="34" charset="-120"/>
              </a:rPr>
              <a:t>TCB + stack</a:t>
            </a:r>
            <a:endParaRPr lang="en-US" sz="1200" dirty="0">
              <a:latin typeface="IBM Plex Sans" charset="0"/>
              <a:ea typeface="IBM Plex Sans" charset="0"/>
              <a:cs typeface="IBM Plex Sans" charset="0"/>
            </a:endParaRPr>
          </a:p>
          <a:p>
            <a:pPr algn="ctr" indent="0" marL="0">
              <a:lnSpc>
                <a:spcPts val="1320"/>
              </a:lnSpc>
              <a:buNone/>
            </a:pPr>
            <a:r>
              <a:rPr lang="en-US" sz="1200" b="1" dirty="0">
                <a:solidFill>
                  <a:srgbClr val="F5F4EF"/>
                </a:solidFill>
                <a:latin typeface="IBM Plex Sans" pitchFamily="34" charset="0"/>
                <a:ea typeface="IBM Plex Sans" pitchFamily="34" charset="-122"/>
                <a:cs typeface="IBM Plex Sans" pitchFamily="34" charset="-120"/>
              </a:rPr>
              <a:t>de cada task</a:t>
            </a:r>
            <a:endParaRPr lang="en-US" sz="1200" dirty="0">
              <a:latin typeface="IBM Plex Sans" charset="0"/>
              <a:ea typeface="IBM Plex Sans" charset="0"/>
              <a:cs typeface="IBM Plex Sans" charset="0"/>
            </a:endParaRPr>
          </a:p>
        </p:txBody>
      </p:sp>
      <p:sp>
        <p:nvSpPr>
          <p:cNvPr id="22" name="Text 20"/>
          <p:cNvSpPr/>
          <p:nvPr/>
        </p:nvSpPr>
        <p:spPr>
          <a:xfrm>
            <a:off x="3267869" y="3895092"/>
            <a:ext cx="705406" cy="840740"/>
          </a:xfrm>
          <a:custGeom>
            <a:avLst/>
            <a:gdLst/>
            <a:ahLst/>
            <a:cxnLst/>
            <a:rect l="l" t="t" r="r" b="b"/>
            <a:pathLst>
              <a:path w="705406" h="840740">
                <a:moveTo>
                  <a:pt x="38100" y="0"/>
                </a:moveTo>
                <a:lnTo>
                  <a:pt x="667306" y="0"/>
                </a:lnTo>
                <a:arcTo hR="38100" wR="38100" stAng="16200000" swAng="5400000"/>
                <a:lnTo>
                  <a:pt x="705406" y="802640"/>
                </a:lnTo>
                <a:arcTo hR="38100" wR="38100" stAng="0" swAng="5400000"/>
                <a:lnTo>
                  <a:pt x="38100" y="840740"/>
                </a:lnTo>
                <a:arcTo hR="38100" wR="38100" stAng="5400000" swAng="5400000"/>
                <a:lnTo>
                  <a:pt x="0" y="38100"/>
                </a:lnTo>
                <a:arcTo hR="38100" wR="38100" stAng="10800000" swAng="5400000"/>
                <a:close/>
              </a:path>
            </a:pathLst>
          </a:custGeom>
          <a:solidFill>
            <a:srgbClr val="8E3B46"/>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queues…</a:t>
            </a:r>
            <a:endParaRPr lang="en-US" sz="1200" dirty="0">
              <a:latin typeface="IBM Plex Sans" charset="0"/>
              <a:ea typeface="IBM Plex Sans" charset="0"/>
              <a:cs typeface="IBM Plex Sans" charset="0"/>
            </a:endParaRPr>
          </a:p>
        </p:txBody>
      </p:sp>
      <p:sp>
        <p:nvSpPr>
          <p:cNvPr id="23" name="Text 21"/>
          <p:cNvSpPr/>
          <p:nvPr/>
        </p:nvSpPr>
        <p:spPr>
          <a:xfrm>
            <a:off x="4017725" y="3901442"/>
            <a:ext cx="713026" cy="828040"/>
          </a:xfrm>
          <a:prstGeom prst="roundRect">
            <a:avLst>
              <a:gd name="adj" fmla="val 4453"/>
            </a:avLst>
          </a:prstGeom>
          <a:noFill/>
          <a:ln w="12700">
            <a:solidFill>
              <a:srgbClr val="A7B0B8"/>
            </a:solidFill>
            <a:prstDash val="dash"/>
          </a:ln>
        </p:spPr>
        <p:txBody>
          <a:bodyPr wrap="square" lIns="0" tIns="0" rIns="0" bIns="0" rtlCol="0" anchor="ctr">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24" name="Text 22"/>
          <p:cNvSpPr/>
          <p:nvPr/>
        </p:nvSpPr>
        <p:spPr>
          <a:xfrm>
            <a:off x="2004060" y="4852677"/>
            <a:ext cx="2900680" cy="342900"/>
          </a:xfrm>
          <a:prstGeom prst="rect">
            <a:avLst/>
          </a:prstGeom>
          <a:solidFill>
            <a:srgbClr val="A7B0B8"/>
          </a:solidFill>
          <a:ln/>
        </p:spPr>
        <p:txBody>
          <a:bodyPr wrap="square" lIns="0" tIns="10160" rIns="0" bIns="0" rtlCol="0" anchor="ctr">
            <a:normAutofit/>
          </a:bodyPr>
          <a:lstStyle/>
          <a:p>
            <a:pPr algn="ctr" indent="0" marL="0">
              <a:lnSpc>
                <a:spcPts val="1380"/>
              </a:lnSpc>
              <a:buNone/>
            </a:pPr>
            <a:r>
              <a:rPr lang="en-US" sz="1200" b="1" dirty="0">
                <a:solidFill>
                  <a:srgbClr val="14222E"/>
                </a:solidFill>
                <a:latin typeface="IBM Plex Sans" pitchFamily="34" charset="0"/>
                <a:ea typeface="IBM Plex Sans" pitchFamily="34" charset="-122"/>
                <a:cs typeface="IBM Plex Sans" pitchFamily="34" charset="-120"/>
              </a:rPr>
              <a:t>.data (globais com valor inicial)</a:t>
            </a:r>
            <a:endParaRPr lang="en-US" sz="1200" dirty="0">
              <a:latin typeface="IBM Plex Sans" charset="0"/>
              <a:ea typeface="IBM Plex Sans" charset="0"/>
              <a:cs typeface="IBM Plex Sans" charset="0"/>
            </a:endParaRPr>
          </a:p>
        </p:txBody>
      </p:sp>
      <p:sp>
        <p:nvSpPr>
          <p:cNvPr id="25" name="Shape 23"/>
          <p:cNvSpPr/>
          <p:nvPr/>
        </p:nvSpPr>
        <p:spPr>
          <a:xfrm>
            <a:off x="2004060" y="4859027"/>
            <a:ext cx="2900680" cy="0"/>
          </a:xfrm>
          <a:prstGeom prst="line">
            <a:avLst/>
          </a:prstGeom>
          <a:noFill/>
          <a:ln w="12700">
            <a:solidFill>
              <a:srgbClr val="F5F4EF"/>
            </a:solidFill>
            <a:prstDash val="solid"/>
          </a:ln>
        </p:spPr>
      </p:sp>
      <p:sp>
        <p:nvSpPr>
          <p:cNvPr id="26" name="Text 24"/>
          <p:cNvSpPr/>
          <p:nvPr/>
        </p:nvSpPr>
        <p:spPr>
          <a:xfrm>
            <a:off x="5041900" y="1797050"/>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FLASH</a:t>
            </a:r>
            <a:endParaRPr lang="en-US" sz="1200" dirty="0">
              <a:latin typeface="IBM Plex Sans" charset="0"/>
              <a:ea typeface="IBM Plex Sans" charset="0"/>
              <a:cs typeface="IBM Plex Sans" charset="0"/>
            </a:endParaRPr>
          </a:p>
        </p:txBody>
      </p:sp>
      <p:sp>
        <p:nvSpPr>
          <p:cNvPr id="27" name="Shape 25"/>
          <p:cNvSpPr/>
          <p:nvPr/>
        </p:nvSpPr>
        <p:spPr>
          <a:xfrm>
            <a:off x="5048250" y="2080258"/>
            <a:ext cx="1384300" cy="1455420"/>
          </a:xfrm>
          <a:prstGeom prst="rect">
            <a:avLst/>
          </a:prstGeom>
          <a:solidFill>
            <a:srgbClr val="FCFBF8"/>
          </a:solidFill>
          <a:ln w="12700">
            <a:solidFill>
              <a:srgbClr val="14222E"/>
            </a:solidFill>
            <a:prstDash val="solid"/>
          </a:ln>
        </p:spPr>
      </p:sp>
      <p:sp>
        <p:nvSpPr>
          <p:cNvPr id="28" name="Text 26"/>
          <p:cNvSpPr/>
          <p:nvPr/>
        </p:nvSpPr>
        <p:spPr>
          <a:xfrm>
            <a:off x="5052060" y="2084077"/>
            <a:ext cx="1376680" cy="444500"/>
          </a:xfrm>
          <a:prstGeom prst="rect">
            <a:avLst/>
          </a:prstGeom>
          <a:solidFill>
            <a:srgbClr val="44505C"/>
          </a:solidFill>
          <a:ln/>
        </p:spPr>
        <p:txBody>
          <a:bodyPr wrap="square" lIns="0" tIns="0" rIns="0" bIns="0" rtlCol="0" anchor="ctr">
            <a:normAutofit/>
          </a:bodyPr>
          <a:lstStyle/>
          <a:p>
            <a:pPr algn="ctr" indent="0" marL="0">
              <a:lnSpc>
                <a:spcPts val="1380"/>
              </a:lnSpc>
              <a:buNone/>
            </a:pPr>
            <a:r>
              <a:rPr lang="en-US" sz="1200" b="1" dirty="0">
                <a:solidFill>
                  <a:srgbClr val="F5F4EF"/>
                </a:solidFill>
                <a:latin typeface="IBM Plex Sans" pitchFamily="34" charset="0"/>
                <a:ea typeface="IBM Plex Sans" pitchFamily="34" charset="-122"/>
                <a:cs typeface="IBM Plex Sans" pitchFamily="34" charset="-120"/>
              </a:rPr>
              <a:t>código (.text)</a:t>
            </a:r>
            <a:endParaRPr lang="en-US" sz="1200" dirty="0">
              <a:latin typeface="IBM Plex Sans" charset="0"/>
              <a:ea typeface="IBM Plex Sans" charset="0"/>
              <a:cs typeface="IBM Plex Sans" charset="0"/>
            </a:endParaRPr>
          </a:p>
        </p:txBody>
      </p:sp>
      <p:sp>
        <p:nvSpPr>
          <p:cNvPr id="29" name="Text 27"/>
          <p:cNvSpPr/>
          <p:nvPr/>
        </p:nvSpPr>
        <p:spPr>
          <a:xfrm>
            <a:off x="5052060" y="2528577"/>
            <a:ext cx="1376680" cy="444500"/>
          </a:xfrm>
          <a:prstGeom prst="rect">
            <a:avLst/>
          </a:prstGeom>
          <a:solidFill>
            <a:srgbClr val="6B7682"/>
          </a:solidFill>
          <a:ln/>
        </p:spPr>
        <p:txBody>
          <a:bodyPr wrap="square" lIns="0" tIns="10160" rIns="0" bIns="0" rtlCol="0" anchor="ctr">
            <a:normAutofit/>
          </a:bodyPr>
          <a:lstStyle/>
          <a:p>
            <a:pPr algn="ctr" indent="0" marL="0">
              <a:lnSpc>
                <a:spcPts val="1380"/>
              </a:lnSpc>
              <a:buNone/>
            </a:pPr>
            <a:r>
              <a:rPr lang="en-US" sz="1200" b="1" dirty="0">
                <a:solidFill>
                  <a:srgbClr val="F5F4EF"/>
                </a:solidFill>
                <a:latin typeface="IBM Plex Sans" pitchFamily="34" charset="0"/>
                <a:ea typeface="IBM Plex Sans" pitchFamily="34" charset="-122"/>
                <a:cs typeface="IBM Plex Sans" pitchFamily="34" charset="-120"/>
              </a:rPr>
              <a:t>const (.rodata)</a:t>
            </a:r>
            <a:endParaRPr lang="en-US" sz="1200" dirty="0">
              <a:latin typeface="IBM Plex Sans" charset="0"/>
              <a:ea typeface="IBM Plex Sans" charset="0"/>
              <a:cs typeface="IBM Plex Sans" charset="0"/>
            </a:endParaRPr>
          </a:p>
        </p:txBody>
      </p:sp>
      <p:sp>
        <p:nvSpPr>
          <p:cNvPr id="30" name="Shape 28"/>
          <p:cNvSpPr/>
          <p:nvPr/>
        </p:nvSpPr>
        <p:spPr>
          <a:xfrm>
            <a:off x="5052060" y="2534927"/>
            <a:ext cx="1376680" cy="0"/>
          </a:xfrm>
          <a:prstGeom prst="line">
            <a:avLst/>
          </a:prstGeom>
          <a:noFill/>
          <a:ln w="12700">
            <a:solidFill>
              <a:srgbClr val="F5F4EF"/>
            </a:solidFill>
            <a:prstDash val="solid"/>
          </a:ln>
        </p:spPr>
      </p:sp>
      <p:sp>
        <p:nvSpPr>
          <p:cNvPr id="31" name="Text 29"/>
          <p:cNvSpPr/>
          <p:nvPr/>
        </p:nvSpPr>
        <p:spPr>
          <a:xfrm>
            <a:off x="5052060" y="2973077"/>
            <a:ext cx="1376680" cy="558800"/>
          </a:xfrm>
          <a:prstGeom prst="rect">
            <a:avLst/>
          </a:prstGeom>
          <a:solidFill>
            <a:srgbClr val="A7B0B8"/>
          </a:solidFill>
          <a:ln/>
        </p:spPr>
        <p:txBody>
          <a:bodyPr wrap="square" lIns="139303" tIns="10160" rIns="139382" bIns="0" rtlCol="0" anchor="ctr">
            <a:normAutofit/>
          </a:bodyPr>
          <a:lstStyle/>
          <a:p>
            <a:pPr algn="ctr" indent="0" marL="0">
              <a:lnSpc>
                <a:spcPts val="1380"/>
              </a:lnSpc>
              <a:buNone/>
            </a:pPr>
            <a:r>
              <a:rPr lang="en-US" sz="1200" b="1" dirty="0">
                <a:solidFill>
                  <a:srgbClr val="14222E"/>
                </a:solidFill>
                <a:latin typeface="IBM Plex Sans" pitchFamily="34" charset="0"/>
                <a:ea typeface="IBM Plex Sans" pitchFamily="34" charset="-122"/>
                <a:cs typeface="IBM Plex Sans" pitchFamily="34" charset="-120"/>
              </a:rPr>
              <a:t>valores iniciais</a:t>
            </a:r>
            <a:endParaRPr lang="en-US" sz="1200" dirty="0">
              <a:latin typeface="IBM Plex Sans" charset="0"/>
              <a:ea typeface="IBM Plex Sans" charset="0"/>
              <a:cs typeface="IBM Plex Sans" charset="0"/>
            </a:endParaRPr>
          </a:p>
          <a:p>
            <a:pPr algn="ctr" indent="0" marL="0">
              <a:lnSpc>
                <a:spcPts val="1380"/>
              </a:lnSpc>
              <a:buNone/>
            </a:pPr>
            <a:r>
              <a:rPr lang="en-US" sz="1200" b="1" dirty="0">
                <a:solidFill>
                  <a:srgbClr val="14222E"/>
                </a:solidFill>
                <a:latin typeface="IBM Plex Sans" pitchFamily="34" charset="0"/>
                <a:ea typeface="IBM Plex Sans" pitchFamily="34" charset="-122"/>
                <a:cs typeface="IBM Plex Sans" pitchFamily="34" charset="-120"/>
              </a:rPr>
              <a:t>do .data</a:t>
            </a:r>
            <a:endParaRPr lang="en-US" sz="1200" dirty="0">
              <a:latin typeface="IBM Plex Sans" charset="0"/>
              <a:ea typeface="IBM Plex Sans" charset="0"/>
              <a:cs typeface="IBM Plex Sans" charset="0"/>
            </a:endParaRPr>
          </a:p>
        </p:txBody>
      </p:sp>
      <p:sp>
        <p:nvSpPr>
          <p:cNvPr id="32" name="Shape 30"/>
          <p:cNvSpPr/>
          <p:nvPr/>
        </p:nvSpPr>
        <p:spPr>
          <a:xfrm>
            <a:off x="5052060" y="2979427"/>
            <a:ext cx="1376680" cy="0"/>
          </a:xfrm>
          <a:prstGeom prst="line">
            <a:avLst/>
          </a:prstGeom>
          <a:noFill/>
          <a:ln w="12700">
            <a:solidFill>
              <a:srgbClr val="F5F4EF"/>
            </a:solidFill>
            <a:prstDash val="solid"/>
          </a:ln>
        </p:spPr>
      </p:sp>
      <p:sp>
        <p:nvSpPr>
          <p:cNvPr id="33" name="Text 31"/>
          <p:cNvSpPr/>
          <p:nvPr/>
        </p:nvSpPr>
        <p:spPr>
          <a:xfrm>
            <a:off x="5041900" y="3605535"/>
            <a:ext cx="14478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copiados para a RAM no arranque</a:t>
            </a:r>
            <a:endParaRPr lang="en-US" sz="1200" dirty="0">
              <a:latin typeface="IBM Plex Sans" charset="0"/>
              <a:ea typeface="IBM Plex Sans" charset="0"/>
              <a:cs typeface="IBM Plex Sans" charset="0"/>
            </a:endParaRPr>
          </a:p>
        </p:txBody>
      </p:sp>
      <p:sp>
        <p:nvSpPr>
          <p:cNvPr id="34" name="Text 32"/>
          <p:cNvSpPr/>
          <p:nvPr/>
        </p:nvSpPr>
        <p:spPr>
          <a:xfrm>
            <a:off x="6642100" y="1797050"/>
            <a:ext cx="4737100" cy="2626360"/>
          </a:xfrm>
          <a:prstGeom prst="roundRect">
            <a:avLst>
              <a:gd name="adj" fmla="val 2901"/>
            </a:avLst>
          </a:prstGeom>
          <a:solidFill>
            <a:srgbClr val="14222E"/>
          </a:solidFill>
          <a:ln/>
        </p:spPr>
        <p:txBody>
          <a:bodyPr wrap="square" lIns="117382" tIns="117382" rIns="0" bIns="919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int iCount = 5; /* .data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int iErros; /* .bss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const char pcMsg[] = "ok"; /* flash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vTask( void *pv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int iLocal; /* stack da task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int iN; /* .bss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*p = pvPortMalloc( 64 ); /* ucHeap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*q = malloc( 64 ); /* heap C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35" name="Text 33"/>
          <p:cNvSpPr/>
          <p:nvPr/>
        </p:nvSpPr>
        <p:spPr>
          <a:xfrm>
            <a:off x="6642100" y="4550408"/>
            <a:ext cx="4737100" cy="665480"/>
          </a:xfrm>
          <a:custGeom>
            <a:avLst/>
            <a:gdLst/>
            <a:ahLst/>
            <a:cxnLst/>
            <a:rect l="l" t="t" r="r" b="b"/>
            <a:pathLst>
              <a:path w="4737100" h="665480">
                <a:moveTo>
                  <a:pt x="0" y="0"/>
                </a:moveTo>
                <a:lnTo>
                  <a:pt x="4660900" y="0"/>
                </a:lnTo>
                <a:arcTo hR="76200" wR="76200" stAng="16200000" swAng="5400000"/>
                <a:lnTo>
                  <a:pt x="4737100" y="589280"/>
                </a:lnTo>
                <a:arcTo hR="76200" wR="76200" stAng="0" swAng="5400000"/>
                <a:lnTo>
                  <a:pt x="0" y="665480"/>
                </a:lnTo>
                <a:lnTo>
                  <a:pt x="0" y="0"/>
                </a:lnTo>
                <a:close/>
              </a:path>
            </a:pathLst>
          </a:custGeom>
          <a:solidFill>
            <a:srgbClr val="E3EFEC"/>
          </a:solidFill>
          <a:ln/>
        </p:spPr>
        <p:txBody>
          <a:bodyPr wrap="square" lIns="175260" tIns="101600" rIns="7036" bIns="7620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As globais </a:t>
            </a:r>
            <a:r>
              <a:rPr lang="en-US" sz="1300" b="1" dirty="0">
                <a:solidFill>
                  <a:srgbClr val="14222E"/>
                </a:solidFill>
                <a:latin typeface="IBM Plex Sans" pitchFamily="34" charset="0"/>
                <a:ea typeface="IBM Plex Sans" pitchFamily="34" charset="-122"/>
                <a:cs typeface="IBM Plex Sans" pitchFamily="34" charset="-120"/>
              </a:rPr>
              <a:t>nunca</a:t>
            </a:r>
            <a:r>
              <a:rPr lang="en-US" sz="1300" dirty="0">
                <a:solidFill>
                  <a:srgbClr val="14222E"/>
                </a:solidFill>
                <a:latin typeface="IBM Plex Sans" pitchFamily="34" charset="0"/>
                <a:ea typeface="IBM Plex Sans" pitchFamily="34" charset="-122"/>
                <a:cs typeface="IBM Plex Sans" pitchFamily="34" charset="-120"/>
              </a:rPr>
              <a:t> vão para o heap. O heap do FreeRTOS é ele próprio uma global: um array no .bss.</a:t>
            </a:r>
            <a:endParaRPr lang="en-US" sz="1300" dirty="0">
              <a:latin typeface="IBM Plex Sans" charset="0"/>
              <a:ea typeface="IBM Plex Sans" charset="0"/>
              <a:cs typeface="IBM Plex Sans" charset="0"/>
            </a:endParaRPr>
          </a:p>
        </p:txBody>
      </p:sp>
      <p:sp>
        <p:nvSpPr>
          <p:cNvPr id="36" name="Shape 34"/>
          <p:cNvSpPr/>
          <p:nvPr/>
        </p:nvSpPr>
        <p:spPr>
          <a:xfrm>
            <a:off x="6642100" y="4550408"/>
            <a:ext cx="4737100" cy="665480"/>
          </a:xfrm>
          <a:custGeom>
            <a:avLst/>
            <a:gdLst/>
            <a:ahLst/>
            <a:cxnLst/>
            <a:rect l="l" t="t" r="r" b="b"/>
            <a:pathLst>
              <a:path w="4737100" h="665480">
                <a:moveTo>
                  <a:pt x="38100" y="665480"/>
                </a:moveTo>
                <a:lnTo>
                  <a:pt x="0" y="665480"/>
                </a:lnTo>
                <a:lnTo>
                  <a:pt x="0" y="0"/>
                </a:lnTo>
                <a:lnTo>
                  <a:pt x="38100" y="0"/>
                </a:lnTo>
                <a:lnTo>
                  <a:pt x="38100" y="665480"/>
                </a:lnTo>
                <a:close/>
              </a:path>
            </a:pathLst>
          </a:custGeom>
          <a:solidFill>
            <a:srgbClr val="17766A"/>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Alocação estática ou dinâmica</a:t>
            </a:r>
            <a:endParaRPr lang="en-US" sz="3200" dirty="0">
              <a:latin typeface="IBM Plex Sans" charset="0"/>
              <a:ea typeface="IBM Plex Sans" charset="0"/>
              <a:cs typeface="IBM Plex Sans" charset="0"/>
            </a:endParaRPr>
          </a:p>
        </p:txBody>
      </p:sp>
      <p:sp>
        <p:nvSpPr>
          <p:cNvPr id="4" name="Text 2"/>
          <p:cNvSpPr/>
          <p:nvPr/>
        </p:nvSpPr>
        <p:spPr>
          <a:xfrm>
            <a:off x="812800" y="1823727"/>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C"/>
                </a:solidFill>
                <a:latin typeface="IBM Plex Sans" pitchFamily="34" charset="0"/>
                <a:ea typeface="IBM Plex Sans" pitchFamily="34" charset="-122"/>
                <a:cs typeface="IBM Plex Sans" pitchFamily="34" charset="-120"/>
              </a:rPr>
              <a:t>A RAM dos objetos do kernel (tasks, queues, semáforos, event groups…) pode ser reservada em </a:t>
            </a:r>
            <a:r>
              <a:rPr lang="en-US" sz="1600" b="1" dirty="0">
                <a:solidFill>
                  <a:srgbClr val="44505C"/>
                </a:solidFill>
                <a:latin typeface="IBM Plex Sans" pitchFamily="34" charset="0"/>
                <a:ea typeface="IBM Plex Sans" pitchFamily="34" charset="-122"/>
                <a:cs typeface="IBM Plex Sans" pitchFamily="34" charset="-120"/>
              </a:rPr>
              <a:t>compile time</a:t>
            </a:r>
            <a:r>
              <a:rPr lang="en-US" sz="1600" dirty="0">
                <a:solidFill>
                  <a:srgbClr val="44505C"/>
                </a:solidFill>
                <a:latin typeface="IBM Plex Sans" pitchFamily="34" charset="0"/>
                <a:ea typeface="IBM Plex Sans" pitchFamily="34" charset="-122"/>
                <a:cs typeface="IBM Plex Sans" pitchFamily="34" charset="-120"/>
              </a:rPr>
              <a:t> ou em </a:t>
            </a:r>
            <a:r>
              <a:rPr lang="en-US" sz="1600" b="1" dirty="0">
                <a:solidFill>
                  <a:srgbClr val="44505C"/>
                </a:solidFill>
                <a:latin typeface="IBM Plex Sans" pitchFamily="34" charset="0"/>
                <a:ea typeface="IBM Plex Sans" pitchFamily="34" charset="-122"/>
                <a:cs typeface="IBM Plex Sans" pitchFamily="34" charset="-120"/>
              </a:rPr>
              <a:t>run time</a:t>
            </a:r>
            <a:r>
              <a:rPr lang="en-US" sz="1600" dirty="0">
                <a:solidFill>
                  <a:srgbClr val="44505C"/>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p:txBody>
      </p:sp>
      <p:sp>
        <p:nvSpPr>
          <p:cNvPr id="5" name="Shape 3"/>
          <p:cNvSpPr/>
          <p:nvPr/>
        </p:nvSpPr>
        <p:spPr>
          <a:xfrm>
            <a:off x="815975" y="2624460"/>
            <a:ext cx="5175250" cy="2137410"/>
          </a:xfrm>
          <a:prstGeom prst="roundRect">
            <a:avLst>
              <a:gd name="adj" fmla="val 4605"/>
            </a:avLst>
          </a:prstGeom>
          <a:solidFill>
            <a:srgbClr val="FCFBF8"/>
          </a:solidFill>
          <a:ln w="6350">
            <a:solidFill>
              <a:srgbClr val="DCDAD2"/>
            </a:solidFill>
            <a:prstDash val="solid"/>
          </a:ln>
        </p:spPr>
      </p:sp>
      <p:sp>
        <p:nvSpPr>
          <p:cNvPr id="6" name="Text 4"/>
          <p:cNvSpPr/>
          <p:nvPr/>
        </p:nvSpPr>
        <p:spPr>
          <a:xfrm>
            <a:off x="1071880" y="28803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configSUPPORT_DYNAMIC_ALLOCATION = 1</a:t>
            </a:r>
            <a:endParaRPr lang="en-US" sz="1200" dirty="0">
              <a:latin typeface="IBM Plex Sans" charset="0"/>
              <a:ea typeface="IBM Plex Sans" charset="0"/>
              <a:cs typeface="IBM Plex Sans" charset="0"/>
            </a:endParaRPr>
          </a:p>
        </p:txBody>
      </p:sp>
      <p:sp>
        <p:nvSpPr>
          <p:cNvPr id="7" name="Text 5"/>
          <p:cNvSpPr/>
          <p:nvPr/>
        </p:nvSpPr>
        <p:spPr>
          <a:xfrm>
            <a:off x="1071880" y="3220727"/>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22E"/>
                </a:solidFill>
                <a:latin typeface="IBM Plex Sans" pitchFamily="34" charset="0"/>
                <a:ea typeface="IBM Plex Sans" pitchFamily="34" charset="-122"/>
                <a:cs typeface="IBM Plex Sans" pitchFamily="34" charset="-120"/>
              </a:rPr>
              <a:t>Dinâmica</a:t>
            </a:r>
            <a:endParaRPr lang="en-US" sz="2000" dirty="0">
              <a:latin typeface="IBM Plex Sans" charset="0"/>
              <a:ea typeface="IBM Plex Sans" charset="0"/>
              <a:cs typeface="IBM Plex Sans" charset="0"/>
            </a:endParaRPr>
          </a:p>
        </p:txBody>
      </p:sp>
      <p:sp>
        <p:nvSpPr>
          <p:cNvPr id="8" name="Text 6"/>
          <p:cNvSpPr/>
          <p:nvPr/>
        </p:nvSpPr>
        <p:spPr>
          <a:xfrm>
            <a:off x="1275080" y="3652527"/>
            <a:ext cx="4594047" cy="87884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Menos esforço de design e planeamento</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API mais simples</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Minimiza o footprint de RAM</a:t>
            </a:r>
            <a:endParaRPr lang="en-US" sz="1600" dirty="0">
              <a:latin typeface="IBM Plex Sans" charset="0"/>
              <a:ea typeface="IBM Plex Sans" charset="0"/>
              <a:cs typeface="IBM Plex Sans" charset="0"/>
            </a:endParaRPr>
          </a:p>
        </p:txBody>
      </p:sp>
      <p:sp>
        <p:nvSpPr>
          <p:cNvPr id="9" name="Shape 7"/>
          <p:cNvSpPr/>
          <p:nvPr/>
        </p:nvSpPr>
        <p:spPr>
          <a:xfrm>
            <a:off x="6200775" y="2624460"/>
            <a:ext cx="5175250" cy="2137410"/>
          </a:xfrm>
          <a:prstGeom prst="roundRect">
            <a:avLst>
              <a:gd name="adj" fmla="val 4605"/>
            </a:avLst>
          </a:prstGeom>
          <a:solidFill>
            <a:srgbClr val="E3EFEC"/>
          </a:solidFill>
          <a:ln w="6350">
            <a:solidFill>
              <a:srgbClr val="DCDAD2"/>
            </a:solidFill>
            <a:prstDash val="solid"/>
          </a:ln>
        </p:spPr>
      </p:sp>
      <p:sp>
        <p:nvSpPr>
          <p:cNvPr id="10" name="Text 8"/>
          <p:cNvSpPr/>
          <p:nvPr/>
        </p:nvSpPr>
        <p:spPr>
          <a:xfrm>
            <a:off x="6456680" y="28803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configSUPPORT_STATIC_ALLOCATION = 1</a:t>
            </a:r>
            <a:endParaRPr lang="en-US" sz="1200" dirty="0">
              <a:latin typeface="IBM Plex Sans" charset="0"/>
              <a:ea typeface="IBM Plex Sans" charset="0"/>
              <a:cs typeface="IBM Plex Sans" charset="0"/>
            </a:endParaRPr>
          </a:p>
        </p:txBody>
      </p:sp>
      <p:sp>
        <p:nvSpPr>
          <p:cNvPr id="11" name="Text 9"/>
          <p:cNvSpPr/>
          <p:nvPr/>
        </p:nvSpPr>
        <p:spPr>
          <a:xfrm>
            <a:off x="6456680" y="3220727"/>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22E"/>
                </a:solidFill>
                <a:latin typeface="IBM Plex Sans" pitchFamily="34" charset="0"/>
                <a:ea typeface="IBM Plex Sans" pitchFamily="34" charset="-122"/>
                <a:cs typeface="IBM Plex Sans" pitchFamily="34" charset="-120"/>
              </a:rPr>
              <a:t>Estática</a:t>
            </a:r>
            <a:endParaRPr lang="en-US" sz="2000" dirty="0">
              <a:latin typeface="IBM Plex Sans" charset="0"/>
              <a:ea typeface="IBM Plex Sans" charset="0"/>
              <a:cs typeface="IBM Plex Sans" charset="0"/>
            </a:endParaRPr>
          </a:p>
        </p:txBody>
      </p:sp>
      <p:sp>
        <p:nvSpPr>
          <p:cNvPr id="12" name="Text 10"/>
          <p:cNvSpPr/>
          <p:nvPr/>
        </p:nvSpPr>
        <p:spPr>
          <a:xfrm>
            <a:off x="6659880" y="3652527"/>
            <a:ext cx="4594047" cy="87884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Mais determinística</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Não há falhas de alocação para tratar</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Sem risco de fragmentação do heap</a:t>
            </a:r>
            <a:endParaRPr lang="en-US" sz="1600" dirty="0">
              <a:latin typeface="IBM Plex Sans" charset="0"/>
              <a:ea typeface="IBM Plex Sans" charset="0"/>
              <a:cs typeface="IBM Plex Sans" charset="0"/>
            </a:endParaRPr>
          </a:p>
        </p:txBody>
      </p:sp>
      <p:sp>
        <p:nvSpPr>
          <p:cNvPr id="13" name="Text 11"/>
          <p:cNvSpPr/>
          <p:nvPr/>
        </p:nvSpPr>
        <p:spPr>
          <a:xfrm>
            <a:off x="812800" y="499364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6717C"/>
                </a:solidFill>
                <a:latin typeface="IBM Plex Sans" pitchFamily="34" charset="0"/>
                <a:ea typeface="IBM Plex Sans" pitchFamily="34" charset="-122"/>
                <a:cs typeface="IBM Plex Sans" pitchFamily="34" charset="-120"/>
              </a:rPr>
              <a:t>As duas podem estar ativas ao mesmo tempo. A dinâmica está ativa por omissão (constante indefinida).</a:t>
            </a:r>
            <a:endParaRPr lang="en-US" sz="1400" dirty="0">
              <a:latin typeface="IBM Plex Sans" charset="0"/>
              <a:ea typeface="IBM Plex Sans" charset="0"/>
              <a:cs typeface="IBM Plex Sans" charset="0"/>
            </a:endParaRPr>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17</a:t>
            </a:r>
            <a:endParaRPr lang="en-US" sz="1200" dirty="0">
              <a:latin typeface="IBM Plex Sans" charset="0"/>
              <a:ea typeface="IBM Plex Sans" charset="0"/>
              <a:cs typeface="IBM Plex Sans"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Porque não usar malloc() e free()</a:t>
            </a:r>
            <a:endParaRPr lang="en-US" sz="3200" dirty="0">
              <a:latin typeface="IBM Plex Sans" charset="0"/>
              <a:ea typeface="IBM Plex Sans" charset="0"/>
              <a:cs typeface="IBM Plex Sans" charset="0"/>
            </a:endParaRPr>
          </a:p>
        </p:txBody>
      </p:sp>
      <p:sp>
        <p:nvSpPr>
          <p:cNvPr id="4" name="Text 2"/>
          <p:cNvSpPr/>
          <p:nvPr/>
        </p:nvSpPr>
        <p:spPr>
          <a:xfrm>
            <a:off x="812800" y="179832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alocação dinâmica é um conceito de C, não do FreeRTOS. Mas as funções da biblioteca standard podem não servir:</a:t>
            </a:r>
            <a:endParaRPr lang="en-US" sz="1500" dirty="0">
              <a:latin typeface="IBM Plex Sans" charset="0"/>
              <a:ea typeface="IBM Plex Sans" charset="0"/>
              <a:cs typeface="IBM Plex Sans" charset="0"/>
            </a:endParaRPr>
          </a:p>
        </p:txBody>
      </p:sp>
      <p:sp>
        <p:nvSpPr>
          <p:cNvPr id="5" name="Shape 3"/>
          <p:cNvSpPr/>
          <p:nvPr/>
        </p:nvSpPr>
        <p:spPr>
          <a:xfrm>
            <a:off x="815975" y="2271402"/>
            <a:ext cx="3431064" cy="760730"/>
          </a:xfrm>
          <a:prstGeom prst="roundRect">
            <a:avLst>
              <a:gd name="adj" fmla="val 11269"/>
            </a:avLst>
          </a:prstGeom>
          <a:solidFill>
            <a:srgbClr val="FCFBF8"/>
          </a:solidFill>
          <a:ln w="6350">
            <a:solidFill>
              <a:srgbClr val="DCDAD2"/>
            </a:solidFill>
            <a:prstDash val="solid"/>
          </a:ln>
        </p:spPr>
      </p:sp>
      <p:pic>
        <p:nvPicPr>
          <p:cNvPr id="6" name="Image 0" descr="Settings">    </p:cNvPr>
          <p:cNvPicPr>
            <a:picLocks noChangeAspect="1"/>
          </p:cNvPicPr>
          <p:nvPr/>
        </p:nvPicPr>
        <p:blipFill>
          <a:blip r:embed="rId1"/>
          <a:srcRect l="0" r="0" t="0" b="0"/>
          <a:stretch/>
        </p:blipFill>
        <p:spPr>
          <a:xfrm>
            <a:off x="970280" y="2425700"/>
            <a:ext cx="254000" cy="254000"/>
          </a:xfrm>
          <a:prstGeom prst="rect">
            <a:avLst/>
          </a:prstGeom>
        </p:spPr>
      </p:pic>
      <p:sp>
        <p:nvSpPr>
          <p:cNvPr id="7" name="Text 4"/>
          <p:cNvSpPr/>
          <p:nvPr/>
        </p:nvSpPr>
        <p:spPr>
          <a:xfrm>
            <a:off x="1351280" y="2425700"/>
            <a:ext cx="28236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Nem sempre existem</a:t>
            </a:r>
            <a:endParaRPr lang="en-US" sz="1400" dirty="0">
              <a:latin typeface="IBM Plex Sans" charset="0"/>
              <a:ea typeface="IBM Plex Sans" charset="0"/>
              <a:cs typeface="IBM Plex Sans" charset="0"/>
            </a:endParaRPr>
          </a:p>
        </p:txBody>
      </p:sp>
      <p:sp>
        <p:nvSpPr>
          <p:cNvPr id="8" name="Text 5"/>
          <p:cNvSpPr/>
          <p:nvPr/>
        </p:nvSpPr>
        <p:spPr>
          <a:xfrm>
            <a:off x="1351280" y="2664458"/>
            <a:ext cx="282369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em sistemas embebidos pequenos</a:t>
            </a:r>
            <a:endParaRPr lang="en-US" sz="1200" dirty="0">
              <a:latin typeface="IBM Plex Sans" charset="0"/>
              <a:ea typeface="IBM Plex Sans" charset="0"/>
              <a:cs typeface="IBM Plex Sans" charset="0"/>
            </a:endParaRPr>
          </a:p>
        </p:txBody>
      </p:sp>
      <p:sp>
        <p:nvSpPr>
          <p:cNvPr id="9" name="Shape 6"/>
          <p:cNvSpPr/>
          <p:nvPr/>
        </p:nvSpPr>
        <p:spPr>
          <a:xfrm>
            <a:off x="4380389" y="2271402"/>
            <a:ext cx="3431143" cy="760730"/>
          </a:xfrm>
          <a:prstGeom prst="roundRect">
            <a:avLst>
              <a:gd name="adj" fmla="val 11269"/>
            </a:avLst>
          </a:prstGeom>
          <a:solidFill>
            <a:srgbClr val="FCFBF8"/>
          </a:solidFill>
          <a:ln w="6350">
            <a:solidFill>
              <a:srgbClr val="DCDAD2"/>
            </a:solidFill>
            <a:prstDash val="solid"/>
          </a:ln>
        </p:spPr>
      </p:sp>
      <p:pic>
        <p:nvPicPr>
          <p:cNvPr id="10" name="Image 1" descr="Code">    </p:cNvPr>
          <p:cNvPicPr>
            <a:picLocks noChangeAspect="1"/>
          </p:cNvPicPr>
          <p:nvPr/>
        </p:nvPicPr>
        <p:blipFill>
          <a:blip r:embed="rId2"/>
          <a:srcRect l="0" r="0" t="0" b="0"/>
          <a:stretch/>
        </p:blipFill>
        <p:spPr>
          <a:xfrm>
            <a:off x="4534694" y="2425700"/>
            <a:ext cx="254000" cy="254000"/>
          </a:xfrm>
          <a:prstGeom prst="rect">
            <a:avLst/>
          </a:prstGeom>
        </p:spPr>
      </p:pic>
      <p:sp>
        <p:nvSpPr>
          <p:cNvPr id="11" name="Text 7"/>
          <p:cNvSpPr/>
          <p:nvPr/>
        </p:nvSpPr>
        <p:spPr>
          <a:xfrm>
            <a:off x="4915694" y="2425700"/>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Ocupam muito código</a:t>
            </a:r>
            <a:endParaRPr lang="en-US" sz="1400" dirty="0">
              <a:latin typeface="IBM Plex Sans" charset="0"/>
              <a:ea typeface="IBM Plex Sans" charset="0"/>
              <a:cs typeface="IBM Plex Sans" charset="0"/>
            </a:endParaRPr>
          </a:p>
        </p:txBody>
      </p:sp>
      <p:sp>
        <p:nvSpPr>
          <p:cNvPr id="12" name="Text 8"/>
          <p:cNvSpPr/>
          <p:nvPr/>
        </p:nvSpPr>
        <p:spPr>
          <a:xfrm>
            <a:off x="4915694" y="2664458"/>
            <a:ext cx="2823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implementação relativamente grande</a:t>
            </a:r>
            <a:endParaRPr lang="en-US" sz="1200" dirty="0">
              <a:latin typeface="IBM Plex Sans" charset="0"/>
              <a:ea typeface="IBM Plex Sans" charset="0"/>
              <a:cs typeface="IBM Plex Sans" charset="0"/>
            </a:endParaRPr>
          </a:p>
        </p:txBody>
      </p:sp>
      <p:sp>
        <p:nvSpPr>
          <p:cNvPr id="13" name="Shape 9"/>
          <p:cNvSpPr/>
          <p:nvPr/>
        </p:nvSpPr>
        <p:spPr>
          <a:xfrm>
            <a:off x="7944882" y="2271402"/>
            <a:ext cx="3431143" cy="760730"/>
          </a:xfrm>
          <a:prstGeom prst="roundRect">
            <a:avLst>
              <a:gd name="adj" fmla="val 11269"/>
            </a:avLst>
          </a:prstGeom>
          <a:solidFill>
            <a:srgbClr val="FCFBF8"/>
          </a:solidFill>
          <a:ln w="6350">
            <a:solidFill>
              <a:srgbClr val="DCDAD2"/>
            </a:solidFill>
            <a:prstDash val="solid"/>
          </a:ln>
        </p:spPr>
      </p:sp>
      <p:pic>
        <p:nvPicPr>
          <p:cNvPr id="14" name="Image 2" descr="Users">    </p:cNvPr>
          <p:cNvPicPr>
            <a:picLocks noChangeAspect="1"/>
          </p:cNvPicPr>
          <p:nvPr/>
        </p:nvPicPr>
        <p:blipFill>
          <a:blip r:embed="rId3"/>
          <a:srcRect l="0" r="0" t="0" b="0"/>
          <a:stretch/>
        </p:blipFill>
        <p:spPr>
          <a:xfrm>
            <a:off x="8099187" y="2425700"/>
            <a:ext cx="254000" cy="254000"/>
          </a:xfrm>
          <a:prstGeom prst="rect">
            <a:avLst/>
          </a:prstGeom>
        </p:spPr>
      </p:pic>
      <p:sp>
        <p:nvSpPr>
          <p:cNvPr id="15" name="Text 10"/>
          <p:cNvSpPr/>
          <p:nvPr/>
        </p:nvSpPr>
        <p:spPr>
          <a:xfrm>
            <a:off x="8480187" y="2425700"/>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Raramente thread-safe</a:t>
            </a:r>
            <a:endParaRPr lang="en-US" sz="1400" dirty="0">
              <a:latin typeface="IBM Plex Sans" charset="0"/>
              <a:ea typeface="IBM Plex Sans" charset="0"/>
              <a:cs typeface="IBM Plex Sans" charset="0"/>
            </a:endParaRPr>
          </a:p>
        </p:txBody>
      </p:sp>
      <p:sp>
        <p:nvSpPr>
          <p:cNvPr id="16" name="Text 11"/>
          <p:cNvSpPr/>
          <p:nvPr/>
        </p:nvSpPr>
        <p:spPr>
          <a:xfrm>
            <a:off x="8480187" y="2664458"/>
            <a:ext cx="2823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perigosas com várias tasks</a:t>
            </a:r>
            <a:endParaRPr lang="en-US" sz="1200" dirty="0">
              <a:latin typeface="IBM Plex Sans" charset="0"/>
              <a:ea typeface="IBM Plex Sans" charset="0"/>
              <a:cs typeface="IBM Plex Sans" charset="0"/>
            </a:endParaRPr>
          </a:p>
        </p:txBody>
      </p:sp>
      <p:sp>
        <p:nvSpPr>
          <p:cNvPr id="17" name="Shape 12"/>
          <p:cNvSpPr/>
          <p:nvPr/>
        </p:nvSpPr>
        <p:spPr>
          <a:xfrm>
            <a:off x="815975" y="3165475"/>
            <a:ext cx="3431064" cy="974090"/>
          </a:xfrm>
          <a:prstGeom prst="roundRect">
            <a:avLst>
              <a:gd name="adj" fmla="val 8801"/>
            </a:avLst>
          </a:prstGeom>
          <a:solidFill>
            <a:srgbClr val="FCFBF8"/>
          </a:solidFill>
          <a:ln w="6350">
            <a:solidFill>
              <a:srgbClr val="DCDAD2"/>
            </a:solidFill>
            <a:prstDash val="solid"/>
          </a:ln>
        </p:spPr>
      </p:sp>
      <p:pic>
        <p:nvPicPr>
          <p:cNvPr id="18" name="Image 3" descr="Clock">    </p:cNvPr>
          <p:cNvPicPr>
            <a:picLocks noChangeAspect="1"/>
          </p:cNvPicPr>
          <p:nvPr/>
        </p:nvPicPr>
        <p:blipFill>
          <a:blip r:embed="rId4"/>
          <a:srcRect l="0" r="0" t="0" b="0"/>
          <a:stretch/>
        </p:blipFill>
        <p:spPr>
          <a:xfrm>
            <a:off x="970280" y="3319785"/>
            <a:ext cx="254000" cy="254000"/>
          </a:xfrm>
          <a:prstGeom prst="rect">
            <a:avLst/>
          </a:prstGeom>
        </p:spPr>
      </p:pic>
      <p:sp>
        <p:nvSpPr>
          <p:cNvPr id="19" name="Text 13"/>
          <p:cNvSpPr/>
          <p:nvPr/>
        </p:nvSpPr>
        <p:spPr>
          <a:xfrm>
            <a:off x="1351280" y="3319785"/>
            <a:ext cx="28236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Não determinísticas</a:t>
            </a:r>
            <a:endParaRPr lang="en-US" sz="1400" dirty="0">
              <a:latin typeface="IBM Plex Sans" charset="0"/>
              <a:ea typeface="IBM Plex Sans" charset="0"/>
              <a:cs typeface="IBM Plex Sans" charset="0"/>
            </a:endParaRPr>
          </a:p>
        </p:txBody>
      </p:sp>
      <p:sp>
        <p:nvSpPr>
          <p:cNvPr id="20" name="Text 14"/>
          <p:cNvSpPr/>
          <p:nvPr/>
        </p:nvSpPr>
        <p:spPr>
          <a:xfrm>
            <a:off x="1351280" y="3558542"/>
            <a:ext cx="28236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tempo de execução varia de chamada para chamada</a:t>
            </a:r>
            <a:endParaRPr lang="en-US" sz="1200" dirty="0">
              <a:latin typeface="IBM Plex Sans" charset="0"/>
              <a:ea typeface="IBM Plex Sans" charset="0"/>
              <a:cs typeface="IBM Plex Sans" charset="0"/>
            </a:endParaRPr>
          </a:p>
        </p:txBody>
      </p:sp>
      <p:sp>
        <p:nvSpPr>
          <p:cNvPr id="21" name="Shape 15"/>
          <p:cNvSpPr/>
          <p:nvPr/>
        </p:nvSpPr>
        <p:spPr>
          <a:xfrm>
            <a:off x="4380389" y="3165475"/>
            <a:ext cx="3431143" cy="974090"/>
          </a:xfrm>
          <a:prstGeom prst="roundRect">
            <a:avLst>
              <a:gd name="adj" fmla="val 8801"/>
            </a:avLst>
          </a:prstGeom>
          <a:solidFill>
            <a:srgbClr val="FCFBF8"/>
          </a:solidFill>
          <a:ln w="6350">
            <a:solidFill>
              <a:srgbClr val="DCDAD2"/>
            </a:solidFill>
            <a:prstDash val="solid"/>
          </a:ln>
        </p:spPr>
      </p:sp>
      <p:pic>
        <p:nvPicPr>
          <p:cNvPr id="22" name="Image 4" descr="Database">    </p:cNvPr>
          <p:cNvPicPr>
            <a:picLocks noChangeAspect="1"/>
          </p:cNvPicPr>
          <p:nvPr/>
        </p:nvPicPr>
        <p:blipFill>
          <a:blip r:embed="rId5"/>
          <a:srcRect l="0" r="0" t="0" b="0"/>
          <a:stretch/>
        </p:blipFill>
        <p:spPr>
          <a:xfrm>
            <a:off x="4534694" y="3319785"/>
            <a:ext cx="254000" cy="254000"/>
          </a:xfrm>
          <a:prstGeom prst="rect">
            <a:avLst/>
          </a:prstGeom>
        </p:spPr>
      </p:pic>
      <p:sp>
        <p:nvSpPr>
          <p:cNvPr id="23" name="Text 16"/>
          <p:cNvSpPr/>
          <p:nvPr/>
        </p:nvSpPr>
        <p:spPr>
          <a:xfrm>
            <a:off x="4915694" y="3319785"/>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Fragmentação</a:t>
            </a:r>
            <a:endParaRPr lang="en-US" sz="1400" dirty="0">
              <a:latin typeface="IBM Plex Sans" charset="0"/>
              <a:ea typeface="IBM Plex Sans" charset="0"/>
              <a:cs typeface="IBM Plex Sans" charset="0"/>
            </a:endParaRPr>
          </a:p>
        </p:txBody>
      </p:sp>
      <p:sp>
        <p:nvSpPr>
          <p:cNvPr id="24" name="Text 17"/>
          <p:cNvSpPr/>
          <p:nvPr/>
        </p:nvSpPr>
        <p:spPr>
          <a:xfrm>
            <a:off x="4915694" y="3558542"/>
            <a:ext cx="28237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memória livre suficiente, mas não contígua</a:t>
            </a:r>
            <a:endParaRPr lang="en-US" sz="1200" dirty="0">
              <a:latin typeface="IBM Plex Sans" charset="0"/>
              <a:ea typeface="IBM Plex Sans" charset="0"/>
              <a:cs typeface="IBM Plex Sans" charset="0"/>
            </a:endParaRPr>
          </a:p>
        </p:txBody>
      </p:sp>
      <p:sp>
        <p:nvSpPr>
          <p:cNvPr id="25" name="Shape 18"/>
          <p:cNvSpPr/>
          <p:nvPr/>
        </p:nvSpPr>
        <p:spPr>
          <a:xfrm>
            <a:off x="7944882" y="3165475"/>
            <a:ext cx="3431143" cy="974090"/>
          </a:xfrm>
          <a:prstGeom prst="roundRect">
            <a:avLst>
              <a:gd name="adj" fmla="val 8801"/>
            </a:avLst>
          </a:prstGeom>
          <a:solidFill>
            <a:srgbClr val="FCFBF8"/>
          </a:solidFill>
          <a:ln w="6350">
            <a:solidFill>
              <a:srgbClr val="DCDAD2"/>
            </a:solidFill>
            <a:prstDash val="solid"/>
          </a:ln>
        </p:spPr>
      </p:sp>
      <p:pic>
        <p:nvPicPr>
          <p:cNvPr id="26" name="Image 5" descr="Link">    </p:cNvPr>
          <p:cNvPicPr>
            <a:picLocks noChangeAspect="1"/>
          </p:cNvPicPr>
          <p:nvPr/>
        </p:nvPicPr>
        <p:blipFill>
          <a:blip r:embed="rId6"/>
          <a:srcRect l="0" r="0" t="0" b="0"/>
          <a:stretch/>
        </p:blipFill>
        <p:spPr>
          <a:xfrm>
            <a:off x="8099187" y="3319785"/>
            <a:ext cx="254000" cy="254000"/>
          </a:xfrm>
          <a:prstGeom prst="rect">
            <a:avLst/>
          </a:prstGeom>
        </p:spPr>
      </p:pic>
      <p:sp>
        <p:nvSpPr>
          <p:cNvPr id="27" name="Text 19"/>
          <p:cNvSpPr/>
          <p:nvPr/>
        </p:nvSpPr>
        <p:spPr>
          <a:xfrm>
            <a:off x="8480187" y="3319785"/>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Complicam o linker</a:t>
            </a:r>
            <a:endParaRPr lang="en-US" sz="1400" dirty="0">
              <a:latin typeface="IBM Plex Sans" charset="0"/>
              <a:ea typeface="IBM Plex Sans" charset="0"/>
              <a:cs typeface="IBM Plex Sans" charset="0"/>
            </a:endParaRPr>
          </a:p>
        </p:txBody>
      </p:sp>
      <p:sp>
        <p:nvSpPr>
          <p:cNvPr id="28" name="Text 20"/>
          <p:cNvSpPr/>
          <p:nvPr/>
        </p:nvSpPr>
        <p:spPr>
          <a:xfrm>
            <a:off x="8480187" y="3558542"/>
            <a:ext cx="28237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configuração mais difícil</a:t>
            </a:r>
            <a:endParaRPr lang="en-US" sz="1200" dirty="0">
              <a:latin typeface="IBM Plex Sans" charset="0"/>
              <a:ea typeface="IBM Plex Sans" charset="0"/>
              <a:cs typeface="IBM Plex Sans" charset="0"/>
            </a:endParaRPr>
          </a:p>
        </p:txBody>
      </p:sp>
      <p:sp>
        <p:nvSpPr>
          <p:cNvPr id="29" name="Shape 21"/>
          <p:cNvSpPr/>
          <p:nvPr/>
        </p:nvSpPr>
        <p:spPr>
          <a:xfrm>
            <a:off x="815975" y="4272917"/>
            <a:ext cx="3431064" cy="974090"/>
          </a:xfrm>
          <a:prstGeom prst="roundRect">
            <a:avLst>
              <a:gd name="adj" fmla="val 8801"/>
            </a:avLst>
          </a:prstGeom>
          <a:solidFill>
            <a:srgbClr val="FCFBF8"/>
          </a:solidFill>
          <a:ln w="6350">
            <a:solidFill>
              <a:srgbClr val="DCDAD2"/>
            </a:solidFill>
            <a:prstDash val="solid"/>
          </a:ln>
        </p:spPr>
      </p:sp>
      <p:pic>
        <p:nvPicPr>
          <p:cNvPr id="30" name="Image 6" descr="Warning">    </p:cNvPr>
          <p:cNvPicPr>
            <a:picLocks noChangeAspect="1"/>
          </p:cNvPicPr>
          <p:nvPr/>
        </p:nvPicPr>
        <p:blipFill>
          <a:blip r:embed="rId7"/>
          <a:srcRect l="0" r="0" t="0" b="0"/>
          <a:stretch/>
        </p:blipFill>
        <p:spPr>
          <a:xfrm>
            <a:off x="970280" y="4427227"/>
            <a:ext cx="254000" cy="254000"/>
          </a:xfrm>
          <a:prstGeom prst="rect">
            <a:avLst/>
          </a:prstGeom>
        </p:spPr>
      </p:pic>
      <p:sp>
        <p:nvSpPr>
          <p:cNvPr id="31" name="Text 22"/>
          <p:cNvSpPr/>
          <p:nvPr/>
        </p:nvSpPr>
        <p:spPr>
          <a:xfrm>
            <a:off x="1351280" y="4427227"/>
            <a:ext cx="28236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Erros difíceis de depurar</a:t>
            </a:r>
            <a:endParaRPr lang="en-US" sz="1400" dirty="0">
              <a:latin typeface="IBM Plex Sans" charset="0"/>
              <a:ea typeface="IBM Plex Sans" charset="0"/>
              <a:cs typeface="IBM Plex Sans" charset="0"/>
            </a:endParaRPr>
          </a:p>
        </p:txBody>
      </p:sp>
      <p:sp>
        <p:nvSpPr>
          <p:cNvPr id="32" name="Text 23"/>
          <p:cNvSpPr/>
          <p:nvPr/>
        </p:nvSpPr>
        <p:spPr>
          <a:xfrm>
            <a:off x="1351280" y="4665985"/>
            <a:ext cx="28236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o heap crescer para cima de outras variáveis</a:t>
            </a:r>
            <a:endParaRPr lang="en-US" sz="1200" dirty="0">
              <a:latin typeface="IBM Plex Sans" charset="0"/>
              <a:ea typeface="IBM Plex Sans" charset="0"/>
              <a:cs typeface="IBM Plex Sans" charset="0"/>
            </a:endParaRPr>
          </a:p>
        </p:txBody>
      </p:sp>
      <p:sp>
        <p:nvSpPr>
          <p:cNvPr id="33" name="Text 2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34" name="Text 2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18</a:t>
            </a:r>
            <a:endParaRPr lang="en-US" sz="1200" dirty="0">
              <a:latin typeface="IBM Plex Sans" charset="0"/>
              <a:ea typeface="IBM Plex Sans" charset="0"/>
              <a:cs typeface="IBM Plex Sans"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pvPortMalloc() e vPortFree()</a:t>
            </a:r>
            <a:endParaRPr lang="en-US" sz="3200" dirty="0">
              <a:latin typeface="IBM Plex Sans" charset="0"/>
              <a:ea typeface="IBM Plex Sans" charset="0"/>
              <a:cs typeface="IBM Plex Sans" charset="0"/>
            </a:endParaRPr>
          </a:p>
        </p:txBody>
      </p:sp>
      <p:sp>
        <p:nvSpPr>
          <p:cNvPr id="4" name="Text 2"/>
          <p:cNvSpPr/>
          <p:nvPr/>
        </p:nvSpPr>
        <p:spPr>
          <a:xfrm>
            <a:off x="812800" y="1899927"/>
            <a:ext cx="59387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alocação de memória faz parte da </a:t>
            </a:r>
            <a:r>
              <a:rPr lang="en-US" sz="1500" b="1" dirty="0">
                <a:solidFill>
                  <a:srgbClr val="44505C"/>
                </a:solidFill>
                <a:latin typeface="IBM Plex Sans" pitchFamily="34" charset="0"/>
                <a:ea typeface="IBM Plex Sans" pitchFamily="34" charset="-122"/>
                <a:cs typeface="IBM Plex Sans" pitchFamily="34" charset="-120"/>
              </a:rPr>
              <a:t>portable layer</a:t>
            </a:r>
            <a:r>
              <a:rPr lang="en-US" sz="1500" dirty="0">
                <a:solidFill>
                  <a:srgbClr val="44505C"/>
                </a:solidFill>
                <a:latin typeface="IBM Plex Sans" pitchFamily="34" charset="0"/>
                <a:ea typeface="IBM Plex Sans" pitchFamily="34" charset="-122"/>
                <a:cs typeface="IBM Plex Sans" pitchFamily="34" charset="-120"/>
              </a:rPr>
              <a:t>, não do núcleo do kernel: cada sistema tem requisitos diferentes e nenhum algoritmo serve para todos.</a:t>
            </a:r>
            <a:endParaRPr lang="en-US" sz="1500" dirty="0">
              <a:latin typeface="IBM Plex Sans" charset="0"/>
              <a:ea typeface="IBM Plex Sans" charset="0"/>
              <a:cs typeface="IBM Plex Sans" charset="0"/>
            </a:endParaRPr>
          </a:p>
        </p:txBody>
      </p:sp>
      <p:sp>
        <p:nvSpPr>
          <p:cNvPr id="5" name="Text 3"/>
          <p:cNvSpPr/>
          <p:nvPr/>
        </p:nvSpPr>
        <p:spPr>
          <a:xfrm>
            <a:off x="812800" y="2877827"/>
            <a:ext cx="59387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Quando precisa de RAM, o FreeRTOS chama </a:t>
            </a:r>
            <a:r>
              <a:rPr lang="en-US" sz="1500" b="1" dirty="0">
                <a:solidFill>
                  <a:srgbClr val="14222E"/>
                </a:solidFill>
                <a:latin typeface="IBM Plex Sans" pitchFamily="34" charset="0"/>
                <a:ea typeface="IBM Plex Sans" pitchFamily="34" charset="-122"/>
                <a:cs typeface="IBM Plex Sans" pitchFamily="34" charset="-120"/>
              </a:rPr>
              <a:t>pvPortMalloc()</a:t>
            </a:r>
            <a:r>
              <a:rPr lang="en-US" sz="1500" dirty="0">
                <a:solidFill>
                  <a:srgbClr val="44505C"/>
                </a:solidFill>
                <a:latin typeface="IBM Plex Sans" pitchFamily="34" charset="0"/>
                <a:ea typeface="IBM Plex Sans" pitchFamily="34" charset="-122"/>
                <a:cs typeface="IBM Plex Sans" pitchFamily="34" charset="-120"/>
              </a:rPr>
              <a:t> em vez de malloc(); para libertar, </a:t>
            </a:r>
            <a:r>
              <a:rPr lang="en-US" sz="1500" b="1" dirty="0">
                <a:solidFill>
                  <a:srgbClr val="14222E"/>
                </a:solidFill>
                <a:latin typeface="IBM Plex Sans" pitchFamily="34" charset="0"/>
                <a:ea typeface="IBM Plex Sans" pitchFamily="34" charset="-122"/>
                <a:cs typeface="IBM Plex Sans" pitchFamily="34" charset="-120"/>
              </a:rPr>
              <a:t>vPortFree()</a:t>
            </a:r>
            <a:r>
              <a:rPr lang="en-US" sz="1500" dirty="0">
                <a:solidFill>
                  <a:srgbClr val="44505C"/>
                </a:solidFill>
                <a:latin typeface="IBM Plex Sans" pitchFamily="34" charset="0"/>
                <a:ea typeface="IBM Plex Sans" pitchFamily="34" charset="-122"/>
                <a:cs typeface="IBM Plex Sans" pitchFamily="34" charset="-120"/>
              </a:rPr>
              <a:t> em vez de free(). Mesmos protótipos, e são públicas: a aplicação também as pode usar.</a:t>
            </a:r>
            <a:endParaRPr lang="en-US" sz="1500" dirty="0">
              <a:latin typeface="IBM Plex Sans" charset="0"/>
              <a:ea typeface="IBM Plex Sans" charset="0"/>
              <a:cs typeface="IBM Plex Sans" charset="0"/>
            </a:endParaRPr>
          </a:p>
        </p:txBody>
      </p:sp>
      <p:sp>
        <p:nvSpPr>
          <p:cNvPr id="6" name="Text 4"/>
          <p:cNvSpPr/>
          <p:nvPr/>
        </p:nvSpPr>
        <p:spPr>
          <a:xfrm>
            <a:off x="812800" y="3855727"/>
            <a:ext cx="593877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O FreeRTOS traz </a:t>
            </a:r>
            <a:r>
              <a:rPr lang="en-US" sz="1500" b="1" dirty="0">
                <a:solidFill>
                  <a:srgbClr val="44505C"/>
                </a:solidFill>
                <a:latin typeface="IBM Plex Sans" pitchFamily="34" charset="0"/>
                <a:ea typeface="IBM Plex Sans" pitchFamily="34" charset="-122"/>
                <a:cs typeface="IBM Plex Sans" pitchFamily="34" charset="-120"/>
              </a:rPr>
              <a:t>5 implementações de exemplo</a:t>
            </a:r>
            <a:r>
              <a:rPr lang="en-US" sz="1500" dirty="0">
                <a:solidFill>
                  <a:srgbClr val="44505C"/>
                </a:solidFill>
                <a:latin typeface="IBM Plex Sans" pitchFamily="34" charset="0"/>
                <a:ea typeface="IBM Plex Sans" pitchFamily="34" charset="-122"/>
                <a:cs typeface="IBM Plex Sans" pitchFamily="34" charset="-120"/>
              </a:rPr>
              <a:t>. A aplicação usa uma delas ou fornece a sua.</a:t>
            </a:r>
            <a:endParaRPr lang="en-US" sz="1500" dirty="0">
              <a:latin typeface="IBM Plex Sans" charset="0"/>
              <a:ea typeface="IBM Plex Sans" charset="0"/>
              <a:cs typeface="IBM Plex Sans" charset="0"/>
            </a:endParaRPr>
          </a:p>
        </p:txBody>
      </p:sp>
      <p:sp>
        <p:nvSpPr>
          <p:cNvPr id="7" name="Text 5"/>
          <p:cNvSpPr/>
          <p:nvPr/>
        </p:nvSpPr>
        <p:spPr>
          <a:xfrm>
            <a:off x="6934200" y="1899927"/>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PROTÓTIPOS</a:t>
            </a:r>
            <a:endParaRPr lang="en-US" sz="1200" dirty="0">
              <a:latin typeface="IBM Plex Sans" charset="0"/>
              <a:ea typeface="IBM Plex Sans" charset="0"/>
              <a:cs typeface="IBM Plex Sans" charset="0"/>
            </a:endParaRPr>
          </a:p>
        </p:txBody>
      </p:sp>
      <p:sp>
        <p:nvSpPr>
          <p:cNvPr id="8" name="Text 6"/>
          <p:cNvSpPr/>
          <p:nvPr/>
        </p:nvSpPr>
        <p:spPr>
          <a:xfrm>
            <a:off x="6934200" y="2240285"/>
            <a:ext cx="4445000" cy="731520"/>
          </a:xfrm>
          <a:prstGeom prst="roundRect">
            <a:avLst>
              <a:gd name="adj" fmla="val 10417"/>
            </a:avLst>
          </a:prstGeom>
          <a:solidFill>
            <a:srgbClr val="14222E"/>
          </a:solidFill>
          <a:ln/>
        </p:spPr>
        <p:txBody>
          <a:bodyPr wrap="none" lIns="155482" tIns="130082" rIns="3280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*pvPortMalloc( size_t xWantedSize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vPortFree( void *pv );</a:t>
            </a:r>
            <a:endParaRPr lang="en-US" sz="1200" dirty="0">
              <a:latin typeface="JetBrains Mono" charset="0"/>
              <a:ea typeface="JetBrains Mono" charset="0"/>
              <a:cs typeface="JetBrains Mono" charset="0"/>
            </a:endParaRPr>
          </a:p>
        </p:txBody>
      </p:sp>
      <p:sp>
        <p:nvSpPr>
          <p:cNvPr id="9" name="Text 7"/>
          <p:cNvSpPr/>
          <p:nvPr/>
        </p:nvSpPr>
        <p:spPr>
          <a:xfrm>
            <a:off x="6934200" y="3098800"/>
            <a:ext cx="45783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ONDE ESTÃO</a:t>
            </a:r>
            <a:endParaRPr lang="en-US" sz="1200" dirty="0">
              <a:latin typeface="IBM Plex Sans" charset="0"/>
              <a:ea typeface="IBM Plex Sans" charset="0"/>
              <a:cs typeface="IBM Plex Sans" charset="0"/>
            </a:endParaRPr>
          </a:p>
        </p:txBody>
      </p:sp>
      <p:sp>
        <p:nvSpPr>
          <p:cNvPr id="10" name="Text 8"/>
          <p:cNvSpPr/>
          <p:nvPr/>
        </p:nvSpPr>
        <p:spPr>
          <a:xfrm>
            <a:off x="6934200" y="3439158"/>
            <a:ext cx="4445000" cy="944880"/>
          </a:xfrm>
          <a:prstGeom prst="roundRect">
            <a:avLst>
              <a:gd name="adj" fmla="val 8065"/>
            </a:avLst>
          </a:prstGeom>
          <a:solidFill>
            <a:srgbClr val="14222E"/>
          </a:solidFill>
          <a:ln/>
        </p:spPr>
        <p:txBody>
          <a:bodyPr wrap="none" lIns="155482" tIns="130082" rIns="3280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FreeRTOS/Source/portable/MemMang/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heap_1.c heap_2.c heap_3.c</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heap_4.c heap_5.c</a:t>
            </a:r>
            <a:endParaRPr lang="en-US" sz="1200" dirty="0">
              <a:latin typeface="JetBrains Mono" charset="0"/>
              <a:ea typeface="JetBrains Mono" charset="0"/>
              <a:cs typeface="JetBrains Mono" charset="0"/>
            </a:endParaRPr>
          </a:p>
        </p:txBody>
      </p:sp>
      <p:sp>
        <p:nvSpPr>
          <p:cNvPr id="11"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12"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19</a:t>
            </a:r>
            <a:endParaRPr lang="en-US" sz="1200" dirty="0">
              <a:latin typeface="IBM Plex Sans" charset="0"/>
              <a:ea typeface="IBM Plex Sans" charset="0"/>
              <a:cs typeface="IBM Plex Sans"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Os cinco esquemas de exemplo</a:t>
            </a:r>
            <a:endParaRPr lang="en-US" sz="3200" dirty="0">
              <a:latin typeface="IBM Plex Sans" charset="0"/>
              <a:ea typeface="IBM Plex Sans" charset="0"/>
              <a:cs typeface="IBM Plex Sans" charset="0"/>
            </a:endParaRPr>
          </a:p>
        </p:txBody>
      </p:sp>
      <p:sp>
        <p:nvSpPr>
          <p:cNvPr id="4" name="Shape 2"/>
          <p:cNvSpPr/>
          <p:nvPr/>
        </p:nvSpPr>
        <p:spPr>
          <a:xfrm>
            <a:off x="812800" y="1828807"/>
            <a:ext cx="10566400" cy="0"/>
          </a:xfrm>
          <a:prstGeom prst="line">
            <a:avLst/>
          </a:prstGeom>
          <a:noFill/>
          <a:ln w="10160">
            <a:solidFill>
              <a:srgbClr val="141413">
                <a:alpha val="22000"/>
              </a:srgbClr>
            </a:solidFill>
            <a:prstDash val="solid"/>
          </a:ln>
        </p:spPr>
      </p:sp>
      <p:sp>
        <p:nvSpPr>
          <p:cNvPr id="5" name="Shape 3"/>
          <p:cNvSpPr/>
          <p:nvPr/>
        </p:nvSpPr>
        <p:spPr>
          <a:xfrm>
            <a:off x="817880" y="1823727"/>
            <a:ext cx="0" cy="21183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97387"/>
          <a:ext cx="10353040" cy="1981200"/>
        </p:xfrm>
        <a:graphic>
          <a:graphicData uri="http://schemas.openxmlformats.org/drawingml/2006/table">
            <a:tbl>
              <a:tblPr/>
              <a:tblGrid>
                <a:gridCol w="1138834"/>
                <a:gridCol w="2277669"/>
                <a:gridCol w="931774"/>
                <a:gridCol w="1242365"/>
                <a:gridCol w="1449426"/>
                <a:gridCol w="3312973"/>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Esquema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Algoritmo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Liberta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Junta livres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Determinístico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Quando usar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heap_1</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Só subdivide o array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Objetos nunca apagados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heap_2</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Best fit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Legado: usar heap_4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heap_3</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malloc()/free() da libc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(libc)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Heap do linker; suspende o scheduler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heap_4</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First fit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Alocar e libertar tamanhos variados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heap_5</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First fit (como heap_4)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RAM em várias regiões não contíguas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4170685"/>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heap_1, heap_2 e heap_4 subdividem um array estático de </a:t>
            </a:r>
            <a:r>
              <a:rPr lang="en-US" sz="1300" b="1" dirty="0">
                <a:solidFill>
                  <a:srgbClr val="14222E"/>
                </a:solidFill>
                <a:latin typeface="IBM Plex Sans" pitchFamily="34" charset="0"/>
                <a:ea typeface="IBM Plex Sans" pitchFamily="34" charset="-122"/>
                <a:cs typeface="IBM Plex Sans" pitchFamily="34" charset="-120"/>
              </a:rPr>
              <a:t>configTOTAL_HEAP_SIZE</a:t>
            </a:r>
            <a:r>
              <a:rPr lang="en-US" sz="1300" dirty="0">
                <a:solidFill>
                  <a:srgbClr val="66717C"/>
                </a:solidFill>
                <a:latin typeface="IBM Plex Sans" pitchFamily="34" charset="0"/>
                <a:ea typeface="IBM Plex Sans" pitchFamily="34" charset="-122"/>
                <a:cs typeface="IBM Plex Sans" pitchFamily="34" charset="-120"/>
              </a:rPr>
              <a:t> bytes. Por isso o FreeRTOS parece gastar muita RAM: o heap conta como dados do FreeRTOS.</a:t>
            </a:r>
            <a:endParaRPr lang="en-US" sz="1300" dirty="0">
              <a:latin typeface="IBM Plex Sans" charset="0"/>
              <a:ea typeface="IBM Plex Sans" charset="0"/>
              <a:cs typeface="IBM Plex Sans" charset="0"/>
            </a:endParaRPr>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9" name="Text 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20</a:t>
            </a:r>
            <a:endParaRPr lang="en-US" sz="1200" dirty="0">
              <a:latin typeface="IBM Plex Sans" charset="0"/>
              <a:ea typeface="IBM Plex Sans" charset="0"/>
              <a:cs typeface="IBM Plex Sans"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heap_1: só aloca, nunca liberta</a:t>
            </a:r>
            <a:endParaRPr lang="en-US" sz="3200" dirty="0">
              <a:latin typeface="IBM Plex Sans" charset="0"/>
              <a:ea typeface="IBM Plex Sans" charset="0"/>
              <a:cs typeface="IBM Plex Sans" charset="0"/>
            </a:endParaRPr>
          </a:p>
        </p:txBody>
      </p:sp>
      <p:sp>
        <p:nvSpPr>
          <p:cNvPr id="4" name="Text 2"/>
          <p:cNvSpPr/>
          <p:nvPr/>
        </p:nvSpPr>
        <p:spPr>
          <a:xfrm>
            <a:off x="812800" y="1899927"/>
            <a:ext cx="61219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Muitos sistemas pequenos criam todas as tasks e objetos </a:t>
            </a:r>
            <a:r>
              <a:rPr lang="en-US" sz="1500" b="1" dirty="0">
                <a:solidFill>
                  <a:srgbClr val="44505C"/>
                </a:solidFill>
                <a:latin typeface="IBM Plex Sans" pitchFamily="34" charset="0"/>
                <a:ea typeface="IBM Plex Sans" pitchFamily="34" charset="-122"/>
                <a:cs typeface="IBM Plex Sans" pitchFamily="34" charset="-120"/>
              </a:rPr>
              <a:t>antes</a:t>
            </a:r>
            <a:r>
              <a:rPr lang="en-US" sz="1500" dirty="0">
                <a:solidFill>
                  <a:srgbClr val="44505C"/>
                </a:solidFill>
                <a:latin typeface="IBM Plex Sans" pitchFamily="34" charset="0"/>
                <a:ea typeface="IBM Plex Sans" pitchFamily="34" charset="-122"/>
                <a:cs typeface="IBM Plex Sans" pitchFamily="34" charset="-120"/>
              </a:rPr>
              <a:t> de arrancar o scheduler, e nunca os apagam.</a:t>
            </a:r>
            <a:endParaRPr lang="en-US" sz="1500" dirty="0">
              <a:latin typeface="IBM Plex Sans" charset="0"/>
              <a:ea typeface="IBM Plex Sans" charset="0"/>
              <a:cs typeface="IBM Plex Sans" charset="0"/>
            </a:endParaRPr>
          </a:p>
        </p:txBody>
      </p:sp>
      <p:sp>
        <p:nvSpPr>
          <p:cNvPr id="5" name="Text 3"/>
          <p:cNvSpPr/>
          <p:nvPr/>
        </p:nvSpPr>
        <p:spPr>
          <a:xfrm>
            <a:off x="812800" y="2585727"/>
            <a:ext cx="61219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heap_1 implementa só </a:t>
            </a:r>
            <a:r>
              <a:rPr lang="en-US" sz="1500" b="1" dirty="0">
                <a:solidFill>
                  <a:srgbClr val="14222E"/>
                </a:solidFill>
                <a:latin typeface="IBM Plex Sans" pitchFamily="34" charset="0"/>
                <a:ea typeface="IBM Plex Sans" pitchFamily="34" charset="-122"/>
                <a:cs typeface="IBM Plex Sans" pitchFamily="34" charset="-120"/>
              </a:rPr>
              <a:t>pvPortMalloc()</a:t>
            </a:r>
            <a:r>
              <a:rPr lang="en-US" sz="1500" dirty="0">
                <a:solidFill>
                  <a:srgbClr val="44505C"/>
                </a:solidFill>
                <a:latin typeface="IBM Plex Sans" pitchFamily="34" charset="0"/>
                <a:ea typeface="IBM Plex Sans" pitchFamily="34" charset="-122"/>
                <a:cs typeface="IBM Plex Sans" pitchFamily="34" charset="-120"/>
              </a:rPr>
              <a:t>: vai subdividindo um array </a:t>
            </a:r>
            <a:r>
              <a:rPr lang="en-US" sz="1500" b="1" dirty="0">
                <a:solidFill>
                  <a:srgbClr val="14222E"/>
                </a:solidFill>
                <a:latin typeface="IBM Plex Sans" pitchFamily="34" charset="0"/>
                <a:ea typeface="IBM Plex Sans" pitchFamily="34" charset="-122"/>
                <a:cs typeface="IBM Plex Sans" pitchFamily="34" charset="-120"/>
              </a:rPr>
              <a:t>uint8_t</a:t>
            </a:r>
            <a:r>
              <a:rPr lang="en-US" sz="1500" dirty="0">
                <a:solidFill>
                  <a:srgbClr val="44505C"/>
                </a:solidFill>
                <a:latin typeface="IBM Plex Sans" pitchFamily="34" charset="0"/>
                <a:ea typeface="IBM Plex Sans" pitchFamily="34" charset="-122"/>
                <a:cs typeface="IBM Plex Sans" pitchFamily="34" charset="-120"/>
              </a:rPr>
              <a:t> de </a:t>
            </a:r>
            <a:r>
              <a:rPr lang="en-US" sz="1500" b="1" dirty="0">
                <a:solidFill>
                  <a:srgbClr val="14222E"/>
                </a:solidFill>
                <a:latin typeface="IBM Plex Sans" pitchFamily="34" charset="0"/>
                <a:ea typeface="IBM Plex Sans" pitchFamily="34" charset="-122"/>
                <a:cs typeface="IBM Plex Sans" pitchFamily="34" charset="-120"/>
              </a:rPr>
              <a:t>configTOTAL_HEAP_SIZE</a:t>
            </a:r>
            <a:r>
              <a:rPr lang="en-US" sz="1500" dirty="0">
                <a:solidFill>
                  <a:srgbClr val="44505C"/>
                </a:solidFill>
                <a:latin typeface="IBM Plex Sans" pitchFamily="34" charset="0"/>
                <a:ea typeface="IBM Plex Sans" pitchFamily="34" charset="-122"/>
                <a:cs typeface="IBM Plex Sans" pitchFamily="34" charset="-120"/>
              </a:rPr>
              <a:t> bytes. Não há </a:t>
            </a:r>
            <a:r>
              <a:rPr lang="en-US" sz="1500" b="1" dirty="0">
                <a:solidFill>
                  <a:srgbClr val="14222E"/>
                </a:solidFill>
                <a:latin typeface="IBM Plex Sans" pitchFamily="34" charset="0"/>
                <a:ea typeface="IBM Plex Sans" pitchFamily="34" charset="-122"/>
                <a:cs typeface="IBM Plex Sans" pitchFamily="34" charset="-120"/>
              </a:rPr>
              <a:t>vPortFree()</a:t>
            </a:r>
            <a:r>
              <a:rPr lang="en-US" sz="1500" dirty="0">
                <a:solidFill>
                  <a:srgbClr val="44505C"/>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p:txBody>
      </p:sp>
      <p:sp>
        <p:nvSpPr>
          <p:cNvPr id="6" name="Text 4"/>
          <p:cNvSpPr/>
          <p:nvPr/>
        </p:nvSpPr>
        <p:spPr>
          <a:xfrm>
            <a:off x="812800" y="3271527"/>
            <a:ext cx="612190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Cada task criada dinamicamente = </a:t>
            </a:r>
            <a:r>
              <a:rPr lang="en-US" sz="1500" b="1" dirty="0">
                <a:solidFill>
                  <a:srgbClr val="44505C"/>
                </a:solidFill>
                <a:latin typeface="IBM Plex Sans" pitchFamily="34" charset="0"/>
                <a:ea typeface="IBM Plex Sans" pitchFamily="34" charset="-122"/>
                <a:cs typeface="IBM Plex Sans" pitchFamily="34" charset="-120"/>
              </a:rPr>
              <a:t>2 alocações</a:t>
            </a:r>
            <a:r>
              <a:rPr lang="en-US" sz="1500" dirty="0">
                <a:solidFill>
                  <a:srgbClr val="44505C"/>
                </a:solidFill>
                <a:latin typeface="IBM Plex Sans" pitchFamily="34" charset="0"/>
                <a:ea typeface="IBM Plex Sans" pitchFamily="34" charset="-122"/>
                <a:cs typeface="IBM Plex Sans" pitchFamily="34" charset="-120"/>
              </a:rPr>
              <a:t>: o TCB e a stack.</a:t>
            </a:r>
            <a:endParaRPr lang="en-US" sz="1500" dirty="0">
              <a:latin typeface="IBM Plex Sans" charset="0"/>
              <a:ea typeface="IBM Plex Sans" charset="0"/>
              <a:cs typeface="IBM Plex Sans" charset="0"/>
            </a:endParaRPr>
          </a:p>
        </p:txBody>
      </p:sp>
      <p:sp>
        <p:nvSpPr>
          <p:cNvPr id="7" name="Text 5"/>
          <p:cNvSpPr/>
          <p:nvPr/>
        </p:nvSpPr>
        <p:spPr>
          <a:xfrm>
            <a:off x="812800" y="3690627"/>
            <a:ext cx="5943600" cy="701040"/>
          </a:xfrm>
          <a:prstGeom prst="roundRect">
            <a:avLst>
              <a:gd name="adj" fmla="val 10870"/>
            </a:avLst>
          </a:prstGeom>
          <a:solidFill>
            <a:srgbClr val="E3EFEC"/>
          </a:solidFill>
          <a:ln/>
        </p:spPr>
        <p:txBody>
          <a:bodyPr wrap="square" lIns="130082" tIns="79282" rIns="0" bIns="53882" rtlCol="0" anchor="t">
            <a:normAutofit/>
          </a:bodyPr>
          <a:lstStyle/>
          <a:p>
            <a:pPr algn="l"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Sempre determinístico e nunca fragmenta: candidato até em sistemas safety-critical.</a:t>
            </a:r>
            <a:endParaRPr lang="en-US" sz="1400" dirty="0">
              <a:latin typeface="IBM Plex Sans" charset="0"/>
              <a:ea typeface="IBM Plex Sans" charset="0"/>
              <a:cs typeface="IBM Plex Sans" charset="0"/>
            </a:endParaRPr>
          </a:p>
        </p:txBody>
      </p:sp>
      <p:sp>
        <p:nvSpPr>
          <p:cNvPr id="8" name="Text 6"/>
          <p:cNvSpPr/>
          <p:nvPr/>
        </p:nvSpPr>
        <p:spPr>
          <a:xfrm>
            <a:off x="7711440" y="1899927"/>
            <a:ext cx="17264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A</a:t>
            </a:r>
            <a:endParaRPr lang="en-US" sz="1400" dirty="0">
              <a:latin typeface="IBM Plex Sans" charset="0"/>
              <a:ea typeface="IBM Plex Sans" charset="0"/>
              <a:cs typeface="IBM Plex Sans" charset="0"/>
            </a:endParaRPr>
          </a:p>
        </p:txBody>
      </p:sp>
      <p:sp>
        <p:nvSpPr>
          <p:cNvPr id="9" name="Shape 7"/>
          <p:cNvSpPr/>
          <p:nvPr/>
        </p:nvSpPr>
        <p:spPr>
          <a:xfrm>
            <a:off x="7169150" y="2231392"/>
            <a:ext cx="1257300" cy="2654300"/>
          </a:xfrm>
          <a:prstGeom prst="rect">
            <a:avLst/>
          </a:prstGeom>
          <a:solidFill>
            <a:srgbClr val="FCFBF8"/>
          </a:solidFill>
          <a:ln w="12700">
            <a:solidFill>
              <a:srgbClr val="14222E"/>
            </a:solidFill>
            <a:prstDash val="solid"/>
          </a:ln>
        </p:spPr>
      </p:sp>
      <p:sp>
        <p:nvSpPr>
          <p:cNvPr id="10" name="Text 8"/>
          <p:cNvSpPr/>
          <p:nvPr/>
        </p:nvSpPr>
        <p:spPr>
          <a:xfrm>
            <a:off x="7621778" y="345185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11" name="Text 9"/>
          <p:cNvSpPr/>
          <p:nvPr/>
        </p:nvSpPr>
        <p:spPr>
          <a:xfrm>
            <a:off x="7137400" y="4968242"/>
            <a:ext cx="13208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Antes de criar tasks</a:t>
            </a:r>
            <a:endParaRPr lang="en-US" sz="1200" dirty="0">
              <a:latin typeface="IBM Plex Sans" charset="0"/>
              <a:ea typeface="IBM Plex Sans" charset="0"/>
              <a:cs typeface="IBM Plex Sans" charset="0"/>
            </a:endParaRPr>
          </a:p>
        </p:txBody>
      </p:sp>
      <p:sp>
        <p:nvSpPr>
          <p:cNvPr id="12" name="Text 10"/>
          <p:cNvSpPr/>
          <p:nvPr/>
        </p:nvSpPr>
        <p:spPr>
          <a:xfrm>
            <a:off x="9186228" y="1899927"/>
            <a:ext cx="169466"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B</a:t>
            </a:r>
            <a:endParaRPr lang="en-US" sz="1400" dirty="0">
              <a:latin typeface="IBM Plex Sans" charset="0"/>
              <a:ea typeface="IBM Plex Sans" charset="0"/>
              <a:cs typeface="IBM Plex Sans" charset="0"/>
            </a:endParaRPr>
          </a:p>
        </p:txBody>
      </p:sp>
      <p:sp>
        <p:nvSpPr>
          <p:cNvPr id="13" name="Shape 11"/>
          <p:cNvSpPr/>
          <p:nvPr/>
        </p:nvSpPr>
        <p:spPr>
          <a:xfrm>
            <a:off x="8642350" y="2231392"/>
            <a:ext cx="1257300" cy="2654300"/>
          </a:xfrm>
          <a:prstGeom prst="rect">
            <a:avLst/>
          </a:prstGeom>
          <a:solidFill>
            <a:srgbClr val="FCFBF8"/>
          </a:solidFill>
          <a:ln w="12700">
            <a:solidFill>
              <a:srgbClr val="14222E"/>
            </a:solidFill>
            <a:prstDash val="solid"/>
          </a:ln>
        </p:spPr>
      </p:sp>
      <p:sp>
        <p:nvSpPr>
          <p:cNvPr id="14" name="Text 12"/>
          <p:cNvSpPr/>
          <p:nvPr/>
        </p:nvSpPr>
        <p:spPr>
          <a:xfrm>
            <a:off x="9094978" y="307085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15" name="Text 13"/>
          <p:cNvSpPr/>
          <p:nvPr/>
        </p:nvSpPr>
        <p:spPr>
          <a:xfrm>
            <a:off x="8646160" y="4119885"/>
            <a:ext cx="1249680" cy="5080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16" name="Shape 14"/>
          <p:cNvSpPr/>
          <p:nvPr/>
        </p:nvSpPr>
        <p:spPr>
          <a:xfrm>
            <a:off x="8646160" y="4126235"/>
            <a:ext cx="1249680" cy="0"/>
          </a:xfrm>
          <a:prstGeom prst="line">
            <a:avLst/>
          </a:prstGeom>
          <a:noFill/>
          <a:ln w="12700">
            <a:solidFill>
              <a:srgbClr val="F5F4EF"/>
            </a:solidFill>
            <a:prstDash val="solid"/>
          </a:ln>
        </p:spPr>
      </p:sp>
      <p:sp>
        <p:nvSpPr>
          <p:cNvPr id="17" name="Text 15"/>
          <p:cNvSpPr/>
          <p:nvPr/>
        </p:nvSpPr>
        <p:spPr>
          <a:xfrm>
            <a:off x="8646160" y="4627885"/>
            <a:ext cx="1249680" cy="2540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18" name="Shape 16"/>
          <p:cNvSpPr/>
          <p:nvPr/>
        </p:nvSpPr>
        <p:spPr>
          <a:xfrm>
            <a:off x="8646160" y="4634235"/>
            <a:ext cx="1249680" cy="0"/>
          </a:xfrm>
          <a:prstGeom prst="line">
            <a:avLst/>
          </a:prstGeom>
          <a:noFill/>
          <a:ln w="12700">
            <a:solidFill>
              <a:srgbClr val="F5F4EF"/>
            </a:solidFill>
            <a:prstDash val="solid"/>
          </a:ln>
        </p:spPr>
      </p:sp>
      <p:sp>
        <p:nvSpPr>
          <p:cNvPr id="19" name="Text 17"/>
          <p:cNvSpPr/>
          <p:nvPr/>
        </p:nvSpPr>
        <p:spPr>
          <a:xfrm>
            <a:off x="8610600" y="49682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1 task criada</a:t>
            </a:r>
            <a:endParaRPr lang="en-US" sz="1200" dirty="0">
              <a:latin typeface="IBM Plex Sans" charset="0"/>
              <a:ea typeface="IBM Plex Sans" charset="0"/>
              <a:cs typeface="IBM Plex Sans" charset="0"/>
            </a:endParaRPr>
          </a:p>
        </p:txBody>
      </p:sp>
      <p:sp>
        <p:nvSpPr>
          <p:cNvPr id="20" name="Text 18"/>
          <p:cNvSpPr/>
          <p:nvPr/>
        </p:nvSpPr>
        <p:spPr>
          <a:xfrm>
            <a:off x="10660856" y="1899927"/>
            <a:ext cx="166608"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C</a:t>
            </a:r>
            <a:endParaRPr lang="en-US" sz="1400" dirty="0">
              <a:latin typeface="IBM Plex Sans" charset="0"/>
              <a:ea typeface="IBM Plex Sans" charset="0"/>
              <a:cs typeface="IBM Plex Sans" charset="0"/>
            </a:endParaRPr>
          </a:p>
        </p:txBody>
      </p:sp>
      <p:sp>
        <p:nvSpPr>
          <p:cNvPr id="21" name="Shape 19"/>
          <p:cNvSpPr/>
          <p:nvPr/>
        </p:nvSpPr>
        <p:spPr>
          <a:xfrm>
            <a:off x="10115550" y="2231392"/>
            <a:ext cx="1257300" cy="2654300"/>
          </a:xfrm>
          <a:prstGeom prst="rect">
            <a:avLst/>
          </a:prstGeom>
          <a:solidFill>
            <a:srgbClr val="FCFBF8"/>
          </a:solidFill>
          <a:ln w="12700">
            <a:solidFill>
              <a:srgbClr val="14222E"/>
            </a:solidFill>
            <a:prstDash val="solid"/>
          </a:ln>
        </p:spPr>
      </p:sp>
      <p:sp>
        <p:nvSpPr>
          <p:cNvPr id="22" name="Text 20"/>
          <p:cNvSpPr/>
          <p:nvPr/>
        </p:nvSpPr>
        <p:spPr>
          <a:xfrm>
            <a:off x="10568178" y="230885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23" name="Text 21"/>
          <p:cNvSpPr/>
          <p:nvPr/>
        </p:nvSpPr>
        <p:spPr>
          <a:xfrm>
            <a:off x="10119360" y="2595885"/>
            <a:ext cx="1249680" cy="5080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24" name="Shape 22"/>
          <p:cNvSpPr/>
          <p:nvPr/>
        </p:nvSpPr>
        <p:spPr>
          <a:xfrm>
            <a:off x="10119360" y="2602235"/>
            <a:ext cx="1249680" cy="0"/>
          </a:xfrm>
          <a:prstGeom prst="line">
            <a:avLst/>
          </a:prstGeom>
          <a:noFill/>
          <a:ln w="12700">
            <a:solidFill>
              <a:srgbClr val="F5F4EF"/>
            </a:solidFill>
            <a:prstDash val="solid"/>
          </a:ln>
        </p:spPr>
      </p:sp>
      <p:sp>
        <p:nvSpPr>
          <p:cNvPr id="25" name="Text 23"/>
          <p:cNvSpPr/>
          <p:nvPr/>
        </p:nvSpPr>
        <p:spPr>
          <a:xfrm>
            <a:off x="10119360" y="3103885"/>
            <a:ext cx="1249680" cy="2540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26" name="Shape 24"/>
          <p:cNvSpPr/>
          <p:nvPr/>
        </p:nvSpPr>
        <p:spPr>
          <a:xfrm>
            <a:off x="10119360" y="3110235"/>
            <a:ext cx="1249680" cy="0"/>
          </a:xfrm>
          <a:prstGeom prst="line">
            <a:avLst/>
          </a:prstGeom>
          <a:noFill/>
          <a:ln w="12700">
            <a:solidFill>
              <a:srgbClr val="F5F4EF"/>
            </a:solidFill>
            <a:prstDash val="solid"/>
          </a:ln>
        </p:spPr>
      </p:sp>
      <p:sp>
        <p:nvSpPr>
          <p:cNvPr id="27" name="Text 25"/>
          <p:cNvSpPr/>
          <p:nvPr/>
        </p:nvSpPr>
        <p:spPr>
          <a:xfrm>
            <a:off x="10119360" y="3357885"/>
            <a:ext cx="1249680" cy="508000"/>
          </a:xfrm>
          <a:prstGeom prst="rect">
            <a:avLst/>
          </a:prstGeom>
          <a:solidFill>
            <a:srgbClr val="2E9A62"/>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28" name="Shape 26"/>
          <p:cNvSpPr/>
          <p:nvPr/>
        </p:nvSpPr>
        <p:spPr>
          <a:xfrm>
            <a:off x="10119360" y="3364235"/>
            <a:ext cx="1249680" cy="0"/>
          </a:xfrm>
          <a:prstGeom prst="line">
            <a:avLst/>
          </a:prstGeom>
          <a:noFill/>
          <a:ln w="12700">
            <a:solidFill>
              <a:srgbClr val="F5F4EF"/>
            </a:solidFill>
            <a:prstDash val="solid"/>
          </a:ln>
        </p:spPr>
      </p:sp>
      <p:sp>
        <p:nvSpPr>
          <p:cNvPr id="29" name="Text 27"/>
          <p:cNvSpPr/>
          <p:nvPr/>
        </p:nvSpPr>
        <p:spPr>
          <a:xfrm>
            <a:off x="10119360" y="3865885"/>
            <a:ext cx="1249680" cy="254000"/>
          </a:xfrm>
          <a:prstGeom prst="rect">
            <a:avLst/>
          </a:prstGeom>
          <a:solidFill>
            <a:srgbClr val="2E9A62"/>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30" name="Shape 28"/>
          <p:cNvSpPr/>
          <p:nvPr/>
        </p:nvSpPr>
        <p:spPr>
          <a:xfrm>
            <a:off x="10119360" y="3872235"/>
            <a:ext cx="1249680" cy="0"/>
          </a:xfrm>
          <a:prstGeom prst="line">
            <a:avLst/>
          </a:prstGeom>
          <a:noFill/>
          <a:ln w="12700">
            <a:solidFill>
              <a:srgbClr val="F5F4EF"/>
            </a:solidFill>
            <a:prstDash val="solid"/>
          </a:ln>
        </p:spPr>
      </p:sp>
      <p:sp>
        <p:nvSpPr>
          <p:cNvPr id="31" name="Text 29"/>
          <p:cNvSpPr/>
          <p:nvPr/>
        </p:nvSpPr>
        <p:spPr>
          <a:xfrm>
            <a:off x="10119360" y="4119885"/>
            <a:ext cx="1249680" cy="5080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32" name="Shape 30"/>
          <p:cNvSpPr/>
          <p:nvPr/>
        </p:nvSpPr>
        <p:spPr>
          <a:xfrm>
            <a:off x="10119360" y="4126235"/>
            <a:ext cx="1249680" cy="0"/>
          </a:xfrm>
          <a:prstGeom prst="line">
            <a:avLst/>
          </a:prstGeom>
          <a:noFill/>
          <a:ln w="12700">
            <a:solidFill>
              <a:srgbClr val="F5F4EF"/>
            </a:solidFill>
            <a:prstDash val="solid"/>
          </a:ln>
        </p:spPr>
      </p:sp>
      <p:sp>
        <p:nvSpPr>
          <p:cNvPr id="33" name="Text 31"/>
          <p:cNvSpPr/>
          <p:nvPr/>
        </p:nvSpPr>
        <p:spPr>
          <a:xfrm>
            <a:off x="10119360" y="4627885"/>
            <a:ext cx="1249680" cy="2540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34" name="Shape 32"/>
          <p:cNvSpPr/>
          <p:nvPr/>
        </p:nvSpPr>
        <p:spPr>
          <a:xfrm>
            <a:off x="10119360" y="4634235"/>
            <a:ext cx="1249680" cy="0"/>
          </a:xfrm>
          <a:prstGeom prst="line">
            <a:avLst/>
          </a:prstGeom>
          <a:noFill/>
          <a:ln w="12700">
            <a:solidFill>
              <a:srgbClr val="F5F4EF"/>
            </a:solidFill>
            <a:prstDash val="solid"/>
          </a:ln>
        </p:spPr>
      </p:sp>
      <p:sp>
        <p:nvSpPr>
          <p:cNvPr id="35" name="Text 33"/>
          <p:cNvSpPr/>
          <p:nvPr/>
        </p:nvSpPr>
        <p:spPr>
          <a:xfrm>
            <a:off x="10083800" y="4968242"/>
            <a:ext cx="1320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3 tasks criadas</a:t>
            </a:r>
            <a:endParaRPr lang="en-US" sz="1200" dirty="0">
              <a:latin typeface="IBM Plex Sans" charset="0"/>
              <a:ea typeface="IBM Plex Sans" charset="0"/>
              <a:cs typeface="IBM Plex Sans" charset="0"/>
            </a:endParaRPr>
          </a:p>
        </p:txBody>
      </p:sp>
      <p:sp>
        <p:nvSpPr>
          <p:cNvPr id="36" name="Text 34"/>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37" name="Text 3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21</a:t>
            </a:r>
            <a:endParaRPr lang="en-US" sz="1200" dirty="0">
              <a:latin typeface="IBM Plex Sans" charset="0"/>
              <a:ea typeface="IBM Plex Sans" charset="0"/>
              <a:cs typeface="IBM Plex Sans"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5982"/>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GESTÃO DO HEAP</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4979"/>
            <a:ext cx="10883392" cy="486648"/>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heap_2 e heap_4: best fit vs. first fit</a:t>
            </a:r>
            <a:endParaRPr lang="en-US" sz="3190" dirty="0">
              <a:latin typeface="IBM Plex Sans" charset="0"/>
              <a:ea typeface="IBM Plex Sans" charset="0"/>
              <a:cs typeface="IBM Plex Sans" charset="0"/>
            </a:endParaRPr>
          </a:p>
        </p:txBody>
      </p:sp>
      <p:sp>
        <p:nvSpPr>
          <p:cNvPr id="4" name="Shape 2"/>
          <p:cNvSpPr/>
          <p:nvPr/>
        </p:nvSpPr>
        <p:spPr>
          <a:xfrm>
            <a:off x="815975" y="1894210"/>
            <a:ext cx="5175250" cy="3428921"/>
          </a:xfrm>
          <a:prstGeom prst="roundRect">
            <a:avLst>
              <a:gd name="adj" fmla="val 2870"/>
            </a:avLst>
          </a:prstGeom>
          <a:solidFill>
            <a:srgbClr val="FCFBF8"/>
          </a:solidFill>
          <a:ln w="6350">
            <a:solidFill>
              <a:srgbClr val="DCDAD2"/>
            </a:solidFill>
            <a:prstDash val="solid"/>
          </a:ln>
        </p:spPr>
      </p:sp>
      <p:sp>
        <p:nvSpPr>
          <p:cNvPr id="5" name="Text 3"/>
          <p:cNvSpPr/>
          <p:nvPr/>
        </p:nvSpPr>
        <p:spPr>
          <a:xfrm>
            <a:off x="1071880" y="2150108"/>
            <a:ext cx="4803343" cy="235347"/>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17766A"/>
                </a:solidFill>
                <a:latin typeface="IBM Plex Sans" pitchFamily="34" charset="0"/>
                <a:ea typeface="IBM Plex Sans" pitchFamily="34" charset="-122"/>
                <a:cs typeface="IBM Plex Sans" pitchFamily="34" charset="-120"/>
              </a:rPr>
              <a:t>heap_2 · legado</a:t>
            </a:r>
            <a:endParaRPr lang="en-US" sz="1196" dirty="0">
              <a:latin typeface="IBM Plex Sans" charset="0"/>
              <a:ea typeface="IBM Plex Sans" charset="0"/>
              <a:cs typeface="IBM Plex Sans" charset="0"/>
            </a:endParaRPr>
          </a:p>
        </p:txBody>
      </p:sp>
      <p:sp>
        <p:nvSpPr>
          <p:cNvPr id="6" name="Text 4"/>
          <p:cNvSpPr/>
          <p:nvPr/>
        </p:nvSpPr>
        <p:spPr>
          <a:xfrm>
            <a:off x="1071880" y="2461654"/>
            <a:ext cx="4803343" cy="29527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Best fit: o bloco de tamanho mais próximo</a:t>
            </a:r>
            <a:endParaRPr lang="en-US" sz="1800" dirty="0">
              <a:latin typeface="IBM Plex Sans" charset="0"/>
              <a:ea typeface="IBM Plex Sans" charset="0"/>
              <a:cs typeface="IBM Plex Sans" charset="0"/>
            </a:endParaRPr>
          </a:p>
        </p:txBody>
      </p:sp>
      <p:sp>
        <p:nvSpPr>
          <p:cNvPr id="7" name="Text 5"/>
          <p:cNvSpPr/>
          <p:nvPr/>
        </p:nvSpPr>
        <p:spPr>
          <a:xfrm>
            <a:off x="1071880" y="2833129"/>
            <a:ext cx="4803343" cy="480298"/>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44505C"/>
                </a:solidFill>
                <a:latin typeface="IBM Plex Sans" pitchFamily="34" charset="0"/>
                <a:ea typeface="IBM Plex Sans" pitchFamily="34" charset="-122"/>
                <a:cs typeface="IBM Plex Sans" pitchFamily="34" charset="-120"/>
              </a:rPr>
              <a:t>Blocos livres, por ordem de endereço: 5, 200, 25, 100 bytes. Pedido: </a:t>
            </a:r>
            <a:r>
              <a:rPr lang="en-US" sz="1292" b="1" dirty="0">
                <a:solidFill>
                  <a:srgbClr val="44505C"/>
                </a:solidFill>
                <a:latin typeface="IBM Plex Sans" pitchFamily="34" charset="0"/>
                <a:ea typeface="IBM Plex Sans" pitchFamily="34" charset="-122"/>
                <a:cs typeface="IBM Plex Sans" pitchFamily="34" charset="-120"/>
              </a:rPr>
              <a:t>20 bytes</a:t>
            </a:r>
            <a:r>
              <a:rPr lang="en-US" sz="1292" dirty="0">
                <a:solidFill>
                  <a:srgbClr val="44505C"/>
                </a:solidFill>
                <a:latin typeface="IBM Plex Sans" pitchFamily="34" charset="0"/>
                <a:ea typeface="IBM Plex Sans" pitchFamily="34" charset="-122"/>
                <a:cs typeface="IBM Plex Sans" pitchFamily="34" charset="-120"/>
              </a:rPr>
              <a:t>.</a:t>
            </a:r>
            <a:endParaRPr lang="en-US" sz="1292" dirty="0">
              <a:latin typeface="IBM Plex Sans" charset="0"/>
              <a:ea typeface="IBM Plex Sans" charset="0"/>
              <a:cs typeface="IBM Plex Sans" charset="0"/>
            </a:endParaRPr>
          </a:p>
        </p:txBody>
      </p:sp>
      <p:sp>
        <p:nvSpPr>
          <p:cNvPr id="8" name="Text 6"/>
          <p:cNvSpPr/>
          <p:nvPr/>
        </p:nvSpPr>
        <p:spPr>
          <a:xfrm>
            <a:off x="1078230" y="3391061"/>
            <a:ext cx="393700" cy="596900"/>
          </a:xfrm>
          <a:custGeom>
            <a:avLst/>
            <a:gdLst/>
            <a:ahLst/>
            <a:cxnLst/>
            <a:rect l="l" t="t" r="r" b="b"/>
            <a:pathLst>
              <a:path w="393700" h="596900">
                <a:moveTo>
                  <a:pt x="57150" y="0"/>
                </a:moveTo>
                <a:lnTo>
                  <a:pt x="336550" y="0"/>
                </a:lnTo>
                <a:arcTo hR="57150" wR="57150" stAng="16200000" swAng="5400000"/>
                <a:lnTo>
                  <a:pt x="393700" y="539750"/>
                </a:lnTo>
                <a:arcTo hR="57150" wR="57150" stAng="0" swAng="5400000"/>
                <a:lnTo>
                  <a:pt x="57150" y="596900"/>
                </a:lnTo>
                <a:arcTo hR="57150" wR="57150" stAng="5400000" swAng="5400000"/>
                <a:lnTo>
                  <a:pt x="0" y="57150"/>
                </a:lnTo>
                <a:arcTo hR="57150" wR="57150" stAng="10800000" swAng="5400000"/>
                <a:close/>
              </a:path>
            </a:pathLst>
          </a:custGeom>
          <a:solidFill>
            <a:srgbClr val="FCFBF8"/>
          </a:solidFill>
          <a:ln w="12700">
            <a:solidFill>
              <a:srgbClr val="A7B0B8"/>
            </a:solidFill>
            <a:prstDash val="dash"/>
          </a:ln>
        </p:spPr>
        <p:txBody>
          <a:bodyPr wrap="square" lIns="3810" tIns="3810" rIns="3810" bIns="3810" rtlCol="0" anchor="ctr">
            <a:normAutofit/>
          </a:bodyPr>
          <a:lstStyle/>
          <a:p>
            <a:pPr algn="ctr"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5 B</a:t>
            </a:r>
            <a:endParaRPr lang="en-US" sz="1400" dirty="0">
              <a:latin typeface="IBM Plex Sans" charset="0"/>
              <a:ea typeface="IBM Plex Sans" charset="0"/>
              <a:cs typeface="IBM Plex Sans" charset="0"/>
            </a:endParaRPr>
          </a:p>
        </p:txBody>
      </p:sp>
      <p:sp>
        <p:nvSpPr>
          <p:cNvPr id="9" name="Text 7"/>
          <p:cNvSpPr/>
          <p:nvPr/>
        </p:nvSpPr>
        <p:spPr>
          <a:xfrm>
            <a:off x="1586230" y="3391061"/>
            <a:ext cx="1447800" cy="596900"/>
          </a:xfrm>
          <a:prstGeom prst="roundRect">
            <a:avLst>
              <a:gd name="adj" fmla="val 9574"/>
            </a:avLst>
          </a:prstGeom>
          <a:solidFill>
            <a:srgbClr val="FCFBF8"/>
          </a:solidFill>
          <a:ln w="12700">
            <a:solidFill>
              <a:srgbClr val="A7B0B8"/>
            </a:solidFill>
            <a:prstDash val="dash"/>
          </a:ln>
        </p:spPr>
        <p:txBody>
          <a:bodyPr wrap="square" lIns="0" tIns="0" rIns="0" bIns="0" rtlCol="0" anchor="ctr">
            <a:normAutofit/>
          </a:bodyPr>
          <a:lstStyle/>
          <a:p>
            <a:pPr algn="ctr"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200 B</a:t>
            </a:r>
            <a:endParaRPr lang="en-US" sz="1400" dirty="0">
              <a:latin typeface="IBM Plex Sans" charset="0"/>
              <a:ea typeface="IBM Plex Sans" charset="0"/>
              <a:cs typeface="IBM Plex Sans" charset="0"/>
            </a:endParaRPr>
          </a:p>
        </p:txBody>
      </p:sp>
      <p:sp>
        <p:nvSpPr>
          <p:cNvPr id="10" name="Text 8"/>
          <p:cNvSpPr/>
          <p:nvPr/>
        </p:nvSpPr>
        <p:spPr>
          <a:xfrm>
            <a:off x="3151505" y="3394236"/>
            <a:ext cx="692150" cy="590550"/>
          </a:xfrm>
          <a:prstGeom prst="roundRect">
            <a:avLst>
              <a:gd name="adj" fmla="val 9140"/>
            </a:avLst>
          </a:prstGeom>
          <a:solidFill>
            <a:srgbClr val="FBEFE7"/>
          </a:solidFill>
          <a:ln w="19050">
            <a:solidFill>
              <a:srgbClr val="D0612A"/>
            </a:solidFill>
            <a:prstDash val="solid"/>
          </a:ln>
        </p:spPr>
        <p:txBody>
          <a:bodyPr wrap="square" lIns="0" tIns="0" rIns="0" bIns="0" rtlCol="0" anchor="ctr">
            <a:normAutofit/>
          </a:bodyPr>
          <a:lstStyle/>
          <a:p>
            <a:pPr algn="ctr"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25 B</a:t>
            </a:r>
            <a:endParaRPr lang="en-US" sz="1400" dirty="0">
              <a:latin typeface="IBM Plex Sans" charset="0"/>
              <a:ea typeface="IBM Plex Sans" charset="0"/>
              <a:cs typeface="IBM Plex Sans" charset="0"/>
            </a:endParaRPr>
          </a:p>
        </p:txBody>
      </p:sp>
      <p:sp>
        <p:nvSpPr>
          <p:cNvPr id="11" name="Text 9"/>
          <p:cNvSpPr/>
          <p:nvPr/>
        </p:nvSpPr>
        <p:spPr>
          <a:xfrm>
            <a:off x="3961130" y="3391061"/>
            <a:ext cx="1066800" cy="596900"/>
          </a:xfrm>
          <a:prstGeom prst="roundRect">
            <a:avLst>
              <a:gd name="adj" fmla="val 9574"/>
            </a:avLst>
          </a:prstGeom>
          <a:solidFill>
            <a:srgbClr val="FCFBF8"/>
          </a:solidFill>
          <a:ln w="12700">
            <a:solidFill>
              <a:srgbClr val="A7B0B8"/>
            </a:solidFill>
            <a:prstDash val="dash"/>
          </a:ln>
        </p:spPr>
        <p:txBody>
          <a:bodyPr wrap="square" lIns="0" tIns="0" rIns="0" bIns="0" rtlCol="0" anchor="ctr">
            <a:normAutofit/>
          </a:bodyPr>
          <a:lstStyle/>
          <a:p>
            <a:pPr algn="ctr"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100 B</a:t>
            </a:r>
            <a:endParaRPr lang="en-US" sz="1400" dirty="0">
              <a:latin typeface="IBM Plex Sans" charset="0"/>
              <a:ea typeface="IBM Plex Sans" charset="0"/>
              <a:cs typeface="IBM Plex Sans" charset="0"/>
            </a:endParaRPr>
          </a:p>
        </p:txBody>
      </p:sp>
      <p:sp>
        <p:nvSpPr>
          <p:cNvPr id="12" name="Text 10"/>
          <p:cNvSpPr/>
          <p:nvPr/>
        </p:nvSpPr>
        <p:spPr>
          <a:xfrm>
            <a:off x="1071880" y="4090987"/>
            <a:ext cx="4803343" cy="480219"/>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14222E"/>
                </a:solidFill>
                <a:latin typeface="IBM Plex Sans" pitchFamily="34" charset="0"/>
                <a:ea typeface="IBM Plex Sans" pitchFamily="34" charset="-122"/>
                <a:cs typeface="IBM Plex Sans" pitchFamily="34" charset="-120"/>
              </a:rPr>
              <a:t>Percorre todos e escolhe o mais pequeno que chega: o de 25. Fica 20 + 5 livres.</a:t>
            </a:r>
            <a:endParaRPr lang="en-US" sz="1292" dirty="0">
              <a:latin typeface="IBM Plex Sans" charset="0"/>
              <a:ea typeface="IBM Plex Sans" charset="0"/>
              <a:cs typeface="IBM Plex Sans" charset="0"/>
            </a:endParaRPr>
          </a:p>
        </p:txBody>
      </p:sp>
      <p:sp>
        <p:nvSpPr>
          <p:cNvPr id="13" name="Text 11"/>
          <p:cNvSpPr/>
          <p:nvPr/>
        </p:nvSpPr>
        <p:spPr>
          <a:xfrm>
            <a:off x="1071880" y="4647406"/>
            <a:ext cx="4803343" cy="44521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66717C"/>
                </a:solidFill>
                <a:latin typeface="IBM Plex Sans" pitchFamily="34" charset="0"/>
                <a:ea typeface="IBM Plex Sans" pitchFamily="34" charset="-122"/>
                <a:cs typeface="IBM Plex Sans" pitchFamily="34" charset="-120"/>
              </a:rPr>
              <a:t>Não junta blocos livres adjacentes, logo fragmenta mais. Não fragmenta se os blocos forem sempre do mesmo tamanho.</a:t>
            </a:r>
            <a:endParaRPr lang="en-US" sz="1185" dirty="0">
              <a:latin typeface="IBM Plex Sans" charset="0"/>
              <a:ea typeface="IBM Plex Sans" charset="0"/>
              <a:cs typeface="IBM Plex Sans" charset="0"/>
            </a:endParaRPr>
          </a:p>
        </p:txBody>
      </p:sp>
      <p:sp>
        <p:nvSpPr>
          <p:cNvPr id="14" name="Shape 12"/>
          <p:cNvSpPr/>
          <p:nvPr/>
        </p:nvSpPr>
        <p:spPr>
          <a:xfrm>
            <a:off x="6200775" y="1894210"/>
            <a:ext cx="5175250" cy="3428921"/>
          </a:xfrm>
          <a:prstGeom prst="roundRect">
            <a:avLst>
              <a:gd name="adj" fmla="val 2870"/>
            </a:avLst>
          </a:prstGeom>
          <a:solidFill>
            <a:srgbClr val="FCFBF8"/>
          </a:solidFill>
          <a:ln w="6350">
            <a:solidFill>
              <a:srgbClr val="DCDAD2"/>
            </a:solidFill>
            <a:prstDash val="solid"/>
          </a:ln>
        </p:spPr>
      </p:sp>
      <p:sp>
        <p:nvSpPr>
          <p:cNvPr id="15" name="Text 13"/>
          <p:cNvSpPr/>
          <p:nvPr/>
        </p:nvSpPr>
        <p:spPr>
          <a:xfrm>
            <a:off x="6456680" y="2150108"/>
            <a:ext cx="4803343" cy="235347"/>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17766A"/>
                </a:solidFill>
                <a:latin typeface="IBM Plex Sans" pitchFamily="34" charset="0"/>
                <a:ea typeface="IBM Plex Sans" pitchFamily="34" charset="-122"/>
                <a:cs typeface="IBM Plex Sans" pitchFamily="34" charset="-120"/>
              </a:rPr>
              <a:t>heap_4 · recomendado</a:t>
            </a:r>
            <a:endParaRPr lang="en-US" sz="1196" dirty="0">
              <a:latin typeface="IBM Plex Sans" charset="0"/>
              <a:ea typeface="IBM Plex Sans" charset="0"/>
              <a:cs typeface="IBM Plex Sans" charset="0"/>
            </a:endParaRPr>
          </a:p>
        </p:txBody>
      </p:sp>
      <p:sp>
        <p:nvSpPr>
          <p:cNvPr id="16" name="Text 14"/>
          <p:cNvSpPr/>
          <p:nvPr/>
        </p:nvSpPr>
        <p:spPr>
          <a:xfrm>
            <a:off x="6456680" y="2461654"/>
            <a:ext cx="4803343" cy="29527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First fit: o primeiro bloco que chega</a:t>
            </a:r>
            <a:endParaRPr lang="en-US" sz="1800" dirty="0">
              <a:latin typeface="IBM Plex Sans" charset="0"/>
              <a:ea typeface="IBM Plex Sans" charset="0"/>
              <a:cs typeface="IBM Plex Sans" charset="0"/>
            </a:endParaRPr>
          </a:p>
        </p:txBody>
      </p:sp>
      <p:sp>
        <p:nvSpPr>
          <p:cNvPr id="17" name="Text 15"/>
          <p:cNvSpPr/>
          <p:nvPr/>
        </p:nvSpPr>
        <p:spPr>
          <a:xfrm>
            <a:off x="6456680" y="2833129"/>
            <a:ext cx="4803343" cy="480298"/>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44505C"/>
                </a:solidFill>
                <a:latin typeface="IBM Plex Sans" pitchFamily="34" charset="0"/>
                <a:ea typeface="IBM Plex Sans" pitchFamily="34" charset="-122"/>
                <a:cs typeface="IBM Plex Sans" pitchFamily="34" charset="-120"/>
              </a:rPr>
              <a:t>Blocos livres, por ordem de endereço: 5, 200, 25, 100 bytes. Pedido: </a:t>
            </a:r>
            <a:r>
              <a:rPr lang="en-US" sz="1292" b="1" dirty="0">
                <a:solidFill>
                  <a:srgbClr val="44505C"/>
                </a:solidFill>
                <a:latin typeface="IBM Plex Sans" pitchFamily="34" charset="0"/>
                <a:ea typeface="IBM Plex Sans" pitchFamily="34" charset="-122"/>
                <a:cs typeface="IBM Plex Sans" pitchFamily="34" charset="-120"/>
              </a:rPr>
              <a:t>20 bytes</a:t>
            </a:r>
            <a:r>
              <a:rPr lang="en-US" sz="1292" dirty="0">
                <a:solidFill>
                  <a:srgbClr val="44505C"/>
                </a:solidFill>
                <a:latin typeface="IBM Plex Sans" pitchFamily="34" charset="0"/>
                <a:ea typeface="IBM Plex Sans" pitchFamily="34" charset="-122"/>
                <a:cs typeface="IBM Plex Sans" pitchFamily="34" charset="-120"/>
              </a:rPr>
              <a:t>.</a:t>
            </a:r>
            <a:endParaRPr lang="en-US" sz="1292" dirty="0">
              <a:latin typeface="IBM Plex Sans" charset="0"/>
              <a:ea typeface="IBM Plex Sans" charset="0"/>
              <a:cs typeface="IBM Plex Sans" charset="0"/>
            </a:endParaRPr>
          </a:p>
        </p:txBody>
      </p:sp>
      <p:sp>
        <p:nvSpPr>
          <p:cNvPr id="18" name="Text 16"/>
          <p:cNvSpPr/>
          <p:nvPr/>
        </p:nvSpPr>
        <p:spPr>
          <a:xfrm>
            <a:off x="6463030" y="3391061"/>
            <a:ext cx="393700" cy="596900"/>
          </a:xfrm>
          <a:custGeom>
            <a:avLst/>
            <a:gdLst/>
            <a:ahLst/>
            <a:cxnLst/>
            <a:rect l="l" t="t" r="r" b="b"/>
            <a:pathLst>
              <a:path w="393700" h="596900">
                <a:moveTo>
                  <a:pt x="57150" y="0"/>
                </a:moveTo>
                <a:lnTo>
                  <a:pt x="336550" y="0"/>
                </a:lnTo>
                <a:arcTo hR="57150" wR="57150" stAng="16200000" swAng="5400000"/>
                <a:lnTo>
                  <a:pt x="393700" y="539750"/>
                </a:lnTo>
                <a:arcTo hR="57150" wR="57150" stAng="0" swAng="5400000"/>
                <a:lnTo>
                  <a:pt x="57150" y="596900"/>
                </a:lnTo>
                <a:arcTo hR="57150" wR="57150" stAng="5400000" swAng="5400000"/>
                <a:lnTo>
                  <a:pt x="0" y="57150"/>
                </a:lnTo>
                <a:arcTo hR="57150" wR="57150" stAng="10800000" swAng="5400000"/>
                <a:close/>
              </a:path>
            </a:pathLst>
          </a:custGeom>
          <a:solidFill>
            <a:srgbClr val="FCFBF8"/>
          </a:solidFill>
          <a:ln w="12700">
            <a:solidFill>
              <a:srgbClr val="A7B0B8"/>
            </a:solidFill>
            <a:prstDash val="dash"/>
          </a:ln>
        </p:spPr>
        <p:txBody>
          <a:bodyPr wrap="square" lIns="3810" tIns="3810" rIns="3810" bIns="3810" rtlCol="0" anchor="ctr">
            <a:normAutofit/>
          </a:bodyPr>
          <a:lstStyle/>
          <a:p>
            <a:pPr algn="ctr"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5 B</a:t>
            </a:r>
            <a:endParaRPr lang="en-US" sz="1400" dirty="0">
              <a:latin typeface="IBM Plex Sans" charset="0"/>
              <a:ea typeface="IBM Plex Sans" charset="0"/>
              <a:cs typeface="IBM Plex Sans" charset="0"/>
            </a:endParaRPr>
          </a:p>
        </p:txBody>
      </p:sp>
      <p:sp>
        <p:nvSpPr>
          <p:cNvPr id="19" name="Text 17"/>
          <p:cNvSpPr/>
          <p:nvPr/>
        </p:nvSpPr>
        <p:spPr>
          <a:xfrm>
            <a:off x="6974205" y="3394236"/>
            <a:ext cx="1441450" cy="590550"/>
          </a:xfrm>
          <a:prstGeom prst="roundRect">
            <a:avLst>
              <a:gd name="adj" fmla="val 9140"/>
            </a:avLst>
          </a:prstGeom>
          <a:solidFill>
            <a:srgbClr val="FBEFE7"/>
          </a:solidFill>
          <a:ln w="19050">
            <a:solidFill>
              <a:srgbClr val="D0612A"/>
            </a:solidFill>
            <a:prstDash val="solid"/>
          </a:ln>
        </p:spPr>
        <p:txBody>
          <a:bodyPr wrap="square" lIns="0" tIns="0" rIns="0" bIns="0" rtlCol="0" anchor="ctr">
            <a:normAutofit/>
          </a:bodyPr>
          <a:lstStyle/>
          <a:p>
            <a:pPr algn="ctr"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200 B</a:t>
            </a:r>
            <a:endParaRPr lang="en-US" sz="1400" dirty="0">
              <a:latin typeface="IBM Plex Sans" charset="0"/>
              <a:ea typeface="IBM Plex Sans" charset="0"/>
              <a:cs typeface="IBM Plex Sans" charset="0"/>
            </a:endParaRPr>
          </a:p>
        </p:txBody>
      </p:sp>
      <p:sp>
        <p:nvSpPr>
          <p:cNvPr id="20" name="Text 18"/>
          <p:cNvSpPr/>
          <p:nvPr/>
        </p:nvSpPr>
        <p:spPr>
          <a:xfrm>
            <a:off x="8533130" y="3391061"/>
            <a:ext cx="698500" cy="596900"/>
          </a:xfrm>
          <a:prstGeom prst="roundRect">
            <a:avLst>
              <a:gd name="adj" fmla="val 9574"/>
            </a:avLst>
          </a:prstGeom>
          <a:solidFill>
            <a:srgbClr val="FCFBF8"/>
          </a:solidFill>
          <a:ln w="12700">
            <a:solidFill>
              <a:srgbClr val="A7B0B8"/>
            </a:solidFill>
            <a:prstDash val="dash"/>
          </a:ln>
        </p:spPr>
        <p:txBody>
          <a:bodyPr wrap="square" lIns="0" tIns="0" rIns="0" bIns="0" rtlCol="0" anchor="ctr">
            <a:normAutofit/>
          </a:bodyPr>
          <a:lstStyle/>
          <a:p>
            <a:pPr algn="ctr"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25 B</a:t>
            </a:r>
            <a:endParaRPr lang="en-US" sz="1400" dirty="0">
              <a:latin typeface="IBM Plex Sans" charset="0"/>
              <a:ea typeface="IBM Plex Sans" charset="0"/>
              <a:cs typeface="IBM Plex Sans" charset="0"/>
            </a:endParaRPr>
          </a:p>
        </p:txBody>
      </p:sp>
      <p:sp>
        <p:nvSpPr>
          <p:cNvPr id="21" name="Text 19"/>
          <p:cNvSpPr/>
          <p:nvPr/>
        </p:nvSpPr>
        <p:spPr>
          <a:xfrm>
            <a:off x="9345930" y="3391061"/>
            <a:ext cx="1066800" cy="596900"/>
          </a:xfrm>
          <a:prstGeom prst="roundRect">
            <a:avLst>
              <a:gd name="adj" fmla="val 9574"/>
            </a:avLst>
          </a:prstGeom>
          <a:solidFill>
            <a:srgbClr val="FCFBF8"/>
          </a:solidFill>
          <a:ln w="12700">
            <a:solidFill>
              <a:srgbClr val="A7B0B8"/>
            </a:solidFill>
            <a:prstDash val="dash"/>
          </a:ln>
        </p:spPr>
        <p:txBody>
          <a:bodyPr wrap="square" lIns="0" tIns="0" rIns="0" bIns="0" rtlCol="0" anchor="ctr">
            <a:normAutofit/>
          </a:bodyPr>
          <a:lstStyle/>
          <a:p>
            <a:pPr algn="ctr"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100 B</a:t>
            </a:r>
            <a:endParaRPr lang="en-US" sz="1400" dirty="0">
              <a:latin typeface="IBM Plex Sans" charset="0"/>
              <a:ea typeface="IBM Plex Sans" charset="0"/>
              <a:cs typeface="IBM Plex Sans" charset="0"/>
            </a:endParaRPr>
          </a:p>
        </p:txBody>
      </p:sp>
      <p:sp>
        <p:nvSpPr>
          <p:cNvPr id="22" name="Text 20"/>
          <p:cNvSpPr/>
          <p:nvPr/>
        </p:nvSpPr>
        <p:spPr>
          <a:xfrm>
            <a:off x="6456680" y="4090987"/>
            <a:ext cx="4803343" cy="480219"/>
          </a:xfrm>
          <a:prstGeom prst="rect">
            <a:avLst/>
          </a:prstGeom>
          <a:noFill/>
          <a:ln/>
        </p:spPr>
        <p:txBody>
          <a:bodyPr wrap="square" lIns="0" tIns="0" rIns="0" bIns="0" rtlCol="0" anchor="t">
            <a:normAutofit/>
          </a:bodyPr>
          <a:lstStyle/>
          <a:p>
            <a:pPr algn="l" indent="0" marL="0">
              <a:lnSpc>
                <a:spcPts val="1809"/>
              </a:lnSpc>
              <a:buNone/>
            </a:pPr>
            <a:r>
              <a:rPr lang="en-US" sz="1292" dirty="0">
                <a:solidFill>
                  <a:srgbClr val="14222E"/>
                </a:solidFill>
                <a:latin typeface="IBM Plex Sans" pitchFamily="34" charset="0"/>
                <a:ea typeface="IBM Plex Sans" pitchFamily="34" charset="-122"/>
                <a:cs typeface="IBM Plex Sans" pitchFamily="34" charset="-120"/>
              </a:rPr>
              <a:t>Escolhe o primeiro que chega: o de 200, sem olhar para os outros. Fica 20 + 180 livres.</a:t>
            </a:r>
            <a:endParaRPr lang="en-US" sz="1292" dirty="0">
              <a:latin typeface="IBM Plex Sans" charset="0"/>
              <a:ea typeface="IBM Plex Sans" charset="0"/>
              <a:cs typeface="IBM Plex Sans" charset="0"/>
            </a:endParaRPr>
          </a:p>
        </p:txBody>
      </p:sp>
      <p:sp>
        <p:nvSpPr>
          <p:cNvPr id="23" name="Text 21"/>
          <p:cNvSpPr/>
          <p:nvPr/>
        </p:nvSpPr>
        <p:spPr>
          <a:xfrm>
            <a:off x="6456680" y="4647406"/>
            <a:ext cx="4803343" cy="445214"/>
          </a:xfrm>
          <a:prstGeom prst="rect">
            <a:avLst/>
          </a:prstGeom>
          <a:noFill/>
          <a:ln/>
        </p:spPr>
        <p:txBody>
          <a:bodyPr wrap="square" lIns="0" tIns="0" rIns="0" bIns="0" rtlCol="0" anchor="t">
            <a:normAutofit/>
          </a:bodyPr>
          <a:lstStyle/>
          <a:p>
            <a:pPr algn="l" indent="0" marL="0">
              <a:lnSpc>
                <a:spcPts val="1659"/>
              </a:lnSpc>
              <a:buNone/>
            </a:pPr>
            <a:r>
              <a:rPr lang="en-US" sz="1185" dirty="0">
                <a:solidFill>
                  <a:srgbClr val="66717C"/>
                </a:solidFill>
                <a:latin typeface="IBM Plex Sans" pitchFamily="34" charset="0"/>
                <a:ea typeface="IBM Plex Sans" pitchFamily="34" charset="-122"/>
                <a:cs typeface="IBM Plex Sans" pitchFamily="34" charset="-120"/>
              </a:rPr>
              <a:t>Junta (coalesce) blocos livres adjacentes, o que minimiza a fragmentação.</a:t>
            </a:r>
            <a:endParaRPr lang="en-US" sz="1185" dirty="0">
              <a:latin typeface="IBM Plex Sans" charset="0"/>
              <a:ea typeface="IBM Plex Sans" charset="0"/>
              <a:cs typeface="IBM Plex Sans" charset="0"/>
            </a:endParaRPr>
          </a:p>
        </p:txBody>
      </p:sp>
      <p:sp>
        <p:nvSpPr>
          <p:cNvPr id="24" name="Text 22"/>
          <p:cNvSpPr/>
          <p:nvPr/>
        </p:nvSpPr>
        <p:spPr>
          <a:xfrm>
            <a:off x="812800" y="5631098"/>
            <a:ext cx="10883392" cy="23629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6717C"/>
                </a:solidFill>
                <a:latin typeface="IBM Plex Sans" pitchFamily="34" charset="0"/>
                <a:ea typeface="IBM Plex Sans" pitchFamily="34" charset="-122"/>
                <a:cs typeface="IBM Plex Sans" pitchFamily="34" charset="-120"/>
              </a:rPr>
              <a:t>Simplificação: os dois guardam o tamanho de cada bloco dentro do heap, por isso as partes somam um pouco menos do que o bloco original.</a:t>
            </a:r>
            <a:endParaRPr lang="en-US" sz="1196" dirty="0">
              <a:latin typeface="IBM Plex Sans" charset="0"/>
              <a:ea typeface="IBM Plex Sans" charset="0"/>
              <a:cs typeface="IBM Plex Sans" charset="0"/>
            </a:endParaRPr>
          </a:p>
        </p:txBody>
      </p:sp>
      <p:sp>
        <p:nvSpPr>
          <p:cNvPr id="25" name="Text 2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 exemplo adaptado</a:t>
            </a:r>
            <a:endParaRPr lang="en-US" sz="1200" dirty="0">
              <a:latin typeface="IBM Plex Sans" charset="0"/>
              <a:ea typeface="IBM Plex Sans" charset="0"/>
              <a:cs typeface="IBM Plex Sans" charset="0"/>
            </a:endParaRPr>
          </a:p>
        </p:txBody>
      </p:sp>
      <p:sp>
        <p:nvSpPr>
          <p:cNvPr id="26" name="Text 2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22</a:t>
            </a:r>
            <a:endParaRPr lang="en-US" sz="1200" dirty="0">
              <a:latin typeface="IBM Plex Sans" charset="0"/>
              <a:ea typeface="IBM Plex Sans" charset="0"/>
              <a:cs typeface="IBM Plex Sans"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heap_4: first fit com coalescência</a:t>
            </a:r>
            <a:endParaRPr lang="en-US" sz="3200" dirty="0">
              <a:latin typeface="IBM Plex Sans" charset="0"/>
              <a:ea typeface="IBM Plex Sans" charset="0"/>
              <a:cs typeface="IBM Plex Sans" charset="0"/>
            </a:endParaRPr>
          </a:p>
        </p:txBody>
      </p:sp>
      <p:sp>
        <p:nvSpPr>
          <p:cNvPr id="4" name="Text 2"/>
          <p:cNvSpPr/>
          <p:nvPr/>
        </p:nvSpPr>
        <p:spPr>
          <a:xfrm>
            <a:off x="1361440" y="1772927"/>
            <a:ext cx="17264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A</a:t>
            </a:r>
            <a:endParaRPr lang="en-US" sz="1400" dirty="0">
              <a:latin typeface="IBM Plex Sans" charset="0"/>
              <a:ea typeface="IBM Plex Sans" charset="0"/>
              <a:cs typeface="IBM Plex Sans" charset="0"/>
            </a:endParaRPr>
          </a:p>
        </p:txBody>
      </p:sp>
      <p:sp>
        <p:nvSpPr>
          <p:cNvPr id="5" name="Shape 3"/>
          <p:cNvSpPr/>
          <p:nvPr/>
        </p:nvSpPr>
        <p:spPr>
          <a:xfrm>
            <a:off x="819150" y="2104392"/>
            <a:ext cx="1257300" cy="2527300"/>
          </a:xfrm>
          <a:prstGeom prst="rect">
            <a:avLst/>
          </a:prstGeom>
          <a:solidFill>
            <a:srgbClr val="FCFBF8"/>
          </a:solidFill>
          <a:ln w="12700">
            <a:solidFill>
              <a:srgbClr val="14222E"/>
            </a:solidFill>
            <a:prstDash val="solid"/>
          </a:ln>
        </p:spPr>
      </p:sp>
      <p:sp>
        <p:nvSpPr>
          <p:cNvPr id="6" name="Text 4"/>
          <p:cNvSpPr/>
          <p:nvPr/>
        </p:nvSpPr>
        <p:spPr>
          <a:xfrm>
            <a:off x="1271778" y="232790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7" name="Text 5"/>
          <p:cNvSpPr/>
          <p:nvPr/>
        </p:nvSpPr>
        <p:spPr>
          <a:xfrm>
            <a:off x="822960" y="2760985"/>
            <a:ext cx="1249680" cy="4064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8" name="Shape 6"/>
          <p:cNvSpPr/>
          <p:nvPr/>
        </p:nvSpPr>
        <p:spPr>
          <a:xfrm>
            <a:off x="822960" y="2767335"/>
            <a:ext cx="1249680" cy="0"/>
          </a:xfrm>
          <a:prstGeom prst="line">
            <a:avLst/>
          </a:prstGeom>
          <a:noFill/>
          <a:ln w="12700">
            <a:solidFill>
              <a:srgbClr val="F5F4EF"/>
            </a:solidFill>
            <a:prstDash val="solid"/>
          </a:ln>
        </p:spPr>
      </p:sp>
      <p:sp>
        <p:nvSpPr>
          <p:cNvPr id="9" name="Text 7"/>
          <p:cNvSpPr/>
          <p:nvPr/>
        </p:nvSpPr>
        <p:spPr>
          <a:xfrm>
            <a:off x="822960" y="3167385"/>
            <a:ext cx="1249680" cy="2159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10" name="Shape 8"/>
          <p:cNvSpPr/>
          <p:nvPr/>
        </p:nvSpPr>
        <p:spPr>
          <a:xfrm>
            <a:off x="822960" y="3173735"/>
            <a:ext cx="1249680" cy="0"/>
          </a:xfrm>
          <a:prstGeom prst="line">
            <a:avLst/>
          </a:prstGeom>
          <a:noFill/>
          <a:ln w="12700">
            <a:solidFill>
              <a:srgbClr val="F5F4EF"/>
            </a:solidFill>
            <a:prstDash val="solid"/>
          </a:ln>
        </p:spPr>
      </p:sp>
      <p:sp>
        <p:nvSpPr>
          <p:cNvPr id="11" name="Text 9"/>
          <p:cNvSpPr/>
          <p:nvPr/>
        </p:nvSpPr>
        <p:spPr>
          <a:xfrm>
            <a:off x="822960" y="3383285"/>
            <a:ext cx="1249680" cy="406400"/>
          </a:xfrm>
          <a:prstGeom prst="rect">
            <a:avLst/>
          </a:prstGeom>
          <a:solidFill>
            <a:srgbClr val="2E9A62"/>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12" name="Shape 10"/>
          <p:cNvSpPr/>
          <p:nvPr/>
        </p:nvSpPr>
        <p:spPr>
          <a:xfrm>
            <a:off x="822960" y="3389635"/>
            <a:ext cx="1249680" cy="0"/>
          </a:xfrm>
          <a:prstGeom prst="line">
            <a:avLst/>
          </a:prstGeom>
          <a:noFill/>
          <a:ln w="12700">
            <a:solidFill>
              <a:srgbClr val="F5F4EF"/>
            </a:solidFill>
            <a:prstDash val="solid"/>
          </a:ln>
        </p:spPr>
      </p:sp>
      <p:sp>
        <p:nvSpPr>
          <p:cNvPr id="13" name="Text 11"/>
          <p:cNvSpPr/>
          <p:nvPr/>
        </p:nvSpPr>
        <p:spPr>
          <a:xfrm>
            <a:off x="822960" y="3789685"/>
            <a:ext cx="1249680" cy="215900"/>
          </a:xfrm>
          <a:prstGeom prst="rect">
            <a:avLst/>
          </a:prstGeom>
          <a:solidFill>
            <a:srgbClr val="2E9A62"/>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14" name="Shape 12"/>
          <p:cNvSpPr/>
          <p:nvPr/>
        </p:nvSpPr>
        <p:spPr>
          <a:xfrm>
            <a:off x="822960" y="3796035"/>
            <a:ext cx="1249680" cy="0"/>
          </a:xfrm>
          <a:prstGeom prst="line">
            <a:avLst/>
          </a:prstGeom>
          <a:noFill/>
          <a:ln w="12700">
            <a:solidFill>
              <a:srgbClr val="F5F4EF"/>
            </a:solidFill>
            <a:prstDash val="solid"/>
          </a:ln>
        </p:spPr>
      </p:sp>
      <p:sp>
        <p:nvSpPr>
          <p:cNvPr id="15" name="Text 13"/>
          <p:cNvSpPr/>
          <p:nvPr/>
        </p:nvSpPr>
        <p:spPr>
          <a:xfrm>
            <a:off x="822960" y="4005585"/>
            <a:ext cx="1249680" cy="4064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16" name="Shape 14"/>
          <p:cNvSpPr/>
          <p:nvPr/>
        </p:nvSpPr>
        <p:spPr>
          <a:xfrm>
            <a:off x="822960" y="4011935"/>
            <a:ext cx="1249680" cy="0"/>
          </a:xfrm>
          <a:prstGeom prst="line">
            <a:avLst/>
          </a:prstGeom>
          <a:noFill/>
          <a:ln w="12700">
            <a:solidFill>
              <a:srgbClr val="F5F4EF"/>
            </a:solidFill>
            <a:prstDash val="solid"/>
          </a:ln>
        </p:spPr>
      </p:sp>
      <p:sp>
        <p:nvSpPr>
          <p:cNvPr id="17" name="Text 15"/>
          <p:cNvSpPr/>
          <p:nvPr/>
        </p:nvSpPr>
        <p:spPr>
          <a:xfrm>
            <a:off x="822960" y="4411985"/>
            <a:ext cx="1249680" cy="2159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18" name="Shape 16"/>
          <p:cNvSpPr/>
          <p:nvPr/>
        </p:nvSpPr>
        <p:spPr>
          <a:xfrm>
            <a:off x="822960" y="4418335"/>
            <a:ext cx="1249680" cy="0"/>
          </a:xfrm>
          <a:prstGeom prst="line">
            <a:avLst/>
          </a:prstGeom>
          <a:noFill/>
          <a:ln w="12700">
            <a:solidFill>
              <a:srgbClr val="F5F4EF"/>
            </a:solidFill>
            <a:prstDash val="solid"/>
          </a:ln>
        </p:spPr>
      </p:sp>
      <p:sp>
        <p:nvSpPr>
          <p:cNvPr id="19" name="Text 17"/>
          <p:cNvSpPr/>
          <p:nvPr/>
        </p:nvSpPr>
        <p:spPr>
          <a:xfrm>
            <a:off x="3222308" y="1772927"/>
            <a:ext cx="169466"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B</a:t>
            </a:r>
            <a:endParaRPr lang="en-US" sz="1400" dirty="0">
              <a:latin typeface="IBM Plex Sans" charset="0"/>
              <a:ea typeface="IBM Plex Sans" charset="0"/>
              <a:cs typeface="IBM Plex Sans" charset="0"/>
            </a:endParaRPr>
          </a:p>
        </p:txBody>
      </p:sp>
      <p:sp>
        <p:nvSpPr>
          <p:cNvPr id="20" name="Shape 18"/>
          <p:cNvSpPr/>
          <p:nvPr/>
        </p:nvSpPr>
        <p:spPr>
          <a:xfrm>
            <a:off x="2678430" y="2104392"/>
            <a:ext cx="1257300" cy="2527300"/>
          </a:xfrm>
          <a:prstGeom prst="rect">
            <a:avLst/>
          </a:prstGeom>
          <a:solidFill>
            <a:srgbClr val="FCFBF8"/>
          </a:solidFill>
          <a:ln w="12700">
            <a:solidFill>
              <a:srgbClr val="14222E"/>
            </a:solidFill>
            <a:prstDash val="solid"/>
          </a:ln>
        </p:spPr>
      </p:sp>
      <p:sp>
        <p:nvSpPr>
          <p:cNvPr id="21" name="Text 19"/>
          <p:cNvSpPr/>
          <p:nvPr/>
        </p:nvSpPr>
        <p:spPr>
          <a:xfrm>
            <a:off x="3131058" y="232790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22" name="Text 20"/>
          <p:cNvSpPr/>
          <p:nvPr/>
        </p:nvSpPr>
        <p:spPr>
          <a:xfrm>
            <a:off x="2682240" y="2760985"/>
            <a:ext cx="1249680" cy="4064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23" name="Shape 21"/>
          <p:cNvSpPr/>
          <p:nvPr/>
        </p:nvSpPr>
        <p:spPr>
          <a:xfrm>
            <a:off x="2682240" y="2767335"/>
            <a:ext cx="1249680" cy="0"/>
          </a:xfrm>
          <a:prstGeom prst="line">
            <a:avLst/>
          </a:prstGeom>
          <a:noFill/>
          <a:ln w="12700">
            <a:solidFill>
              <a:srgbClr val="F5F4EF"/>
            </a:solidFill>
            <a:prstDash val="solid"/>
          </a:ln>
        </p:spPr>
      </p:sp>
      <p:sp>
        <p:nvSpPr>
          <p:cNvPr id="24" name="Text 22"/>
          <p:cNvSpPr/>
          <p:nvPr/>
        </p:nvSpPr>
        <p:spPr>
          <a:xfrm>
            <a:off x="2682240" y="3167385"/>
            <a:ext cx="1249680" cy="2159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25" name="Shape 23"/>
          <p:cNvSpPr/>
          <p:nvPr/>
        </p:nvSpPr>
        <p:spPr>
          <a:xfrm>
            <a:off x="2682240" y="3173735"/>
            <a:ext cx="1249680" cy="0"/>
          </a:xfrm>
          <a:prstGeom prst="line">
            <a:avLst/>
          </a:prstGeom>
          <a:noFill/>
          <a:ln w="12700">
            <a:solidFill>
              <a:srgbClr val="F5F4EF"/>
            </a:solidFill>
            <a:prstDash val="solid"/>
          </a:ln>
        </p:spPr>
      </p:sp>
      <p:sp>
        <p:nvSpPr>
          <p:cNvPr id="26" name="Shape 24"/>
          <p:cNvSpPr/>
          <p:nvPr/>
        </p:nvSpPr>
        <p:spPr>
          <a:xfrm>
            <a:off x="2691765" y="3392810"/>
            <a:ext cx="1230630" cy="603250"/>
          </a:xfrm>
          <a:prstGeom prst="rect">
            <a:avLst/>
          </a:prstGeom>
          <a:solidFill>
            <a:srgbClr val="E3EFEC"/>
          </a:solidFill>
          <a:ln w="19050">
            <a:solidFill>
              <a:srgbClr val="17766A"/>
            </a:solidFill>
            <a:prstDash val="solid"/>
          </a:ln>
        </p:spPr>
      </p:sp>
      <p:sp>
        <p:nvSpPr>
          <p:cNvPr id="27" name="Text 25"/>
          <p:cNvSpPr/>
          <p:nvPr/>
        </p:nvSpPr>
        <p:spPr>
          <a:xfrm>
            <a:off x="3049905" y="3474727"/>
            <a:ext cx="514350" cy="152400"/>
          </a:xfrm>
          <a:prstGeom prst="rect">
            <a:avLst/>
          </a:prstGeom>
          <a:solidFill>
            <a:srgbClr val="E3EFEC"/>
          </a:solidFill>
          <a:ln/>
        </p:spPr>
        <p:txBody>
          <a:bodyPr wrap="none" lIns="0" tIns="0" rIns="0" bIns="0" rtlCol="0" anchor="ctr">
            <a:normAutofit/>
          </a:bodyPr>
          <a:lstStyle/>
          <a:p>
            <a:pPr algn="ctr" indent="0" marL="0">
              <a:lnSpc>
                <a:spcPts val="1200"/>
              </a:lnSpc>
              <a:buNone/>
            </a:pPr>
            <a:r>
              <a:rPr lang="en-US" sz="1200" b="1" dirty="0">
                <a:solidFill>
                  <a:srgbClr val="17766A"/>
                </a:solidFill>
                <a:latin typeface="IBM Plex Sans" pitchFamily="34" charset="0"/>
                <a:ea typeface="IBM Plex Sans" pitchFamily="34" charset="-122"/>
                <a:cs typeface="IBM Plex Sans" pitchFamily="34" charset="-120"/>
              </a:rPr>
              <a:t>1 livre</a:t>
            </a:r>
            <a:endParaRPr lang="en-US" sz="1200" dirty="0">
              <a:latin typeface="IBM Plex Sans" charset="0"/>
              <a:ea typeface="IBM Plex Sans" charset="0"/>
              <a:cs typeface="IBM Plex Sans" charset="0"/>
            </a:endParaRPr>
          </a:p>
        </p:txBody>
      </p:sp>
      <p:sp>
        <p:nvSpPr>
          <p:cNvPr id="28" name="Shape 26"/>
          <p:cNvSpPr/>
          <p:nvPr/>
        </p:nvSpPr>
        <p:spPr>
          <a:xfrm>
            <a:off x="2720340" y="3804927"/>
            <a:ext cx="1173480" cy="0"/>
          </a:xfrm>
          <a:prstGeom prst="line">
            <a:avLst/>
          </a:prstGeom>
          <a:noFill/>
          <a:ln w="12700">
            <a:solidFill>
              <a:srgbClr val="A7B0B8"/>
            </a:solidFill>
            <a:prstDash val="dash"/>
          </a:ln>
        </p:spPr>
      </p:sp>
      <p:sp>
        <p:nvSpPr>
          <p:cNvPr id="29" name="Text 27"/>
          <p:cNvSpPr/>
          <p:nvPr/>
        </p:nvSpPr>
        <p:spPr>
          <a:xfrm>
            <a:off x="2682240" y="4005585"/>
            <a:ext cx="1249680" cy="4064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30" name="Shape 28"/>
          <p:cNvSpPr/>
          <p:nvPr/>
        </p:nvSpPr>
        <p:spPr>
          <a:xfrm>
            <a:off x="2682240" y="4011935"/>
            <a:ext cx="1249680" cy="0"/>
          </a:xfrm>
          <a:prstGeom prst="line">
            <a:avLst/>
          </a:prstGeom>
          <a:noFill/>
          <a:ln w="12700">
            <a:solidFill>
              <a:srgbClr val="F5F4EF"/>
            </a:solidFill>
            <a:prstDash val="solid"/>
          </a:ln>
        </p:spPr>
      </p:sp>
      <p:sp>
        <p:nvSpPr>
          <p:cNvPr id="31" name="Text 29"/>
          <p:cNvSpPr/>
          <p:nvPr/>
        </p:nvSpPr>
        <p:spPr>
          <a:xfrm>
            <a:off x="2682240" y="4411985"/>
            <a:ext cx="1249680" cy="2159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32" name="Shape 30"/>
          <p:cNvSpPr/>
          <p:nvPr/>
        </p:nvSpPr>
        <p:spPr>
          <a:xfrm>
            <a:off x="2682240" y="4418335"/>
            <a:ext cx="1249680" cy="0"/>
          </a:xfrm>
          <a:prstGeom prst="line">
            <a:avLst/>
          </a:prstGeom>
          <a:noFill/>
          <a:ln w="12700">
            <a:solidFill>
              <a:srgbClr val="F5F4EF"/>
            </a:solidFill>
            <a:prstDash val="solid"/>
          </a:ln>
        </p:spPr>
      </p:sp>
      <p:sp>
        <p:nvSpPr>
          <p:cNvPr id="33" name="Text 31"/>
          <p:cNvSpPr/>
          <p:nvPr/>
        </p:nvSpPr>
        <p:spPr>
          <a:xfrm>
            <a:off x="5083016" y="1772927"/>
            <a:ext cx="166608"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C</a:t>
            </a:r>
            <a:endParaRPr lang="en-US" sz="1400" dirty="0">
              <a:latin typeface="IBM Plex Sans" charset="0"/>
              <a:ea typeface="IBM Plex Sans" charset="0"/>
              <a:cs typeface="IBM Plex Sans" charset="0"/>
            </a:endParaRPr>
          </a:p>
        </p:txBody>
      </p:sp>
      <p:sp>
        <p:nvSpPr>
          <p:cNvPr id="34" name="Shape 32"/>
          <p:cNvSpPr/>
          <p:nvPr/>
        </p:nvSpPr>
        <p:spPr>
          <a:xfrm>
            <a:off x="4537710" y="2104392"/>
            <a:ext cx="1257300" cy="2527300"/>
          </a:xfrm>
          <a:prstGeom prst="rect">
            <a:avLst/>
          </a:prstGeom>
          <a:solidFill>
            <a:srgbClr val="FCFBF8"/>
          </a:solidFill>
          <a:ln w="12700">
            <a:solidFill>
              <a:srgbClr val="14222E"/>
            </a:solidFill>
            <a:prstDash val="solid"/>
          </a:ln>
        </p:spPr>
      </p:sp>
      <p:sp>
        <p:nvSpPr>
          <p:cNvPr id="35" name="Text 33"/>
          <p:cNvSpPr/>
          <p:nvPr/>
        </p:nvSpPr>
        <p:spPr>
          <a:xfrm>
            <a:off x="4990338" y="232790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36" name="Text 34"/>
          <p:cNvSpPr/>
          <p:nvPr/>
        </p:nvSpPr>
        <p:spPr>
          <a:xfrm>
            <a:off x="4541520" y="2760985"/>
            <a:ext cx="1249680" cy="4064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37" name="Shape 35"/>
          <p:cNvSpPr/>
          <p:nvPr/>
        </p:nvSpPr>
        <p:spPr>
          <a:xfrm>
            <a:off x="4541520" y="2767335"/>
            <a:ext cx="1249680" cy="0"/>
          </a:xfrm>
          <a:prstGeom prst="line">
            <a:avLst/>
          </a:prstGeom>
          <a:noFill/>
          <a:ln w="12700">
            <a:solidFill>
              <a:srgbClr val="F5F4EF"/>
            </a:solidFill>
            <a:prstDash val="solid"/>
          </a:ln>
        </p:spPr>
      </p:sp>
      <p:sp>
        <p:nvSpPr>
          <p:cNvPr id="38" name="Text 36"/>
          <p:cNvSpPr/>
          <p:nvPr/>
        </p:nvSpPr>
        <p:spPr>
          <a:xfrm>
            <a:off x="4541520" y="3167385"/>
            <a:ext cx="1249680" cy="2159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39" name="Shape 37"/>
          <p:cNvSpPr/>
          <p:nvPr/>
        </p:nvSpPr>
        <p:spPr>
          <a:xfrm>
            <a:off x="4541520" y="3173735"/>
            <a:ext cx="1249680" cy="0"/>
          </a:xfrm>
          <a:prstGeom prst="line">
            <a:avLst/>
          </a:prstGeom>
          <a:noFill/>
          <a:ln w="12700">
            <a:solidFill>
              <a:srgbClr val="F5F4EF"/>
            </a:solidFill>
            <a:prstDash val="solid"/>
          </a:ln>
        </p:spPr>
      </p:sp>
      <p:sp>
        <p:nvSpPr>
          <p:cNvPr id="40" name="Text 38"/>
          <p:cNvSpPr/>
          <p:nvPr/>
        </p:nvSpPr>
        <p:spPr>
          <a:xfrm>
            <a:off x="4990338" y="3478535"/>
            <a:ext cx="352044"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41" name="Text 39"/>
          <p:cNvSpPr/>
          <p:nvPr/>
        </p:nvSpPr>
        <p:spPr>
          <a:xfrm>
            <a:off x="4541520" y="3726185"/>
            <a:ext cx="1249680" cy="279400"/>
          </a:xfrm>
          <a:prstGeom prst="rect">
            <a:avLst/>
          </a:prstGeom>
          <a:solidFill>
            <a:srgbClr val="8E3B46"/>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Queue</a:t>
            </a:r>
            <a:endParaRPr lang="en-US" sz="1200" dirty="0">
              <a:latin typeface="IBM Plex Sans" charset="0"/>
              <a:ea typeface="IBM Plex Sans" charset="0"/>
              <a:cs typeface="IBM Plex Sans" charset="0"/>
            </a:endParaRPr>
          </a:p>
        </p:txBody>
      </p:sp>
      <p:sp>
        <p:nvSpPr>
          <p:cNvPr id="42" name="Shape 40"/>
          <p:cNvSpPr/>
          <p:nvPr/>
        </p:nvSpPr>
        <p:spPr>
          <a:xfrm>
            <a:off x="4541520" y="3732535"/>
            <a:ext cx="1249680" cy="0"/>
          </a:xfrm>
          <a:prstGeom prst="line">
            <a:avLst/>
          </a:prstGeom>
          <a:noFill/>
          <a:ln w="12700">
            <a:solidFill>
              <a:srgbClr val="F5F4EF"/>
            </a:solidFill>
            <a:prstDash val="solid"/>
          </a:ln>
        </p:spPr>
      </p:sp>
      <p:sp>
        <p:nvSpPr>
          <p:cNvPr id="43" name="Text 41"/>
          <p:cNvSpPr/>
          <p:nvPr/>
        </p:nvSpPr>
        <p:spPr>
          <a:xfrm>
            <a:off x="4541520" y="4005585"/>
            <a:ext cx="1249680" cy="4064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44" name="Shape 42"/>
          <p:cNvSpPr/>
          <p:nvPr/>
        </p:nvSpPr>
        <p:spPr>
          <a:xfrm>
            <a:off x="4541520" y="4011935"/>
            <a:ext cx="1249680" cy="0"/>
          </a:xfrm>
          <a:prstGeom prst="line">
            <a:avLst/>
          </a:prstGeom>
          <a:noFill/>
          <a:ln w="12700">
            <a:solidFill>
              <a:srgbClr val="F5F4EF"/>
            </a:solidFill>
            <a:prstDash val="solid"/>
          </a:ln>
        </p:spPr>
      </p:sp>
      <p:sp>
        <p:nvSpPr>
          <p:cNvPr id="45" name="Text 43"/>
          <p:cNvSpPr/>
          <p:nvPr/>
        </p:nvSpPr>
        <p:spPr>
          <a:xfrm>
            <a:off x="4541520" y="4411985"/>
            <a:ext cx="1249680" cy="2159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46" name="Shape 44"/>
          <p:cNvSpPr/>
          <p:nvPr/>
        </p:nvSpPr>
        <p:spPr>
          <a:xfrm>
            <a:off x="4541520" y="4418335"/>
            <a:ext cx="1249680" cy="0"/>
          </a:xfrm>
          <a:prstGeom prst="line">
            <a:avLst/>
          </a:prstGeom>
          <a:noFill/>
          <a:ln w="12700">
            <a:solidFill>
              <a:srgbClr val="F5F4EF"/>
            </a:solidFill>
            <a:prstDash val="solid"/>
          </a:ln>
        </p:spPr>
      </p:sp>
      <p:sp>
        <p:nvSpPr>
          <p:cNvPr id="47" name="Text 45"/>
          <p:cNvSpPr/>
          <p:nvPr/>
        </p:nvSpPr>
        <p:spPr>
          <a:xfrm>
            <a:off x="6938249" y="1772927"/>
            <a:ext cx="174784"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D</a:t>
            </a:r>
            <a:endParaRPr lang="en-US" sz="1400" dirty="0">
              <a:latin typeface="IBM Plex Sans" charset="0"/>
              <a:ea typeface="IBM Plex Sans" charset="0"/>
              <a:cs typeface="IBM Plex Sans" charset="0"/>
            </a:endParaRPr>
          </a:p>
        </p:txBody>
      </p:sp>
      <p:sp>
        <p:nvSpPr>
          <p:cNvPr id="48" name="Shape 46"/>
          <p:cNvSpPr/>
          <p:nvPr/>
        </p:nvSpPr>
        <p:spPr>
          <a:xfrm>
            <a:off x="6396990" y="2104392"/>
            <a:ext cx="1257300" cy="2527300"/>
          </a:xfrm>
          <a:prstGeom prst="rect">
            <a:avLst/>
          </a:prstGeom>
          <a:solidFill>
            <a:srgbClr val="FCFBF8"/>
          </a:solidFill>
          <a:ln w="12700">
            <a:solidFill>
              <a:srgbClr val="14222E"/>
            </a:solidFill>
            <a:prstDash val="solid"/>
          </a:ln>
        </p:spPr>
      </p:sp>
      <p:sp>
        <p:nvSpPr>
          <p:cNvPr id="49" name="Text 47"/>
          <p:cNvSpPr/>
          <p:nvPr/>
        </p:nvSpPr>
        <p:spPr>
          <a:xfrm>
            <a:off x="6849618" y="239140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50" name="Text 48"/>
          <p:cNvSpPr/>
          <p:nvPr/>
        </p:nvSpPr>
        <p:spPr>
          <a:xfrm>
            <a:off x="6400800" y="2887985"/>
            <a:ext cx="1249680" cy="4064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51" name="Shape 49"/>
          <p:cNvSpPr/>
          <p:nvPr/>
        </p:nvSpPr>
        <p:spPr>
          <a:xfrm>
            <a:off x="6400800" y="2894335"/>
            <a:ext cx="1249680" cy="0"/>
          </a:xfrm>
          <a:prstGeom prst="line">
            <a:avLst/>
          </a:prstGeom>
          <a:noFill/>
          <a:ln w="12700">
            <a:solidFill>
              <a:srgbClr val="F5F4EF"/>
            </a:solidFill>
            <a:prstDash val="solid"/>
          </a:ln>
        </p:spPr>
      </p:sp>
      <p:sp>
        <p:nvSpPr>
          <p:cNvPr id="52" name="Text 50"/>
          <p:cNvSpPr/>
          <p:nvPr/>
        </p:nvSpPr>
        <p:spPr>
          <a:xfrm>
            <a:off x="6400800" y="3294385"/>
            <a:ext cx="1249680" cy="2159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53" name="Shape 51"/>
          <p:cNvSpPr/>
          <p:nvPr/>
        </p:nvSpPr>
        <p:spPr>
          <a:xfrm>
            <a:off x="6400800" y="3300735"/>
            <a:ext cx="1249680" cy="0"/>
          </a:xfrm>
          <a:prstGeom prst="line">
            <a:avLst/>
          </a:prstGeom>
          <a:noFill/>
          <a:ln w="12700">
            <a:solidFill>
              <a:srgbClr val="F5F4EF"/>
            </a:solidFill>
            <a:prstDash val="solid"/>
          </a:ln>
        </p:spPr>
      </p:sp>
      <p:sp>
        <p:nvSpPr>
          <p:cNvPr id="54" name="Text 52"/>
          <p:cNvSpPr/>
          <p:nvPr/>
        </p:nvSpPr>
        <p:spPr>
          <a:xfrm>
            <a:off x="6400800" y="3510285"/>
            <a:ext cx="1249680" cy="215900"/>
          </a:xfrm>
          <a:prstGeom prst="rect">
            <a:avLst/>
          </a:prstGeom>
          <a:solidFill>
            <a:srgbClr val="6B642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User</a:t>
            </a:r>
            <a:endParaRPr lang="en-US" sz="1200" dirty="0">
              <a:latin typeface="IBM Plex Sans" charset="0"/>
              <a:ea typeface="IBM Plex Sans" charset="0"/>
              <a:cs typeface="IBM Plex Sans" charset="0"/>
            </a:endParaRPr>
          </a:p>
        </p:txBody>
      </p:sp>
      <p:sp>
        <p:nvSpPr>
          <p:cNvPr id="55" name="Shape 53"/>
          <p:cNvSpPr/>
          <p:nvPr/>
        </p:nvSpPr>
        <p:spPr>
          <a:xfrm>
            <a:off x="6400800" y="3516635"/>
            <a:ext cx="1249680" cy="0"/>
          </a:xfrm>
          <a:prstGeom prst="line">
            <a:avLst/>
          </a:prstGeom>
          <a:noFill/>
          <a:ln w="12700">
            <a:solidFill>
              <a:srgbClr val="F5F4EF"/>
            </a:solidFill>
            <a:prstDash val="solid"/>
          </a:ln>
        </p:spPr>
      </p:sp>
      <p:sp>
        <p:nvSpPr>
          <p:cNvPr id="56" name="Text 54"/>
          <p:cNvSpPr/>
          <p:nvPr/>
        </p:nvSpPr>
        <p:spPr>
          <a:xfrm>
            <a:off x="6400800" y="3726185"/>
            <a:ext cx="1249680" cy="279400"/>
          </a:xfrm>
          <a:prstGeom prst="rect">
            <a:avLst/>
          </a:prstGeom>
          <a:solidFill>
            <a:srgbClr val="8E3B46"/>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Queue</a:t>
            </a:r>
            <a:endParaRPr lang="en-US" sz="1200" dirty="0">
              <a:latin typeface="IBM Plex Sans" charset="0"/>
              <a:ea typeface="IBM Plex Sans" charset="0"/>
              <a:cs typeface="IBM Plex Sans" charset="0"/>
            </a:endParaRPr>
          </a:p>
        </p:txBody>
      </p:sp>
      <p:sp>
        <p:nvSpPr>
          <p:cNvPr id="57" name="Shape 55"/>
          <p:cNvSpPr/>
          <p:nvPr/>
        </p:nvSpPr>
        <p:spPr>
          <a:xfrm>
            <a:off x="6400800" y="3732535"/>
            <a:ext cx="1249680" cy="0"/>
          </a:xfrm>
          <a:prstGeom prst="line">
            <a:avLst/>
          </a:prstGeom>
          <a:noFill/>
          <a:ln w="12700">
            <a:solidFill>
              <a:srgbClr val="F5F4EF"/>
            </a:solidFill>
            <a:prstDash val="solid"/>
          </a:ln>
        </p:spPr>
      </p:sp>
      <p:sp>
        <p:nvSpPr>
          <p:cNvPr id="58" name="Text 56"/>
          <p:cNvSpPr/>
          <p:nvPr/>
        </p:nvSpPr>
        <p:spPr>
          <a:xfrm>
            <a:off x="6400800" y="4005585"/>
            <a:ext cx="1249680" cy="4064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59" name="Shape 57"/>
          <p:cNvSpPr/>
          <p:nvPr/>
        </p:nvSpPr>
        <p:spPr>
          <a:xfrm>
            <a:off x="6400800" y="4011935"/>
            <a:ext cx="1249680" cy="0"/>
          </a:xfrm>
          <a:prstGeom prst="line">
            <a:avLst/>
          </a:prstGeom>
          <a:noFill/>
          <a:ln w="12700">
            <a:solidFill>
              <a:srgbClr val="F5F4EF"/>
            </a:solidFill>
            <a:prstDash val="solid"/>
          </a:ln>
        </p:spPr>
      </p:sp>
      <p:sp>
        <p:nvSpPr>
          <p:cNvPr id="60" name="Text 58"/>
          <p:cNvSpPr/>
          <p:nvPr/>
        </p:nvSpPr>
        <p:spPr>
          <a:xfrm>
            <a:off x="6400800" y="4411985"/>
            <a:ext cx="1249680" cy="2159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61" name="Shape 59"/>
          <p:cNvSpPr/>
          <p:nvPr/>
        </p:nvSpPr>
        <p:spPr>
          <a:xfrm>
            <a:off x="6400800" y="4418335"/>
            <a:ext cx="1249680" cy="0"/>
          </a:xfrm>
          <a:prstGeom prst="line">
            <a:avLst/>
          </a:prstGeom>
          <a:noFill/>
          <a:ln w="12700">
            <a:solidFill>
              <a:srgbClr val="F5F4EF"/>
            </a:solidFill>
            <a:prstDash val="solid"/>
          </a:ln>
        </p:spPr>
      </p:sp>
      <p:sp>
        <p:nvSpPr>
          <p:cNvPr id="62" name="Text 60"/>
          <p:cNvSpPr/>
          <p:nvPr/>
        </p:nvSpPr>
        <p:spPr>
          <a:xfrm>
            <a:off x="8805545" y="1772927"/>
            <a:ext cx="158750"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E</a:t>
            </a:r>
            <a:endParaRPr lang="en-US" sz="1400" dirty="0">
              <a:latin typeface="IBM Plex Sans" charset="0"/>
              <a:ea typeface="IBM Plex Sans" charset="0"/>
              <a:cs typeface="IBM Plex Sans" charset="0"/>
            </a:endParaRPr>
          </a:p>
        </p:txBody>
      </p:sp>
      <p:sp>
        <p:nvSpPr>
          <p:cNvPr id="63" name="Shape 61"/>
          <p:cNvSpPr/>
          <p:nvPr/>
        </p:nvSpPr>
        <p:spPr>
          <a:xfrm>
            <a:off x="8256270" y="2104392"/>
            <a:ext cx="1257300" cy="2527300"/>
          </a:xfrm>
          <a:prstGeom prst="rect">
            <a:avLst/>
          </a:prstGeom>
          <a:solidFill>
            <a:srgbClr val="FCFBF8"/>
          </a:solidFill>
          <a:ln w="12700">
            <a:solidFill>
              <a:srgbClr val="14222E"/>
            </a:solidFill>
            <a:prstDash val="solid"/>
          </a:ln>
        </p:spPr>
      </p:sp>
      <p:sp>
        <p:nvSpPr>
          <p:cNvPr id="64" name="Text 62"/>
          <p:cNvSpPr/>
          <p:nvPr/>
        </p:nvSpPr>
        <p:spPr>
          <a:xfrm>
            <a:off x="8708898" y="239140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65" name="Text 63"/>
          <p:cNvSpPr/>
          <p:nvPr/>
        </p:nvSpPr>
        <p:spPr>
          <a:xfrm>
            <a:off x="8260080" y="2887985"/>
            <a:ext cx="1249680" cy="4064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66" name="Shape 64"/>
          <p:cNvSpPr/>
          <p:nvPr/>
        </p:nvSpPr>
        <p:spPr>
          <a:xfrm>
            <a:off x="8260080" y="2894335"/>
            <a:ext cx="1249680" cy="0"/>
          </a:xfrm>
          <a:prstGeom prst="line">
            <a:avLst/>
          </a:prstGeom>
          <a:noFill/>
          <a:ln w="12700">
            <a:solidFill>
              <a:srgbClr val="F5F4EF"/>
            </a:solidFill>
            <a:prstDash val="solid"/>
          </a:ln>
        </p:spPr>
      </p:sp>
      <p:sp>
        <p:nvSpPr>
          <p:cNvPr id="67" name="Text 65"/>
          <p:cNvSpPr/>
          <p:nvPr/>
        </p:nvSpPr>
        <p:spPr>
          <a:xfrm>
            <a:off x="8260080" y="3294385"/>
            <a:ext cx="1249680" cy="2159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68" name="Shape 66"/>
          <p:cNvSpPr/>
          <p:nvPr/>
        </p:nvSpPr>
        <p:spPr>
          <a:xfrm>
            <a:off x="8260080" y="3300735"/>
            <a:ext cx="1249680" cy="0"/>
          </a:xfrm>
          <a:prstGeom prst="line">
            <a:avLst/>
          </a:prstGeom>
          <a:noFill/>
          <a:ln w="12700">
            <a:solidFill>
              <a:srgbClr val="F5F4EF"/>
            </a:solidFill>
            <a:prstDash val="solid"/>
          </a:ln>
        </p:spPr>
      </p:sp>
      <p:sp>
        <p:nvSpPr>
          <p:cNvPr id="69" name="Text 67"/>
          <p:cNvSpPr/>
          <p:nvPr/>
        </p:nvSpPr>
        <p:spPr>
          <a:xfrm>
            <a:off x="8260080" y="3510285"/>
            <a:ext cx="1249680" cy="215900"/>
          </a:xfrm>
          <a:prstGeom prst="rect">
            <a:avLst/>
          </a:prstGeom>
          <a:solidFill>
            <a:srgbClr val="6B642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User</a:t>
            </a:r>
            <a:endParaRPr lang="en-US" sz="1200" dirty="0">
              <a:latin typeface="IBM Plex Sans" charset="0"/>
              <a:ea typeface="IBM Plex Sans" charset="0"/>
              <a:cs typeface="IBM Plex Sans" charset="0"/>
            </a:endParaRPr>
          </a:p>
        </p:txBody>
      </p:sp>
      <p:sp>
        <p:nvSpPr>
          <p:cNvPr id="70" name="Shape 68"/>
          <p:cNvSpPr/>
          <p:nvPr/>
        </p:nvSpPr>
        <p:spPr>
          <a:xfrm>
            <a:off x="8260080" y="3516635"/>
            <a:ext cx="1249680" cy="0"/>
          </a:xfrm>
          <a:prstGeom prst="line">
            <a:avLst/>
          </a:prstGeom>
          <a:noFill/>
          <a:ln w="12700">
            <a:solidFill>
              <a:srgbClr val="F5F4EF"/>
            </a:solidFill>
            <a:prstDash val="solid"/>
          </a:ln>
        </p:spPr>
      </p:sp>
      <p:sp>
        <p:nvSpPr>
          <p:cNvPr id="71" name="Text 69"/>
          <p:cNvSpPr/>
          <p:nvPr/>
        </p:nvSpPr>
        <p:spPr>
          <a:xfrm>
            <a:off x="8708898" y="3789685"/>
            <a:ext cx="352044"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72" name="Text 70"/>
          <p:cNvSpPr/>
          <p:nvPr/>
        </p:nvSpPr>
        <p:spPr>
          <a:xfrm>
            <a:off x="8260080" y="4005585"/>
            <a:ext cx="1249680" cy="4064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73" name="Shape 71"/>
          <p:cNvSpPr/>
          <p:nvPr/>
        </p:nvSpPr>
        <p:spPr>
          <a:xfrm>
            <a:off x="8260080" y="4011935"/>
            <a:ext cx="1249680" cy="0"/>
          </a:xfrm>
          <a:prstGeom prst="line">
            <a:avLst/>
          </a:prstGeom>
          <a:noFill/>
          <a:ln w="12700">
            <a:solidFill>
              <a:srgbClr val="F5F4EF"/>
            </a:solidFill>
            <a:prstDash val="solid"/>
          </a:ln>
        </p:spPr>
      </p:sp>
      <p:sp>
        <p:nvSpPr>
          <p:cNvPr id="74" name="Text 72"/>
          <p:cNvSpPr/>
          <p:nvPr/>
        </p:nvSpPr>
        <p:spPr>
          <a:xfrm>
            <a:off x="8260080" y="4411985"/>
            <a:ext cx="1249680" cy="2159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75" name="Shape 73"/>
          <p:cNvSpPr/>
          <p:nvPr/>
        </p:nvSpPr>
        <p:spPr>
          <a:xfrm>
            <a:off x="8260080" y="4418335"/>
            <a:ext cx="1249680" cy="0"/>
          </a:xfrm>
          <a:prstGeom prst="line">
            <a:avLst/>
          </a:prstGeom>
          <a:noFill/>
          <a:ln w="12700">
            <a:solidFill>
              <a:srgbClr val="F5F4EF"/>
            </a:solidFill>
            <a:prstDash val="solid"/>
          </a:ln>
        </p:spPr>
      </p:sp>
      <p:sp>
        <p:nvSpPr>
          <p:cNvPr id="76" name="Text 74"/>
          <p:cNvSpPr/>
          <p:nvPr/>
        </p:nvSpPr>
        <p:spPr>
          <a:xfrm>
            <a:off x="10666730" y="1772927"/>
            <a:ext cx="154861" cy="27432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7766A"/>
                </a:solidFill>
                <a:latin typeface="IBM Plex Sans" pitchFamily="34" charset="0"/>
                <a:ea typeface="IBM Plex Sans" pitchFamily="34" charset="-122"/>
                <a:cs typeface="IBM Plex Sans" pitchFamily="34" charset="-120"/>
              </a:rPr>
              <a:t>F</a:t>
            </a:r>
            <a:endParaRPr lang="en-US" sz="1400" dirty="0">
              <a:latin typeface="IBM Plex Sans" charset="0"/>
              <a:ea typeface="IBM Plex Sans" charset="0"/>
              <a:cs typeface="IBM Plex Sans" charset="0"/>
            </a:endParaRPr>
          </a:p>
        </p:txBody>
      </p:sp>
      <p:sp>
        <p:nvSpPr>
          <p:cNvPr id="77" name="Shape 75"/>
          <p:cNvSpPr/>
          <p:nvPr/>
        </p:nvSpPr>
        <p:spPr>
          <a:xfrm>
            <a:off x="10115550" y="2104392"/>
            <a:ext cx="1257300" cy="2527300"/>
          </a:xfrm>
          <a:prstGeom prst="rect">
            <a:avLst/>
          </a:prstGeom>
          <a:solidFill>
            <a:srgbClr val="FCFBF8"/>
          </a:solidFill>
          <a:ln w="12700">
            <a:solidFill>
              <a:srgbClr val="14222E"/>
            </a:solidFill>
            <a:prstDash val="solid"/>
          </a:ln>
        </p:spPr>
      </p:sp>
      <p:sp>
        <p:nvSpPr>
          <p:cNvPr id="78" name="Text 76"/>
          <p:cNvSpPr/>
          <p:nvPr/>
        </p:nvSpPr>
        <p:spPr>
          <a:xfrm>
            <a:off x="10568178" y="2327908"/>
            <a:ext cx="35204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79" name="Text 77"/>
          <p:cNvSpPr/>
          <p:nvPr/>
        </p:nvSpPr>
        <p:spPr>
          <a:xfrm>
            <a:off x="10119360" y="2760985"/>
            <a:ext cx="1249680" cy="4064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80" name="Shape 78"/>
          <p:cNvSpPr/>
          <p:nvPr/>
        </p:nvSpPr>
        <p:spPr>
          <a:xfrm>
            <a:off x="10119360" y="2767335"/>
            <a:ext cx="1249680" cy="0"/>
          </a:xfrm>
          <a:prstGeom prst="line">
            <a:avLst/>
          </a:prstGeom>
          <a:noFill/>
          <a:ln w="12700">
            <a:solidFill>
              <a:srgbClr val="F5F4EF"/>
            </a:solidFill>
            <a:prstDash val="solid"/>
          </a:ln>
        </p:spPr>
      </p:sp>
      <p:sp>
        <p:nvSpPr>
          <p:cNvPr id="81" name="Text 79"/>
          <p:cNvSpPr/>
          <p:nvPr/>
        </p:nvSpPr>
        <p:spPr>
          <a:xfrm>
            <a:off x="10119360" y="3167385"/>
            <a:ext cx="1249680" cy="215900"/>
          </a:xfrm>
          <a:prstGeom prst="rect">
            <a:avLst/>
          </a:prstGeom>
          <a:solidFill>
            <a:srgbClr val="D0612A"/>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82" name="Shape 80"/>
          <p:cNvSpPr/>
          <p:nvPr/>
        </p:nvSpPr>
        <p:spPr>
          <a:xfrm>
            <a:off x="10119360" y="3173735"/>
            <a:ext cx="1249680" cy="0"/>
          </a:xfrm>
          <a:prstGeom prst="line">
            <a:avLst/>
          </a:prstGeom>
          <a:noFill/>
          <a:ln w="12700">
            <a:solidFill>
              <a:srgbClr val="F5F4EF"/>
            </a:solidFill>
            <a:prstDash val="solid"/>
          </a:ln>
        </p:spPr>
      </p:sp>
      <p:sp>
        <p:nvSpPr>
          <p:cNvPr id="83" name="Text 81"/>
          <p:cNvSpPr/>
          <p:nvPr/>
        </p:nvSpPr>
        <p:spPr>
          <a:xfrm>
            <a:off x="10568178" y="3618235"/>
            <a:ext cx="352044" cy="177800"/>
          </a:xfrm>
          <a:prstGeom prst="rect">
            <a:avLst/>
          </a:prstGeom>
          <a:noFill/>
          <a:ln/>
        </p:spPr>
        <p:txBody>
          <a:bodyPr wrap="square" lIns="0" tIns="0" rIns="0" bIns="0" rtlCol="0" anchor="t">
            <a:normAutofit/>
          </a:bodyPr>
          <a:lstStyle/>
          <a:p>
            <a:pPr algn="ctr" indent="0" marL="0">
              <a:lnSpc>
                <a:spcPts val="1200"/>
              </a:lnSpc>
              <a:buNone/>
            </a:pPr>
            <a:r>
              <a:rPr lang="en-US" sz="1200" dirty="0">
                <a:solidFill>
                  <a:srgbClr val="66717C"/>
                </a:solidFill>
                <a:latin typeface="IBM Plex Sans" pitchFamily="34" charset="0"/>
                <a:ea typeface="IBM Plex Sans" pitchFamily="34" charset="-122"/>
                <a:cs typeface="IBM Plex Sans" pitchFamily="34" charset="-120"/>
              </a:rPr>
              <a:t>livre</a:t>
            </a:r>
            <a:endParaRPr lang="en-US" sz="1200" dirty="0">
              <a:latin typeface="IBM Plex Sans" charset="0"/>
              <a:ea typeface="IBM Plex Sans" charset="0"/>
              <a:cs typeface="IBM Plex Sans" charset="0"/>
            </a:endParaRPr>
          </a:p>
        </p:txBody>
      </p:sp>
      <p:sp>
        <p:nvSpPr>
          <p:cNvPr id="84" name="Text 82"/>
          <p:cNvSpPr/>
          <p:nvPr/>
        </p:nvSpPr>
        <p:spPr>
          <a:xfrm>
            <a:off x="10119360" y="4005585"/>
            <a:ext cx="1249680" cy="4064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Stack</a:t>
            </a:r>
            <a:endParaRPr lang="en-US" sz="1200" dirty="0">
              <a:latin typeface="IBM Plex Sans" charset="0"/>
              <a:ea typeface="IBM Plex Sans" charset="0"/>
              <a:cs typeface="IBM Plex Sans" charset="0"/>
            </a:endParaRPr>
          </a:p>
        </p:txBody>
      </p:sp>
      <p:sp>
        <p:nvSpPr>
          <p:cNvPr id="85" name="Shape 83"/>
          <p:cNvSpPr/>
          <p:nvPr/>
        </p:nvSpPr>
        <p:spPr>
          <a:xfrm>
            <a:off x="10119360" y="4011935"/>
            <a:ext cx="1249680" cy="0"/>
          </a:xfrm>
          <a:prstGeom prst="line">
            <a:avLst/>
          </a:prstGeom>
          <a:noFill/>
          <a:ln w="12700">
            <a:solidFill>
              <a:srgbClr val="F5F4EF"/>
            </a:solidFill>
            <a:prstDash val="solid"/>
          </a:ln>
        </p:spPr>
      </p:sp>
      <p:sp>
        <p:nvSpPr>
          <p:cNvPr id="86" name="Text 84"/>
          <p:cNvSpPr/>
          <p:nvPr/>
        </p:nvSpPr>
        <p:spPr>
          <a:xfrm>
            <a:off x="10119360" y="4411985"/>
            <a:ext cx="1249680" cy="215900"/>
          </a:xfrm>
          <a:prstGeom prst="rect">
            <a:avLst/>
          </a:prstGeom>
          <a:solidFill>
            <a:srgbClr val="2F6FD0"/>
          </a:solidFill>
          <a:ln/>
        </p:spPr>
        <p:txBody>
          <a:bodyPr wrap="square" lIns="0" tIns="10160" rIns="0" bIns="0" rtlCol="0" anchor="ctr">
            <a:normAutofit/>
          </a:bodyPr>
          <a:lstStyle/>
          <a:p>
            <a:pPr algn="ctr" indent="0" marL="0">
              <a:lnSpc>
                <a:spcPts val="1200"/>
              </a:lnSpc>
              <a:buNone/>
            </a:pPr>
            <a:r>
              <a:rPr lang="en-US" sz="1200" b="1" dirty="0">
                <a:solidFill>
                  <a:srgbClr val="F5F4EF"/>
                </a:solidFill>
                <a:latin typeface="IBM Plex Sans" pitchFamily="34" charset="0"/>
                <a:ea typeface="IBM Plex Sans" pitchFamily="34" charset="-122"/>
                <a:cs typeface="IBM Plex Sans" pitchFamily="34" charset="-120"/>
              </a:rPr>
              <a:t>TCB</a:t>
            </a:r>
            <a:endParaRPr lang="en-US" sz="1200" dirty="0">
              <a:latin typeface="IBM Plex Sans" charset="0"/>
              <a:ea typeface="IBM Plex Sans" charset="0"/>
              <a:cs typeface="IBM Plex Sans" charset="0"/>
            </a:endParaRPr>
          </a:p>
        </p:txBody>
      </p:sp>
      <p:sp>
        <p:nvSpPr>
          <p:cNvPr id="87" name="Shape 85"/>
          <p:cNvSpPr/>
          <p:nvPr/>
        </p:nvSpPr>
        <p:spPr>
          <a:xfrm>
            <a:off x="10119360" y="4418335"/>
            <a:ext cx="1249680" cy="0"/>
          </a:xfrm>
          <a:prstGeom prst="line">
            <a:avLst/>
          </a:prstGeom>
          <a:noFill/>
          <a:ln w="12700">
            <a:solidFill>
              <a:srgbClr val="F5F4EF"/>
            </a:solidFill>
            <a:prstDash val="solid"/>
          </a:ln>
        </p:spPr>
      </p:sp>
      <p:sp>
        <p:nvSpPr>
          <p:cNvPr id="88" name="Text 86"/>
          <p:cNvSpPr/>
          <p:nvPr/>
        </p:nvSpPr>
        <p:spPr>
          <a:xfrm>
            <a:off x="812800" y="4815842"/>
            <a:ext cx="362777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766A"/>
                </a:solidFill>
                <a:latin typeface="IBM Plex Sans" pitchFamily="34" charset="0"/>
                <a:ea typeface="IBM Plex Sans" pitchFamily="34" charset="-122"/>
                <a:cs typeface="IBM Plex Sans" pitchFamily="34" charset="-120"/>
              </a:rPr>
              <a:t>A</a:t>
            </a:r>
            <a:r>
              <a:rPr lang="en-US" sz="1200" dirty="0">
                <a:solidFill>
                  <a:srgbClr val="44505C"/>
                </a:solidFill>
                <a:latin typeface="IBM Plex Sans" pitchFamily="34" charset="0"/>
                <a:ea typeface="IBM Plex Sans" pitchFamily="34" charset="-122"/>
                <a:cs typeface="IBM Plex Sans" pitchFamily="34" charset="-120"/>
              </a:rPr>
              <a:t>  Três tasks criadas</a:t>
            </a:r>
            <a:endParaRPr lang="en-US" sz="1200" dirty="0">
              <a:latin typeface="IBM Plex Sans" charset="0"/>
              <a:ea typeface="IBM Plex Sans" charset="0"/>
              <a:cs typeface="IBM Plex Sans" charset="0"/>
            </a:endParaRPr>
          </a:p>
        </p:txBody>
      </p:sp>
      <p:sp>
        <p:nvSpPr>
          <p:cNvPr id="89" name="Text 87"/>
          <p:cNvSpPr/>
          <p:nvPr/>
        </p:nvSpPr>
        <p:spPr>
          <a:xfrm>
            <a:off x="4334907" y="4815842"/>
            <a:ext cx="362777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766A"/>
                </a:solidFill>
                <a:latin typeface="IBM Plex Sans" pitchFamily="34" charset="0"/>
                <a:ea typeface="IBM Plex Sans" pitchFamily="34" charset="-122"/>
                <a:cs typeface="IBM Plex Sans" pitchFamily="34" charset="-120"/>
              </a:rPr>
              <a:t>B</a:t>
            </a:r>
            <a:r>
              <a:rPr lang="en-US" sz="1200" dirty="0">
                <a:solidFill>
                  <a:srgbClr val="44505C"/>
                </a:solidFill>
                <a:latin typeface="IBM Plex Sans" pitchFamily="34" charset="0"/>
                <a:ea typeface="IBM Plex Sans" pitchFamily="34" charset="-122"/>
                <a:cs typeface="IBM Plex Sans" pitchFamily="34" charset="-120"/>
              </a:rPr>
              <a:t>  Task apagada: TCB e stack eram 2 blocos e juntam-se num só livre (no heap_2 ficavam 2)</a:t>
            </a:r>
            <a:endParaRPr lang="en-US" sz="1200" dirty="0">
              <a:latin typeface="IBM Plex Sans" charset="0"/>
              <a:ea typeface="IBM Plex Sans" charset="0"/>
              <a:cs typeface="IBM Plex Sans" charset="0"/>
            </a:endParaRPr>
          </a:p>
        </p:txBody>
      </p:sp>
      <p:sp>
        <p:nvSpPr>
          <p:cNvPr id="90" name="Text 88"/>
          <p:cNvSpPr/>
          <p:nvPr/>
        </p:nvSpPr>
        <p:spPr>
          <a:xfrm>
            <a:off x="7857014" y="4815842"/>
            <a:ext cx="4226529"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766A"/>
                </a:solidFill>
                <a:latin typeface="IBM Plex Sans" pitchFamily="34" charset="0"/>
                <a:ea typeface="IBM Plex Sans" pitchFamily="34" charset="-122"/>
                <a:cs typeface="IBM Plex Sans" pitchFamily="34" charset="-120"/>
              </a:rPr>
              <a:t>C</a:t>
            </a:r>
            <a:r>
              <a:rPr lang="en-US" sz="1200" dirty="0">
                <a:solidFill>
                  <a:srgbClr val="44505C"/>
                </a:solidFill>
                <a:latin typeface="IBM Plex Sans" pitchFamily="34" charset="0"/>
                <a:ea typeface="IBM Plex Sans" pitchFamily="34" charset="-122"/>
                <a:cs typeface="IBM Plex Sans" pitchFamily="34" charset="-120"/>
              </a:rPr>
              <a:t>  xQueueCreate(): first fit usa esse bloco e parte-o</a:t>
            </a:r>
            <a:endParaRPr lang="en-US" sz="1200" dirty="0">
              <a:latin typeface="IBM Plex Sans" charset="0"/>
              <a:ea typeface="IBM Plex Sans" charset="0"/>
              <a:cs typeface="IBM Plex Sans" charset="0"/>
            </a:endParaRPr>
          </a:p>
        </p:txBody>
      </p:sp>
      <p:sp>
        <p:nvSpPr>
          <p:cNvPr id="91" name="Text 89"/>
          <p:cNvSpPr/>
          <p:nvPr/>
        </p:nvSpPr>
        <p:spPr>
          <a:xfrm>
            <a:off x="812800" y="5227327"/>
            <a:ext cx="362777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766A"/>
                </a:solidFill>
                <a:latin typeface="IBM Plex Sans" pitchFamily="34" charset="0"/>
                <a:ea typeface="IBM Plex Sans" pitchFamily="34" charset="-122"/>
                <a:cs typeface="IBM Plex Sans" pitchFamily="34" charset="-120"/>
              </a:rPr>
              <a:t>D</a:t>
            </a:r>
            <a:r>
              <a:rPr lang="en-US" sz="1200" dirty="0">
                <a:solidFill>
                  <a:srgbClr val="44505C"/>
                </a:solidFill>
                <a:latin typeface="IBM Plex Sans" pitchFamily="34" charset="0"/>
                <a:ea typeface="IBM Plex Sans" pitchFamily="34" charset="-122"/>
                <a:cs typeface="IBM Plex Sans" pitchFamily="34" charset="-120"/>
              </a:rPr>
              <a:t>  pvPortMalloc() da aplicação cabe no espaço seguinte</a:t>
            </a:r>
            <a:endParaRPr lang="en-US" sz="1200" dirty="0">
              <a:latin typeface="IBM Plex Sans" charset="0"/>
              <a:ea typeface="IBM Plex Sans" charset="0"/>
              <a:cs typeface="IBM Plex Sans" charset="0"/>
            </a:endParaRPr>
          </a:p>
        </p:txBody>
      </p:sp>
      <p:sp>
        <p:nvSpPr>
          <p:cNvPr id="92" name="Text 90"/>
          <p:cNvSpPr/>
          <p:nvPr/>
        </p:nvSpPr>
        <p:spPr>
          <a:xfrm>
            <a:off x="4334907" y="5227327"/>
            <a:ext cx="362777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766A"/>
                </a:solidFill>
                <a:latin typeface="IBM Plex Sans" pitchFamily="34" charset="0"/>
                <a:ea typeface="IBM Plex Sans" pitchFamily="34" charset="-122"/>
                <a:cs typeface="IBM Plex Sans" pitchFamily="34" charset="-120"/>
              </a:rPr>
              <a:t>E</a:t>
            </a:r>
            <a:r>
              <a:rPr lang="en-US" sz="1200" dirty="0">
                <a:solidFill>
                  <a:srgbClr val="44505C"/>
                </a:solidFill>
                <a:latin typeface="IBM Plex Sans" pitchFamily="34" charset="0"/>
                <a:ea typeface="IBM Plex Sans" pitchFamily="34" charset="-122"/>
                <a:cs typeface="IBM Plex Sans" pitchFamily="34" charset="-120"/>
              </a:rPr>
              <a:t>  Queue apagada: livre dos dois lados do bloco User</a:t>
            </a:r>
            <a:endParaRPr lang="en-US" sz="1200" dirty="0">
              <a:latin typeface="IBM Plex Sans" charset="0"/>
              <a:ea typeface="IBM Plex Sans" charset="0"/>
              <a:cs typeface="IBM Plex Sans" charset="0"/>
            </a:endParaRPr>
          </a:p>
        </p:txBody>
      </p:sp>
      <p:sp>
        <p:nvSpPr>
          <p:cNvPr id="93" name="Text 91"/>
          <p:cNvSpPr/>
          <p:nvPr/>
        </p:nvSpPr>
        <p:spPr>
          <a:xfrm>
            <a:off x="7857014" y="5227327"/>
            <a:ext cx="362777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766A"/>
                </a:solidFill>
                <a:latin typeface="IBM Plex Sans" pitchFamily="34" charset="0"/>
                <a:ea typeface="IBM Plex Sans" pitchFamily="34" charset="-122"/>
                <a:cs typeface="IBM Plex Sans" pitchFamily="34" charset="-120"/>
              </a:rPr>
              <a:t>F</a:t>
            </a:r>
            <a:r>
              <a:rPr lang="en-US" sz="1200" dirty="0">
                <a:solidFill>
                  <a:srgbClr val="44505C"/>
                </a:solidFill>
                <a:latin typeface="IBM Plex Sans" pitchFamily="34" charset="0"/>
                <a:ea typeface="IBM Plex Sans" pitchFamily="34" charset="-122"/>
                <a:cs typeface="IBM Plex Sans" pitchFamily="34" charset="-120"/>
              </a:rPr>
              <a:t>  vPortFree() do User: os três livres juntam-se num só</a:t>
            </a:r>
            <a:endParaRPr lang="en-US" sz="1200" dirty="0">
              <a:latin typeface="IBM Plex Sans" charset="0"/>
              <a:ea typeface="IBM Plex Sans" charset="0"/>
              <a:cs typeface="IBM Plex Sans" charset="0"/>
            </a:endParaRPr>
          </a:p>
        </p:txBody>
      </p:sp>
      <p:sp>
        <p:nvSpPr>
          <p:cNvPr id="94" name="Text 9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95" name="Text 9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23</a:t>
            </a:r>
            <a:endParaRPr lang="en-US" sz="1200" dirty="0">
              <a:latin typeface="IBM Plex Sans" charset="0"/>
              <a:ea typeface="IBM Plex Sans" charset="0"/>
              <a:cs typeface="IBM Plex Sans"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heap_5: um heap feito de várias regiões</a:t>
            </a:r>
            <a:endParaRPr lang="en-US" sz="3200" dirty="0">
              <a:latin typeface="IBM Plex Sans" charset="0"/>
              <a:ea typeface="IBM Plex Sans" charset="0"/>
              <a:cs typeface="IBM Plex Sans" charset="0"/>
            </a:endParaRPr>
          </a:p>
        </p:txBody>
      </p:sp>
      <p:sp>
        <p:nvSpPr>
          <p:cNvPr id="4" name="Text 2"/>
          <p:cNvSpPr/>
          <p:nvPr/>
        </p:nvSpPr>
        <p:spPr>
          <a:xfrm>
            <a:off x="812800" y="1798327"/>
            <a:ext cx="481380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Mesmo algoritmo do heap_4, mas junta </a:t>
            </a:r>
            <a:r>
              <a:rPr lang="en-US" sz="1400" b="1" dirty="0">
                <a:solidFill>
                  <a:srgbClr val="44505C"/>
                </a:solidFill>
                <a:latin typeface="IBM Plex Sans" pitchFamily="34" charset="0"/>
                <a:ea typeface="IBM Plex Sans" pitchFamily="34" charset="-122"/>
                <a:cs typeface="IBM Plex Sans" pitchFamily="34" charset="-120"/>
              </a:rPr>
              <a:t>várias regiões de RAM separadas</a:t>
            </a:r>
            <a:r>
              <a:rPr lang="en-US" sz="1400" dirty="0">
                <a:solidFill>
                  <a:srgbClr val="44505C"/>
                </a:solidFill>
                <a:latin typeface="IBM Plex Sans" pitchFamily="34" charset="0"/>
                <a:ea typeface="IBM Plex Sans" pitchFamily="34" charset="-122"/>
                <a:cs typeface="IBM Plex Sans" pitchFamily="34" charset="-120"/>
              </a:rPr>
              <a:t> num só heap. Útil quando a RAM não aparece como um bloco contíguo no mapa de memória.</a:t>
            </a:r>
            <a:endParaRPr lang="en-US" sz="1400" dirty="0">
              <a:latin typeface="IBM Plex Sans" charset="0"/>
              <a:ea typeface="IBM Plex Sans" charset="0"/>
              <a:cs typeface="IBM Plex Sans" charset="0"/>
            </a:endParaRPr>
          </a:p>
        </p:txBody>
      </p:sp>
      <p:sp>
        <p:nvSpPr>
          <p:cNvPr id="5" name="Text 3"/>
          <p:cNvSpPr/>
          <p:nvPr/>
        </p:nvSpPr>
        <p:spPr>
          <a:xfrm>
            <a:off x="812800" y="2697485"/>
            <a:ext cx="481380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É o único que exige inicialização explícita: nenhum objeto do kernel pode ser criado dinamicamente antes de </a:t>
            </a:r>
            <a:r>
              <a:rPr lang="en-US" sz="1400" b="1" dirty="0">
                <a:solidFill>
                  <a:srgbClr val="14222E"/>
                </a:solidFill>
                <a:latin typeface="IBM Plex Sans" pitchFamily="34" charset="0"/>
                <a:ea typeface="IBM Plex Sans" pitchFamily="34" charset="-122"/>
                <a:cs typeface="IBM Plex Sans" pitchFamily="34" charset="-120"/>
              </a:rPr>
              <a:t>vPortDefineHeapRegions()</a:t>
            </a:r>
            <a:r>
              <a:rPr lang="en-US" sz="1400" dirty="0">
                <a:solidFill>
                  <a:srgbClr val="44505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sp>
        <p:nvSpPr>
          <p:cNvPr id="6" name="Text 4"/>
          <p:cNvSpPr/>
          <p:nvPr/>
        </p:nvSpPr>
        <p:spPr>
          <a:xfrm>
            <a:off x="812800" y="3596642"/>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Regras do array: regiões ordenadas por endereço crescente, terminado com uma entrada </a:t>
            </a:r>
            <a:r>
              <a:rPr lang="en-US" sz="1400" b="1" dirty="0">
                <a:solidFill>
                  <a:srgbClr val="14222E"/>
                </a:solidFill>
                <a:latin typeface="IBM Plex Sans" pitchFamily="34" charset="0"/>
                <a:ea typeface="IBM Plex Sans" pitchFamily="34" charset="-122"/>
                <a:cs typeface="IBM Plex Sans" pitchFamily="34" charset="-120"/>
              </a:rPr>
              <a:t>{ NULL, 0 }</a:t>
            </a:r>
            <a:r>
              <a:rPr lang="en-US" sz="1400" dirty="0">
                <a:solidFill>
                  <a:srgbClr val="44505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sp>
        <p:nvSpPr>
          <p:cNvPr id="7" name="Text 5"/>
          <p:cNvSpPr/>
          <p:nvPr/>
        </p:nvSpPr>
        <p:spPr>
          <a:xfrm>
            <a:off x="812800" y="4246885"/>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RAM1 (64 KB): quem a arruma é o linker</a:t>
            </a:r>
            <a:endParaRPr lang="en-US" sz="1200" dirty="0">
              <a:latin typeface="IBM Plex Sans" charset="0"/>
              <a:ea typeface="IBM Plex Sans" charset="0"/>
              <a:cs typeface="IBM Plex Sans" charset="0"/>
            </a:endParaRPr>
          </a:p>
        </p:txBody>
      </p:sp>
      <p:sp>
        <p:nvSpPr>
          <p:cNvPr id="8" name="Shape 6"/>
          <p:cNvSpPr/>
          <p:nvPr/>
        </p:nvSpPr>
        <p:spPr>
          <a:xfrm>
            <a:off x="819150" y="4542792"/>
            <a:ext cx="4660900" cy="495300"/>
          </a:xfrm>
          <a:prstGeom prst="roundRect">
            <a:avLst>
              <a:gd name="adj" fmla="val 8974"/>
            </a:avLst>
          </a:prstGeom>
          <a:noFill/>
          <a:ln w="12700">
            <a:solidFill>
              <a:srgbClr val="14222E"/>
            </a:solidFill>
            <a:prstDash val="solid"/>
          </a:ln>
        </p:spPr>
      </p:sp>
      <p:sp>
        <p:nvSpPr>
          <p:cNvPr id="9" name="Text 7"/>
          <p:cNvSpPr/>
          <p:nvPr/>
        </p:nvSpPr>
        <p:spPr>
          <a:xfrm>
            <a:off x="822960" y="4546600"/>
            <a:ext cx="1857296" cy="487680"/>
          </a:xfrm>
          <a:custGeom>
            <a:avLst/>
            <a:gdLst/>
            <a:ahLst/>
            <a:cxnLst/>
            <a:rect l="l" t="t" r="r" b="b"/>
            <a:pathLst>
              <a:path w="1857296" h="487680">
                <a:moveTo>
                  <a:pt x="0" y="40640"/>
                </a:moveTo>
                <a:arcTo hR="40640" wR="40640" stAng="10800000" swAng="5400000"/>
                <a:lnTo>
                  <a:pt x="1857296" y="0"/>
                </a:lnTo>
                <a:lnTo>
                  <a:pt x="1857296" y="487680"/>
                </a:lnTo>
                <a:lnTo>
                  <a:pt x="40640" y="487680"/>
                </a:lnTo>
                <a:arcTo hR="40640" wR="40640" stAng="5400000" swAng="5400000"/>
                <a:close/>
              </a:path>
            </a:pathLst>
          </a:custGeom>
          <a:solidFill>
            <a:srgbClr val="A7B0B8"/>
          </a:solidFill>
          <a:ln/>
        </p:spPr>
        <p:txBody>
          <a:bodyPr wrap="square" lIns="380127" tIns="0" rIns="380206" bIns="0" rtlCol="0" anchor="ctr">
            <a:normAutofit/>
          </a:bodyPr>
          <a:lstStyle/>
          <a:p>
            <a:pPr algn="ctr" indent="0" marL="0">
              <a:lnSpc>
                <a:spcPts val="1320"/>
              </a:lnSpc>
              <a:buNone/>
            </a:pPr>
            <a:r>
              <a:rPr lang="en-US" sz="1200" b="1" dirty="0">
                <a:solidFill>
                  <a:srgbClr val="14222E"/>
                </a:solidFill>
                <a:latin typeface="IBM Plex Sans" pitchFamily="34" charset="0"/>
                <a:ea typeface="IBM Plex Sans" pitchFamily="34" charset="-122"/>
                <a:cs typeface="IBM Plex Sans" pitchFamily="34" charset="-120"/>
              </a:rPr>
              <a:t>globais e stack</a:t>
            </a:r>
            <a:endParaRPr lang="en-US" sz="1200" dirty="0">
              <a:latin typeface="IBM Plex Sans" charset="0"/>
              <a:ea typeface="IBM Plex Sans" charset="0"/>
              <a:cs typeface="IBM Plex Sans" charset="0"/>
            </a:endParaRPr>
          </a:p>
          <a:p>
            <a:pPr algn="ctr" indent="0" marL="0">
              <a:lnSpc>
                <a:spcPts val="1320"/>
              </a:lnSpc>
              <a:buNone/>
            </a:pPr>
            <a:r>
              <a:rPr lang="en-US" sz="1200" b="1" dirty="0">
                <a:solidFill>
                  <a:srgbClr val="14222E"/>
                </a:solidFill>
                <a:latin typeface="IBM Plex Sans" pitchFamily="34" charset="0"/>
                <a:ea typeface="IBM Plex Sans" pitchFamily="34" charset="-122"/>
                <a:cs typeface="IBM Plex Sans" pitchFamily="34" charset="-120"/>
              </a:rPr>
              <a:t>(.data, .bss)</a:t>
            </a:r>
            <a:endParaRPr lang="en-US" sz="1200" dirty="0">
              <a:latin typeface="IBM Plex Sans" charset="0"/>
              <a:ea typeface="IBM Plex Sans" charset="0"/>
              <a:cs typeface="IBM Plex Sans" charset="0"/>
            </a:endParaRPr>
          </a:p>
        </p:txBody>
      </p:sp>
      <p:sp>
        <p:nvSpPr>
          <p:cNvPr id="10" name="Text 8"/>
          <p:cNvSpPr/>
          <p:nvPr/>
        </p:nvSpPr>
        <p:spPr>
          <a:xfrm>
            <a:off x="2680256" y="4546600"/>
            <a:ext cx="2182257" cy="487680"/>
          </a:xfrm>
          <a:prstGeom prst="rect">
            <a:avLst/>
          </a:prstGeom>
          <a:solidFill>
            <a:srgbClr val="17766A"/>
          </a:solidFill>
          <a:ln/>
        </p:spPr>
        <p:txBody>
          <a:bodyPr wrap="square" lIns="521970" tIns="0" rIns="522049" bIns="0" rtlCol="0" anchor="ctr">
            <a:normAutofit/>
          </a:bodyPr>
          <a:lstStyle/>
          <a:p>
            <a:pPr algn="ctr" indent="0" marL="0">
              <a:lnSpc>
                <a:spcPts val="1320"/>
              </a:lnSpc>
              <a:buNone/>
            </a:pPr>
            <a:r>
              <a:rPr lang="en-US" sz="1200" b="1" dirty="0">
                <a:solidFill>
                  <a:srgbClr val="F5F4EF"/>
                </a:solidFill>
                <a:latin typeface="IBM Plex Sans" pitchFamily="34" charset="0"/>
                <a:ea typeface="IBM Plex Sans" pitchFamily="34" charset="-122"/>
                <a:cs typeface="IBM Plex Sans" pitchFamily="34" charset="-120"/>
              </a:rPr>
              <a:t>ucHeap · 30 KB</a:t>
            </a:r>
            <a:endParaRPr lang="en-US" sz="1200" dirty="0">
              <a:latin typeface="IBM Plex Sans" charset="0"/>
              <a:ea typeface="IBM Plex Sans" charset="0"/>
              <a:cs typeface="IBM Plex Sans" charset="0"/>
            </a:endParaRPr>
          </a:p>
          <a:p>
            <a:pPr algn="ctr" indent="0" marL="0">
              <a:lnSpc>
                <a:spcPts val="1320"/>
              </a:lnSpc>
              <a:buNone/>
            </a:pPr>
            <a:r>
              <a:rPr lang="en-US" sz="1200" b="1" dirty="0">
                <a:solidFill>
                  <a:srgbClr val="F5F4EF"/>
                </a:solidFill>
                <a:latin typeface="IBM Plex Sans" pitchFamily="34" charset="0"/>
                <a:ea typeface="IBM Plex Sans" pitchFamily="34" charset="-122"/>
                <a:cs typeface="IBM Plex Sans" pitchFamily="34" charset="-120"/>
              </a:rPr>
              <a:t>(região 1)</a:t>
            </a:r>
            <a:endParaRPr lang="en-US" sz="1200" dirty="0">
              <a:latin typeface="IBM Plex Sans" charset="0"/>
              <a:ea typeface="IBM Plex Sans" charset="0"/>
              <a:cs typeface="IBM Plex Sans" charset="0"/>
            </a:endParaRPr>
          </a:p>
        </p:txBody>
      </p:sp>
      <p:sp>
        <p:nvSpPr>
          <p:cNvPr id="11" name="Text 9"/>
          <p:cNvSpPr/>
          <p:nvPr/>
        </p:nvSpPr>
        <p:spPr>
          <a:xfrm>
            <a:off x="4862513" y="4546600"/>
            <a:ext cx="613728" cy="487680"/>
          </a:xfrm>
          <a:custGeom>
            <a:avLst/>
            <a:gdLst/>
            <a:ahLst/>
            <a:cxnLst/>
            <a:rect l="l" t="t" r="r" b="b"/>
            <a:pathLst>
              <a:path w="613728" h="487680">
                <a:moveTo>
                  <a:pt x="573088" y="0"/>
                </a:moveTo>
                <a:arcTo hR="40640" wR="40640" stAng="16200000" swAng="5400000"/>
                <a:lnTo>
                  <a:pt x="613728" y="447040"/>
                </a:lnTo>
                <a:arcTo hR="40640" wR="40640" stAng="0" swAng="5400000"/>
                <a:lnTo>
                  <a:pt x="0" y="487680"/>
                </a:lnTo>
                <a:lnTo>
                  <a:pt x="0" y="0"/>
                </a:lnTo>
                <a:close/>
              </a:path>
            </a:pathLst>
          </a:custGeom>
          <a:solidFill>
            <a:srgbClr val="FCFBF8"/>
          </a:solidFill>
          <a:ln/>
        </p:spPr>
        <p:txBody>
          <a:bodyPr wrap="square" lIns="10160" tIns="0" rIns="0" bIns="0" rtlCol="0" anchor="ctr">
            <a:normAutofit/>
          </a:bodyPr>
          <a:lstStyle/>
          <a:p>
            <a:pPr algn="ctr" indent="0" marL="0">
              <a:lnSpc>
                <a:spcPts val="1320"/>
              </a:lnSpc>
              <a:buNone/>
            </a:pPr>
            <a:r>
              <a:rPr lang="en-US" sz="1200" b="1" dirty="0">
                <a:solidFill>
                  <a:srgbClr val="66717C"/>
                </a:solidFill>
                <a:latin typeface="IBM Plex Sans" pitchFamily="34" charset="0"/>
                <a:ea typeface="IBM Plex Sans" pitchFamily="34" charset="-122"/>
                <a:cs typeface="IBM Plex Sans" pitchFamily="34" charset="-120"/>
              </a:rPr>
              <a:t>sobra</a:t>
            </a:r>
            <a:endParaRPr lang="en-US" sz="1200" dirty="0">
              <a:latin typeface="IBM Plex Sans" charset="0"/>
              <a:ea typeface="IBM Plex Sans" charset="0"/>
              <a:cs typeface="IBM Plex Sans" charset="0"/>
            </a:endParaRPr>
          </a:p>
        </p:txBody>
      </p:sp>
      <p:sp>
        <p:nvSpPr>
          <p:cNvPr id="12" name="Shape 10"/>
          <p:cNvSpPr/>
          <p:nvPr/>
        </p:nvSpPr>
        <p:spPr>
          <a:xfrm>
            <a:off x="4868863" y="4546600"/>
            <a:ext cx="0" cy="487680"/>
          </a:xfrm>
          <a:prstGeom prst="line">
            <a:avLst/>
          </a:prstGeom>
          <a:noFill/>
          <a:ln w="12700">
            <a:solidFill>
              <a:srgbClr val="A7B0B8"/>
            </a:solidFill>
            <a:prstDash val="dash"/>
          </a:ln>
        </p:spPr>
      </p:sp>
      <p:sp>
        <p:nvSpPr>
          <p:cNvPr id="13" name="Text 11"/>
          <p:cNvSpPr/>
          <p:nvPr/>
        </p:nvSpPr>
        <p:spPr>
          <a:xfrm>
            <a:off x="812800" y="5120642"/>
            <a:ext cx="4813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Truque: o </a:t>
            </a:r>
            <a:r>
              <a:rPr lang="en-US" sz="1200" b="1" dirty="0">
                <a:solidFill>
                  <a:srgbClr val="14222E"/>
                </a:solidFill>
                <a:latin typeface="IBM Plex Sans" pitchFamily="34" charset="0"/>
                <a:ea typeface="IBM Plex Sans" pitchFamily="34" charset="-122"/>
                <a:cs typeface="IBM Plex Sans" pitchFamily="34" charset="-120"/>
              </a:rPr>
              <a:t>ucHeap</a:t>
            </a:r>
            <a:r>
              <a:rPr lang="en-US" sz="1200" dirty="0">
                <a:solidFill>
                  <a:srgbClr val="14222E"/>
                </a:solidFill>
                <a:latin typeface="IBM Plex Sans" pitchFamily="34" charset="0"/>
                <a:ea typeface="IBM Plex Sans" pitchFamily="34" charset="-122"/>
                <a:cs typeface="IBM Plex Sans" pitchFamily="34" charset="-120"/>
              </a:rPr>
              <a:t> é uma variável global. O linker escolhe o endereço, não há sobreposição e, se não couber, o link falha.</a:t>
            </a:r>
            <a:endParaRPr lang="en-US" sz="1200" dirty="0">
              <a:latin typeface="IBM Plex Sans" charset="0"/>
              <a:ea typeface="IBM Plex Sans" charset="0"/>
              <a:cs typeface="IBM Plex Sans" charset="0"/>
            </a:endParaRPr>
          </a:p>
        </p:txBody>
      </p:sp>
      <p:sp>
        <p:nvSpPr>
          <p:cNvPr id="14" name="Text 12"/>
          <p:cNvSpPr/>
          <p:nvPr/>
        </p:nvSpPr>
        <p:spPr>
          <a:xfrm>
            <a:off x="5791200" y="1798327"/>
            <a:ext cx="5588000" cy="3291840"/>
          </a:xfrm>
          <a:prstGeom prst="roundRect">
            <a:avLst>
              <a:gd name="adj" fmla="val 2315"/>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RAM2_START_ADDRESS ( ( uint8_t * ) 0x00020000 )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RAM2_SIZE ( 32 * 1024 )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RAM3_START_ADDRESS ( ( uint8_t * ) 0x00030000 )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RAM3_SIZE ( 32 * 1024 )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RAM1_HEAP_SIZE ( 30 * 1024 )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uint8_t ucHeap[ RAM1_HEAP_SIZE ]; /* na RAM1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const HeapRegion_t xHeapRegions[]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ucHeap, RAM1_HEAP_SIZE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RAM2_START_ADDRESS, RAM2_SIZE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RAM3_START_ADDRESS, RAM3_SIZE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NULL,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vPortDefineHeapRegions( xHeapRegions );</a:t>
            </a:r>
            <a:endParaRPr lang="en-US" sz="1200" dirty="0">
              <a:latin typeface="JetBrains Mono" charset="0"/>
              <a:ea typeface="JetBrains Mono" charset="0"/>
              <a:cs typeface="JetBrains Mono" charset="0"/>
            </a:endParaRPr>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24</a:t>
            </a:r>
            <a:endParaRPr lang="en-US" sz="1200" dirty="0">
              <a:latin typeface="IBM Plex Sans" charset="0"/>
              <a:ea typeface="IBM Plex Sans" charset="0"/>
              <a:cs typeface="IBM Plex Sans"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Medir e vigiar o heap</a:t>
            </a:r>
            <a:endParaRPr lang="en-US" sz="3200" dirty="0">
              <a:latin typeface="IBM Plex Sans" charset="0"/>
              <a:ea typeface="IBM Plex Sans" charset="0"/>
              <a:cs typeface="IBM Plex Sans" charset="0"/>
            </a:endParaRPr>
          </a:p>
        </p:txBody>
      </p:sp>
      <p:sp>
        <p:nvSpPr>
          <p:cNvPr id="4" name="Shape 2"/>
          <p:cNvSpPr/>
          <p:nvPr/>
        </p:nvSpPr>
        <p:spPr>
          <a:xfrm>
            <a:off x="812800" y="1803407"/>
            <a:ext cx="10566400" cy="0"/>
          </a:xfrm>
          <a:prstGeom prst="line">
            <a:avLst/>
          </a:prstGeom>
          <a:noFill/>
          <a:ln w="10160">
            <a:solidFill>
              <a:srgbClr val="141413">
                <a:alpha val="22000"/>
              </a:srgbClr>
            </a:solidFill>
            <a:prstDash val="solid"/>
          </a:ln>
        </p:spPr>
      </p:sp>
      <p:sp>
        <p:nvSpPr>
          <p:cNvPr id="5" name="Shape 3"/>
          <p:cNvSpPr/>
          <p:nvPr/>
        </p:nvSpPr>
        <p:spPr>
          <a:xfrm>
            <a:off x="817880" y="1798327"/>
            <a:ext cx="0" cy="275844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71987"/>
          <a:ext cx="10353040" cy="2621280"/>
        </p:xfrm>
        <a:graphic>
          <a:graphicData uri="http://schemas.openxmlformats.org/drawingml/2006/table">
            <a:tbl>
              <a:tblPr/>
              <a:tblGrid>
                <a:gridCol w="3520034"/>
                <a:gridCol w="4969459"/>
                <a:gridCol w="1863547"/>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Função / macro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O que dá</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Disponível em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xPortGetFreeHeapSize()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Bytes livres neste momento. Não diz nada sobre fragmentação.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Todos exceto heap_3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xPortGetMinimumEverFreeHeapSize()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Mínimo de bytes livres desde o arranque: quão perto esteve de ficar sem heap. Ajuda a reduzir configTOTAL_HEAP_SIZE.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heap_4, heap_5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vPortGetHeapStats()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Preenche um HeapStats_t: total livre, maior e menor bloco livre, nº de blocos, mínimo histórico, nº de alocações e libertações.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heap_4, heap_5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traceMALLOC / traceFREE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Macros de trace para recolher estatísticas de heap por task.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Aplicação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vApplicationMallocFailedHook()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Chamada quando pvPortMalloc() devolve NULL (configUSE_MALLOC_FAILED_HOOK = 1). O objeto não é criado.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Aplicação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4759958"/>
            <a:ext cx="1088339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Exemplo: se o mínimo histórico for 2000 bytes depois de correr o código com mais uso de heap, configTOTAL_HEAP_SIZE pode ser reduzido em até 2000 bytes.</a:t>
            </a:r>
            <a:endParaRPr lang="en-US" sz="1300" dirty="0">
              <a:latin typeface="IBM Plex Sans" charset="0"/>
              <a:ea typeface="IBM Plex Sans" charset="0"/>
              <a:cs typeface="IBM Plex Sans" charset="0"/>
            </a:endParaRPr>
          </a:p>
        </p:txBody>
      </p:sp>
      <p:sp>
        <p:nvSpPr>
          <p:cNvPr id="8"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a:t>
            </a:r>
            <a:endParaRPr lang="en-US" sz="1200" dirty="0">
              <a:latin typeface="IBM Plex Sans" charset="0"/>
              <a:ea typeface="IBM Plex Sans" charset="0"/>
              <a:cs typeface="IBM Plex Sans" charset="0"/>
            </a:endParaRPr>
          </a:p>
        </p:txBody>
      </p:sp>
      <p:sp>
        <p:nvSpPr>
          <p:cNvPr id="9" name="Text 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25</a:t>
            </a:r>
            <a:endParaRPr lang="en-US" sz="1200" dirty="0">
              <a:latin typeface="IBM Plex Sans" charset="0"/>
              <a:ea typeface="IBM Plex Sans" charset="0"/>
              <a:cs typeface="IBM Plex Sans"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DO HEAP</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Alocação estática</a:t>
            </a:r>
            <a:endParaRPr lang="en-US" sz="3200" dirty="0">
              <a:latin typeface="IBM Plex Sans" charset="0"/>
              <a:ea typeface="IBM Plex Sans" charset="0"/>
              <a:cs typeface="IBM Plex Sans" charset="0"/>
            </a:endParaRPr>
          </a:p>
        </p:txBody>
      </p:sp>
      <p:sp>
        <p:nvSpPr>
          <p:cNvPr id="4" name="Text 2"/>
          <p:cNvSpPr/>
          <p:nvPr/>
        </p:nvSpPr>
        <p:spPr>
          <a:xfrm>
            <a:off x="812800" y="1823727"/>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Com </a:t>
            </a:r>
            <a:r>
              <a:rPr lang="en-US" sz="1400" b="1" dirty="0">
                <a:solidFill>
                  <a:srgbClr val="14222E"/>
                </a:solidFill>
                <a:latin typeface="IBM Plex Sans" pitchFamily="34" charset="0"/>
                <a:ea typeface="IBM Plex Sans" pitchFamily="34" charset="-122"/>
                <a:cs typeface="IBM Plex Sans" pitchFamily="34" charset="-120"/>
              </a:rPr>
              <a:t>configSUPPORT_STATIC_ALLOCATION = 1</a:t>
            </a:r>
            <a:r>
              <a:rPr lang="en-US" sz="1400" dirty="0">
                <a:solidFill>
                  <a:srgbClr val="44505C"/>
                </a:solidFill>
                <a:latin typeface="IBM Plex Sans" pitchFamily="34" charset="0"/>
                <a:ea typeface="IBM Plex Sans" pitchFamily="34" charset="-122"/>
                <a:cs typeface="IBM Plex Sans" pitchFamily="34" charset="-120"/>
              </a:rPr>
              <a:t>, o programador cria explicitamente cada bloco de memória:</a:t>
            </a:r>
            <a:endParaRPr lang="en-US" sz="1400" dirty="0">
              <a:latin typeface="IBM Plex Sans" charset="0"/>
              <a:ea typeface="IBM Plex Sans" charset="0"/>
              <a:cs typeface="IBM Plex Sans" charset="0"/>
            </a:endParaRPr>
          </a:p>
        </p:txBody>
      </p:sp>
      <p:sp>
        <p:nvSpPr>
          <p:cNvPr id="5" name="Text 3"/>
          <p:cNvSpPr/>
          <p:nvPr/>
        </p:nvSpPr>
        <p:spPr>
          <a:xfrm>
            <a:off x="812800" y="2473958"/>
            <a:ext cx="2286000" cy="896620"/>
          </a:xfrm>
          <a:prstGeom prst="roundRect">
            <a:avLst>
              <a:gd name="adj" fmla="val 8499"/>
            </a:avLst>
          </a:prstGeom>
          <a:solidFill>
            <a:srgbClr val="E3EFEC"/>
          </a:solidFill>
          <a:ln/>
        </p:spPr>
        <p:txBody>
          <a:bodyPr wrap="square" lIns="104682" tIns="79282" rIns="43722" bIns="53882" rtlCol="0" anchor="t">
            <a:normAutofit/>
          </a:bodyPr>
          <a:lstStyle/>
          <a:p>
            <a:pPr algn="l" indent="0" marL="0">
              <a:lnSpc>
                <a:spcPts val="1820"/>
              </a:lnSpc>
              <a:buNone/>
            </a:pPr>
            <a:r>
              <a:rPr lang="en-US" sz="1300" b="1" dirty="0">
                <a:solidFill>
                  <a:srgbClr val="17766A"/>
                </a:solidFill>
                <a:latin typeface="IBM Plex Sans" pitchFamily="34" charset="0"/>
                <a:ea typeface="IBM Plex Sans" pitchFamily="34" charset="-122"/>
                <a:cs typeface="IBM Plex Sans" pitchFamily="34" charset="-120"/>
              </a:rPr>
              <a:t>Toda a memória conhecida em compile time</a:t>
            </a:r>
            <a:endParaRPr lang="en-US" sz="1300" dirty="0">
              <a:latin typeface="IBM Plex Sans" charset="0"/>
              <a:ea typeface="IBM Plex Sans" charset="0"/>
              <a:cs typeface="IBM Plex Sans" charset="0"/>
            </a:endParaRPr>
          </a:p>
        </p:txBody>
      </p:sp>
      <p:sp>
        <p:nvSpPr>
          <p:cNvPr id="6" name="Text 4"/>
          <p:cNvSpPr/>
          <p:nvPr/>
        </p:nvSpPr>
        <p:spPr>
          <a:xfrm>
            <a:off x="3200400" y="2473958"/>
            <a:ext cx="2286000" cy="896620"/>
          </a:xfrm>
          <a:prstGeom prst="roundRect">
            <a:avLst>
              <a:gd name="adj" fmla="val 8499"/>
            </a:avLst>
          </a:prstGeom>
          <a:solidFill>
            <a:srgbClr val="E3EFEC"/>
          </a:solidFill>
          <a:ln/>
        </p:spPr>
        <p:txBody>
          <a:bodyPr wrap="square" lIns="104682" tIns="79282" rIns="43722" bIns="53882" rtlCol="0" anchor="t">
            <a:normAutofit/>
          </a:bodyPr>
          <a:lstStyle/>
          <a:p>
            <a:pPr algn="l" indent="0" marL="0">
              <a:lnSpc>
                <a:spcPts val="1820"/>
              </a:lnSpc>
              <a:buNone/>
            </a:pPr>
            <a:r>
              <a:rPr lang="en-US" sz="1300" b="1" dirty="0">
                <a:solidFill>
                  <a:srgbClr val="17766A"/>
                </a:solidFill>
                <a:latin typeface="IBM Plex Sans" pitchFamily="34" charset="0"/>
                <a:ea typeface="IBM Plex Sans" pitchFamily="34" charset="-122"/>
                <a:cs typeface="IBM Plex Sans" pitchFamily="34" charset="-120"/>
              </a:rPr>
              <a:t>Toda a memória determinística</a:t>
            </a:r>
            <a:endParaRPr lang="en-US" sz="1300" dirty="0">
              <a:latin typeface="IBM Plex Sans" charset="0"/>
              <a:ea typeface="IBM Plex Sans" charset="0"/>
              <a:cs typeface="IBM Plex Sans" charset="0"/>
            </a:endParaRPr>
          </a:p>
        </p:txBody>
      </p:sp>
      <p:sp>
        <p:nvSpPr>
          <p:cNvPr id="7" name="Text 5"/>
          <p:cNvSpPr/>
          <p:nvPr/>
        </p:nvSpPr>
        <p:spPr>
          <a:xfrm>
            <a:off x="812800" y="3522985"/>
            <a:ext cx="4813808"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Ficam disponíveis as versões </a:t>
            </a:r>
            <a:r>
              <a:rPr lang="en-US" sz="1300" b="1" dirty="0">
                <a:solidFill>
                  <a:srgbClr val="14222E"/>
                </a:solidFill>
                <a:latin typeface="IBM Plex Sans" pitchFamily="34" charset="0"/>
                <a:ea typeface="IBM Plex Sans" pitchFamily="34" charset="-122"/>
                <a:cs typeface="IBM Plex Sans" pitchFamily="34" charset="-120"/>
              </a:rPr>
              <a:t>…Static()</a:t>
            </a:r>
            <a:r>
              <a:rPr lang="en-US" sz="1300" dirty="0">
                <a:solidFill>
                  <a:srgbClr val="44505C"/>
                </a:solidFill>
                <a:latin typeface="IBM Plex Sans" pitchFamily="34" charset="0"/>
                <a:ea typeface="IBM Plex Sans" pitchFamily="34" charset="-122"/>
                <a:cs typeface="IBM Plex Sans" pitchFamily="34" charset="-120"/>
              </a:rPr>
              <a:t>: xTaskCreateStatic, xQueueGenericCreateStatic, xQueueCreateMutexStatic, xTimerCreateStatic, xEventGroupCreateStatic, xStreamBufferGenericCreateStatic…</a:t>
            </a:r>
            <a:endParaRPr lang="en-US" sz="1300" dirty="0">
              <a:latin typeface="IBM Plex Sans" charset="0"/>
              <a:ea typeface="IBM Plex Sans" charset="0"/>
              <a:cs typeface="IBM Plex Sans" charset="0"/>
            </a:endParaRPr>
          </a:p>
        </p:txBody>
      </p:sp>
      <p:sp>
        <p:nvSpPr>
          <p:cNvPr id="8" name="Text 6"/>
          <p:cNvSpPr/>
          <p:nvPr/>
        </p:nvSpPr>
        <p:spPr>
          <a:xfrm>
            <a:off x="812800" y="4599942"/>
            <a:ext cx="481380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Custo: a aplicação fornece a memória da idle task (e da timer task, se configUSE_TIMERS = 1), e os buffers têm de ter scope adequado: </a:t>
            </a:r>
            <a:r>
              <a:rPr lang="en-US" sz="1300" b="1" dirty="0">
                <a:solidFill>
                  <a:srgbClr val="14222E"/>
                </a:solidFill>
                <a:latin typeface="IBM Plex Sans" pitchFamily="34" charset="0"/>
                <a:ea typeface="IBM Plex Sans" pitchFamily="34" charset="-122"/>
                <a:cs typeface="IBM Plex Sans" pitchFamily="34" charset="-120"/>
              </a:rPr>
              <a:t>static</a:t>
            </a:r>
            <a:r>
              <a:rPr lang="en-US" sz="1300" dirty="0">
                <a:solidFill>
                  <a:srgbClr val="44505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sp>
        <p:nvSpPr>
          <p:cNvPr id="9" name="Text 7"/>
          <p:cNvSpPr/>
          <p:nvPr/>
        </p:nvSpPr>
        <p:spPr>
          <a:xfrm>
            <a:off x="5791200" y="1823727"/>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Implementação típica (Listing 3.15)</a:t>
            </a:r>
            <a:endParaRPr lang="en-US" sz="1200" dirty="0">
              <a:latin typeface="IBM Plex Sans" charset="0"/>
              <a:ea typeface="IBM Plex Sans" charset="0"/>
              <a:cs typeface="IBM Plex Sans" charset="0"/>
            </a:endParaRPr>
          </a:p>
        </p:txBody>
      </p:sp>
      <p:sp>
        <p:nvSpPr>
          <p:cNvPr id="10" name="Text 8"/>
          <p:cNvSpPr/>
          <p:nvPr/>
        </p:nvSpPr>
        <p:spPr>
          <a:xfrm>
            <a:off x="5791200" y="2138685"/>
            <a:ext cx="5588000" cy="2865120"/>
          </a:xfrm>
          <a:prstGeom prst="roundRect">
            <a:avLst>
              <a:gd name="adj" fmla="val 2660"/>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vApplicationGetIdleTaskMemory(</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StaticTask_t **ppxIdleTaskTCBBuffer,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StackType_t **ppxIdleTaskStackBuffer,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uint32_t *pulIdleTaskStackSize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 StaticTask_t xIdleTaskTCB;</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 StackType_t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uxIdleTaskStack[ configMINIMAL_STACK_SIZE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*ppxIdleTaskTCBBuffer = &amp;xIdleTaskTCB;</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*ppxIdleTaskStackBuffer = uxIdleTaskStack;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*pulIdleTaskStackSize = configMINIMAL_STACK_SIZE;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1" name="Text 9"/>
          <p:cNvSpPr/>
          <p:nvPr/>
        </p:nvSpPr>
        <p:spPr>
          <a:xfrm>
            <a:off x="5791200" y="5105400"/>
            <a:ext cx="5588000" cy="604520"/>
          </a:xfrm>
          <a:custGeom>
            <a:avLst/>
            <a:gdLst/>
            <a:ahLst/>
            <a:cxnLst/>
            <a:rect l="l" t="t" r="r" b="b"/>
            <a:pathLst>
              <a:path w="5588000" h="604520">
                <a:moveTo>
                  <a:pt x="0" y="0"/>
                </a:moveTo>
                <a:lnTo>
                  <a:pt x="5511800" y="0"/>
                </a:lnTo>
                <a:arcTo hR="76200" wR="76200" stAng="16200000" swAng="5400000"/>
                <a:lnTo>
                  <a:pt x="5588000" y="528320"/>
                </a:lnTo>
                <a:arcTo hR="76200" wR="76200" stAng="0" swAng="5400000"/>
                <a:lnTo>
                  <a:pt x="0" y="604520"/>
                </a:lnTo>
                <a:lnTo>
                  <a:pt x="0" y="0"/>
                </a:lnTo>
                <a:close/>
              </a:path>
            </a:pathLst>
          </a:custGeom>
          <a:solidFill>
            <a:srgbClr val="E3EFEC"/>
          </a:solidFill>
          <a:ln/>
        </p:spPr>
        <p:txBody>
          <a:bodyPr wrap="square" lIns="175260" tIns="88900" rIns="0" bIns="6350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Na Pico 2:</a:t>
            </a:r>
            <a:r>
              <a:rPr lang="en-US" sz="1200" dirty="0">
                <a:solidFill>
                  <a:srgbClr val="14222E"/>
                </a:solidFill>
                <a:latin typeface="IBM Plex Sans" pitchFamily="34" charset="0"/>
                <a:ea typeface="IBM Plex Sans" pitchFamily="34" charset="-122"/>
                <a:cs typeface="IBM Plex Sans" pitchFamily="34" charset="-120"/>
              </a:rPr>
              <a:t> com o alvo CMake </a:t>
            </a:r>
            <a:r>
              <a:rPr lang="en-US" sz="1200" b="1" dirty="0">
                <a:solidFill>
                  <a:srgbClr val="14222E"/>
                </a:solidFill>
                <a:latin typeface="IBM Plex Sans" pitchFamily="34" charset="0"/>
                <a:ea typeface="IBM Plex Sans" pitchFamily="34" charset="-122"/>
                <a:cs typeface="IBM Plex Sans" pitchFamily="34" charset="-120"/>
              </a:rPr>
              <a:t>FreeRTOS-Kernel-Static</a:t>
            </a:r>
            <a:r>
              <a:rPr lang="en-US" sz="1200" dirty="0">
                <a:solidFill>
                  <a:srgbClr val="14222E"/>
                </a:solidFill>
                <a:latin typeface="IBM Plex Sans" pitchFamily="34" charset="0"/>
                <a:ea typeface="IBM Plex Sans" pitchFamily="34" charset="-122"/>
                <a:cs typeface="IBM Plex Sans" pitchFamily="34" charset="-120"/>
              </a:rPr>
              <a:t>, o kernel já fornece esta memória (configKERNEL_PROVIDED_STATIC_MEMORY = 1).</a:t>
            </a:r>
            <a:endParaRPr lang="en-US" sz="1200" dirty="0">
              <a:latin typeface="IBM Plex Sans" charset="0"/>
              <a:ea typeface="IBM Plex Sans" charset="0"/>
              <a:cs typeface="IBM Plex Sans" charset="0"/>
            </a:endParaRPr>
          </a:p>
        </p:txBody>
      </p:sp>
      <p:sp>
        <p:nvSpPr>
          <p:cNvPr id="12" name="Shape 10"/>
          <p:cNvSpPr/>
          <p:nvPr/>
        </p:nvSpPr>
        <p:spPr>
          <a:xfrm>
            <a:off x="5791200" y="5105400"/>
            <a:ext cx="5588000" cy="604520"/>
          </a:xfrm>
          <a:custGeom>
            <a:avLst/>
            <a:gdLst/>
            <a:ahLst/>
            <a:cxnLst/>
            <a:rect l="l" t="t" r="r" b="b"/>
            <a:pathLst>
              <a:path w="5588000" h="604520">
                <a:moveTo>
                  <a:pt x="38100" y="604520"/>
                </a:moveTo>
                <a:lnTo>
                  <a:pt x="0" y="604520"/>
                </a:lnTo>
                <a:lnTo>
                  <a:pt x="0" y="0"/>
                </a:lnTo>
                <a:lnTo>
                  <a:pt x="38100" y="0"/>
                </a:lnTo>
                <a:lnTo>
                  <a:pt x="38100" y="604520"/>
                </a:lnTo>
                <a:close/>
              </a:path>
            </a:pathLst>
          </a:custGeom>
          <a:solidFill>
            <a:srgbClr val="17766A"/>
          </a:solidFill>
          <a:ln/>
        </p:spPr>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3; port RP2350</a:t>
            </a:r>
            <a:endParaRPr lang="en-US" sz="1200" dirty="0">
              <a:latin typeface="IBM Plex Sans" charset="0"/>
              <a:ea typeface="IBM Plex Sans" charset="0"/>
              <a:cs typeface="IBM Plex Sans" charset="0"/>
            </a:endParaRPr>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26</a:t>
            </a:r>
            <a:endParaRPr lang="en-US" sz="1200" dirty="0">
              <a:latin typeface="IBM Plex Sans" charset="0"/>
              <a:ea typeface="IBM Plex Sans" charset="0"/>
              <a:cs typeface="IBM Plex Sans"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2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58"/>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A RAM das tasks e dos objetos do kernel vem do heap do FreeRTOS ou de memória estática; para a maioria dos casos, heap_4.</a:t>
            </a:r>
            <a:endParaRPr lang="en-US" sz="3200" dirty="0">
              <a:latin typeface="IBM Plex Sans" charset="0"/>
              <a:ea typeface="IBM Plex Sans" charset="0"/>
              <a:cs typeface="IBM Plex Sans" charset="0"/>
            </a:endParaRPr>
          </a:p>
        </p:txBody>
      </p:sp>
      <p:sp>
        <p:nvSpPr>
          <p:cNvPr id="4" name="Text 2"/>
          <p:cNvSpPr/>
          <p:nvPr/>
        </p:nvSpPr>
        <p:spPr>
          <a:xfrm>
            <a:off x="819150" y="2942592"/>
            <a:ext cx="236529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pvPortMalloc / vPortFree</a:t>
            </a:r>
            <a:endParaRPr lang="en-US" sz="1400" dirty="0">
              <a:latin typeface="IBM Plex Sans" charset="0"/>
              <a:ea typeface="IBM Plex Sans" charset="0"/>
              <a:cs typeface="IBM Plex Sans" charset="0"/>
            </a:endParaRPr>
          </a:p>
        </p:txBody>
      </p:sp>
      <p:sp>
        <p:nvSpPr>
          <p:cNvPr id="5" name="Text 3"/>
          <p:cNvSpPr/>
          <p:nvPr/>
        </p:nvSpPr>
        <p:spPr>
          <a:xfrm>
            <a:off x="3298746" y="2942592"/>
            <a:ext cx="176387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heap_1 … heap_5</a:t>
            </a:r>
            <a:endParaRPr lang="en-US" sz="1400" dirty="0">
              <a:latin typeface="IBM Plex Sans" charset="0"/>
              <a:ea typeface="IBM Plex Sans" charset="0"/>
              <a:cs typeface="IBM Plex Sans" charset="0"/>
            </a:endParaRPr>
          </a:p>
        </p:txBody>
      </p:sp>
      <p:sp>
        <p:nvSpPr>
          <p:cNvPr id="6" name="Text 4"/>
          <p:cNvSpPr/>
          <p:nvPr/>
        </p:nvSpPr>
        <p:spPr>
          <a:xfrm>
            <a:off x="5176917" y="2942592"/>
            <a:ext cx="237085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configTOTAL_HEAP_SIZE</a:t>
            </a:r>
            <a:endParaRPr lang="en-US" sz="1400" dirty="0">
              <a:latin typeface="IBM Plex Sans" charset="0"/>
              <a:ea typeface="IBM Plex Sans" charset="0"/>
              <a:cs typeface="IBM Plex Sans" charset="0"/>
            </a:endParaRPr>
          </a:p>
        </p:txBody>
      </p:sp>
      <p:sp>
        <p:nvSpPr>
          <p:cNvPr id="7" name="Text 5"/>
          <p:cNvSpPr/>
          <p:nvPr/>
        </p:nvSpPr>
        <p:spPr>
          <a:xfrm>
            <a:off x="7662069" y="2942592"/>
            <a:ext cx="149264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Fragmentação</a:t>
            </a:r>
            <a:endParaRPr lang="en-US" sz="1400" dirty="0">
              <a:latin typeface="IBM Plex Sans" charset="0"/>
              <a:ea typeface="IBM Plex Sans" charset="0"/>
              <a:cs typeface="IBM Plex Sans" charset="0"/>
            </a:endParaRPr>
          </a:p>
        </p:txBody>
      </p:sp>
      <p:sp>
        <p:nvSpPr>
          <p:cNvPr id="8" name="Text 6"/>
          <p:cNvSpPr/>
          <p:nvPr/>
        </p:nvSpPr>
        <p:spPr>
          <a:xfrm>
            <a:off x="819150" y="3440435"/>
            <a:ext cx="2191385"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xPortGetFreeHeapSize</a:t>
            </a:r>
            <a:endParaRPr lang="en-US" sz="1400" dirty="0">
              <a:latin typeface="IBM Plex Sans" charset="0"/>
              <a:ea typeface="IBM Plex Sans" charset="0"/>
              <a:cs typeface="IBM Plex Sans" charset="0"/>
            </a:endParaRPr>
          </a:p>
        </p:txBody>
      </p:sp>
      <p:sp>
        <p:nvSpPr>
          <p:cNvPr id="9" name="Text 7"/>
          <p:cNvSpPr/>
          <p:nvPr/>
        </p:nvSpPr>
        <p:spPr>
          <a:xfrm>
            <a:off x="3124835" y="3440435"/>
            <a:ext cx="180895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Malloc failed hook</a:t>
            </a:r>
            <a:endParaRPr lang="en-US" sz="1400" dirty="0">
              <a:latin typeface="IBM Plex Sans" charset="0"/>
              <a:ea typeface="IBM Plex Sans" charset="0"/>
              <a:cs typeface="IBM Plex Sans" charset="0"/>
            </a:endParaRPr>
          </a:p>
        </p:txBody>
      </p:sp>
      <p:sp>
        <p:nvSpPr>
          <p:cNvPr id="10" name="Text 8"/>
          <p:cNvSpPr/>
          <p:nvPr/>
        </p:nvSpPr>
        <p:spPr>
          <a:xfrm>
            <a:off x="5048091" y="3440435"/>
            <a:ext cx="205200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Estática vs. dinâmica</a:t>
            </a:r>
            <a:endParaRPr lang="en-US" sz="1400" dirty="0">
              <a:latin typeface="IBM Plex Sans" charset="0"/>
              <a:ea typeface="IBM Plex Sans" charset="0"/>
              <a:cs typeface="IBM Plex Sans" charset="0"/>
            </a:endParaRPr>
          </a:p>
        </p:txBody>
      </p:sp>
      <p:sp>
        <p:nvSpPr>
          <p:cNvPr id="11" name="Text 9"/>
          <p:cNvSpPr/>
          <p:nvPr/>
        </p:nvSpPr>
        <p:spPr>
          <a:xfrm>
            <a:off x="812800" y="5760727"/>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no Módulo 3: gestão de tasks.</a:t>
            </a:r>
            <a:endParaRPr lang="en-US" sz="1600" dirty="0">
              <a:latin typeface="IBM Plex Sans" charset="0"/>
              <a:ea typeface="IBM Plex Sans" charset="0"/>
              <a:cs typeface="IBM Plex Sans"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3</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27"/>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Gestão de tasks</a:t>
            </a:r>
            <a:endParaRPr lang="en-US" sz="6000" dirty="0">
              <a:latin typeface="IBM Plex Sans" charset="0"/>
              <a:ea typeface="IBM Plex Sans" charset="0"/>
              <a:cs typeface="IBM Plex Sans" charset="0"/>
            </a:endParaRPr>
          </a:p>
        </p:txBody>
      </p:sp>
      <p:sp>
        <p:nvSpPr>
          <p:cNvPr id="4" name="Text 2"/>
          <p:cNvSpPr/>
          <p:nvPr/>
        </p:nvSpPr>
        <p:spPr>
          <a:xfrm>
            <a:off x="812800" y="2128527"/>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Criar tasks, prioridades, estados e algoritmos de scheduling</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6958"/>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CRIAR TASKS</a:t>
            </a:r>
            <a:endParaRPr lang="en-US" sz="1200" dirty="0">
              <a:latin typeface="IBM Plex Sans" charset="0"/>
              <a:ea typeface="IBM Plex Sans" charset="0"/>
              <a:cs typeface="IBM Plex Sans" charset="0"/>
            </a:endParaRPr>
          </a:p>
        </p:txBody>
      </p:sp>
      <p:sp>
        <p:nvSpPr>
          <p:cNvPr id="7" name="Text 5"/>
          <p:cNvSpPr/>
          <p:nvPr/>
        </p:nvSpPr>
        <p:spPr>
          <a:xfrm>
            <a:off x="812800" y="5151127"/>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Task functions, xTaskCreate(), parâmetros e prioridades</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6958"/>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ESTADOS E TEMPO</a:t>
            </a:r>
            <a:endParaRPr lang="en-US" sz="1200" dirty="0">
              <a:latin typeface="IBM Plex Sans" charset="0"/>
              <a:ea typeface="IBM Plex Sans" charset="0"/>
              <a:cs typeface="IBM Plex Sans" charset="0"/>
            </a:endParaRPr>
          </a:p>
        </p:txBody>
      </p:sp>
      <p:sp>
        <p:nvSpPr>
          <p:cNvPr id="10" name="Text 8"/>
          <p:cNvSpPr/>
          <p:nvPr/>
        </p:nvSpPr>
        <p:spPr>
          <a:xfrm>
            <a:off x="4402614" y="5151127"/>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O tick, Blocked, vTaskDelay() e vTaskDelayUntil(), a idle task</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6958"/>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SCHEDULING</a:t>
            </a:r>
            <a:endParaRPr lang="en-US" sz="1200" dirty="0">
              <a:latin typeface="IBM Plex Sans" charset="0"/>
              <a:ea typeface="IBM Plex Sans" charset="0"/>
              <a:cs typeface="IBM Plex Sans" charset="0"/>
            </a:endParaRPr>
          </a:p>
        </p:txBody>
      </p:sp>
      <p:sp>
        <p:nvSpPr>
          <p:cNvPr id="13" name="Text 11"/>
          <p:cNvSpPr/>
          <p:nvPr/>
        </p:nvSpPr>
        <p:spPr>
          <a:xfrm>
            <a:off x="7992507" y="5151127"/>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Preemptivo com e sem time slicing, e cooperativo</a:t>
            </a:r>
            <a:endParaRPr lang="en-US" sz="1200" dirty="0">
              <a:latin typeface="IBM Plex Sans" charset="0"/>
              <a:ea typeface="IBM Plex Sans" charset="0"/>
              <a:cs typeface="IBM Plex Sans" charset="0"/>
            </a:endParaRPr>
          </a:p>
        </p:txBody>
      </p:sp>
      <p:sp>
        <p:nvSpPr>
          <p:cNvPr id="14" name="Text 12"/>
          <p:cNvSpPr/>
          <p:nvPr/>
        </p:nvSpPr>
        <p:spPr>
          <a:xfrm>
            <a:off x="812800" y="5831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4</a:t>
            </a:r>
            <a:endParaRPr lang="en-US" sz="1200" dirty="0">
              <a:latin typeface="IBM Plex Sans" charset="0"/>
              <a:ea typeface="IBM Plex Sans" charset="0"/>
              <a:cs typeface="IBM Plex Sans"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Uma task é uma função C</a:t>
            </a:r>
            <a:endParaRPr lang="en-US" sz="3200" dirty="0">
              <a:latin typeface="IBM Plex Sans" charset="0"/>
              <a:ea typeface="IBM Plex Sans" charset="0"/>
              <a:cs typeface="IBM Plex Sans" charset="0"/>
            </a:endParaRPr>
          </a:p>
        </p:txBody>
      </p:sp>
      <p:sp>
        <p:nvSpPr>
          <p:cNvPr id="4" name="Text 2"/>
          <p:cNvSpPr/>
          <p:nvPr/>
        </p:nvSpPr>
        <p:spPr>
          <a:xfrm>
            <a:off x="812800" y="1899927"/>
            <a:ext cx="5715000" cy="3718560"/>
          </a:xfrm>
          <a:prstGeom prst="roundRect">
            <a:avLst>
              <a:gd name="adj" fmla="val 2049"/>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vATaskFunction(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Uma cópia por instância, na stack da task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long lStackVariable = 0;</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Uma só cópia, partilhada por todas as instâncias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 long lStaticVariable = 0;</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Funcionalidade da task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Se sair do loop: apagar antes do fim da função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vTaskDelete(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5" name="Shape 3"/>
          <p:cNvSpPr/>
          <p:nvPr/>
        </p:nvSpPr>
        <p:spPr>
          <a:xfrm>
            <a:off x="6835775" y="1903102"/>
            <a:ext cx="4540250" cy="1101090"/>
          </a:xfrm>
          <a:prstGeom prst="roundRect">
            <a:avLst>
              <a:gd name="adj" fmla="val 8939"/>
            </a:avLst>
          </a:prstGeom>
          <a:solidFill>
            <a:srgbClr val="FCFBF8"/>
          </a:solidFill>
          <a:ln w="6350">
            <a:solidFill>
              <a:srgbClr val="DCDAD2"/>
            </a:solidFill>
            <a:prstDash val="solid"/>
          </a:ln>
        </p:spPr>
      </p:sp>
      <p:sp>
        <p:nvSpPr>
          <p:cNvPr id="6" name="Text 4"/>
          <p:cNvSpPr/>
          <p:nvPr/>
        </p:nvSpPr>
        <p:spPr>
          <a:xfrm>
            <a:off x="7015480" y="2082800"/>
            <a:ext cx="43062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Nunca retorna</a:t>
            </a:r>
            <a:endParaRPr lang="en-US" sz="1500" dirty="0">
              <a:latin typeface="IBM Plex Sans" charset="0"/>
              <a:ea typeface="IBM Plex Sans" charset="0"/>
              <a:cs typeface="IBM Plex Sans" charset="0"/>
            </a:endParaRPr>
          </a:p>
        </p:txBody>
      </p:sp>
      <p:sp>
        <p:nvSpPr>
          <p:cNvPr id="7" name="Text 5"/>
          <p:cNvSpPr/>
          <p:nvPr/>
        </p:nvSpPr>
        <p:spPr>
          <a:xfrm>
            <a:off x="7015480" y="2362200"/>
            <a:ext cx="43062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Sem return e sem chegar ao fim da função. Se já não é precisa, apaga-se com vTaskDelete().</a:t>
            </a:r>
            <a:endParaRPr lang="en-US" sz="1300" dirty="0">
              <a:latin typeface="IBM Plex Sans" charset="0"/>
              <a:ea typeface="IBM Plex Sans" charset="0"/>
              <a:cs typeface="IBM Plex Sans" charset="0"/>
            </a:endParaRPr>
          </a:p>
        </p:txBody>
      </p:sp>
      <p:sp>
        <p:nvSpPr>
          <p:cNvPr id="8" name="Shape 6"/>
          <p:cNvSpPr/>
          <p:nvPr/>
        </p:nvSpPr>
        <p:spPr>
          <a:xfrm>
            <a:off x="6835775" y="3162933"/>
            <a:ext cx="4540250" cy="1101090"/>
          </a:xfrm>
          <a:prstGeom prst="roundRect">
            <a:avLst>
              <a:gd name="adj" fmla="val 8939"/>
            </a:avLst>
          </a:prstGeom>
          <a:solidFill>
            <a:srgbClr val="FCFBF8"/>
          </a:solidFill>
          <a:ln w="6350">
            <a:solidFill>
              <a:srgbClr val="DCDAD2"/>
            </a:solidFill>
            <a:prstDash val="solid"/>
          </a:ln>
        </p:spPr>
      </p:sp>
      <p:sp>
        <p:nvSpPr>
          <p:cNvPr id="9" name="Text 7"/>
          <p:cNvSpPr/>
          <p:nvPr/>
        </p:nvSpPr>
        <p:spPr>
          <a:xfrm>
            <a:off x="7015480" y="3342642"/>
            <a:ext cx="43062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Normalmente um loop infinito</a:t>
            </a:r>
            <a:endParaRPr lang="en-US" sz="1500" dirty="0">
              <a:latin typeface="IBM Plex Sans" charset="0"/>
              <a:ea typeface="IBM Plex Sans" charset="0"/>
              <a:cs typeface="IBM Plex Sans" charset="0"/>
            </a:endParaRPr>
          </a:p>
        </p:txBody>
      </p:sp>
      <p:sp>
        <p:nvSpPr>
          <p:cNvPr id="10" name="Text 8"/>
          <p:cNvSpPr/>
          <p:nvPr/>
        </p:nvSpPr>
        <p:spPr>
          <a:xfrm>
            <a:off x="7015480" y="3622042"/>
            <a:ext cx="43062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Cada task é um pequeno programa com o seu entry point.</a:t>
            </a:r>
            <a:endParaRPr lang="en-US" sz="1300" dirty="0">
              <a:latin typeface="IBM Plex Sans" charset="0"/>
              <a:ea typeface="IBM Plex Sans" charset="0"/>
              <a:cs typeface="IBM Plex Sans" charset="0"/>
            </a:endParaRPr>
          </a:p>
        </p:txBody>
      </p:sp>
      <p:sp>
        <p:nvSpPr>
          <p:cNvPr id="11" name="Shape 9"/>
          <p:cNvSpPr/>
          <p:nvPr/>
        </p:nvSpPr>
        <p:spPr>
          <a:xfrm>
            <a:off x="6835775" y="4422775"/>
            <a:ext cx="4540250" cy="1101090"/>
          </a:xfrm>
          <a:prstGeom prst="roundRect">
            <a:avLst>
              <a:gd name="adj" fmla="val 8939"/>
            </a:avLst>
          </a:prstGeom>
          <a:solidFill>
            <a:srgbClr val="FCFBF8"/>
          </a:solidFill>
          <a:ln w="6350">
            <a:solidFill>
              <a:srgbClr val="DCDAD2"/>
            </a:solidFill>
            <a:prstDash val="solid"/>
          </a:ln>
        </p:spPr>
      </p:sp>
      <p:sp>
        <p:nvSpPr>
          <p:cNvPr id="12" name="Text 10"/>
          <p:cNvSpPr/>
          <p:nvPr/>
        </p:nvSpPr>
        <p:spPr>
          <a:xfrm>
            <a:off x="7015480" y="4602485"/>
            <a:ext cx="43062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Uma função, várias instâncias</a:t>
            </a:r>
            <a:endParaRPr lang="en-US" sz="1500" dirty="0">
              <a:latin typeface="IBM Plex Sans" charset="0"/>
              <a:ea typeface="IBM Plex Sans" charset="0"/>
              <a:cs typeface="IBM Plex Sans" charset="0"/>
            </a:endParaRPr>
          </a:p>
        </p:txBody>
      </p:sp>
      <p:sp>
        <p:nvSpPr>
          <p:cNvPr id="13" name="Text 11"/>
          <p:cNvSpPr/>
          <p:nvPr/>
        </p:nvSpPr>
        <p:spPr>
          <a:xfrm>
            <a:off x="7015480" y="4881885"/>
            <a:ext cx="43062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Cada task criada tem a sua própria stack e as suas variáveis automáticas.</a:t>
            </a:r>
            <a:endParaRPr lang="en-US" sz="1300" dirty="0">
              <a:latin typeface="IBM Plex Sans" charset="0"/>
              <a:ea typeface="IBM Plex Sans" charset="0"/>
              <a:cs typeface="IBM Plex Sans" charset="0"/>
            </a:endParaRPr>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5"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29</a:t>
            </a:r>
            <a:endParaRPr lang="en-US" sz="1200" dirty="0">
              <a:latin typeface="IBM Plex Sans" charset="0"/>
              <a:ea typeface="IBM Plex Sans" charset="0"/>
              <a:cs typeface="IBM Plex Sans"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1696"/>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17766A"/>
                </a:solidFill>
                <a:latin typeface="IBM Plex Sans" pitchFamily="34" charset="0"/>
                <a:ea typeface="IBM Plex Sans" pitchFamily="34" charset="-122"/>
                <a:cs typeface="IBM Plex Sans" pitchFamily="34" charset="-120"/>
              </a:rPr>
              <a:t>GESTÃO DE TASKS</a:t>
            </a:r>
            <a:endParaRPr lang="en-US" sz="1159" dirty="0">
              <a:latin typeface="IBM Plex Sans" charset="0"/>
              <a:ea typeface="IBM Plex Sans" charset="0"/>
              <a:cs typeface="IBM Plex Sans" charset="0"/>
            </a:endParaRPr>
          </a:p>
        </p:txBody>
      </p:sp>
      <p:sp>
        <p:nvSpPr>
          <p:cNvPr id="3" name="Text 1"/>
          <p:cNvSpPr/>
          <p:nvPr>
            <p:ph type="title"/>
          </p:nvPr>
        </p:nvSpPr>
        <p:spPr>
          <a:xfrm>
            <a:off x="812800" y="1120701"/>
            <a:ext cx="10883392" cy="477203"/>
          </a:xfrm>
          <a:prstGeom prst="rect">
            <a:avLst/>
          </a:prstGeom>
          <a:noFill/>
          <a:ln/>
        </p:spPr>
        <p:txBody>
          <a:bodyPr wrap="square" lIns="0" tIns="0" rIns="0" bIns="0" rtlCol="0" anchor="t">
            <a:normAutofit/>
          </a:bodyPr>
          <a:lstStyle/>
          <a:p>
            <a:pPr algn="l" indent="0" marL="0">
              <a:lnSpc>
                <a:spcPts val="3565"/>
              </a:lnSpc>
              <a:buNone/>
            </a:pPr>
            <a:r>
              <a:rPr lang="en-US" sz="3100" b="1" i="0" dirty="0">
                <a:solidFill>
                  <a:srgbClr val="14222E"/>
                </a:solidFill>
                <a:latin typeface="IBM Plex Sans" pitchFamily="34" charset="0"/>
                <a:ea typeface="IBM Plex Sans" pitchFamily="34" charset="-122"/>
                <a:cs typeface="IBM Plex Sans" pitchFamily="34" charset="-120"/>
              </a:rPr>
              <a:t>Seis funções para criar tasks</a:t>
            </a:r>
            <a:endParaRPr lang="en-US" sz="3100" dirty="0">
              <a:latin typeface="IBM Plex Sans" charset="0"/>
              <a:ea typeface="IBM Plex Sans" charset="0"/>
              <a:cs typeface="IBM Plex Sans" charset="0"/>
            </a:endParaRPr>
          </a:p>
        </p:txBody>
      </p:sp>
      <p:sp>
        <p:nvSpPr>
          <p:cNvPr id="4" name="Text 2"/>
          <p:cNvSpPr/>
          <p:nvPr/>
        </p:nvSpPr>
        <p:spPr>
          <a:xfrm>
            <a:off x="812800" y="1801106"/>
            <a:ext cx="10883392" cy="543322"/>
          </a:xfrm>
          <a:prstGeom prst="rect">
            <a:avLst/>
          </a:prstGeom>
          <a:noFill/>
          <a:ln/>
        </p:spPr>
        <p:txBody>
          <a:bodyPr wrap="square" lIns="0" tIns="0" rIns="0" bIns="0" rtlCol="0" anchor="t">
            <a:normAutofit/>
          </a:bodyPr>
          <a:lstStyle/>
          <a:p>
            <a:pPr algn="l" indent="0" marL="0">
              <a:lnSpc>
                <a:spcPts val="2061"/>
              </a:lnSpc>
              <a:buNone/>
            </a:pPr>
            <a:r>
              <a:rPr lang="en-US" sz="1472" dirty="0">
                <a:solidFill>
                  <a:srgbClr val="44505C"/>
                </a:solidFill>
                <a:latin typeface="IBM Plex Sans" pitchFamily="34" charset="0"/>
                <a:ea typeface="IBM Plex Sans" pitchFamily="34" charset="-122"/>
                <a:cs typeface="IBM Plex Sans" pitchFamily="34" charset="-120"/>
              </a:rPr>
              <a:t>Cada task precisa de </a:t>
            </a:r>
            <a:r>
              <a:rPr lang="en-US" sz="1472" b="1" dirty="0">
                <a:solidFill>
                  <a:srgbClr val="44505C"/>
                </a:solidFill>
                <a:latin typeface="IBM Plex Sans" pitchFamily="34" charset="0"/>
                <a:ea typeface="IBM Plex Sans" pitchFamily="34" charset="-122"/>
                <a:cs typeface="IBM Plex Sans" pitchFamily="34" charset="-120"/>
              </a:rPr>
              <a:t>dois blocos de RAM</a:t>
            </a:r>
            <a:r>
              <a:rPr lang="en-US" sz="1472" dirty="0">
                <a:solidFill>
                  <a:srgbClr val="44505C"/>
                </a:solidFill>
                <a:latin typeface="IBM Plex Sans" pitchFamily="34" charset="0"/>
                <a:ea typeface="IBM Plex Sans" pitchFamily="34" charset="-122"/>
                <a:cs typeface="IBM Plex Sans" pitchFamily="34" charset="-120"/>
              </a:rPr>
              <a:t>: o </a:t>
            </a:r>
            <a:r>
              <a:rPr lang="en-US" sz="1472" b="1" dirty="0">
                <a:solidFill>
                  <a:srgbClr val="44505C"/>
                </a:solidFill>
                <a:latin typeface="IBM Plex Sans" pitchFamily="34" charset="0"/>
                <a:ea typeface="IBM Plex Sans" pitchFamily="34" charset="-122"/>
                <a:cs typeface="IBM Plex Sans" pitchFamily="34" charset="-120"/>
              </a:rPr>
              <a:t>TCB</a:t>
            </a:r>
            <a:r>
              <a:rPr lang="en-US" sz="1472" dirty="0">
                <a:solidFill>
                  <a:srgbClr val="44505C"/>
                </a:solidFill>
                <a:latin typeface="IBM Plex Sans" pitchFamily="34" charset="0"/>
                <a:ea typeface="IBM Plex Sans" pitchFamily="34" charset="-122"/>
                <a:cs typeface="IBM Plex Sans" pitchFamily="34" charset="-120"/>
              </a:rPr>
              <a:t> (Task Control Block) e a </a:t>
            </a:r>
            <a:r>
              <a:rPr lang="en-US" sz="1472" b="1" dirty="0">
                <a:solidFill>
                  <a:srgbClr val="44505C"/>
                </a:solidFill>
                <a:latin typeface="IBM Plex Sans" pitchFamily="34" charset="0"/>
                <a:ea typeface="IBM Plex Sans" pitchFamily="34" charset="-122"/>
                <a:cs typeface="IBM Plex Sans" pitchFamily="34" charset="-120"/>
              </a:rPr>
              <a:t>stack</a:t>
            </a:r>
            <a:r>
              <a:rPr lang="en-US" sz="1472" dirty="0">
                <a:solidFill>
                  <a:srgbClr val="44505C"/>
                </a:solidFill>
                <a:latin typeface="IBM Plex Sans" pitchFamily="34" charset="0"/>
                <a:ea typeface="IBM Plex Sans" pitchFamily="34" charset="-122"/>
                <a:cs typeface="IBM Plex Sans" pitchFamily="34" charset="-120"/>
              </a:rPr>
              <a:t>. O nome da função diz de onde vem essa RAM e com que privilégios corre a task.</a:t>
            </a:r>
            <a:endParaRPr lang="en-US" sz="1472" dirty="0">
              <a:latin typeface="IBM Plex Sans" charset="0"/>
              <a:ea typeface="IBM Plex Sans" charset="0"/>
              <a:cs typeface="IBM Plex Sans" charset="0"/>
            </a:endParaRPr>
          </a:p>
        </p:txBody>
      </p:sp>
      <p:sp>
        <p:nvSpPr>
          <p:cNvPr id="5" name="Text 3"/>
          <p:cNvSpPr/>
          <p:nvPr/>
        </p:nvSpPr>
        <p:spPr>
          <a:xfrm>
            <a:off x="815975" y="2550802"/>
            <a:ext cx="1421130" cy="344170"/>
          </a:xfrm>
          <a:prstGeom prst="roundRect">
            <a:avLst>
              <a:gd name="adj" fmla="val 17528"/>
            </a:avLst>
          </a:prstGeom>
          <a:solidFill>
            <a:srgbClr val="FCFBF8"/>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xTaskCreate()</a:t>
            </a:r>
            <a:endParaRPr lang="en-US" sz="1200" dirty="0">
              <a:latin typeface="JetBrains Mono" charset="0"/>
              <a:ea typeface="JetBrains Mono" charset="0"/>
              <a:cs typeface="JetBrains Mono" charset="0"/>
            </a:endParaRPr>
          </a:p>
        </p:txBody>
      </p:sp>
      <p:sp>
        <p:nvSpPr>
          <p:cNvPr id="6" name="Text 4"/>
          <p:cNvSpPr/>
          <p:nvPr/>
        </p:nvSpPr>
        <p:spPr>
          <a:xfrm>
            <a:off x="2319655" y="2550802"/>
            <a:ext cx="1969770" cy="344170"/>
          </a:xfrm>
          <a:prstGeom prst="roundRect">
            <a:avLst>
              <a:gd name="adj" fmla="val 17528"/>
            </a:avLst>
          </a:prstGeom>
          <a:solidFill>
            <a:srgbClr val="FCFBF8"/>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xTaskCreateStatic()</a:t>
            </a:r>
            <a:endParaRPr lang="en-US" sz="1200" dirty="0">
              <a:latin typeface="JetBrains Mono" charset="0"/>
              <a:ea typeface="JetBrains Mono" charset="0"/>
              <a:cs typeface="JetBrains Mono" charset="0"/>
            </a:endParaRPr>
          </a:p>
        </p:txBody>
      </p:sp>
      <p:sp>
        <p:nvSpPr>
          <p:cNvPr id="7" name="Text 5"/>
          <p:cNvSpPr/>
          <p:nvPr/>
        </p:nvSpPr>
        <p:spPr>
          <a:xfrm>
            <a:off x="4371975" y="2550802"/>
            <a:ext cx="2335530" cy="344170"/>
          </a:xfrm>
          <a:prstGeom prst="roundRect">
            <a:avLst>
              <a:gd name="adj" fmla="val 17528"/>
            </a:avLst>
          </a:prstGeom>
          <a:solidFill>
            <a:srgbClr val="FCFBF8"/>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xTaskCreateRestricted()</a:t>
            </a:r>
            <a:endParaRPr lang="en-US" sz="1200" dirty="0">
              <a:latin typeface="JetBrains Mono" charset="0"/>
              <a:ea typeface="JetBrains Mono" charset="0"/>
              <a:cs typeface="JetBrains Mono" charset="0"/>
            </a:endParaRPr>
          </a:p>
        </p:txBody>
      </p:sp>
      <p:sp>
        <p:nvSpPr>
          <p:cNvPr id="8" name="Text 6"/>
          <p:cNvSpPr/>
          <p:nvPr/>
        </p:nvSpPr>
        <p:spPr>
          <a:xfrm>
            <a:off x="6790055" y="2550802"/>
            <a:ext cx="2884170" cy="344170"/>
          </a:xfrm>
          <a:prstGeom prst="roundRect">
            <a:avLst>
              <a:gd name="adj" fmla="val 17528"/>
            </a:avLst>
          </a:prstGeom>
          <a:solidFill>
            <a:srgbClr val="FCFBF8"/>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xTaskCreateRestrictedStatic()</a:t>
            </a:r>
            <a:endParaRPr lang="en-US" sz="1200" dirty="0">
              <a:latin typeface="JetBrains Mono" charset="0"/>
              <a:ea typeface="JetBrains Mono" charset="0"/>
              <a:cs typeface="JetBrains Mono" charset="0"/>
            </a:endParaRPr>
          </a:p>
        </p:txBody>
      </p:sp>
      <p:sp>
        <p:nvSpPr>
          <p:cNvPr id="9" name="Text 7"/>
          <p:cNvSpPr/>
          <p:nvPr/>
        </p:nvSpPr>
        <p:spPr>
          <a:xfrm>
            <a:off x="815975" y="2977517"/>
            <a:ext cx="2426970" cy="344170"/>
          </a:xfrm>
          <a:prstGeom prst="roundRect">
            <a:avLst>
              <a:gd name="adj" fmla="val 17528"/>
            </a:avLst>
          </a:prstGeom>
          <a:solidFill>
            <a:srgbClr val="FCFBF8"/>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xTaskCreateAffinitySet()</a:t>
            </a:r>
            <a:endParaRPr lang="en-US" sz="1200" dirty="0">
              <a:latin typeface="JetBrains Mono" charset="0"/>
              <a:ea typeface="JetBrains Mono" charset="0"/>
              <a:cs typeface="JetBrains Mono" charset="0"/>
            </a:endParaRPr>
          </a:p>
        </p:txBody>
      </p:sp>
      <p:sp>
        <p:nvSpPr>
          <p:cNvPr id="10" name="Text 8"/>
          <p:cNvSpPr/>
          <p:nvPr/>
        </p:nvSpPr>
        <p:spPr>
          <a:xfrm>
            <a:off x="3325495" y="2977517"/>
            <a:ext cx="2975610" cy="344170"/>
          </a:xfrm>
          <a:prstGeom prst="roundRect">
            <a:avLst>
              <a:gd name="adj" fmla="val 17528"/>
            </a:avLst>
          </a:prstGeom>
          <a:solidFill>
            <a:srgbClr val="FCFBF8"/>
          </a:solidFill>
          <a:ln w="6350">
            <a:solidFill>
              <a:srgbClr val="DCDAD2"/>
            </a:solidFill>
            <a:prstDash val="solid"/>
          </a:ln>
        </p:spPr>
        <p:txBody>
          <a:bodyPr wrap="none" lIns="0" tIns="0" rIns="0" bIns="0" rtlCol="0" anchor="ctr">
            <a:normAutofit/>
          </a:bodyPr>
          <a:lstStyle/>
          <a:p>
            <a:pPr algn="ctr"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xTaskCreateStaticAffinitySet()</a:t>
            </a:r>
            <a:endParaRPr lang="en-US" sz="1200" dirty="0">
              <a:latin typeface="JetBrains Mono" charset="0"/>
              <a:ea typeface="JetBrains Mono" charset="0"/>
              <a:cs typeface="JetBrains Mono" charset="0"/>
            </a:endParaRPr>
          </a:p>
        </p:txBody>
      </p:sp>
      <p:sp>
        <p:nvSpPr>
          <p:cNvPr id="11" name="Shape 9"/>
          <p:cNvSpPr/>
          <p:nvPr/>
        </p:nvSpPr>
        <p:spPr>
          <a:xfrm>
            <a:off x="815975" y="3534097"/>
            <a:ext cx="3414157" cy="2304733"/>
          </a:xfrm>
          <a:prstGeom prst="roundRect">
            <a:avLst>
              <a:gd name="adj" fmla="val 4271"/>
            </a:avLst>
          </a:prstGeom>
          <a:solidFill>
            <a:srgbClr val="FCFBF8"/>
          </a:solidFill>
          <a:ln w="6350">
            <a:solidFill>
              <a:srgbClr val="DCDAD2"/>
            </a:solidFill>
            <a:prstDash val="solid"/>
          </a:ln>
        </p:spPr>
      </p:sp>
      <p:sp>
        <p:nvSpPr>
          <p:cNvPr id="12" name="Text 10"/>
          <p:cNvSpPr/>
          <p:nvPr/>
        </p:nvSpPr>
        <p:spPr>
          <a:xfrm>
            <a:off x="1021080" y="3739195"/>
            <a:ext cx="309406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66A"/>
                </a:solidFill>
                <a:latin typeface="IBM Plex Sans" pitchFamily="34" charset="0"/>
                <a:ea typeface="IBM Plex Sans" pitchFamily="34" charset="-122"/>
                <a:cs typeface="IBM Plex Sans" pitchFamily="34" charset="-120"/>
              </a:rPr>
              <a:t>…Static</a:t>
            </a:r>
            <a:endParaRPr lang="en-US" sz="1500" dirty="0">
              <a:latin typeface="IBM Plex Sans" charset="0"/>
              <a:ea typeface="IBM Plex Sans" charset="0"/>
              <a:cs typeface="IBM Plex Sans" charset="0"/>
            </a:endParaRPr>
          </a:p>
        </p:txBody>
      </p:sp>
      <p:sp>
        <p:nvSpPr>
          <p:cNvPr id="13" name="Text 11"/>
          <p:cNvSpPr/>
          <p:nvPr/>
        </p:nvSpPr>
        <p:spPr>
          <a:xfrm>
            <a:off x="1021080" y="4082095"/>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RAM pré-alocada</a:t>
            </a:r>
            <a:endParaRPr lang="en-US" sz="1500" dirty="0">
              <a:latin typeface="IBM Plex Sans" charset="0"/>
              <a:ea typeface="IBM Plex Sans" charset="0"/>
              <a:cs typeface="IBM Plex Sans" charset="0"/>
            </a:endParaRPr>
          </a:p>
        </p:txBody>
      </p:sp>
      <p:sp>
        <p:nvSpPr>
          <p:cNvPr id="14" name="Text 12"/>
          <p:cNvSpPr/>
          <p:nvPr/>
        </p:nvSpPr>
        <p:spPr>
          <a:xfrm>
            <a:off x="1021080" y="4386895"/>
            <a:ext cx="309406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Os blocos são passados como parâmetros. Sem Static, a RAM vem do heap em run time.</a:t>
            </a:r>
            <a:endParaRPr lang="en-US" sz="1300" dirty="0">
              <a:latin typeface="IBM Plex Sans" charset="0"/>
              <a:ea typeface="IBM Plex Sans" charset="0"/>
              <a:cs typeface="IBM Plex Sans" charset="0"/>
            </a:endParaRPr>
          </a:p>
        </p:txBody>
      </p:sp>
      <p:sp>
        <p:nvSpPr>
          <p:cNvPr id="15" name="Shape 13"/>
          <p:cNvSpPr/>
          <p:nvPr/>
        </p:nvSpPr>
        <p:spPr>
          <a:xfrm>
            <a:off x="4388882" y="3534097"/>
            <a:ext cx="3414236" cy="2304733"/>
          </a:xfrm>
          <a:prstGeom prst="roundRect">
            <a:avLst>
              <a:gd name="adj" fmla="val 4271"/>
            </a:avLst>
          </a:prstGeom>
          <a:solidFill>
            <a:srgbClr val="FCFBF8"/>
          </a:solidFill>
          <a:ln w="6350">
            <a:solidFill>
              <a:srgbClr val="DCDAD2"/>
            </a:solidFill>
            <a:prstDash val="solid"/>
          </a:ln>
        </p:spPr>
      </p:sp>
      <p:sp>
        <p:nvSpPr>
          <p:cNvPr id="16" name="Text 14"/>
          <p:cNvSpPr/>
          <p:nvPr/>
        </p:nvSpPr>
        <p:spPr>
          <a:xfrm>
            <a:off x="4593987" y="3739195"/>
            <a:ext cx="3094147" cy="280829"/>
          </a:xfrm>
          <a:prstGeom prst="rect">
            <a:avLst/>
          </a:prstGeom>
          <a:noFill/>
          <a:ln/>
        </p:spPr>
        <p:txBody>
          <a:bodyPr wrap="square" lIns="0" tIns="0" rIns="0" bIns="0" rtlCol="0" anchor="t">
            <a:normAutofit/>
          </a:bodyPr>
          <a:lstStyle/>
          <a:p>
            <a:pPr algn="l" indent="0" marL="0">
              <a:lnSpc>
                <a:spcPts val="2021"/>
              </a:lnSpc>
              <a:buNone/>
            </a:pPr>
            <a:r>
              <a:rPr lang="en-US" sz="1444" b="1" dirty="0">
                <a:solidFill>
                  <a:srgbClr val="17766A"/>
                </a:solidFill>
                <a:latin typeface="IBM Plex Sans" pitchFamily="34" charset="0"/>
                <a:ea typeface="IBM Plex Sans" pitchFamily="34" charset="-122"/>
                <a:cs typeface="IBM Plex Sans" pitchFamily="34" charset="-120"/>
              </a:rPr>
              <a:t>…Restricted</a:t>
            </a:r>
            <a:endParaRPr lang="en-US" sz="1444" dirty="0">
              <a:latin typeface="IBM Plex Sans" charset="0"/>
              <a:ea typeface="IBM Plex Sans" charset="0"/>
              <a:cs typeface="IBM Plex Sans" charset="0"/>
            </a:endParaRPr>
          </a:p>
        </p:txBody>
      </p:sp>
      <p:sp>
        <p:nvSpPr>
          <p:cNvPr id="17" name="Text 15"/>
          <p:cNvSpPr/>
          <p:nvPr/>
        </p:nvSpPr>
        <p:spPr>
          <a:xfrm>
            <a:off x="4593987" y="4070834"/>
            <a:ext cx="3094147" cy="244396"/>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14222E"/>
                </a:solidFill>
                <a:latin typeface="IBM Plex Sans" pitchFamily="34" charset="0"/>
                <a:ea typeface="IBM Plex Sans" pitchFamily="34" charset="-122"/>
                <a:cs typeface="IBM Plex Sans" pitchFamily="34" charset="-120"/>
              </a:rPr>
              <a:t>Acesso limitado à memória</a:t>
            </a:r>
            <a:endParaRPr lang="en-US" sz="1434" dirty="0">
              <a:latin typeface="IBM Plex Sans" charset="0"/>
              <a:ea typeface="IBM Plex Sans" charset="0"/>
              <a:cs typeface="IBM Plex Sans" charset="0"/>
            </a:endParaRPr>
          </a:p>
        </p:txBody>
      </p:sp>
      <p:sp>
        <p:nvSpPr>
          <p:cNvPr id="18" name="Text 16"/>
          <p:cNvSpPr/>
          <p:nvPr/>
        </p:nvSpPr>
        <p:spPr>
          <a:xfrm>
            <a:off x="4593987" y="4366022"/>
            <a:ext cx="3094147" cy="910907"/>
          </a:xfrm>
          <a:prstGeom prst="rect">
            <a:avLst/>
          </a:prstGeom>
          <a:noFill/>
          <a:ln/>
        </p:spPr>
        <p:txBody>
          <a:bodyPr wrap="square" lIns="0" tIns="0" rIns="0" bIns="0" rtlCol="0" anchor="t">
            <a:normAutofit/>
          </a:bodyPr>
          <a:lstStyle/>
          <a:p>
            <a:pPr algn="l" indent="0" marL="0">
              <a:lnSpc>
                <a:spcPts val="1740"/>
              </a:lnSpc>
              <a:buNone/>
            </a:pPr>
            <a:r>
              <a:rPr lang="en-US" sz="1243" dirty="0">
                <a:solidFill>
                  <a:srgbClr val="44505C"/>
                </a:solidFill>
                <a:latin typeface="IBM Plex Sans" pitchFamily="34" charset="0"/>
                <a:ea typeface="IBM Plex Sans" pitchFamily="34" charset="-122"/>
                <a:cs typeface="IBM Plex Sans" pitchFamily="34" charset="-120"/>
              </a:rPr>
              <a:t>Task em modo não privilegiado (ports que o suportam). Sem Restricted, corre em modo privilegiado com acesso a toda a memória.</a:t>
            </a:r>
            <a:endParaRPr lang="en-US" sz="1243" dirty="0">
              <a:latin typeface="IBM Plex Sans" charset="0"/>
              <a:ea typeface="IBM Plex Sans" charset="0"/>
              <a:cs typeface="IBM Plex Sans" charset="0"/>
            </a:endParaRPr>
          </a:p>
        </p:txBody>
      </p:sp>
      <p:sp>
        <p:nvSpPr>
          <p:cNvPr id="19" name="Text 17"/>
          <p:cNvSpPr/>
          <p:nvPr/>
        </p:nvSpPr>
        <p:spPr>
          <a:xfrm>
            <a:off x="4593987" y="5327737"/>
            <a:ext cx="3004026" cy="305991"/>
          </a:xfrm>
          <a:prstGeom prst="roundRect">
            <a:avLst>
              <a:gd name="adj" fmla="val 16602"/>
            </a:avLst>
          </a:prstGeom>
          <a:solidFill>
            <a:srgbClr val="FBEFE7"/>
          </a:solidFill>
          <a:ln/>
        </p:spPr>
        <p:txBody>
          <a:bodyPr wrap="square" lIns="74021" tIns="35921" rIns="0" bIns="10521" rtlCol="0" anchor="t">
            <a:normAutofit/>
          </a:bodyPr>
          <a:lstStyle/>
          <a:p>
            <a:pPr algn="l" indent="0" marL="0">
              <a:lnSpc>
                <a:spcPts val="1622"/>
              </a:lnSpc>
              <a:buNone/>
            </a:pPr>
            <a:r>
              <a:rPr lang="en-US" sz="1159" b="1" dirty="0">
                <a:solidFill>
                  <a:srgbClr val="8E3B46"/>
                </a:solidFill>
                <a:latin typeface="IBM Plex Sans" pitchFamily="34" charset="0"/>
                <a:ea typeface="IBM Plex Sans" pitchFamily="34" charset="-122"/>
                <a:cs typeface="IBM Plex Sans" pitchFamily="34" charset="-120"/>
              </a:rPr>
              <a:t>Não disponível na Pico 2</a:t>
            </a:r>
            <a:endParaRPr lang="en-US" sz="1159" dirty="0">
              <a:latin typeface="IBM Plex Sans" charset="0"/>
              <a:ea typeface="IBM Plex Sans" charset="0"/>
              <a:cs typeface="IBM Plex Sans" charset="0"/>
            </a:endParaRPr>
          </a:p>
        </p:txBody>
      </p:sp>
      <p:sp>
        <p:nvSpPr>
          <p:cNvPr id="20" name="Shape 18"/>
          <p:cNvSpPr/>
          <p:nvPr/>
        </p:nvSpPr>
        <p:spPr>
          <a:xfrm>
            <a:off x="7961868" y="3534097"/>
            <a:ext cx="3414157" cy="2304733"/>
          </a:xfrm>
          <a:prstGeom prst="roundRect">
            <a:avLst>
              <a:gd name="adj" fmla="val 4271"/>
            </a:avLst>
          </a:prstGeom>
          <a:solidFill>
            <a:srgbClr val="FCFBF8"/>
          </a:solidFill>
          <a:ln w="6350">
            <a:solidFill>
              <a:srgbClr val="DCDAD2"/>
            </a:solidFill>
            <a:prstDash val="solid"/>
          </a:ln>
        </p:spPr>
      </p:sp>
      <p:sp>
        <p:nvSpPr>
          <p:cNvPr id="21" name="Text 19"/>
          <p:cNvSpPr/>
          <p:nvPr/>
        </p:nvSpPr>
        <p:spPr>
          <a:xfrm>
            <a:off x="8166974" y="3739195"/>
            <a:ext cx="309406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66A"/>
                </a:solidFill>
                <a:latin typeface="IBM Plex Sans" pitchFamily="34" charset="0"/>
                <a:ea typeface="IBM Plex Sans" pitchFamily="34" charset="-122"/>
                <a:cs typeface="IBM Plex Sans" pitchFamily="34" charset="-120"/>
              </a:rPr>
              <a:t>…AffinitySet</a:t>
            </a:r>
            <a:endParaRPr lang="en-US" sz="1500" dirty="0">
              <a:latin typeface="IBM Plex Sans" charset="0"/>
              <a:ea typeface="IBM Plex Sans" charset="0"/>
              <a:cs typeface="IBM Plex Sans" charset="0"/>
            </a:endParaRPr>
          </a:p>
        </p:txBody>
      </p:sp>
      <p:sp>
        <p:nvSpPr>
          <p:cNvPr id="22" name="Text 20"/>
          <p:cNvSpPr/>
          <p:nvPr/>
        </p:nvSpPr>
        <p:spPr>
          <a:xfrm>
            <a:off x="8166974" y="4082095"/>
            <a:ext cx="309406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Escolher o core</a:t>
            </a:r>
            <a:endParaRPr lang="en-US" sz="1500" dirty="0">
              <a:latin typeface="IBM Plex Sans" charset="0"/>
              <a:ea typeface="IBM Plex Sans" charset="0"/>
              <a:cs typeface="IBM Plex Sans" charset="0"/>
            </a:endParaRPr>
          </a:p>
        </p:txBody>
      </p:sp>
      <p:sp>
        <p:nvSpPr>
          <p:cNvPr id="23" name="Text 21"/>
          <p:cNvSpPr/>
          <p:nvPr/>
        </p:nvSpPr>
        <p:spPr>
          <a:xfrm>
            <a:off x="8166974" y="4386895"/>
            <a:ext cx="309406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Em ports SMP, define em que core(s) a task pode correr.</a:t>
            </a:r>
            <a:endParaRPr lang="en-US" sz="1300" dirty="0">
              <a:latin typeface="IBM Plex Sans" charset="0"/>
              <a:ea typeface="IBM Plex Sans" charset="0"/>
              <a:cs typeface="IBM Plex Sans" charset="0"/>
            </a:endParaRPr>
          </a:p>
        </p:txBody>
      </p:sp>
      <p:sp>
        <p:nvSpPr>
          <p:cNvPr id="24" name="Text 2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25" name="Text 2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30</a:t>
            </a:r>
            <a:endParaRPr lang="en-US" sz="1200" dirty="0">
              <a:latin typeface="IBM Plex Sans" charset="0"/>
              <a:ea typeface="IBM Plex Sans" charset="0"/>
              <a:cs typeface="IBM Plex Sans"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xTaskCreate()</a:t>
            </a:r>
            <a:endParaRPr lang="en-US" sz="3200" dirty="0">
              <a:latin typeface="IBM Plex Sans" charset="0"/>
              <a:ea typeface="IBM Plex Sans" charset="0"/>
              <a:cs typeface="IBM Plex Sans" charset="0"/>
            </a:endParaRPr>
          </a:p>
        </p:txBody>
      </p:sp>
      <p:sp>
        <p:nvSpPr>
          <p:cNvPr id="4" name="Text 2"/>
          <p:cNvSpPr/>
          <p:nvPr/>
        </p:nvSpPr>
        <p:spPr>
          <a:xfrm>
            <a:off x="812800" y="1899927"/>
            <a:ext cx="4064000" cy="1798320"/>
          </a:xfrm>
          <a:prstGeom prst="roundRect">
            <a:avLst>
              <a:gd name="adj" fmla="val 4237"/>
            </a:avLst>
          </a:prstGeom>
          <a:solidFill>
            <a:srgbClr val="14222E"/>
          </a:solidFill>
          <a:ln/>
        </p:spPr>
        <p:txBody>
          <a:bodyPr wrap="none" lIns="155482" tIns="130082" rIns="4423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xTaskCreate(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TaskFunction_t pvTaskCode,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char * const pcName,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configSTACK_DEPTH_TYPE usStackDepth,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void *pvParameters,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UBaseType_t uxPriority,</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TaskHandle_t *pxCreatedTask );</a:t>
            </a:r>
            <a:endParaRPr lang="en-US" sz="1200" dirty="0">
              <a:latin typeface="JetBrains Mono" charset="0"/>
              <a:ea typeface="JetBrains Mono" charset="0"/>
              <a:cs typeface="JetBrains Mono" charset="0"/>
            </a:endParaRPr>
          </a:p>
        </p:txBody>
      </p:sp>
      <p:sp>
        <p:nvSpPr>
          <p:cNvPr id="5" name="Text 3"/>
          <p:cNvSpPr/>
          <p:nvPr/>
        </p:nvSpPr>
        <p:spPr>
          <a:xfrm>
            <a:off x="812800" y="3850655"/>
            <a:ext cx="4064000" cy="894080"/>
          </a:xfrm>
          <a:custGeom>
            <a:avLst/>
            <a:gdLst/>
            <a:ahLst/>
            <a:cxnLst/>
            <a:rect l="l" t="t" r="r" b="b"/>
            <a:pathLst>
              <a:path w="4064000" h="894080">
                <a:moveTo>
                  <a:pt x="0" y="0"/>
                </a:moveTo>
                <a:lnTo>
                  <a:pt x="3987800" y="0"/>
                </a:lnTo>
                <a:arcTo hR="76200" wR="76200" stAng="16200000" swAng="5400000"/>
                <a:lnTo>
                  <a:pt x="4064000" y="817880"/>
                </a:lnTo>
                <a:arcTo hR="76200" wR="76200" stAng="0" swAng="5400000"/>
                <a:lnTo>
                  <a:pt x="0" y="894080"/>
                </a:lnTo>
                <a:lnTo>
                  <a:pt x="0" y="0"/>
                </a:lnTo>
                <a:close/>
              </a:path>
            </a:pathLst>
          </a:custGeom>
          <a:solidFill>
            <a:srgbClr val="FBEFE7"/>
          </a:solidFill>
          <a:ln/>
        </p:spPr>
        <p:txBody>
          <a:bodyPr wrap="square" lIns="187960" tIns="127000" rIns="40691" bIns="10160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configSTACK_DEPTH_TYPE</a:t>
            </a:r>
            <a:r>
              <a:rPr lang="en-US" sz="1200" dirty="0">
                <a:solidFill>
                  <a:srgbClr val="14222E"/>
                </a:solidFill>
                <a:latin typeface="IBM Plex Sans" pitchFamily="34" charset="0"/>
                <a:ea typeface="IBM Plex Sans" pitchFamily="34" charset="-122"/>
                <a:cs typeface="IBM Plex Sans" pitchFamily="34" charset="-120"/>
              </a:rPr>
              <a:t> é uint16_t por omissão. Se profundidade × largura da stack passar de 65535, defini-lo como size_t ou unsigned long.</a:t>
            </a:r>
            <a:endParaRPr lang="en-US" sz="1200" dirty="0">
              <a:latin typeface="IBM Plex Sans" charset="0"/>
              <a:ea typeface="IBM Plex Sans" charset="0"/>
              <a:cs typeface="IBM Plex Sans" charset="0"/>
            </a:endParaRPr>
          </a:p>
        </p:txBody>
      </p:sp>
      <p:sp>
        <p:nvSpPr>
          <p:cNvPr id="6" name="Shape 4"/>
          <p:cNvSpPr/>
          <p:nvPr/>
        </p:nvSpPr>
        <p:spPr>
          <a:xfrm>
            <a:off x="812800" y="3850655"/>
            <a:ext cx="4064000" cy="894080"/>
          </a:xfrm>
          <a:custGeom>
            <a:avLst/>
            <a:gdLst/>
            <a:ahLst/>
            <a:cxnLst/>
            <a:rect l="l" t="t" r="r" b="b"/>
            <a:pathLst>
              <a:path w="4064000" h="894080">
                <a:moveTo>
                  <a:pt x="38100" y="894080"/>
                </a:moveTo>
                <a:lnTo>
                  <a:pt x="0" y="894080"/>
                </a:lnTo>
                <a:lnTo>
                  <a:pt x="0" y="0"/>
                </a:lnTo>
                <a:lnTo>
                  <a:pt x="38100" y="0"/>
                </a:lnTo>
                <a:lnTo>
                  <a:pt x="38100" y="894080"/>
                </a:lnTo>
                <a:close/>
              </a:path>
            </a:pathLst>
          </a:custGeom>
          <a:solidFill>
            <a:srgbClr val="D0612A"/>
          </a:solidFill>
          <a:ln/>
        </p:spPr>
      </p:sp>
      <p:sp>
        <p:nvSpPr>
          <p:cNvPr id="7" name="Shape 5"/>
          <p:cNvSpPr/>
          <p:nvPr/>
        </p:nvSpPr>
        <p:spPr>
          <a:xfrm>
            <a:off x="5130800" y="1905007"/>
            <a:ext cx="6248400" cy="0"/>
          </a:xfrm>
          <a:prstGeom prst="line">
            <a:avLst/>
          </a:prstGeom>
          <a:noFill/>
          <a:ln w="10160">
            <a:solidFill>
              <a:srgbClr val="141413">
                <a:alpha val="22000"/>
              </a:srgbClr>
            </a:solidFill>
            <a:prstDash val="solid"/>
          </a:ln>
        </p:spPr>
      </p:sp>
      <p:sp>
        <p:nvSpPr>
          <p:cNvPr id="8" name="Shape 6"/>
          <p:cNvSpPr/>
          <p:nvPr/>
        </p:nvSpPr>
        <p:spPr>
          <a:xfrm>
            <a:off x="5135880" y="1899927"/>
            <a:ext cx="0" cy="2448560"/>
          </a:xfrm>
          <a:prstGeom prst="line">
            <a:avLst/>
          </a:prstGeom>
          <a:noFill/>
          <a:ln w="10160">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242560" y="1973587"/>
          <a:ext cx="6035040" cy="2311400"/>
        </p:xfrm>
        <a:graphic>
          <a:graphicData uri="http://schemas.openxmlformats.org/drawingml/2006/table">
            <a:tbl>
              <a:tblPr/>
              <a:tblGrid>
                <a:gridCol w="1931213"/>
                <a:gridCol w="4103827"/>
              </a:tblGrid>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pvTaskCode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Ponteiro para a função da task.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pcName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Nome descritivo, só para debug.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usStackDepth</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Stack em words, não bytes: 128 × 4 B = 512 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pvParameters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Valor passado ao parâmetro da task.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uxPriority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0 (mais baixa) a configMAX_PRIORITIES − 1.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pxCreatedTask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Recebe o handle; NULL se não for preciso.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Retorno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pdPASS, ou pdFAIL se faltar heap.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0" name="Text 7"/>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1" name="Text 8"/>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31</a:t>
            </a:r>
            <a:endParaRPr lang="en-US" sz="1200" dirty="0">
              <a:latin typeface="IBM Plex Sans" charset="0"/>
              <a:ea typeface="IBM Plex Sans" charset="0"/>
              <a:cs typeface="IBM Plex Sans"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Exemplo: duas instâncias da mesma task</a:t>
            </a:r>
            <a:endParaRPr lang="en-US" sz="3200" dirty="0">
              <a:latin typeface="IBM Plex Sans" charset="0"/>
              <a:ea typeface="IBM Plex Sans" charset="0"/>
              <a:cs typeface="IBM Plex Sans" charset="0"/>
            </a:endParaRPr>
          </a:p>
        </p:txBody>
      </p:sp>
      <p:sp>
        <p:nvSpPr>
          <p:cNvPr id="4" name="Text 2"/>
          <p:cNvSpPr/>
          <p:nvPr/>
        </p:nvSpPr>
        <p:spPr>
          <a:xfrm>
            <a:off x="812800" y="1798315"/>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A TASK</a:t>
            </a:r>
            <a:endParaRPr lang="en-US" sz="1200" dirty="0">
              <a:latin typeface="IBM Plex Sans" charset="0"/>
              <a:ea typeface="IBM Plex Sans" charset="0"/>
              <a:cs typeface="IBM Plex Sans" charset="0"/>
            </a:endParaRPr>
          </a:p>
        </p:txBody>
      </p:sp>
      <p:sp>
        <p:nvSpPr>
          <p:cNvPr id="5" name="Text 3"/>
          <p:cNvSpPr/>
          <p:nvPr/>
        </p:nvSpPr>
        <p:spPr>
          <a:xfrm>
            <a:off x="812800" y="2087885"/>
            <a:ext cx="4826000" cy="2651760"/>
          </a:xfrm>
          <a:prstGeom prst="roundRect">
            <a:avLst>
              <a:gd name="adj" fmla="val 2874"/>
            </a:avLst>
          </a:prstGeom>
          <a:solidFill>
            <a:srgbClr val="14222E"/>
          </a:solidFill>
          <a:ln/>
        </p:spPr>
        <p:txBody>
          <a:bodyPr wrap="none" lIns="155482" tIns="130082" rIns="2137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vTaskFunction(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char *pcTaskName;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pcTaskName = ( char * ) pvParameters;</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vPrintLine( pcTaskName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atraso grosseiro: null loop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6" name="Text 4"/>
          <p:cNvSpPr/>
          <p:nvPr/>
        </p:nvSpPr>
        <p:spPr>
          <a:xfrm>
            <a:off x="812800" y="4815855"/>
            <a:ext cx="4826000" cy="365760"/>
          </a:xfrm>
          <a:prstGeom prst="roundRect">
            <a:avLst>
              <a:gd name="adj" fmla="val 20833"/>
            </a:avLst>
          </a:prstGeom>
          <a:solidFill>
            <a:srgbClr val="E3EFEC"/>
          </a:solidFill>
          <a:ln/>
        </p:spPr>
        <p:txBody>
          <a:bodyPr wrap="square" lIns="91982" tIns="53882" rIns="0" bIns="284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Mesma prioridade: as duas alternam no CPU</a:t>
            </a:r>
            <a:endParaRPr lang="en-US" sz="1200" dirty="0">
              <a:latin typeface="IBM Plex Sans" charset="0"/>
              <a:ea typeface="IBM Plex Sans" charset="0"/>
              <a:cs typeface="IBM Plex Sans" charset="0"/>
            </a:endParaRPr>
          </a:p>
        </p:txBody>
      </p:sp>
      <p:sp>
        <p:nvSpPr>
          <p:cNvPr id="7" name="Text 5"/>
          <p:cNvSpPr/>
          <p:nvPr/>
        </p:nvSpPr>
        <p:spPr>
          <a:xfrm>
            <a:off x="812800" y="5257800"/>
            <a:ext cx="4826000" cy="579120"/>
          </a:xfrm>
          <a:prstGeom prst="roundRect">
            <a:avLst>
              <a:gd name="adj" fmla="val 13158"/>
            </a:avLst>
          </a:prstGeom>
          <a:solidFill>
            <a:srgbClr val="E3EFEC"/>
          </a:solidFill>
          <a:ln/>
        </p:spPr>
        <p:txBody>
          <a:bodyPr wrap="square" lIns="91982" tIns="53882" rIns="0" bIns="284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Strings static const: continuam válidas depois de o main() deixar de correr</a:t>
            </a:r>
            <a:endParaRPr lang="en-US" sz="1200" dirty="0">
              <a:latin typeface="IBM Plex Sans" charset="0"/>
              <a:ea typeface="IBM Plex Sans" charset="0"/>
              <a:cs typeface="IBM Plex Sans" charset="0"/>
            </a:endParaRPr>
          </a:p>
        </p:txBody>
      </p:sp>
      <p:sp>
        <p:nvSpPr>
          <p:cNvPr id="8" name="Text 6"/>
          <p:cNvSpPr/>
          <p:nvPr/>
        </p:nvSpPr>
        <p:spPr>
          <a:xfrm>
            <a:off x="5842000" y="1798315"/>
            <a:ext cx="57033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O main()</a:t>
            </a:r>
            <a:endParaRPr lang="en-US" sz="1200" dirty="0">
              <a:latin typeface="IBM Plex Sans" charset="0"/>
              <a:ea typeface="IBM Plex Sans" charset="0"/>
              <a:cs typeface="IBM Plex Sans" charset="0"/>
            </a:endParaRPr>
          </a:p>
        </p:txBody>
      </p:sp>
      <p:sp>
        <p:nvSpPr>
          <p:cNvPr id="9" name="Text 7"/>
          <p:cNvSpPr/>
          <p:nvPr/>
        </p:nvSpPr>
        <p:spPr>
          <a:xfrm>
            <a:off x="5842000" y="2087885"/>
            <a:ext cx="5537200" cy="3505200"/>
          </a:xfrm>
          <a:prstGeom prst="roundRect">
            <a:avLst>
              <a:gd name="adj" fmla="val 2174"/>
            </a:avLst>
          </a:prstGeom>
          <a:solidFill>
            <a:srgbClr val="14222E"/>
          </a:solidFill>
          <a:ln/>
        </p:spPr>
        <p:txBody>
          <a:bodyPr wrap="none" lIns="155482" tIns="130082" rIns="34"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const char *pcTextForTask1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 1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const char *pcTextForTask2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 2 is running";</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int main(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xTaskCreate( vTaskFunction, "Task 1", 1000,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void * ) pcTextForTask1, 1,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xTaskCreate( vTaskFunction, "Task 2", 1000,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void * ) pcTextForTask2, 1,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vTaskStartScheduler();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Só chega aqui se faltar heap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0" name="Text 8"/>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1" name="Text 9"/>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32</a:t>
            </a:r>
            <a:endParaRPr lang="en-US" sz="1200" dirty="0">
              <a:latin typeface="IBM Plex Sans" charset="0"/>
              <a:ea typeface="IBM Plex Sans" charset="0"/>
              <a:cs typeface="IBM Plex Sans"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Prioridades</a:t>
            </a:r>
            <a:endParaRPr lang="en-US" sz="3200" dirty="0">
              <a:latin typeface="IBM Plex Sans" charset="0"/>
              <a:ea typeface="IBM Plex Sans" charset="0"/>
              <a:cs typeface="IBM Plex Sans" charset="0"/>
            </a:endParaRPr>
          </a:p>
        </p:txBody>
      </p:sp>
      <p:sp>
        <p:nvSpPr>
          <p:cNvPr id="4" name="Text 2"/>
          <p:cNvSpPr/>
          <p:nvPr/>
        </p:nvSpPr>
        <p:spPr>
          <a:xfrm>
            <a:off x="812800" y="1899915"/>
            <a:ext cx="612190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O scheduler garante sempre que entra em </a:t>
            </a:r>
            <a:r>
              <a:rPr lang="en-US" sz="1500" b="1" dirty="0">
                <a:solidFill>
                  <a:srgbClr val="44505C"/>
                </a:solidFill>
                <a:latin typeface="IBM Plex Sans" pitchFamily="34" charset="0"/>
                <a:ea typeface="IBM Plex Sans" pitchFamily="34" charset="-122"/>
                <a:cs typeface="IBM Plex Sans" pitchFamily="34" charset="-120"/>
              </a:rPr>
              <a:t>Running</a:t>
            </a:r>
            <a:r>
              <a:rPr lang="en-US" sz="1500" dirty="0">
                <a:solidFill>
                  <a:srgbClr val="44505C"/>
                </a:solidFill>
                <a:latin typeface="IBM Plex Sans" pitchFamily="34" charset="0"/>
                <a:ea typeface="IBM Plex Sans" pitchFamily="34" charset="-122"/>
                <a:cs typeface="IBM Plex Sans" pitchFamily="34" charset="-120"/>
              </a:rPr>
              <a:t> a task de maior prioridade que pode correr. Tasks de igual prioridade entram e saem de Running à vez.</a:t>
            </a:r>
            <a:endParaRPr lang="en-US" sz="1500" dirty="0">
              <a:latin typeface="IBM Plex Sans" charset="0"/>
              <a:ea typeface="IBM Plex Sans" charset="0"/>
              <a:cs typeface="IBM Plex Sans" charset="0"/>
            </a:endParaRPr>
          </a:p>
        </p:txBody>
      </p:sp>
      <p:sp>
        <p:nvSpPr>
          <p:cNvPr id="5" name="Text 3"/>
          <p:cNvSpPr/>
          <p:nvPr/>
        </p:nvSpPr>
        <p:spPr>
          <a:xfrm>
            <a:off x="812800" y="2852415"/>
            <a:ext cx="612190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Prioridade inicial em </a:t>
            </a:r>
            <a:r>
              <a:rPr lang="en-US" sz="1500" b="1" dirty="0">
                <a:solidFill>
                  <a:srgbClr val="14222E"/>
                </a:solidFill>
                <a:latin typeface="IBM Plex Sans" pitchFamily="34" charset="0"/>
                <a:ea typeface="IBM Plex Sans" pitchFamily="34" charset="-122"/>
                <a:cs typeface="IBM Plex Sans" pitchFamily="34" charset="-120"/>
              </a:rPr>
              <a:t>uxPriority</a:t>
            </a:r>
            <a:r>
              <a:rPr lang="en-US" sz="1500" dirty="0">
                <a:solidFill>
                  <a:srgbClr val="44505C"/>
                </a:solidFill>
                <a:latin typeface="IBM Plex Sans" pitchFamily="34" charset="0"/>
                <a:ea typeface="IBM Plex Sans" pitchFamily="34" charset="-122"/>
                <a:cs typeface="IBM Plex Sans" pitchFamily="34" charset="-120"/>
              </a:rPr>
              <a:t>; muda-se depois com </a:t>
            </a:r>
            <a:r>
              <a:rPr lang="en-US" sz="1500" b="1" dirty="0">
                <a:solidFill>
                  <a:srgbClr val="14222E"/>
                </a:solidFill>
                <a:latin typeface="IBM Plex Sans" pitchFamily="34" charset="0"/>
                <a:ea typeface="IBM Plex Sans" pitchFamily="34" charset="-122"/>
                <a:cs typeface="IBM Plex Sans" pitchFamily="34" charset="-120"/>
              </a:rPr>
              <a:t>vTaskPrioritySet()</a:t>
            </a:r>
            <a:r>
              <a:rPr lang="en-US" sz="1500" dirty="0">
                <a:solidFill>
                  <a:srgbClr val="44505C"/>
                </a:solidFill>
                <a:latin typeface="IBM Plex Sans" pitchFamily="34" charset="0"/>
                <a:ea typeface="IBM Plex Sans" pitchFamily="34" charset="-122"/>
                <a:cs typeface="IBM Plex Sans" pitchFamily="34" charset="-120"/>
              </a:rPr>
              <a:t>. Qualquer número de tasks pode partilhar a mesma prioridade.</a:t>
            </a:r>
            <a:endParaRPr lang="en-US" sz="1500" dirty="0">
              <a:latin typeface="IBM Plex Sans" charset="0"/>
              <a:ea typeface="IBM Plex Sans" charset="0"/>
              <a:cs typeface="IBM Plex Sans" charset="0"/>
            </a:endParaRPr>
          </a:p>
        </p:txBody>
      </p:sp>
      <p:sp>
        <p:nvSpPr>
          <p:cNvPr id="6" name="Text 4"/>
          <p:cNvSpPr/>
          <p:nvPr/>
        </p:nvSpPr>
        <p:spPr>
          <a:xfrm>
            <a:off x="812800" y="3804915"/>
            <a:ext cx="61219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Manter </a:t>
            </a:r>
            <a:r>
              <a:rPr lang="en-US" sz="1500" b="1" dirty="0">
                <a:solidFill>
                  <a:srgbClr val="14222E"/>
                </a:solidFill>
                <a:latin typeface="IBM Plex Sans" pitchFamily="34" charset="0"/>
                <a:ea typeface="IBM Plex Sans" pitchFamily="34" charset="-122"/>
                <a:cs typeface="IBM Plex Sans" pitchFamily="34" charset="-120"/>
              </a:rPr>
              <a:t>configMAX_PRIORITIES</a:t>
            </a:r>
            <a:r>
              <a:rPr lang="en-US" sz="1500" dirty="0">
                <a:solidFill>
                  <a:srgbClr val="44505C"/>
                </a:solidFill>
                <a:latin typeface="IBM Plex Sans" pitchFamily="34" charset="0"/>
                <a:ea typeface="IBM Plex Sans" pitchFamily="34" charset="-122"/>
                <a:cs typeface="IBM Plex Sans" pitchFamily="34" charset="-120"/>
              </a:rPr>
              <a:t> o mais baixo possível: mais prioridades gastam mais RAM.</a:t>
            </a:r>
            <a:endParaRPr lang="en-US" sz="1500" dirty="0">
              <a:latin typeface="IBM Plex Sans" charset="0"/>
              <a:ea typeface="IBM Plex Sans" charset="0"/>
              <a:cs typeface="IBM Plex Sans" charset="0"/>
            </a:endParaRPr>
          </a:p>
        </p:txBody>
      </p:sp>
      <p:sp>
        <p:nvSpPr>
          <p:cNvPr id="7" name="Shape 5"/>
          <p:cNvSpPr/>
          <p:nvPr/>
        </p:nvSpPr>
        <p:spPr>
          <a:xfrm>
            <a:off x="7061200" y="1899915"/>
            <a:ext cx="4318000" cy="741680"/>
          </a:xfrm>
          <a:prstGeom prst="roundRect">
            <a:avLst>
              <a:gd name="adj" fmla="val 10274"/>
            </a:avLst>
          </a:prstGeom>
          <a:solidFill>
            <a:srgbClr val="2F6FD0"/>
          </a:solidFill>
          <a:ln/>
        </p:spPr>
      </p:sp>
      <p:sp>
        <p:nvSpPr>
          <p:cNvPr id="8" name="Text 6"/>
          <p:cNvSpPr/>
          <p:nvPr/>
        </p:nvSpPr>
        <p:spPr>
          <a:xfrm>
            <a:off x="7239000" y="2026915"/>
            <a:ext cx="40812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4EF"/>
                </a:solidFill>
                <a:latin typeface="JetBrains Mono" pitchFamily="49" charset="0"/>
                <a:ea typeface="JetBrains Mono" pitchFamily="49" charset="-122"/>
                <a:cs typeface="JetBrains Mono" pitchFamily="49" charset="-120"/>
              </a:rPr>
              <a:t>configMAX_PRIORITIES − 1</a:t>
            </a:r>
            <a:endParaRPr lang="en-US" sz="1400" dirty="0">
              <a:latin typeface="JetBrains Mono" charset="0"/>
              <a:ea typeface="JetBrains Mono" charset="0"/>
              <a:cs typeface="JetBrains Mono" charset="0"/>
            </a:endParaRPr>
          </a:p>
        </p:txBody>
      </p:sp>
      <p:sp>
        <p:nvSpPr>
          <p:cNvPr id="9" name="Text 7"/>
          <p:cNvSpPr/>
          <p:nvPr/>
        </p:nvSpPr>
        <p:spPr>
          <a:xfrm>
            <a:off x="7239000" y="2301255"/>
            <a:ext cx="40812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E8EC"/>
                </a:solidFill>
                <a:latin typeface="IBM Plex Sans" pitchFamily="34" charset="0"/>
                <a:ea typeface="IBM Plex Sans" pitchFamily="34" charset="-122"/>
                <a:cs typeface="IBM Plex Sans" pitchFamily="34" charset="-120"/>
              </a:rPr>
              <a:t>A mais alta</a:t>
            </a:r>
            <a:endParaRPr lang="en-US" sz="1200" dirty="0">
              <a:latin typeface="IBM Plex Sans" charset="0"/>
              <a:ea typeface="IBM Plex Sans" charset="0"/>
              <a:cs typeface="IBM Plex Sans" charset="0"/>
            </a:endParaRPr>
          </a:p>
        </p:txBody>
      </p:sp>
      <p:sp>
        <p:nvSpPr>
          <p:cNvPr id="10" name="Text 8"/>
          <p:cNvSpPr/>
          <p:nvPr/>
        </p:nvSpPr>
        <p:spPr>
          <a:xfrm>
            <a:off x="6996430" y="2717800"/>
            <a:ext cx="4447540"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66717C"/>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p:txBody>
      </p:sp>
      <p:sp>
        <p:nvSpPr>
          <p:cNvPr id="11" name="Shape 9"/>
          <p:cNvSpPr/>
          <p:nvPr/>
        </p:nvSpPr>
        <p:spPr>
          <a:xfrm>
            <a:off x="7061200" y="3078485"/>
            <a:ext cx="4318000" cy="741680"/>
          </a:xfrm>
          <a:prstGeom prst="roundRect">
            <a:avLst>
              <a:gd name="adj" fmla="val 10274"/>
            </a:avLst>
          </a:prstGeom>
          <a:solidFill>
            <a:srgbClr val="DDE1E4"/>
          </a:solidFill>
          <a:ln/>
        </p:spPr>
      </p:sp>
      <p:sp>
        <p:nvSpPr>
          <p:cNvPr id="12" name="Text 10"/>
          <p:cNvSpPr/>
          <p:nvPr/>
        </p:nvSpPr>
        <p:spPr>
          <a:xfrm>
            <a:off x="7239000" y="3205485"/>
            <a:ext cx="408127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JetBrains Mono" pitchFamily="49" charset="0"/>
                <a:ea typeface="JetBrains Mono" pitchFamily="49" charset="-122"/>
                <a:cs typeface="JetBrains Mono" pitchFamily="49" charset="-120"/>
              </a:rPr>
              <a:t>0</a:t>
            </a:r>
            <a:endParaRPr lang="en-US" sz="1400" dirty="0">
              <a:latin typeface="JetBrains Mono" charset="0"/>
              <a:ea typeface="JetBrains Mono" charset="0"/>
              <a:cs typeface="JetBrains Mono" charset="0"/>
            </a:endParaRPr>
          </a:p>
        </p:txBody>
      </p:sp>
      <p:sp>
        <p:nvSpPr>
          <p:cNvPr id="13" name="Text 11"/>
          <p:cNvSpPr/>
          <p:nvPr/>
        </p:nvSpPr>
        <p:spPr>
          <a:xfrm>
            <a:off x="7239000" y="3479800"/>
            <a:ext cx="40812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 mais baixa (a da idle task)</a:t>
            </a:r>
            <a:endParaRPr lang="en-US" sz="1200" dirty="0">
              <a:latin typeface="IBM Plex Sans" charset="0"/>
              <a:ea typeface="IBM Plex Sans" charset="0"/>
              <a:cs typeface="IBM Plex Sans" charset="0"/>
            </a:endParaRPr>
          </a:p>
        </p:txBody>
      </p:sp>
      <p:sp>
        <p:nvSpPr>
          <p:cNvPr id="14" name="Shape 12"/>
          <p:cNvSpPr/>
          <p:nvPr/>
        </p:nvSpPr>
        <p:spPr>
          <a:xfrm>
            <a:off x="7064375" y="3975745"/>
            <a:ext cx="2114550" cy="1347470"/>
          </a:xfrm>
          <a:prstGeom prst="roundRect">
            <a:avLst>
              <a:gd name="adj" fmla="val 7304"/>
            </a:avLst>
          </a:prstGeom>
          <a:solidFill>
            <a:srgbClr val="FCFBF8"/>
          </a:solidFill>
          <a:ln w="6350">
            <a:solidFill>
              <a:srgbClr val="DCDAD2"/>
            </a:solidFill>
            <a:prstDash val="solid"/>
          </a:ln>
        </p:spPr>
      </p:sp>
      <p:sp>
        <p:nvSpPr>
          <p:cNvPr id="15" name="Text 13"/>
          <p:cNvSpPr/>
          <p:nvPr/>
        </p:nvSpPr>
        <p:spPr>
          <a:xfrm>
            <a:off x="7193280" y="4104655"/>
            <a:ext cx="1912442"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22E"/>
                </a:solidFill>
                <a:latin typeface="IBM Plex Sans" pitchFamily="34" charset="0"/>
                <a:ea typeface="IBM Plex Sans" pitchFamily="34" charset="-122"/>
                <a:cs typeface="IBM Plex Sans" pitchFamily="34" charset="-120"/>
              </a:rPr>
              <a:t>Scheduler genérico</a:t>
            </a:r>
            <a:endParaRPr lang="en-US" sz="1300" dirty="0">
              <a:latin typeface="IBM Plex Sans" charset="0"/>
              <a:ea typeface="IBM Plex Sans" charset="0"/>
              <a:cs typeface="IBM Plex Sans" charset="0"/>
            </a:endParaRPr>
          </a:p>
        </p:txBody>
      </p:sp>
      <p:sp>
        <p:nvSpPr>
          <p:cNvPr id="16" name="Text 14"/>
          <p:cNvSpPr/>
          <p:nvPr/>
        </p:nvSpPr>
        <p:spPr>
          <a:xfrm>
            <a:off x="7193280" y="4340870"/>
            <a:ext cx="1912442"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Em C, todos os ports. Sem limite de prioridades; pior caso cresce com o número.</a:t>
            </a:r>
            <a:endParaRPr lang="en-US" sz="1200" dirty="0">
              <a:latin typeface="IBM Plex Sans" charset="0"/>
              <a:ea typeface="IBM Plex Sans" charset="0"/>
              <a:cs typeface="IBM Plex Sans" charset="0"/>
            </a:endParaRPr>
          </a:p>
        </p:txBody>
      </p:sp>
      <p:sp>
        <p:nvSpPr>
          <p:cNvPr id="17" name="Shape 15"/>
          <p:cNvSpPr/>
          <p:nvPr/>
        </p:nvSpPr>
        <p:spPr>
          <a:xfrm>
            <a:off x="9261475" y="3975745"/>
            <a:ext cx="2114550" cy="1347470"/>
          </a:xfrm>
          <a:prstGeom prst="roundRect">
            <a:avLst>
              <a:gd name="adj" fmla="val 7304"/>
            </a:avLst>
          </a:prstGeom>
          <a:solidFill>
            <a:srgbClr val="FCFBF8"/>
          </a:solidFill>
          <a:ln w="6350">
            <a:solidFill>
              <a:srgbClr val="DCDAD2"/>
            </a:solidFill>
            <a:prstDash val="solid"/>
          </a:ln>
        </p:spPr>
      </p:sp>
      <p:sp>
        <p:nvSpPr>
          <p:cNvPr id="18" name="Text 16"/>
          <p:cNvSpPr/>
          <p:nvPr/>
        </p:nvSpPr>
        <p:spPr>
          <a:xfrm>
            <a:off x="9390380" y="4104655"/>
            <a:ext cx="1912442" cy="22352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222E"/>
                </a:solidFill>
                <a:latin typeface="IBM Plex Sans" pitchFamily="34" charset="0"/>
                <a:ea typeface="IBM Plex Sans" pitchFamily="34" charset="-122"/>
                <a:cs typeface="IBM Plex Sans" pitchFamily="34" charset="-120"/>
              </a:rPr>
              <a:t>Otimizado</a:t>
            </a:r>
            <a:endParaRPr lang="en-US" sz="1300" dirty="0">
              <a:latin typeface="IBM Plex Sans" charset="0"/>
              <a:ea typeface="IBM Plex Sans" charset="0"/>
              <a:cs typeface="IBM Plex Sans" charset="0"/>
            </a:endParaRPr>
          </a:p>
        </p:txBody>
      </p:sp>
      <p:sp>
        <p:nvSpPr>
          <p:cNvPr id="19" name="Text 17"/>
          <p:cNvSpPr/>
          <p:nvPr/>
        </p:nvSpPr>
        <p:spPr>
          <a:xfrm>
            <a:off x="9390380" y="4340870"/>
            <a:ext cx="191244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Em assembly. Máx. 32 (32 bits) ou 64 (64 bits); pior caso constante.</a:t>
            </a:r>
            <a:endParaRPr lang="en-US" sz="1200" dirty="0">
              <a:latin typeface="IBM Plex Sans" charset="0"/>
              <a:ea typeface="IBM Plex Sans" charset="0"/>
              <a:cs typeface="IBM Plex Sans" charset="0"/>
            </a:endParaRPr>
          </a:p>
        </p:txBody>
      </p:sp>
      <p:sp>
        <p:nvSpPr>
          <p:cNvPr id="20" name="Text 18"/>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21" name="Text 19"/>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33</a:t>
            </a:r>
            <a:endParaRPr lang="en-US" sz="1200" dirty="0">
              <a:latin typeface="IBM Plex Sans" charset="0"/>
              <a:ea typeface="IBM Plex Sans" charset="0"/>
              <a:cs typeface="IBM Plex Sans"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tick interrupt e a medição do tempo</a:t>
            </a:r>
            <a:endParaRPr lang="en-US" sz="3200" dirty="0">
              <a:latin typeface="IBM Plex Sans" charset="0"/>
              <a:ea typeface="IBM Plex Sans" charset="0"/>
              <a:cs typeface="IBM Plex Sans" charset="0"/>
            </a:endParaRPr>
          </a:p>
        </p:txBody>
      </p:sp>
      <p:sp>
        <p:nvSpPr>
          <p:cNvPr id="4" name="Text 2"/>
          <p:cNvSpPr/>
          <p:nvPr/>
        </p:nvSpPr>
        <p:spPr>
          <a:xfrm>
            <a:off x="812800" y="3155950"/>
            <a:ext cx="40551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configTICK_RATE_HZ = 100</a:t>
            </a:r>
            <a:endParaRPr lang="en-US" sz="1400" dirty="0">
              <a:latin typeface="JetBrains Mono" charset="0"/>
              <a:ea typeface="JetBrains Mono" charset="0"/>
              <a:cs typeface="JetBrains Mono" charset="0"/>
            </a:endParaRPr>
          </a:p>
        </p:txBody>
      </p:sp>
      <p:sp>
        <p:nvSpPr>
          <p:cNvPr id="5" name="Text 3"/>
          <p:cNvSpPr/>
          <p:nvPr/>
        </p:nvSpPr>
        <p:spPr>
          <a:xfrm>
            <a:off x="812800" y="3481065"/>
            <a:ext cx="405511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14222E"/>
                </a:solidFill>
                <a:latin typeface="IBM Plex Sans" pitchFamily="34" charset="0"/>
                <a:ea typeface="IBM Plex Sans" pitchFamily="34" charset="-122"/>
                <a:cs typeface="IBM Plex Sans" pitchFamily="34" charset="-120"/>
              </a:rPr>
              <a:t>10 ms</a:t>
            </a:r>
            <a:endParaRPr lang="en-US" sz="6000" dirty="0">
              <a:latin typeface="IBM Plex Sans" charset="0"/>
              <a:ea typeface="IBM Plex Sans" charset="0"/>
              <a:cs typeface="IBM Plex Sans" charset="0"/>
            </a:endParaRPr>
          </a:p>
        </p:txBody>
      </p:sp>
      <p:sp>
        <p:nvSpPr>
          <p:cNvPr id="6" name="Text 4"/>
          <p:cNvSpPr/>
          <p:nvPr/>
        </p:nvSpPr>
        <p:spPr>
          <a:xfrm>
            <a:off x="812800" y="4319265"/>
            <a:ext cx="405511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por tick period = um time slice</a:t>
            </a:r>
            <a:endParaRPr lang="en-US" sz="1500" dirty="0">
              <a:latin typeface="IBM Plex Sans" charset="0"/>
              <a:ea typeface="IBM Plex Sans" charset="0"/>
              <a:cs typeface="IBM Plex Sans" charset="0"/>
            </a:endParaRPr>
          </a:p>
        </p:txBody>
      </p:sp>
      <p:sp>
        <p:nvSpPr>
          <p:cNvPr id="7" name="Text 5"/>
          <p:cNvSpPr/>
          <p:nvPr/>
        </p:nvSpPr>
        <p:spPr>
          <a:xfrm>
            <a:off x="5105400" y="1899915"/>
            <a:ext cx="64620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Um interrupt periódico, o </a:t>
            </a:r>
            <a:r>
              <a:rPr lang="en-US" sz="1400" b="1" dirty="0">
                <a:solidFill>
                  <a:srgbClr val="44505C"/>
                </a:solidFill>
                <a:latin typeface="IBM Plex Sans" pitchFamily="34" charset="0"/>
                <a:ea typeface="IBM Plex Sans" pitchFamily="34" charset="-122"/>
                <a:cs typeface="IBM Plex Sans" pitchFamily="34" charset="-120"/>
              </a:rPr>
              <a:t>tick</a:t>
            </a:r>
            <a:r>
              <a:rPr lang="en-US" sz="1400" dirty="0">
                <a:solidFill>
                  <a:srgbClr val="44505C"/>
                </a:solidFill>
                <a:latin typeface="IBM Plex Sans" pitchFamily="34" charset="0"/>
                <a:ea typeface="IBM Plex Sans" pitchFamily="34" charset="-122"/>
                <a:cs typeface="IBM Plex Sans" pitchFamily="34" charset="-120"/>
              </a:rPr>
              <a:t>, corre o scheduler no fim de cada time slice para escolher a próxima task.</a:t>
            </a:r>
            <a:endParaRPr lang="en-US" sz="1400" dirty="0">
              <a:latin typeface="IBM Plex Sans" charset="0"/>
              <a:ea typeface="IBM Plex Sans" charset="0"/>
              <a:cs typeface="IBM Plex Sans" charset="0"/>
            </a:endParaRPr>
          </a:p>
        </p:txBody>
      </p:sp>
      <p:sp>
        <p:nvSpPr>
          <p:cNvPr id="8" name="Shape 6"/>
          <p:cNvSpPr/>
          <p:nvPr/>
        </p:nvSpPr>
        <p:spPr>
          <a:xfrm>
            <a:off x="5105400" y="2524770"/>
            <a:ext cx="6273800" cy="1417320"/>
          </a:xfrm>
          <a:custGeom>
            <a:avLst/>
            <a:gdLst/>
            <a:ahLst/>
            <a:cxnLst/>
            <a:rect l="l" t="t" r="r" b="b"/>
            <a:pathLst>
              <a:path w="6273800" h="1417320">
                <a:moveTo>
                  <a:pt x="0" y="0"/>
                </a:moveTo>
                <a:lnTo>
                  <a:pt x="6197600" y="0"/>
                </a:lnTo>
                <a:arcTo hR="76200" wR="76200" stAng="16200000" swAng="5400000"/>
                <a:lnTo>
                  <a:pt x="6273800" y="1341120"/>
                </a:lnTo>
                <a:arcTo hR="76200" wR="76200" stAng="0" swAng="5400000"/>
                <a:lnTo>
                  <a:pt x="0" y="1417320"/>
                </a:lnTo>
                <a:lnTo>
                  <a:pt x="0" y="0"/>
                </a:lnTo>
                <a:close/>
              </a:path>
            </a:pathLst>
          </a:custGeom>
          <a:solidFill>
            <a:srgbClr val="E3EFEC"/>
          </a:solidFill>
          <a:ln/>
        </p:spPr>
      </p:sp>
      <p:sp>
        <p:nvSpPr>
          <p:cNvPr id="9" name="Shape 7"/>
          <p:cNvSpPr/>
          <p:nvPr/>
        </p:nvSpPr>
        <p:spPr>
          <a:xfrm>
            <a:off x="5105400" y="2524770"/>
            <a:ext cx="6273800" cy="1417320"/>
          </a:xfrm>
          <a:custGeom>
            <a:avLst/>
            <a:gdLst/>
            <a:ahLst/>
            <a:cxnLst/>
            <a:rect l="l" t="t" r="r" b="b"/>
            <a:pathLst>
              <a:path w="6273800" h="1417320">
                <a:moveTo>
                  <a:pt x="38100" y="1417320"/>
                </a:moveTo>
                <a:lnTo>
                  <a:pt x="0" y="1417320"/>
                </a:lnTo>
                <a:lnTo>
                  <a:pt x="0" y="0"/>
                </a:lnTo>
                <a:lnTo>
                  <a:pt x="38100" y="0"/>
                </a:lnTo>
                <a:lnTo>
                  <a:pt x="38100" y="1417320"/>
                </a:lnTo>
                <a:close/>
              </a:path>
            </a:pathLst>
          </a:custGeom>
          <a:solidFill>
            <a:srgbClr val="17766A"/>
          </a:solidFill>
          <a:ln/>
        </p:spPr>
      </p:sp>
      <p:sp>
        <p:nvSpPr>
          <p:cNvPr id="10" name="Text 8"/>
          <p:cNvSpPr/>
          <p:nvPr/>
        </p:nvSpPr>
        <p:spPr>
          <a:xfrm>
            <a:off x="5280660" y="2626370"/>
            <a:ext cx="613760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IBM Plex Sans" pitchFamily="34" charset="0"/>
                <a:ea typeface="IBM Plex Sans" pitchFamily="34" charset="-122"/>
                <a:cs typeface="IBM Plex Sans" pitchFamily="34" charset="-120"/>
              </a:rPr>
              <a:t>O fim do time slice não é o único ponto de decisão</a:t>
            </a:r>
            <a:endParaRPr lang="en-US" sz="1300" dirty="0">
              <a:latin typeface="IBM Plex Sans" charset="0"/>
              <a:ea typeface="IBM Plex Sans" charset="0"/>
              <a:cs typeface="IBM Plex Sans" charset="0"/>
            </a:endParaRPr>
          </a:p>
        </p:txBody>
      </p:sp>
      <p:sp>
        <p:nvSpPr>
          <p:cNvPr id="11" name="Text 9"/>
          <p:cNvSpPr/>
          <p:nvPr/>
        </p:nvSpPr>
        <p:spPr>
          <a:xfrm>
            <a:off x="5280660" y="2895600"/>
            <a:ext cx="61376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scheduler também decide logo que:</a:t>
            </a:r>
            <a:endParaRPr lang="en-US" sz="1200" dirty="0">
              <a:latin typeface="IBM Plex Sans" charset="0"/>
              <a:ea typeface="IBM Plex Sans" charset="0"/>
              <a:cs typeface="IBM Plex Sans" charset="0"/>
            </a:endParaRPr>
          </a:p>
        </p:txBody>
      </p:sp>
      <p:sp>
        <p:nvSpPr>
          <p:cNvPr id="12" name="Text 10"/>
          <p:cNvSpPr/>
          <p:nvPr/>
        </p:nvSpPr>
        <p:spPr>
          <a:xfrm>
            <a:off x="5280660" y="3147070"/>
            <a:ext cx="613760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22E"/>
                </a:solidFill>
                <a:latin typeface="IBM Plex Sans" pitchFamily="34" charset="0"/>
                <a:ea typeface="IBM Plex Sans" pitchFamily="34" charset="-122"/>
                <a:cs typeface="IBM Plex Sans" pitchFamily="34" charset="-120"/>
              </a:rPr>
              <a:t>• a task em Running bloqueia (delay, queue vazia, semáforo…)</a:t>
            </a:r>
            <a:endParaRPr lang="en-US" sz="1200" dirty="0">
              <a:latin typeface="IBM Plex Sans" charset="0"/>
              <a:ea typeface="IBM Plex Sans" charset="0"/>
              <a:cs typeface="IBM Plex Sans" charset="0"/>
            </a:endParaRPr>
          </a:p>
        </p:txBody>
      </p:sp>
      <p:sp>
        <p:nvSpPr>
          <p:cNvPr id="13" name="Text 11"/>
          <p:cNvSpPr/>
          <p:nvPr/>
        </p:nvSpPr>
        <p:spPr>
          <a:xfrm>
            <a:off x="5280660" y="3390900"/>
            <a:ext cx="613760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22E"/>
                </a:solidFill>
                <a:latin typeface="IBM Plex Sans" pitchFamily="34" charset="0"/>
                <a:ea typeface="IBM Plex Sans" pitchFamily="34" charset="-122"/>
                <a:cs typeface="IBM Plex Sans" pitchFamily="34" charset="-120"/>
              </a:rPr>
              <a:t>• uma ISR põe em Ready uma task de maior prioridade</a:t>
            </a:r>
            <a:endParaRPr lang="en-US" sz="1200" dirty="0">
              <a:latin typeface="IBM Plex Sans" charset="0"/>
              <a:ea typeface="IBM Plex Sans" charset="0"/>
              <a:cs typeface="IBM Plex Sans" charset="0"/>
            </a:endParaRPr>
          </a:p>
        </p:txBody>
      </p:sp>
      <p:sp>
        <p:nvSpPr>
          <p:cNvPr id="14" name="Text 12"/>
          <p:cNvSpPr/>
          <p:nvPr/>
        </p:nvSpPr>
        <p:spPr>
          <a:xfrm>
            <a:off x="5280660" y="3634755"/>
            <a:ext cx="6137605"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4222E"/>
                </a:solidFill>
                <a:latin typeface="IBM Plex Sans" pitchFamily="34" charset="0"/>
                <a:ea typeface="IBM Plex Sans" pitchFamily="34" charset="-122"/>
                <a:cs typeface="IBM Plex Sans" pitchFamily="34" charset="-120"/>
              </a:rPr>
              <a:t>• outra task a acorda, ou lhe sobe a prioridade</a:t>
            </a:r>
            <a:endParaRPr lang="en-US" sz="1200" dirty="0">
              <a:latin typeface="IBM Plex Sans" charset="0"/>
              <a:ea typeface="IBM Plex Sans" charset="0"/>
              <a:cs typeface="IBM Plex Sans" charset="0"/>
            </a:endParaRPr>
          </a:p>
        </p:txBody>
      </p:sp>
      <p:sp>
        <p:nvSpPr>
          <p:cNvPr id="15" name="Text 13"/>
          <p:cNvSpPr/>
          <p:nvPr/>
        </p:nvSpPr>
        <p:spPr>
          <a:xfrm>
            <a:off x="5105400" y="4069085"/>
            <a:ext cx="64620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 API mede o tempo em ticks. </a:t>
            </a:r>
            <a:r>
              <a:rPr lang="en-US" sz="1400" b="1" dirty="0">
                <a:solidFill>
                  <a:srgbClr val="14222E"/>
                </a:solidFill>
                <a:latin typeface="IBM Plex Sans" pitchFamily="34" charset="0"/>
                <a:ea typeface="IBM Plex Sans" pitchFamily="34" charset="-122"/>
                <a:cs typeface="IBM Plex Sans" pitchFamily="34" charset="-120"/>
              </a:rPr>
              <a:t>pdMS_TO_TICKS()</a:t>
            </a:r>
            <a:r>
              <a:rPr lang="en-US" sz="1400" dirty="0">
                <a:solidFill>
                  <a:srgbClr val="44505C"/>
                </a:solidFill>
                <a:latin typeface="IBM Plex Sans" pitchFamily="34" charset="0"/>
                <a:ea typeface="IBM Plex Sans" pitchFamily="34" charset="-122"/>
                <a:cs typeface="IBM Plex Sans" pitchFamily="34" charset="-120"/>
              </a:rPr>
              <a:t> converte milissegundos: o código não muda se a frequência do tick mudar.</a:t>
            </a:r>
            <a:endParaRPr lang="en-US" sz="1400" dirty="0">
              <a:latin typeface="IBM Plex Sans" charset="0"/>
              <a:ea typeface="IBM Plex Sans" charset="0"/>
              <a:cs typeface="IBM Plex Sans" charset="0"/>
            </a:endParaRPr>
          </a:p>
        </p:txBody>
      </p:sp>
      <p:sp>
        <p:nvSpPr>
          <p:cNvPr id="16" name="Text 14"/>
          <p:cNvSpPr/>
          <p:nvPr/>
        </p:nvSpPr>
        <p:spPr>
          <a:xfrm>
            <a:off x="5105400" y="4693915"/>
            <a:ext cx="6273800" cy="518160"/>
          </a:xfrm>
          <a:prstGeom prst="roundRect">
            <a:avLst>
              <a:gd name="adj" fmla="val 14706"/>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TickType_t xTimeInTicks = pdMS_TO_TICKS( 200 );</a:t>
            </a:r>
            <a:endParaRPr lang="en-US" sz="1200" dirty="0">
              <a:latin typeface="JetBrains Mono" charset="0"/>
              <a:ea typeface="JetBrains Mono" charset="0"/>
              <a:cs typeface="JetBrains Mono" charset="0"/>
            </a:endParaRPr>
          </a:p>
        </p:txBody>
      </p:sp>
      <p:sp>
        <p:nvSpPr>
          <p:cNvPr id="17" name="Text 15"/>
          <p:cNvSpPr/>
          <p:nvPr/>
        </p:nvSpPr>
        <p:spPr>
          <a:xfrm>
            <a:off x="5105400" y="5339085"/>
            <a:ext cx="646201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 </a:t>
            </a:r>
            <a:r>
              <a:rPr lang="en-US" sz="1400" b="1" dirty="0">
                <a:solidFill>
                  <a:srgbClr val="44505C"/>
                </a:solidFill>
                <a:latin typeface="IBM Plex Sans" pitchFamily="34" charset="0"/>
                <a:ea typeface="IBM Plex Sans" pitchFamily="34" charset="-122"/>
                <a:cs typeface="IBM Plex Sans" pitchFamily="34" charset="-120"/>
              </a:rPr>
              <a:t>tick count</a:t>
            </a:r>
            <a:r>
              <a:rPr lang="en-US" sz="1400" dirty="0">
                <a:solidFill>
                  <a:srgbClr val="44505C"/>
                </a:solidFill>
                <a:latin typeface="IBM Plex Sans" pitchFamily="34" charset="0"/>
                <a:ea typeface="IBM Plex Sans" pitchFamily="34" charset="-122"/>
                <a:cs typeface="IBM Plex Sans" pitchFamily="34" charset="-120"/>
              </a:rPr>
              <a:t> conta os ticks desde o arranque do scheduler; o FreeRTOS trata do overflow.</a:t>
            </a:r>
            <a:endParaRPr lang="en-US" sz="1400" dirty="0">
              <a:latin typeface="IBM Plex Sans" charset="0"/>
              <a:ea typeface="IBM Plex Sans" charset="0"/>
              <a:cs typeface="IBM Plex Sans" charset="0"/>
            </a:endParaRPr>
          </a:p>
        </p:txBody>
      </p:sp>
      <p:sp>
        <p:nvSpPr>
          <p:cNvPr id="18" name="Text 16"/>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9" name="Text 17"/>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34</a:t>
            </a:r>
            <a:endParaRPr lang="en-US" sz="1200" dirty="0">
              <a:latin typeface="IBM Plex Sans" charset="0"/>
              <a:ea typeface="IBM Plex Sans" charset="0"/>
              <a:cs typeface="IBM Plex Sans"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Starvation e tasks event-driven</a:t>
            </a:r>
            <a:endParaRPr lang="en-US" sz="3200" dirty="0">
              <a:latin typeface="IBM Plex Sans" charset="0"/>
              <a:ea typeface="IBM Plex Sans" charset="0"/>
              <a:cs typeface="IBM Plex Sans" charset="0"/>
            </a:endParaRPr>
          </a:p>
        </p:txBody>
      </p:sp>
      <p:sp>
        <p:nvSpPr>
          <p:cNvPr id="4" name="Shape 2"/>
          <p:cNvSpPr/>
          <p:nvPr/>
        </p:nvSpPr>
        <p:spPr>
          <a:xfrm>
            <a:off x="815975" y="1801490"/>
            <a:ext cx="5175250" cy="2940050"/>
          </a:xfrm>
          <a:prstGeom prst="roundRect">
            <a:avLst>
              <a:gd name="adj" fmla="val 3348"/>
            </a:avLst>
          </a:prstGeom>
          <a:solidFill>
            <a:srgbClr val="FCFBF8"/>
          </a:solidFill>
          <a:ln w="6350">
            <a:solidFill>
              <a:srgbClr val="DCDAD2"/>
            </a:solidFill>
            <a:prstDash val="solid"/>
          </a:ln>
        </p:spPr>
      </p:sp>
      <p:sp>
        <p:nvSpPr>
          <p:cNvPr id="5" name="Text 3"/>
          <p:cNvSpPr/>
          <p:nvPr/>
        </p:nvSpPr>
        <p:spPr>
          <a:xfrm>
            <a:off x="1021080" y="20066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EXEMPLO A · NULL LOOP</a:t>
            </a:r>
            <a:endParaRPr lang="en-US" sz="1200" dirty="0">
              <a:latin typeface="IBM Plex Sans" charset="0"/>
              <a:ea typeface="IBM Plex Sans" charset="0"/>
              <a:cs typeface="IBM Plex Sans" charset="0"/>
            </a:endParaRPr>
          </a:p>
        </p:txBody>
      </p:sp>
      <p:sp>
        <p:nvSpPr>
          <p:cNvPr id="6" name="Text 4"/>
          <p:cNvSpPr/>
          <p:nvPr/>
        </p:nvSpPr>
        <p:spPr>
          <a:xfrm>
            <a:off x="1021080" y="2321570"/>
            <a:ext cx="49079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Task 1 prioridade 1, Task 2 prioridade 2</a:t>
            </a:r>
            <a:endParaRPr lang="en-US" sz="1500" dirty="0">
              <a:latin typeface="IBM Plex Sans" charset="0"/>
              <a:ea typeface="IBM Plex Sans" charset="0"/>
              <a:cs typeface="IBM Plex Sans" charset="0"/>
            </a:endParaRPr>
          </a:p>
        </p:txBody>
      </p:sp>
      <p:sp>
        <p:nvSpPr>
          <p:cNvPr id="7" name="Text 5"/>
          <p:cNvSpPr/>
          <p:nvPr/>
        </p:nvSpPr>
        <p:spPr>
          <a:xfrm>
            <a:off x="1021080" y="2651770"/>
            <a:ext cx="4765040" cy="1320800"/>
          </a:xfrm>
          <a:prstGeom prst="roundRect">
            <a:avLst>
              <a:gd name="adj" fmla="val 5769"/>
            </a:avLst>
          </a:prstGeom>
          <a:solidFill>
            <a:srgbClr val="0E1820"/>
          </a:solidFill>
          <a:ln/>
        </p:spPr>
        <p:txBody>
          <a:bodyPr wrap="none" lIns="130082" tIns="104682" rIns="0" bIns="79282" rtlCol="0" anchor="t">
            <a:normAutofit/>
          </a:bodyPr>
          <a:lstStyle/>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p:txBody>
      </p:sp>
      <p:sp>
        <p:nvSpPr>
          <p:cNvPr id="8" name="Text 6"/>
          <p:cNvSpPr/>
          <p:nvPr/>
        </p:nvSpPr>
        <p:spPr>
          <a:xfrm>
            <a:off x="1021080" y="4074170"/>
            <a:ext cx="490799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A Task 2 pode correr sempre. A Task 1 nunca entra em Running: sofre </a:t>
            </a:r>
            <a:r>
              <a:rPr lang="en-US" sz="1300" b="1" dirty="0">
                <a:solidFill>
                  <a:srgbClr val="14222E"/>
                </a:solidFill>
                <a:latin typeface="IBM Plex Sans" pitchFamily="34" charset="0"/>
                <a:ea typeface="IBM Plex Sans" pitchFamily="34" charset="-122"/>
                <a:cs typeface="IBM Plex Sans" pitchFamily="34" charset="-120"/>
              </a:rPr>
              <a:t>starvation</a:t>
            </a:r>
            <a:r>
              <a:rPr lang="en-US" sz="1300" dirty="0">
                <a:solidFill>
                  <a:srgbClr val="14222E"/>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sp>
        <p:nvSpPr>
          <p:cNvPr id="9" name="Shape 7"/>
          <p:cNvSpPr/>
          <p:nvPr/>
        </p:nvSpPr>
        <p:spPr>
          <a:xfrm>
            <a:off x="6200775" y="1801490"/>
            <a:ext cx="5175250" cy="2940050"/>
          </a:xfrm>
          <a:prstGeom prst="roundRect">
            <a:avLst>
              <a:gd name="adj" fmla="val 3348"/>
            </a:avLst>
          </a:prstGeom>
          <a:solidFill>
            <a:srgbClr val="FCFBF8"/>
          </a:solidFill>
          <a:ln w="6350">
            <a:solidFill>
              <a:srgbClr val="DCDAD2"/>
            </a:solidFill>
            <a:prstDash val="solid"/>
          </a:ln>
        </p:spPr>
      </p:sp>
      <p:sp>
        <p:nvSpPr>
          <p:cNvPr id="10" name="Text 8"/>
          <p:cNvSpPr/>
          <p:nvPr/>
        </p:nvSpPr>
        <p:spPr>
          <a:xfrm>
            <a:off x="6405880" y="20066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Exemplo B · vTaskDelay()</a:t>
            </a:r>
            <a:endParaRPr lang="en-US" sz="1200" dirty="0">
              <a:latin typeface="IBM Plex Sans" charset="0"/>
              <a:ea typeface="IBM Plex Sans" charset="0"/>
              <a:cs typeface="IBM Plex Sans" charset="0"/>
            </a:endParaRPr>
          </a:p>
        </p:txBody>
      </p:sp>
      <p:sp>
        <p:nvSpPr>
          <p:cNvPr id="11" name="Text 9"/>
          <p:cNvSpPr/>
          <p:nvPr/>
        </p:nvSpPr>
        <p:spPr>
          <a:xfrm>
            <a:off x="6405880" y="2321570"/>
            <a:ext cx="490799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Mesmas prioridades, agora a bloquear</a:t>
            </a:r>
            <a:endParaRPr lang="en-US" sz="1500" dirty="0">
              <a:latin typeface="IBM Plex Sans" charset="0"/>
              <a:ea typeface="IBM Plex Sans" charset="0"/>
              <a:cs typeface="IBM Plex Sans" charset="0"/>
            </a:endParaRPr>
          </a:p>
        </p:txBody>
      </p:sp>
      <p:sp>
        <p:nvSpPr>
          <p:cNvPr id="12" name="Text 10"/>
          <p:cNvSpPr/>
          <p:nvPr/>
        </p:nvSpPr>
        <p:spPr>
          <a:xfrm>
            <a:off x="6405880" y="2651770"/>
            <a:ext cx="4765040" cy="1320800"/>
          </a:xfrm>
          <a:prstGeom prst="roundRect">
            <a:avLst>
              <a:gd name="adj" fmla="val 5769"/>
            </a:avLst>
          </a:prstGeom>
          <a:solidFill>
            <a:srgbClr val="0E1820"/>
          </a:solidFill>
          <a:ln/>
        </p:spPr>
        <p:txBody>
          <a:bodyPr wrap="none" lIns="130082" tIns="104682" rIns="0" bIns="79282" rtlCol="0" anchor="t">
            <a:normAutofit/>
          </a:bodyPr>
          <a:lstStyle/>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1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1 is running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C9E6DF"/>
                </a:solidFill>
                <a:latin typeface="JetBrains Mono" pitchFamily="49" charset="0"/>
                <a:ea typeface="JetBrains Mono" pitchFamily="49" charset="-122"/>
                <a:cs typeface="JetBrains Mono" pitchFamily="49" charset="-120"/>
              </a:rPr>
              <a:t>Task 2 is running</a:t>
            </a:r>
            <a:endParaRPr lang="en-US" sz="1200" dirty="0">
              <a:latin typeface="JetBrains Mono" charset="0"/>
              <a:ea typeface="JetBrains Mono" charset="0"/>
              <a:cs typeface="JetBrains Mono" charset="0"/>
            </a:endParaRPr>
          </a:p>
        </p:txBody>
      </p:sp>
      <p:sp>
        <p:nvSpPr>
          <p:cNvPr id="13" name="Text 11"/>
          <p:cNvSpPr/>
          <p:nvPr/>
        </p:nvSpPr>
        <p:spPr>
          <a:xfrm>
            <a:off x="6405880" y="4074170"/>
            <a:ext cx="490799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Enquanto está </a:t>
            </a:r>
            <a:r>
              <a:rPr lang="en-US" sz="1300" b="1" dirty="0">
                <a:solidFill>
                  <a:srgbClr val="14222E"/>
                </a:solidFill>
                <a:latin typeface="IBM Plex Sans" pitchFamily="34" charset="0"/>
                <a:ea typeface="IBM Plex Sans" pitchFamily="34" charset="-122"/>
                <a:cs typeface="IBM Plex Sans" pitchFamily="34" charset="-120"/>
              </a:rPr>
              <a:t>Blocked</a:t>
            </a:r>
            <a:r>
              <a:rPr lang="en-US" sz="1300" dirty="0">
                <a:solidFill>
                  <a:srgbClr val="14222E"/>
                </a:solidFill>
                <a:latin typeface="IBM Plex Sans" pitchFamily="34" charset="0"/>
                <a:ea typeface="IBM Plex Sans" pitchFamily="34" charset="-122"/>
                <a:cs typeface="IBM Plex Sans" pitchFamily="34" charset="-120"/>
              </a:rPr>
              <a:t>, a task não gasta CPU. As duas correm; no resto do tempo corre a idle task.</a:t>
            </a:r>
            <a:endParaRPr lang="en-US" sz="1300" dirty="0">
              <a:latin typeface="IBM Plex Sans" charset="0"/>
              <a:ea typeface="IBM Plex Sans" charset="0"/>
              <a:cs typeface="IBM Plex Sans" charset="0"/>
            </a:endParaRPr>
          </a:p>
        </p:txBody>
      </p:sp>
      <p:sp>
        <p:nvSpPr>
          <p:cNvPr id="14" name="Text 12"/>
          <p:cNvSpPr/>
          <p:nvPr/>
        </p:nvSpPr>
        <p:spPr>
          <a:xfrm>
            <a:off x="812800" y="4947915"/>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Tasks de processamento contínuo só servem na prioridade mais baixa. Uma task </a:t>
            </a:r>
            <a:r>
              <a:rPr lang="en-US" sz="1400" b="1" dirty="0">
                <a:solidFill>
                  <a:srgbClr val="44505C"/>
                </a:solidFill>
                <a:latin typeface="IBM Plex Sans" pitchFamily="34" charset="0"/>
                <a:ea typeface="IBM Plex Sans" pitchFamily="34" charset="-122"/>
                <a:cs typeface="IBM Plex Sans" pitchFamily="34" charset="-120"/>
              </a:rPr>
              <a:t>event-driven</a:t>
            </a:r>
            <a:r>
              <a:rPr lang="en-US" sz="1400" dirty="0">
                <a:solidFill>
                  <a:srgbClr val="44505C"/>
                </a:solidFill>
                <a:latin typeface="IBM Plex Sans" pitchFamily="34" charset="0"/>
                <a:ea typeface="IBM Plex Sans" pitchFamily="34" charset="-122"/>
                <a:cs typeface="IBM Plex Sans" pitchFamily="34" charset="-120"/>
              </a:rPr>
              <a:t> só entra em Running depois de um evento a acordar.</a:t>
            </a:r>
            <a:endParaRPr lang="en-US" sz="1400" dirty="0">
              <a:latin typeface="IBM Plex Sans" charset="0"/>
              <a:ea typeface="IBM Plex Sans" charset="0"/>
              <a:cs typeface="IBM Plex Sans" charset="0"/>
            </a:endParaRPr>
          </a:p>
        </p:txBody>
      </p:sp>
      <p:sp>
        <p:nvSpPr>
          <p:cNvPr id="15" name="Text 13"/>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6" name="Text 14"/>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35</a:t>
            </a:r>
            <a:endParaRPr lang="en-US" sz="1200" dirty="0">
              <a:latin typeface="IBM Plex Sans" charset="0"/>
              <a:ea typeface="IBM Plex Sans" charset="0"/>
              <a:cs typeface="IBM Plex Sans"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Os estados de uma task</a:t>
            </a:r>
            <a:endParaRPr lang="en-US" sz="3200" dirty="0">
              <a:latin typeface="IBM Plex Sans" charset="0"/>
              <a:ea typeface="IBM Plex Sans" charset="0"/>
              <a:cs typeface="IBM Plex Sans" charset="0"/>
            </a:endParaRPr>
          </a:p>
        </p:txBody>
      </p:sp>
      <p:sp>
        <p:nvSpPr>
          <p:cNvPr id="4" name="Shape 2"/>
          <p:cNvSpPr/>
          <p:nvPr/>
        </p:nvSpPr>
        <p:spPr>
          <a:xfrm>
            <a:off x="819150" y="1804665"/>
            <a:ext cx="3543300" cy="3924300"/>
          </a:xfrm>
          <a:prstGeom prst="roundRect">
            <a:avLst>
              <a:gd name="adj" fmla="val 4122"/>
            </a:avLst>
          </a:prstGeom>
          <a:noFill/>
          <a:ln w="12700">
            <a:solidFill>
              <a:srgbClr val="A7B0B8"/>
            </a:solidFill>
            <a:prstDash val="dash"/>
          </a:ln>
        </p:spPr>
      </p:sp>
      <p:sp>
        <p:nvSpPr>
          <p:cNvPr id="5" name="Text 3"/>
          <p:cNvSpPr/>
          <p:nvPr/>
        </p:nvSpPr>
        <p:spPr>
          <a:xfrm>
            <a:off x="965200" y="1874515"/>
            <a:ext cx="196215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Not Running</a:t>
            </a:r>
            <a:endParaRPr lang="en-US" sz="1200" dirty="0">
              <a:latin typeface="IBM Plex Sans" charset="0"/>
              <a:ea typeface="IBM Plex Sans" charset="0"/>
              <a:cs typeface="IBM Plex Sans" charset="0"/>
            </a:endParaRPr>
          </a:p>
        </p:txBody>
      </p:sp>
      <p:sp>
        <p:nvSpPr>
          <p:cNvPr id="6" name="Text 4"/>
          <p:cNvSpPr/>
          <p:nvPr/>
        </p:nvSpPr>
        <p:spPr>
          <a:xfrm>
            <a:off x="1771650" y="2185665"/>
            <a:ext cx="1638300" cy="554355"/>
          </a:xfrm>
          <a:custGeom>
            <a:avLst/>
            <a:gdLst/>
            <a:ahLst/>
            <a:cxnLst/>
            <a:rect l="l" t="t" r="r" b="b"/>
            <a:pathLst>
              <a:path w="1638300" h="554355">
                <a:moveTo>
                  <a:pt x="107950" y="0"/>
                </a:moveTo>
                <a:lnTo>
                  <a:pt x="1530350" y="0"/>
                </a:lnTo>
                <a:arcTo hR="107950" wR="107950" stAng="16200000" swAng="5400000"/>
                <a:lnTo>
                  <a:pt x="1638300" y="446405"/>
                </a:lnTo>
                <a:arcTo hR="107950" wR="107950" stAng="0" swAng="5400000"/>
                <a:lnTo>
                  <a:pt x="107950" y="554355"/>
                </a:lnTo>
                <a:arcTo hR="107950" wR="107950" stAng="5400000" swAng="5400000"/>
                <a:lnTo>
                  <a:pt x="0" y="107950"/>
                </a:lnTo>
                <a:arcTo hR="107950" wR="107950" stAng="10800000" swAng="5400000"/>
                <a:close/>
              </a:path>
            </a:pathLst>
          </a:custGeom>
          <a:solidFill>
            <a:srgbClr val="FCFBF8"/>
          </a:solidFill>
          <a:ln w="12700">
            <a:solidFill>
              <a:srgbClr val="14222E"/>
            </a:solidFill>
            <a:prstDash val="solid"/>
          </a:ln>
        </p:spPr>
        <p:txBody>
          <a:bodyPr wrap="square" lIns="0" tIns="3810" rIns="0" bIns="0" rtlCol="0" anchor="t">
            <a:normAutofit/>
          </a:bodyPr>
          <a:lstStyle/>
          <a:p>
            <a:pPr algn="ctr" indent="0" marL="0">
              <a:lnSpc>
                <a:spcPts val="4305"/>
              </a:lnSpc>
              <a:buNone/>
            </a:pPr>
            <a:r>
              <a:rPr lang="en-US" sz="1500" b="1" dirty="0">
                <a:solidFill>
                  <a:srgbClr val="14222E"/>
                </a:solidFill>
                <a:latin typeface="IBM Plex Sans" pitchFamily="34" charset="0"/>
                <a:ea typeface="IBM Plex Sans" pitchFamily="34" charset="-122"/>
                <a:cs typeface="IBM Plex Sans" pitchFamily="34" charset="-120"/>
              </a:rPr>
              <a:t>Suspended</a:t>
            </a:r>
            <a:endParaRPr lang="en-US" sz="1500" dirty="0">
              <a:latin typeface="IBM Plex Sans" charset="0"/>
              <a:ea typeface="IBM Plex Sans" charset="0"/>
              <a:cs typeface="IBM Plex Sans" charset="0"/>
            </a:endParaRPr>
          </a:p>
        </p:txBody>
      </p:sp>
      <p:sp>
        <p:nvSpPr>
          <p:cNvPr id="7" name="Text 5"/>
          <p:cNvSpPr/>
          <p:nvPr/>
        </p:nvSpPr>
        <p:spPr>
          <a:xfrm>
            <a:off x="1778000" y="3493765"/>
            <a:ext cx="1625600" cy="545465"/>
          </a:xfrm>
          <a:custGeom>
            <a:avLst/>
            <a:gdLst/>
            <a:ahLst/>
            <a:cxnLst/>
            <a:rect l="l" t="t" r="r" b="b"/>
            <a:pathLst>
              <a:path w="1625600" h="545465">
                <a:moveTo>
                  <a:pt x="101600" y="0"/>
                </a:moveTo>
                <a:lnTo>
                  <a:pt x="1524000" y="0"/>
                </a:lnTo>
                <a:arcTo hR="101600" wR="101600" stAng="16200000" swAng="5400000"/>
                <a:lnTo>
                  <a:pt x="1625600" y="443865"/>
                </a:lnTo>
                <a:arcTo hR="101600" wR="101600" stAng="0" swAng="5400000"/>
                <a:lnTo>
                  <a:pt x="101600" y="545465"/>
                </a:lnTo>
                <a:arcTo hR="101600" wR="101600" stAng="5400000" swAng="5400000"/>
                <a:lnTo>
                  <a:pt x="0" y="101600"/>
                </a:lnTo>
                <a:arcTo hR="101600" wR="101600" stAng="10800000" swAng="5400000"/>
                <a:close/>
              </a:path>
            </a:pathLst>
          </a:custGeom>
          <a:solidFill>
            <a:srgbClr val="FCFBF8"/>
          </a:solidFill>
          <a:ln w="25400">
            <a:solidFill>
              <a:srgbClr val="14222E"/>
            </a:solidFill>
            <a:prstDash val="solid"/>
          </a:ln>
        </p:spPr>
        <p:txBody>
          <a:bodyPr wrap="square" lIns="0" tIns="12700" rIns="0" bIns="0" rtlCol="0" anchor="t">
            <a:normAutofit/>
          </a:bodyPr>
          <a:lstStyle/>
          <a:p>
            <a:pPr algn="ctr" indent="0" marL="0">
              <a:lnSpc>
                <a:spcPts val="4095"/>
              </a:lnSpc>
              <a:buNone/>
            </a:pPr>
            <a:r>
              <a:rPr lang="en-US" sz="1500" b="1" dirty="0">
                <a:solidFill>
                  <a:srgbClr val="14222E"/>
                </a:solidFill>
                <a:latin typeface="IBM Plex Sans" pitchFamily="34" charset="0"/>
                <a:ea typeface="IBM Plex Sans" pitchFamily="34" charset="-122"/>
                <a:cs typeface="IBM Plex Sans" pitchFamily="34" charset="-120"/>
              </a:rPr>
              <a:t>Ready</a:t>
            </a:r>
            <a:endParaRPr lang="en-US" sz="1500" dirty="0">
              <a:latin typeface="IBM Plex Sans" charset="0"/>
              <a:ea typeface="IBM Plex Sans" charset="0"/>
              <a:cs typeface="IBM Plex Sans" charset="0"/>
            </a:endParaRPr>
          </a:p>
        </p:txBody>
      </p:sp>
      <p:sp>
        <p:nvSpPr>
          <p:cNvPr id="8" name="Text 6"/>
          <p:cNvSpPr/>
          <p:nvPr/>
        </p:nvSpPr>
        <p:spPr>
          <a:xfrm>
            <a:off x="1771650" y="4852665"/>
            <a:ext cx="1638300" cy="554355"/>
          </a:xfrm>
          <a:custGeom>
            <a:avLst/>
            <a:gdLst/>
            <a:ahLst/>
            <a:cxnLst/>
            <a:rect l="l" t="t" r="r" b="b"/>
            <a:pathLst>
              <a:path w="1638300" h="554355">
                <a:moveTo>
                  <a:pt x="107950" y="0"/>
                </a:moveTo>
                <a:lnTo>
                  <a:pt x="1530350" y="0"/>
                </a:lnTo>
                <a:arcTo hR="107950" wR="107950" stAng="16200000" swAng="5400000"/>
                <a:lnTo>
                  <a:pt x="1638300" y="446405"/>
                </a:lnTo>
                <a:arcTo hR="107950" wR="107950" stAng="0" swAng="5400000"/>
                <a:lnTo>
                  <a:pt x="107950" y="554355"/>
                </a:lnTo>
                <a:arcTo hR="107950" wR="107950" stAng="5400000" swAng="5400000"/>
                <a:lnTo>
                  <a:pt x="0" y="107950"/>
                </a:lnTo>
                <a:arcTo hR="107950" wR="107950" stAng="10800000" swAng="5400000"/>
                <a:close/>
              </a:path>
            </a:pathLst>
          </a:custGeom>
          <a:solidFill>
            <a:srgbClr val="FCFBF8"/>
          </a:solidFill>
          <a:ln w="12700">
            <a:solidFill>
              <a:srgbClr val="14222E"/>
            </a:solidFill>
            <a:prstDash val="solid"/>
          </a:ln>
        </p:spPr>
        <p:txBody>
          <a:bodyPr wrap="square" lIns="0" tIns="3810" rIns="0" bIns="0" rtlCol="0" anchor="t">
            <a:normAutofit/>
          </a:bodyPr>
          <a:lstStyle/>
          <a:p>
            <a:pPr algn="ctr" indent="0" marL="0">
              <a:lnSpc>
                <a:spcPts val="4305"/>
              </a:lnSpc>
              <a:buNone/>
            </a:pPr>
            <a:r>
              <a:rPr lang="en-US" sz="1500" b="1" dirty="0">
                <a:solidFill>
                  <a:srgbClr val="14222E"/>
                </a:solidFill>
                <a:latin typeface="IBM Plex Sans" pitchFamily="34" charset="0"/>
                <a:ea typeface="IBM Plex Sans" pitchFamily="34" charset="-122"/>
                <a:cs typeface="IBM Plex Sans" pitchFamily="34" charset="-120"/>
              </a:rPr>
              <a:t>Blocked</a:t>
            </a:r>
            <a:endParaRPr lang="en-US" sz="1500" dirty="0">
              <a:latin typeface="IBM Plex Sans" charset="0"/>
              <a:ea typeface="IBM Plex Sans" charset="0"/>
              <a:cs typeface="IBM Plex Sans" charset="0"/>
            </a:endParaRPr>
          </a:p>
        </p:txBody>
      </p:sp>
      <p:sp>
        <p:nvSpPr>
          <p:cNvPr id="9" name="Text 7"/>
          <p:cNvSpPr/>
          <p:nvPr/>
        </p:nvSpPr>
        <p:spPr>
          <a:xfrm>
            <a:off x="5270500" y="3493765"/>
            <a:ext cx="1625600" cy="545465"/>
          </a:xfrm>
          <a:custGeom>
            <a:avLst/>
            <a:gdLst/>
            <a:ahLst/>
            <a:cxnLst/>
            <a:rect l="l" t="t" r="r" b="b"/>
            <a:pathLst>
              <a:path w="1625600" h="545465">
                <a:moveTo>
                  <a:pt x="101600" y="0"/>
                </a:moveTo>
                <a:lnTo>
                  <a:pt x="1524000" y="0"/>
                </a:lnTo>
                <a:arcTo hR="101600" wR="101600" stAng="16200000" swAng="5400000"/>
                <a:lnTo>
                  <a:pt x="1625600" y="443865"/>
                </a:lnTo>
                <a:arcTo hR="101600" wR="101600" stAng="0" swAng="5400000"/>
                <a:lnTo>
                  <a:pt x="101600" y="545465"/>
                </a:lnTo>
                <a:arcTo hR="101600" wR="101600" stAng="5400000" swAng="5400000"/>
                <a:lnTo>
                  <a:pt x="0" y="101600"/>
                </a:lnTo>
                <a:arcTo hR="101600" wR="101600" stAng="10800000" swAng="5400000"/>
                <a:close/>
              </a:path>
            </a:pathLst>
          </a:custGeom>
          <a:solidFill>
            <a:srgbClr val="FCFBF8"/>
          </a:solidFill>
          <a:ln w="25400">
            <a:solidFill>
              <a:srgbClr val="14222E"/>
            </a:solidFill>
            <a:prstDash val="solid"/>
          </a:ln>
        </p:spPr>
        <p:txBody>
          <a:bodyPr wrap="square" lIns="0" tIns="12700" rIns="0" bIns="0" rtlCol="0" anchor="t">
            <a:normAutofit/>
          </a:bodyPr>
          <a:lstStyle/>
          <a:p>
            <a:pPr algn="ctr" indent="0" marL="0">
              <a:lnSpc>
                <a:spcPts val="4095"/>
              </a:lnSpc>
              <a:buNone/>
            </a:pPr>
            <a:r>
              <a:rPr lang="en-US" sz="1500" b="1" dirty="0">
                <a:solidFill>
                  <a:srgbClr val="14222E"/>
                </a:solidFill>
                <a:latin typeface="IBM Plex Sans" pitchFamily="34" charset="0"/>
                <a:ea typeface="IBM Plex Sans" pitchFamily="34" charset="-122"/>
                <a:cs typeface="IBM Plex Sans" pitchFamily="34" charset="-120"/>
              </a:rPr>
              <a:t>Running</a:t>
            </a:r>
            <a:endParaRPr lang="en-US" sz="1500" dirty="0">
              <a:latin typeface="IBM Plex Sans" charset="0"/>
              <a:ea typeface="IBM Plex Sans" charset="0"/>
              <a:cs typeface="IBM Plex Sans" charset="0"/>
            </a:endParaRPr>
          </a:p>
        </p:txBody>
      </p:sp>
      <p:pic>
        <p:nvPicPr>
          <p:cNvPr id="10" name="Image 0" descr="ellipse">    </p:cNvPr>
          <p:cNvPicPr>
            <a:picLocks noChangeAspect="1"/>
          </p:cNvPicPr>
          <p:nvPr/>
        </p:nvPicPr>
        <p:blipFill>
          <a:blip r:embed="rId1"/>
          <a:srcRect l="0" r="0" t="0" b="0"/>
          <a:stretch/>
        </p:blipFill>
        <p:spPr>
          <a:xfrm>
            <a:off x="1346200" y="3703315"/>
            <a:ext cx="127000" cy="127000"/>
          </a:xfrm>
          <a:prstGeom prst="rect">
            <a:avLst/>
          </a:prstGeom>
        </p:spPr>
      </p:pic>
      <p:pic>
        <p:nvPicPr>
          <p:cNvPr id="11" name="Image 1" descr="connector">    </p:cNvPr>
          <p:cNvPicPr>
            <a:picLocks noChangeAspect="1"/>
          </p:cNvPicPr>
          <p:nvPr/>
        </p:nvPicPr>
        <p:blipFill>
          <a:blip r:embed="rId2"/>
          <a:srcRect l="0" r="0" t="0" b="0"/>
          <a:stretch/>
        </p:blipFill>
        <p:spPr>
          <a:xfrm>
            <a:off x="1422400" y="3716015"/>
            <a:ext cx="393700" cy="101600"/>
          </a:xfrm>
          <a:prstGeom prst="rect">
            <a:avLst/>
          </a:prstGeom>
        </p:spPr>
      </p:pic>
      <p:pic>
        <p:nvPicPr>
          <p:cNvPr id="12" name="Image 2" descr="connector">    </p:cNvPr>
          <p:cNvPicPr>
            <a:picLocks noChangeAspect="1"/>
          </p:cNvPicPr>
          <p:nvPr/>
        </p:nvPicPr>
        <p:blipFill>
          <a:blip r:embed="rId3"/>
          <a:srcRect l="0" r="0" t="0" b="0"/>
          <a:stretch/>
        </p:blipFill>
        <p:spPr>
          <a:xfrm>
            <a:off x="3340100" y="3563615"/>
            <a:ext cx="1993900" cy="152400"/>
          </a:xfrm>
          <a:prstGeom prst="rect">
            <a:avLst/>
          </a:prstGeom>
        </p:spPr>
      </p:pic>
      <p:pic>
        <p:nvPicPr>
          <p:cNvPr id="13" name="Image 3" descr="connector">    </p:cNvPr>
          <p:cNvPicPr>
            <a:picLocks noChangeAspect="1"/>
          </p:cNvPicPr>
          <p:nvPr/>
        </p:nvPicPr>
        <p:blipFill>
          <a:blip r:embed="rId4"/>
          <a:srcRect l="0" r="0" t="0" b="0"/>
          <a:stretch/>
        </p:blipFill>
        <p:spPr>
          <a:xfrm>
            <a:off x="3340100" y="3817615"/>
            <a:ext cx="1993900" cy="152400"/>
          </a:xfrm>
          <a:prstGeom prst="rect">
            <a:avLst/>
          </a:prstGeom>
        </p:spPr>
      </p:pic>
      <p:pic>
        <p:nvPicPr>
          <p:cNvPr id="14" name="Image 4" descr="connector">    </p:cNvPr>
          <p:cNvPicPr>
            <a:picLocks noChangeAspect="1"/>
          </p:cNvPicPr>
          <p:nvPr/>
        </p:nvPicPr>
        <p:blipFill>
          <a:blip r:embed="rId5"/>
          <a:srcRect l="0" r="0" t="0" b="0"/>
          <a:stretch/>
        </p:blipFill>
        <p:spPr>
          <a:xfrm>
            <a:off x="3365500" y="4001765"/>
            <a:ext cx="2768600" cy="1181100"/>
          </a:xfrm>
          <a:prstGeom prst="rect">
            <a:avLst/>
          </a:prstGeom>
        </p:spPr>
      </p:pic>
      <p:pic>
        <p:nvPicPr>
          <p:cNvPr id="15" name="Image 5" descr="connector">    </p:cNvPr>
          <p:cNvPicPr>
            <a:picLocks noChangeAspect="1"/>
          </p:cNvPicPr>
          <p:nvPr/>
        </p:nvPicPr>
        <p:blipFill>
          <a:blip r:embed="rId6"/>
          <a:srcRect l="0" r="0" t="0" b="0"/>
          <a:stretch/>
        </p:blipFill>
        <p:spPr>
          <a:xfrm>
            <a:off x="2540000" y="4001765"/>
            <a:ext cx="101600" cy="895350"/>
          </a:xfrm>
          <a:prstGeom prst="rect">
            <a:avLst/>
          </a:prstGeom>
        </p:spPr>
      </p:pic>
      <p:pic>
        <p:nvPicPr>
          <p:cNvPr id="16" name="Image 6" descr="connector">    </p:cNvPr>
          <p:cNvPicPr>
            <a:picLocks noChangeAspect="1"/>
          </p:cNvPicPr>
          <p:nvPr/>
        </p:nvPicPr>
        <p:blipFill>
          <a:blip r:embed="rId7"/>
          <a:srcRect l="0" r="0" t="0" b="0"/>
          <a:stretch/>
        </p:blipFill>
        <p:spPr>
          <a:xfrm>
            <a:off x="2286000" y="2700015"/>
            <a:ext cx="101600" cy="831850"/>
          </a:xfrm>
          <a:prstGeom prst="rect">
            <a:avLst/>
          </a:prstGeom>
        </p:spPr>
      </p:pic>
      <p:pic>
        <p:nvPicPr>
          <p:cNvPr id="17" name="Image 7" descr="connector">    </p:cNvPr>
          <p:cNvPicPr>
            <a:picLocks noChangeAspect="1"/>
          </p:cNvPicPr>
          <p:nvPr/>
        </p:nvPicPr>
        <p:blipFill>
          <a:blip r:embed="rId8"/>
          <a:srcRect l="0" r="0" t="0" b="0"/>
          <a:stretch/>
        </p:blipFill>
        <p:spPr>
          <a:xfrm>
            <a:off x="2794000" y="2700015"/>
            <a:ext cx="101600" cy="831850"/>
          </a:xfrm>
          <a:prstGeom prst="rect">
            <a:avLst/>
          </a:prstGeom>
        </p:spPr>
      </p:pic>
      <p:pic>
        <p:nvPicPr>
          <p:cNvPr id="18" name="Image 8" descr="connector">    </p:cNvPr>
          <p:cNvPicPr>
            <a:picLocks noChangeAspect="1"/>
          </p:cNvPicPr>
          <p:nvPr/>
        </p:nvPicPr>
        <p:blipFill>
          <a:blip r:embed="rId9"/>
          <a:srcRect l="0" r="0" t="0" b="0"/>
          <a:stretch/>
        </p:blipFill>
        <p:spPr>
          <a:xfrm>
            <a:off x="3365500" y="2414265"/>
            <a:ext cx="2768600" cy="1117600"/>
          </a:xfrm>
          <a:prstGeom prst="rect">
            <a:avLst/>
          </a:prstGeom>
        </p:spPr>
      </p:pic>
      <p:pic>
        <p:nvPicPr>
          <p:cNvPr id="19" name="Image 9" descr="connector">    </p:cNvPr>
          <p:cNvPicPr>
            <a:picLocks noChangeAspect="1"/>
          </p:cNvPicPr>
          <p:nvPr/>
        </p:nvPicPr>
        <p:blipFill>
          <a:blip r:embed="rId10"/>
          <a:srcRect l="0" r="0" t="0" b="0"/>
          <a:stretch/>
        </p:blipFill>
        <p:spPr>
          <a:xfrm>
            <a:off x="1092200" y="5093965"/>
            <a:ext cx="711200" cy="76200"/>
          </a:xfrm>
          <a:prstGeom prst="rect">
            <a:avLst/>
          </a:prstGeom>
        </p:spPr>
      </p:pic>
      <p:pic>
        <p:nvPicPr>
          <p:cNvPr id="20" name="Image 10" descr="connector">    </p:cNvPr>
          <p:cNvPicPr>
            <a:picLocks noChangeAspect="1"/>
          </p:cNvPicPr>
          <p:nvPr/>
        </p:nvPicPr>
        <p:blipFill>
          <a:blip r:embed="rId11"/>
          <a:srcRect l="0" r="0" t="0" b="0"/>
          <a:stretch/>
        </p:blipFill>
        <p:spPr>
          <a:xfrm>
            <a:off x="1092200" y="2426965"/>
            <a:ext cx="76200" cy="2743200"/>
          </a:xfrm>
          <a:prstGeom prst="rect">
            <a:avLst/>
          </a:prstGeom>
        </p:spPr>
      </p:pic>
      <p:pic>
        <p:nvPicPr>
          <p:cNvPr id="21" name="Image 11" descr="connector">    </p:cNvPr>
          <p:cNvPicPr>
            <a:picLocks noChangeAspect="1"/>
          </p:cNvPicPr>
          <p:nvPr/>
        </p:nvPicPr>
        <p:blipFill>
          <a:blip r:embed="rId12"/>
          <a:srcRect l="0" r="0" t="0" b="0"/>
          <a:stretch/>
        </p:blipFill>
        <p:spPr>
          <a:xfrm>
            <a:off x="1092200" y="2426965"/>
            <a:ext cx="711200" cy="76200"/>
          </a:xfrm>
          <a:prstGeom prst="rect">
            <a:avLst/>
          </a:prstGeom>
        </p:spPr>
      </p:pic>
      <p:sp>
        <p:nvSpPr>
          <p:cNvPr id="22" name="Text 8"/>
          <p:cNvSpPr/>
          <p:nvPr/>
        </p:nvSpPr>
        <p:spPr>
          <a:xfrm>
            <a:off x="3581400" y="3322315"/>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switch in</a:t>
            </a:r>
            <a:endParaRPr lang="en-US" sz="1200" dirty="0">
              <a:latin typeface="IBM Plex Sans" charset="0"/>
              <a:ea typeface="IBM Plex Sans" charset="0"/>
              <a:cs typeface="IBM Plex Sans" charset="0"/>
            </a:endParaRPr>
          </a:p>
        </p:txBody>
      </p:sp>
      <p:sp>
        <p:nvSpPr>
          <p:cNvPr id="23" name="Text 9"/>
          <p:cNvSpPr/>
          <p:nvPr/>
        </p:nvSpPr>
        <p:spPr>
          <a:xfrm>
            <a:off x="3581400" y="3970015"/>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switch out</a:t>
            </a:r>
            <a:endParaRPr lang="en-US" sz="1200" dirty="0">
              <a:latin typeface="IBM Plex Sans" charset="0"/>
              <a:ea typeface="IBM Plex Sans" charset="0"/>
              <a:cs typeface="IBM Plex Sans" charset="0"/>
            </a:endParaRPr>
          </a:p>
        </p:txBody>
      </p:sp>
      <p:sp>
        <p:nvSpPr>
          <p:cNvPr id="24" name="Text 10"/>
          <p:cNvSpPr/>
          <p:nvPr/>
        </p:nvSpPr>
        <p:spPr>
          <a:xfrm>
            <a:off x="4394200" y="4338315"/>
            <a:ext cx="1612900"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Chamada a uma API bloqueante</a:t>
            </a:r>
            <a:endParaRPr lang="en-US" sz="1200" dirty="0">
              <a:latin typeface="IBM Plex Sans" charset="0"/>
              <a:ea typeface="IBM Plex Sans" charset="0"/>
              <a:cs typeface="IBM Plex Sans" charset="0"/>
            </a:endParaRPr>
          </a:p>
        </p:txBody>
      </p:sp>
      <p:sp>
        <p:nvSpPr>
          <p:cNvPr id="25" name="Text 11"/>
          <p:cNvSpPr/>
          <p:nvPr/>
        </p:nvSpPr>
        <p:spPr>
          <a:xfrm>
            <a:off x="2667000" y="4306565"/>
            <a:ext cx="749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Evento</a:t>
            </a:r>
            <a:endParaRPr lang="en-US" sz="1200" dirty="0">
              <a:latin typeface="IBM Plex Sans" charset="0"/>
              <a:ea typeface="IBM Plex Sans" charset="0"/>
              <a:cs typeface="IBM Plex Sans" charset="0"/>
            </a:endParaRPr>
          </a:p>
        </p:txBody>
      </p:sp>
      <p:sp>
        <p:nvSpPr>
          <p:cNvPr id="26" name="Text 12"/>
          <p:cNvSpPr/>
          <p:nvPr/>
        </p:nvSpPr>
        <p:spPr>
          <a:xfrm>
            <a:off x="2921000" y="2877815"/>
            <a:ext cx="14478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 vTaskSuspend()</a:t>
            </a:r>
            <a:endParaRPr lang="en-US" sz="1200" dirty="0">
              <a:latin typeface="IBM Plex Sans" charset="0"/>
              <a:ea typeface="IBM Plex Sans" charset="0"/>
              <a:cs typeface="IBM Plex Sans" charset="0"/>
            </a:endParaRPr>
          </a:p>
          <a:p>
            <a:pPr algn="l"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 vTaskResume()</a:t>
            </a:r>
            <a:endParaRPr lang="en-US" sz="1200" dirty="0">
              <a:latin typeface="IBM Plex Sans" charset="0"/>
              <a:ea typeface="IBM Plex Sans" charset="0"/>
              <a:cs typeface="IBM Plex Sans" charset="0"/>
            </a:endParaRPr>
          </a:p>
        </p:txBody>
      </p:sp>
      <p:sp>
        <p:nvSpPr>
          <p:cNvPr id="27" name="Text 13"/>
          <p:cNvSpPr/>
          <p:nvPr/>
        </p:nvSpPr>
        <p:spPr>
          <a:xfrm>
            <a:off x="3606800" y="2128515"/>
            <a:ext cx="1638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vTaskSuspend()</a:t>
            </a:r>
            <a:endParaRPr lang="en-US" sz="1200" dirty="0">
              <a:latin typeface="IBM Plex Sans" charset="0"/>
              <a:ea typeface="IBM Plex Sans" charset="0"/>
              <a:cs typeface="IBM Plex Sans" charset="0"/>
            </a:endParaRPr>
          </a:p>
        </p:txBody>
      </p:sp>
      <p:sp>
        <p:nvSpPr>
          <p:cNvPr id="28" name="Shape 14"/>
          <p:cNvSpPr/>
          <p:nvPr/>
        </p:nvSpPr>
        <p:spPr>
          <a:xfrm>
            <a:off x="7467600" y="1801490"/>
            <a:ext cx="3911600" cy="0"/>
          </a:xfrm>
          <a:prstGeom prst="line">
            <a:avLst/>
          </a:prstGeom>
          <a:noFill/>
          <a:ln w="6350">
            <a:solidFill>
              <a:srgbClr val="DCDAD2"/>
            </a:solidFill>
            <a:prstDash val="solid"/>
          </a:ln>
        </p:spPr>
      </p:sp>
      <p:sp>
        <p:nvSpPr>
          <p:cNvPr id="29" name="Text 15"/>
          <p:cNvSpPr/>
          <p:nvPr/>
        </p:nvSpPr>
        <p:spPr>
          <a:xfrm>
            <a:off x="7467600" y="1905000"/>
            <a:ext cx="40289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Running</a:t>
            </a:r>
            <a:endParaRPr lang="en-US" sz="1400" dirty="0">
              <a:latin typeface="IBM Plex Sans" charset="0"/>
              <a:ea typeface="IBM Plex Sans" charset="0"/>
              <a:cs typeface="IBM Plex Sans" charset="0"/>
            </a:endParaRPr>
          </a:p>
        </p:txBody>
      </p:sp>
      <p:sp>
        <p:nvSpPr>
          <p:cNvPr id="30" name="Text 16"/>
          <p:cNvSpPr/>
          <p:nvPr/>
        </p:nvSpPr>
        <p:spPr>
          <a:xfrm>
            <a:off x="7467600" y="2143770"/>
            <a:ext cx="40289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processador está a executar esta task. Num single core, só uma de cada vez.</a:t>
            </a:r>
            <a:endParaRPr lang="en-US" sz="1200" dirty="0">
              <a:latin typeface="IBM Plex Sans" charset="0"/>
              <a:ea typeface="IBM Plex Sans" charset="0"/>
              <a:cs typeface="IBM Plex Sans" charset="0"/>
            </a:endParaRPr>
          </a:p>
        </p:txBody>
      </p:sp>
      <p:sp>
        <p:nvSpPr>
          <p:cNvPr id="31" name="Shape 17"/>
          <p:cNvSpPr/>
          <p:nvPr/>
        </p:nvSpPr>
        <p:spPr>
          <a:xfrm>
            <a:off x="7467600" y="2675260"/>
            <a:ext cx="3911600" cy="0"/>
          </a:xfrm>
          <a:prstGeom prst="line">
            <a:avLst/>
          </a:prstGeom>
          <a:noFill/>
          <a:ln w="6350">
            <a:solidFill>
              <a:srgbClr val="DCDAD2"/>
            </a:solidFill>
            <a:prstDash val="solid"/>
          </a:ln>
        </p:spPr>
      </p:sp>
      <p:sp>
        <p:nvSpPr>
          <p:cNvPr id="32" name="Text 18"/>
          <p:cNvSpPr/>
          <p:nvPr/>
        </p:nvSpPr>
        <p:spPr>
          <a:xfrm>
            <a:off x="7467600" y="2778770"/>
            <a:ext cx="40289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Ready</a:t>
            </a:r>
            <a:endParaRPr lang="en-US" sz="1400" dirty="0">
              <a:latin typeface="IBM Plex Sans" charset="0"/>
              <a:ea typeface="IBM Plex Sans" charset="0"/>
              <a:cs typeface="IBM Plex Sans" charset="0"/>
            </a:endParaRPr>
          </a:p>
        </p:txBody>
      </p:sp>
      <p:sp>
        <p:nvSpPr>
          <p:cNvPr id="33" name="Text 19"/>
          <p:cNvSpPr/>
          <p:nvPr/>
        </p:nvSpPr>
        <p:spPr>
          <a:xfrm>
            <a:off x="7467600" y="3017515"/>
            <a:ext cx="40289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Pode correr, mas não está a correr: nem Blocked nem Suspended.</a:t>
            </a:r>
            <a:endParaRPr lang="en-US" sz="1200" dirty="0">
              <a:latin typeface="IBM Plex Sans" charset="0"/>
              <a:ea typeface="IBM Plex Sans" charset="0"/>
              <a:cs typeface="IBM Plex Sans" charset="0"/>
            </a:endParaRPr>
          </a:p>
        </p:txBody>
      </p:sp>
      <p:sp>
        <p:nvSpPr>
          <p:cNvPr id="34" name="Shape 20"/>
          <p:cNvSpPr/>
          <p:nvPr/>
        </p:nvSpPr>
        <p:spPr>
          <a:xfrm>
            <a:off x="7467600" y="3549030"/>
            <a:ext cx="3911600" cy="0"/>
          </a:xfrm>
          <a:prstGeom prst="line">
            <a:avLst/>
          </a:prstGeom>
          <a:noFill/>
          <a:ln w="6350">
            <a:solidFill>
              <a:srgbClr val="DCDAD2"/>
            </a:solidFill>
            <a:prstDash val="solid"/>
          </a:ln>
        </p:spPr>
      </p:sp>
      <p:sp>
        <p:nvSpPr>
          <p:cNvPr id="35" name="Text 21"/>
          <p:cNvSpPr/>
          <p:nvPr/>
        </p:nvSpPr>
        <p:spPr>
          <a:xfrm>
            <a:off x="7467600" y="3652515"/>
            <a:ext cx="40289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Blocked</a:t>
            </a:r>
            <a:endParaRPr lang="en-US" sz="1400" dirty="0">
              <a:latin typeface="IBM Plex Sans" charset="0"/>
              <a:ea typeface="IBM Plex Sans" charset="0"/>
              <a:cs typeface="IBM Plex Sans" charset="0"/>
            </a:endParaRPr>
          </a:p>
        </p:txBody>
      </p:sp>
      <p:sp>
        <p:nvSpPr>
          <p:cNvPr id="36" name="Text 22"/>
          <p:cNvSpPr/>
          <p:nvPr/>
        </p:nvSpPr>
        <p:spPr>
          <a:xfrm>
            <a:off x="7467600" y="3891285"/>
            <a:ext cx="40289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À espera de um evento temporal ou de sincronização.</a:t>
            </a:r>
            <a:endParaRPr lang="en-US" sz="1200" dirty="0">
              <a:latin typeface="IBM Plex Sans" charset="0"/>
              <a:ea typeface="IBM Plex Sans" charset="0"/>
              <a:cs typeface="IBM Plex Sans" charset="0"/>
            </a:endParaRPr>
          </a:p>
        </p:txBody>
      </p:sp>
      <p:sp>
        <p:nvSpPr>
          <p:cNvPr id="37" name="Shape 23"/>
          <p:cNvSpPr/>
          <p:nvPr/>
        </p:nvSpPr>
        <p:spPr>
          <a:xfrm>
            <a:off x="7467600" y="4209430"/>
            <a:ext cx="3911600" cy="0"/>
          </a:xfrm>
          <a:prstGeom prst="line">
            <a:avLst/>
          </a:prstGeom>
          <a:noFill/>
          <a:ln w="6350">
            <a:solidFill>
              <a:srgbClr val="DCDAD2"/>
            </a:solidFill>
            <a:prstDash val="solid"/>
          </a:ln>
        </p:spPr>
      </p:sp>
      <p:sp>
        <p:nvSpPr>
          <p:cNvPr id="38" name="Text 24"/>
          <p:cNvSpPr/>
          <p:nvPr/>
        </p:nvSpPr>
        <p:spPr>
          <a:xfrm>
            <a:off x="7467600" y="4312915"/>
            <a:ext cx="402894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Suspended</a:t>
            </a:r>
            <a:endParaRPr lang="en-US" sz="1400" dirty="0">
              <a:latin typeface="IBM Plex Sans" charset="0"/>
              <a:ea typeface="IBM Plex Sans" charset="0"/>
              <a:cs typeface="IBM Plex Sans" charset="0"/>
            </a:endParaRPr>
          </a:p>
        </p:txBody>
      </p:sp>
      <p:sp>
        <p:nvSpPr>
          <p:cNvPr id="39" name="Text 25"/>
          <p:cNvSpPr/>
          <p:nvPr/>
        </p:nvSpPr>
        <p:spPr>
          <a:xfrm>
            <a:off x="7467600" y="4551685"/>
            <a:ext cx="4028948"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Invisível para o scheduler. Só entra com vTaskSuspend() (de qualquer estado) e só sai com vTaskResume() ou xTaskResumeFromISR(). A maioria das aplicações não o usa.</a:t>
            </a:r>
            <a:endParaRPr lang="en-US" sz="1200" dirty="0">
              <a:latin typeface="IBM Plex Sans" charset="0"/>
              <a:ea typeface="IBM Plex Sans" charset="0"/>
              <a:cs typeface="IBM Plex Sans" charset="0"/>
            </a:endParaRPr>
          </a:p>
        </p:txBody>
      </p:sp>
      <p:sp>
        <p:nvSpPr>
          <p:cNvPr id="40" name="Text 26"/>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41" name="Text 27"/>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36</a:t>
            </a:r>
            <a:endParaRPr lang="en-US" sz="1200" dirty="0">
              <a:latin typeface="IBM Plex Sans" charset="0"/>
              <a:ea typeface="IBM Plex Sans" charset="0"/>
              <a:cs typeface="IBM Plex Sans"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estado Blocked</a:t>
            </a:r>
            <a:endParaRPr lang="en-US" sz="3200" dirty="0">
              <a:latin typeface="IBM Plex Sans" charset="0"/>
              <a:ea typeface="IBM Plex Sans" charset="0"/>
              <a:cs typeface="IBM Plex Sans" charset="0"/>
            </a:endParaRPr>
          </a:p>
        </p:txBody>
      </p:sp>
      <p:sp>
        <p:nvSpPr>
          <p:cNvPr id="4" name="Text 2"/>
          <p:cNvSpPr/>
          <p:nvPr/>
        </p:nvSpPr>
        <p:spPr>
          <a:xfrm>
            <a:off x="812800" y="179831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Uma task em Blocked está à espera de um de dois tipos de evento:</a:t>
            </a:r>
            <a:endParaRPr lang="en-US" sz="1500" dirty="0">
              <a:latin typeface="IBM Plex Sans" charset="0"/>
              <a:ea typeface="IBM Plex Sans" charset="0"/>
              <a:cs typeface="IBM Plex Sans" charset="0"/>
            </a:endParaRPr>
          </a:p>
        </p:txBody>
      </p:sp>
      <p:sp>
        <p:nvSpPr>
          <p:cNvPr id="5" name="Shape 3"/>
          <p:cNvSpPr/>
          <p:nvPr/>
        </p:nvSpPr>
        <p:spPr>
          <a:xfrm>
            <a:off x="815975" y="2271390"/>
            <a:ext cx="5175250" cy="2381250"/>
          </a:xfrm>
          <a:prstGeom prst="roundRect">
            <a:avLst>
              <a:gd name="adj" fmla="val 4133"/>
            </a:avLst>
          </a:prstGeom>
          <a:solidFill>
            <a:srgbClr val="FCFBF8"/>
          </a:solidFill>
          <a:ln w="6350">
            <a:solidFill>
              <a:srgbClr val="DCDAD2"/>
            </a:solidFill>
            <a:prstDash val="solid"/>
          </a:ln>
        </p:spPr>
      </p:sp>
      <p:pic>
        <p:nvPicPr>
          <p:cNvPr id="6" name="Image 0" descr="Clock">    </p:cNvPr>
          <p:cNvPicPr>
            <a:picLocks noChangeAspect="1"/>
          </p:cNvPicPr>
          <p:nvPr/>
        </p:nvPicPr>
        <p:blipFill>
          <a:blip r:embed="rId1"/>
          <a:srcRect l="0" r="0" t="0" b="0"/>
          <a:stretch/>
        </p:blipFill>
        <p:spPr>
          <a:xfrm>
            <a:off x="1071880" y="2527300"/>
            <a:ext cx="330200" cy="330200"/>
          </a:xfrm>
          <a:prstGeom prst="rect">
            <a:avLst/>
          </a:prstGeom>
        </p:spPr>
      </p:pic>
      <p:sp>
        <p:nvSpPr>
          <p:cNvPr id="7" name="Text 4"/>
          <p:cNvSpPr/>
          <p:nvPr/>
        </p:nvSpPr>
        <p:spPr>
          <a:xfrm>
            <a:off x="1071880" y="295910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Eventos temporais</a:t>
            </a:r>
            <a:endParaRPr lang="en-US" sz="1800" dirty="0">
              <a:latin typeface="IBM Plex Sans" charset="0"/>
              <a:ea typeface="IBM Plex Sans" charset="0"/>
              <a:cs typeface="IBM Plex Sans" charset="0"/>
            </a:endParaRPr>
          </a:p>
        </p:txBody>
      </p:sp>
      <p:sp>
        <p:nvSpPr>
          <p:cNvPr id="8" name="Text 5"/>
          <p:cNvSpPr/>
          <p:nvPr/>
        </p:nvSpPr>
        <p:spPr>
          <a:xfrm>
            <a:off x="1071880" y="3335015"/>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Expira um período de atraso ou chega-se a um tempo absoluto. Ex.: esperar 10 ms.</a:t>
            </a:r>
            <a:endParaRPr lang="en-US" sz="1400" dirty="0">
              <a:latin typeface="IBM Plex Sans" charset="0"/>
              <a:ea typeface="IBM Plex Sans" charset="0"/>
              <a:cs typeface="IBM Plex Sans" charset="0"/>
            </a:endParaRPr>
          </a:p>
        </p:txBody>
      </p:sp>
      <p:sp>
        <p:nvSpPr>
          <p:cNvPr id="9" name="Text 6"/>
          <p:cNvSpPr/>
          <p:nvPr/>
        </p:nvSpPr>
        <p:spPr>
          <a:xfrm>
            <a:off x="1071880" y="3934470"/>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Usados para comportamento periódico ou timeouts.</a:t>
            </a:r>
            <a:endParaRPr lang="en-US" sz="1300" dirty="0">
              <a:latin typeface="IBM Plex Sans" charset="0"/>
              <a:ea typeface="IBM Plex Sans" charset="0"/>
              <a:cs typeface="IBM Plex Sans" charset="0"/>
            </a:endParaRPr>
          </a:p>
        </p:txBody>
      </p:sp>
      <p:sp>
        <p:nvSpPr>
          <p:cNvPr id="10" name="Shape 7"/>
          <p:cNvSpPr/>
          <p:nvPr/>
        </p:nvSpPr>
        <p:spPr>
          <a:xfrm>
            <a:off x="6200775" y="2271390"/>
            <a:ext cx="5175250" cy="2381250"/>
          </a:xfrm>
          <a:prstGeom prst="roundRect">
            <a:avLst>
              <a:gd name="adj" fmla="val 4133"/>
            </a:avLst>
          </a:prstGeom>
          <a:solidFill>
            <a:srgbClr val="FCFBF8"/>
          </a:solidFill>
          <a:ln w="6350">
            <a:solidFill>
              <a:srgbClr val="DCDAD2"/>
            </a:solidFill>
            <a:prstDash val="solid"/>
          </a:ln>
        </p:spPr>
      </p:sp>
      <p:pic>
        <p:nvPicPr>
          <p:cNvPr id="11" name="Image 1" descr="Lightning">    </p:cNvPr>
          <p:cNvPicPr>
            <a:picLocks noChangeAspect="1"/>
          </p:cNvPicPr>
          <p:nvPr/>
        </p:nvPicPr>
        <p:blipFill>
          <a:blip r:embed="rId2"/>
          <a:srcRect l="0" r="0" t="0" b="0"/>
          <a:stretch/>
        </p:blipFill>
        <p:spPr>
          <a:xfrm>
            <a:off x="6456680" y="2527300"/>
            <a:ext cx="330200" cy="330200"/>
          </a:xfrm>
          <a:prstGeom prst="rect">
            <a:avLst/>
          </a:prstGeom>
        </p:spPr>
      </p:pic>
      <p:sp>
        <p:nvSpPr>
          <p:cNvPr id="12" name="Text 8"/>
          <p:cNvSpPr/>
          <p:nvPr/>
        </p:nvSpPr>
        <p:spPr>
          <a:xfrm>
            <a:off x="6456680" y="295910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Eventos de sincronização</a:t>
            </a:r>
            <a:endParaRPr lang="en-US" sz="1800" dirty="0">
              <a:latin typeface="IBM Plex Sans" charset="0"/>
              <a:ea typeface="IBM Plex Sans" charset="0"/>
              <a:cs typeface="IBM Plex Sans" charset="0"/>
            </a:endParaRPr>
          </a:p>
        </p:txBody>
      </p:sp>
      <p:sp>
        <p:nvSpPr>
          <p:cNvPr id="13" name="Text 9"/>
          <p:cNvSpPr/>
          <p:nvPr/>
        </p:nvSpPr>
        <p:spPr>
          <a:xfrm>
            <a:off x="6456680" y="3335015"/>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Vêm de outra task ou de um interrupt. Ex.: esperar que cheguem dados a uma queue.</a:t>
            </a:r>
            <a:endParaRPr lang="en-US" sz="1400" dirty="0">
              <a:latin typeface="IBM Plex Sans" charset="0"/>
              <a:ea typeface="IBM Plex Sans" charset="0"/>
              <a:cs typeface="IBM Plex Sans" charset="0"/>
            </a:endParaRPr>
          </a:p>
        </p:txBody>
      </p:sp>
      <p:sp>
        <p:nvSpPr>
          <p:cNvPr id="14" name="Text 10"/>
          <p:cNvSpPr/>
          <p:nvPr/>
        </p:nvSpPr>
        <p:spPr>
          <a:xfrm>
            <a:off x="6456680" y="393447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Queues, semáforos, mutexes, event groups, stream e message buffers, task notifications.</a:t>
            </a:r>
            <a:endParaRPr lang="en-US" sz="1300" dirty="0">
              <a:latin typeface="IBM Plex Sans" charset="0"/>
              <a:ea typeface="IBM Plex Sans" charset="0"/>
              <a:cs typeface="IBM Plex Sans" charset="0"/>
            </a:endParaRPr>
          </a:p>
        </p:txBody>
      </p:sp>
      <p:sp>
        <p:nvSpPr>
          <p:cNvPr id="15" name="Text 11"/>
          <p:cNvSpPr/>
          <p:nvPr/>
        </p:nvSpPr>
        <p:spPr>
          <a:xfrm>
            <a:off x="812800" y="4859015"/>
            <a:ext cx="10566400" cy="751840"/>
          </a:xfrm>
          <a:prstGeom prst="roundRect">
            <a:avLst>
              <a:gd name="adj" fmla="val 10135"/>
            </a:avLst>
          </a:prstGeom>
          <a:solidFill>
            <a:srgbClr val="E3EFEC"/>
          </a:solidFill>
          <a:ln/>
        </p:spPr>
        <p:txBody>
          <a:bodyPr wrap="square" lIns="155482" tIns="104682" rIns="0" bIns="79282"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Os dois ao mesmo tempo:</a:t>
            </a:r>
            <a:r>
              <a:rPr lang="en-US" sz="1400" dirty="0">
                <a:solidFill>
                  <a:srgbClr val="14222E"/>
                </a:solidFill>
                <a:latin typeface="IBM Plex Sans" pitchFamily="34" charset="0"/>
                <a:ea typeface="IBM Plex Sans" pitchFamily="34" charset="-122"/>
                <a:cs typeface="IBM Plex Sans" pitchFamily="34" charset="-120"/>
              </a:rPr>
              <a:t> bloquear numa queue com timeout de 10 ms. A task sai de Blocked quando chegam dados ou quando passam os 10 ms sem dados.</a:t>
            </a:r>
            <a:endParaRPr lang="en-US" sz="1400" dirty="0">
              <a:latin typeface="IBM Plex Sans" charset="0"/>
              <a:ea typeface="IBM Plex Sans" charset="0"/>
              <a:cs typeface="IBM Plex Sans" charset="0"/>
            </a:endParaRPr>
          </a:p>
        </p:txBody>
      </p:sp>
      <p:sp>
        <p:nvSpPr>
          <p:cNvPr id="16" name="Text 12"/>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7" name="Text 13"/>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37</a:t>
            </a:r>
            <a:endParaRPr lang="en-US" sz="1200" dirty="0">
              <a:latin typeface="IBM Plex Sans" charset="0"/>
              <a:ea typeface="IBM Plex Sans" charset="0"/>
              <a:cs typeface="IBM Plex Sans"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vTaskDelay() e vTaskDelayUntil()</a:t>
            </a:r>
            <a:endParaRPr lang="en-US" sz="3200" dirty="0">
              <a:latin typeface="IBM Plex Sans" charset="0"/>
              <a:ea typeface="IBM Plex Sans" charset="0"/>
              <a:cs typeface="IBM Plex Sans" charset="0"/>
            </a:endParaRPr>
          </a:p>
        </p:txBody>
      </p:sp>
      <p:sp>
        <p:nvSpPr>
          <p:cNvPr id="4" name="Shape 2"/>
          <p:cNvSpPr/>
          <p:nvPr/>
        </p:nvSpPr>
        <p:spPr>
          <a:xfrm>
            <a:off x="815975" y="1903090"/>
            <a:ext cx="5175250" cy="3793490"/>
          </a:xfrm>
          <a:prstGeom prst="roundRect">
            <a:avLst>
              <a:gd name="adj" fmla="val 2595"/>
            </a:avLst>
          </a:prstGeom>
          <a:solidFill>
            <a:srgbClr val="FCFBF8"/>
          </a:solidFill>
          <a:ln w="6350">
            <a:solidFill>
              <a:srgbClr val="DCDAD2"/>
            </a:solidFill>
            <a:prstDash val="solid"/>
          </a:ln>
        </p:spPr>
      </p:sp>
      <p:sp>
        <p:nvSpPr>
          <p:cNvPr id="5" name="Text 3"/>
          <p:cNvSpPr/>
          <p:nvPr/>
        </p:nvSpPr>
        <p:spPr>
          <a:xfrm>
            <a:off x="995680" y="2082800"/>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0612A"/>
                </a:solidFill>
                <a:latin typeface="IBM Plex Sans" pitchFamily="34" charset="0"/>
                <a:ea typeface="IBM Plex Sans" pitchFamily="34" charset="-122"/>
                <a:cs typeface="IBM Plex Sans" pitchFamily="34" charset="-120"/>
              </a:rPr>
              <a:t>Relativo · INCLUDE_vTaskDelay = 1</a:t>
            </a:r>
            <a:endParaRPr lang="en-US" sz="1200" dirty="0">
              <a:latin typeface="IBM Plex Sans" charset="0"/>
              <a:ea typeface="IBM Plex Sans" charset="0"/>
              <a:cs typeface="IBM Plex Sans" charset="0"/>
            </a:endParaRPr>
          </a:p>
        </p:txBody>
      </p:sp>
      <p:sp>
        <p:nvSpPr>
          <p:cNvPr id="6" name="Text 4"/>
          <p:cNvSpPr/>
          <p:nvPr/>
        </p:nvSpPr>
        <p:spPr>
          <a:xfrm>
            <a:off x="995680" y="2372370"/>
            <a:ext cx="49603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vTaskDelay( xTicksToDelay )</a:t>
            </a:r>
            <a:endParaRPr lang="en-US" sz="1500" dirty="0">
              <a:latin typeface="IBM Plex Sans" charset="0"/>
              <a:ea typeface="IBM Plex Sans" charset="0"/>
              <a:cs typeface="IBM Plex Sans" charset="0"/>
            </a:endParaRPr>
          </a:p>
        </p:txBody>
      </p:sp>
      <p:sp>
        <p:nvSpPr>
          <p:cNvPr id="7" name="Text 5"/>
          <p:cNvSpPr/>
          <p:nvPr/>
        </p:nvSpPr>
        <p:spPr>
          <a:xfrm>
            <a:off x="995680" y="2677170"/>
            <a:ext cx="4815840" cy="1798320"/>
          </a:xfrm>
          <a:prstGeom prst="roundRect">
            <a:avLst>
              <a:gd name="adj" fmla="val 4237"/>
            </a:avLst>
          </a:prstGeom>
          <a:solidFill>
            <a:srgbClr val="14222E"/>
          </a:solidFill>
          <a:ln/>
        </p:spPr>
        <p:txBody>
          <a:bodyPr wrap="none" lIns="155482" tIns="130082" rIns="21675"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const TickType_t xDelay250ms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pdMS_TO_TICKS( 250 );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vPrintLine( pcTaskName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 xDelay250ms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8" name="Text 6"/>
          <p:cNvSpPr/>
          <p:nvPr/>
        </p:nvSpPr>
        <p:spPr>
          <a:xfrm>
            <a:off x="995680" y="4551685"/>
            <a:ext cx="49603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Blocked durante N ticks </a:t>
            </a:r>
            <a:r>
              <a:rPr lang="en-US" sz="1300" b="1" dirty="0">
                <a:solidFill>
                  <a:srgbClr val="14222E"/>
                </a:solidFill>
                <a:latin typeface="IBM Plex Sans" pitchFamily="34" charset="0"/>
                <a:ea typeface="IBM Plex Sans" pitchFamily="34" charset="-122"/>
                <a:cs typeface="IBM Plex Sans" pitchFamily="34" charset="-120"/>
              </a:rPr>
              <a:t>a partir da chamada</a:t>
            </a:r>
            <a:r>
              <a:rPr lang="en-US" sz="1300" dirty="0">
                <a:solidFill>
                  <a:srgbClr val="14222E"/>
                </a:solidFill>
                <a:latin typeface="IBM Plex Sans" pitchFamily="34" charset="0"/>
                <a:ea typeface="IBM Plex Sans" pitchFamily="34" charset="-122"/>
                <a:cs typeface="IBM Plex Sans" pitchFamily="34" charset="-120"/>
              </a:rPr>
              <a:t>. Chamada no tick 10 000 com 100: volta a Ready no tick 10 100.</a:t>
            </a:r>
            <a:endParaRPr lang="en-US" sz="1300" dirty="0">
              <a:latin typeface="IBM Plex Sans" charset="0"/>
              <a:ea typeface="IBM Plex Sans" charset="0"/>
              <a:cs typeface="IBM Plex Sans" charset="0"/>
            </a:endParaRPr>
          </a:p>
        </p:txBody>
      </p:sp>
      <p:sp>
        <p:nvSpPr>
          <p:cNvPr id="9" name="Shape 7"/>
          <p:cNvSpPr/>
          <p:nvPr/>
        </p:nvSpPr>
        <p:spPr>
          <a:xfrm>
            <a:off x="6200775" y="1903090"/>
            <a:ext cx="5175250" cy="3793490"/>
          </a:xfrm>
          <a:prstGeom prst="roundRect">
            <a:avLst>
              <a:gd name="adj" fmla="val 2595"/>
            </a:avLst>
          </a:prstGeom>
          <a:solidFill>
            <a:srgbClr val="FCFBF8"/>
          </a:solidFill>
          <a:ln w="6350">
            <a:solidFill>
              <a:srgbClr val="DCDAD2"/>
            </a:solidFill>
            <a:prstDash val="solid"/>
          </a:ln>
        </p:spPr>
      </p:sp>
      <p:sp>
        <p:nvSpPr>
          <p:cNvPr id="10" name="Text 8"/>
          <p:cNvSpPr/>
          <p:nvPr/>
        </p:nvSpPr>
        <p:spPr>
          <a:xfrm>
            <a:off x="6380480" y="2082800"/>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ABSOLUTO</a:t>
            </a:r>
            <a:endParaRPr lang="en-US" sz="1200" dirty="0">
              <a:latin typeface="IBM Plex Sans" charset="0"/>
              <a:ea typeface="IBM Plex Sans" charset="0"/>
              <a:cs typeface="IBM Plex Sans" charset="0"/>
            </a:endParaRPr>
          </a:p>
        </p:txBody>
      </p:sp>
      <p:sp>
        <p:nvSpPr>
          <p:cNvPr id="11" name="Text 9"/>
          <p:cNvSpPr/>
          <p:nvPr/>
        </p:nvSpPr>
        <p:spPr>
          <a:xfrm>
            <a:off x="6380480" y="2372370"/>
            <a:ext cx="49603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vTaskDelayUntil( &amp;xLastWake, xInc )</a:t>
            </a:r>
            <a:endParaRPr lang="en-US" sz="1500" dirty="0">
              <a:latin typeface="IBM Plex Sans" charset="0"/>
              <a:ea typeface="IBM Plex Sans" charset="0"/>
              <a:cs typeface="IBM Plex Sans" charset="0"/>
            </a:endParaRPr>
          </a:p>
        </p:txBody>
      </p:sp>
      <p:sp>
        <p:nvSpPr>
          <p:cNvPr id="12" name="Text 10"/>
          <p:cNvSpPr/>
          <p:nvPr/>
        </p:nvSpPr>
        <p:spPr>
          <a:xfrm>
            <a:off x="6380480" y="2677170"/>
            <a:ext cx="4815840" cy="1798320"/>
          </a:xfrm>
          <a:prstGeom prst="roundRect">
            <a:avLst>
              <a:gd name="adj" fmla="val 4237"/>
            </a:avLst>
          </a:prstGeom>
          <a:solidFill>
            <a:srgbClr val="14222E"/>
          </a:solidFill>
          <a:ln/>
        </p:spPr>
        <p:txBody>
          <a:bodyPr wrap="none" lIns="155482" tIns="130082" rIns="21675"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TickType_t xLastWakeTime = xTaskGetTickCount();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vPrintLine( pcTaskName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vTaskDelayUntil( &amp;xLastWakeTime,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pdMS_TO_TICKS( 250 )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3" name="Text 11"/>
          <p:cNvSpPr/>
          <p:nvPr/>
        </p:nvSpPr>
        <p:spPr>
          <a:xfrm>
            <a:off x="6380480" y="4551685"/>
            <a:ext cx="49603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Acorda num tick count exato, calculado a partir do último despertar. É a escolha para </a:t>
            </a:r>
            <a:r>
              <a:rPr lang="en-US" sz="1300" b="1" dirty="0">
                <a:solidFill>
                  <a:srgbClr val="14222E"/>
                </a:solidFill>
                <a:latin typeface="IBM Plex Sans" pitchFamily="34" charset="0"/>
                <a:ea typeface="IBM Plex Sans" pitchFamily="34" charset="-122"/>
                <a:cs typeface="IBM Plex Sans" pitchFamily="34" charset="-120"/>
              </a:rPr>
              <a:t>períodos fixos</a:t>
            </a:r>
            <a:r>
              <a:rPr lang="en-US" sz="1300" dirty="0">
                <a:solidFill>
                  <a:srgbClr val="14222E"/>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sp>
        <p:nvSpPr>
          <p:cNvPr id="14" name="Text 12"/>
          <p:cNvSpPr/>
          <p:nvPr/>
        </p:nvSpPr>
        <p:spPr>
          <a:xfrm>
            <a:off x="6380480" y="5090170"/>
            <a:ext cx="496031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xLastWakeTime inicializa-se uma vez; depois é atualizado pela própria função.</a:t>
            </a:r>
            <a:endParaRPr lang="en-US" sz="1200" dirty="0">
              <a:latin typeface="IBM Plex Sans" charset="0"/>
              <a:ea typeface="IBM Plex Sans" charset="0"/>
              <a:cs typeface="IBM Plex Sans" charset="0"/>
            </a:endParaRPr>
          </a:p>
        </p:txBody>
      </p:sp>
      <p:sp>
        <p:nvSpPr>
          <p:cNvPr id="15" name="Text 13"/>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6" name="Text 14"/>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38</a:t>
            </a:r>
            <a:endParaRPr lang="en-US" sz="1200" dirty="0">
              <a:latin typeface="IBM Plex Sans" charset="0"/>
              <a:ea typeface="IBM Plex Sans" charset="0"/>
              <a:cs typeface="IBM Plex Sans"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idle task e o idle hook</a:t>
            </a:r>
            <a:endParaRPr lang="en-US" sz="3200" dirty="0">
              <a:latin typeface="IBM Plex Sans" charset="0"/>
              <a:ea typeface="IBM Plex Sans" charset="0"/>
              <a:cs typeface="IBM Plex Sans" charset="0"/>
            </a:endParaRPr>
          </a:p>
        </p:txBody>
      </p:sp>
      <p:sp>
        <p:nvSpPr>
          <p:cNvPr id="4" name="Text 2"/>
          <p:cNvSpPr/>
          <p:nvPr/>
        </p:nvSpPr>
        <p:spPr>
          <a:xfrm>
            <a:off x="812800" y="1899915"/>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IDLE TASK</a:t>
            </a:r>
            <a:endParaRPr lang="en-US" sz="1200" dirty="0">
              <a:latin typeface="IBM Plex Sans" charset="0"/>
              <a:ea typeface="IBM Plex Sans" charset="0"/>
              <a:cs typeface="IBM Plex Sans" charset="0"/>
            </a:endParaRPr>
          </a:p>
        </p:txBody>
      </p:sp>
      <p:sp>
        <p:nvSpPr>
          <p:cNvPr id="5" name="Text 3"/>
          <p:cNvSpPr/>
          <p:nvPr/>
        </p:nvSpPr>
        <p:spPr>
          <a:xfrm>
            <a:off x="812800" y="2240285"/>
            <a:ext cx="53370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Criada automaticamente por </a:t>
            </a:r>
            <a:r>
              <a:rPr lang="en-US" sz="1400" b="1" dirty="0">
                <a:solidFill>
                  <a:srgbClr val="14222E"/>
                </a:solidFill>
                <a:latin typeface="IBM Plex Sans" pitchFamily="34" charset="0"/>
                <a:ea typeface="IBM Plex Sans" pitchFamily="34" charset="-122"/>
                <a:cs typeface="IBM Plex Sans" pitchFamily="34" charset="-120"/>
              </a:rPr>
              <a:t>vTaskStartScheduler()</a:t>
            </a:r>
            <a:r>
              <a:rPr lang="en-US" sz="1400" dirty="0">
                <a:solidFill>
                  <a:srgbClr val="44505C"/>
                </a:solidFill>
                <a:latin typeface="IBM Plex Sans" pitchFamily="34" charset="0"/>
                <a:ea typeface="IBM Plex Sans" pitchFamily="34" charset="-122"/>
                <a:cs typeface="IBM Plex Sans" pitchFamily="34" charset="-120"/>
              </a:rPr>
              <a:t>: tem de haver sempre pelo menos uma task que possa correr.</a:t>
            </a:r>
            <a:endParaRPr lang="en-US" sz="1400" dirty="0">
              <a:latin typeface="IBM Plex Sans" charset="0"/>
              <a:ea typeface="IBM Plex Sans" charset="0"/>
              <a:cs typeface="IBM Plex Sans" charset="0"/>
            </a:endParaRPr>
          </a:p>
        </p:txBody>
      </p:sp>
      <p:sp>
        <p:nvSpPr>
          <p:cNvPr id="6" name="Text 4"/>
          <p:cNvSpPr/>
          <p:nvPr/>
        </p:nvSpPr>
        <p:spPr>
          <a:xfrm>
            <a:off x="812800" y="2865115"/>
            <a:ext cx="533704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Prioridade 0: é preemptada logo que outra task fica Ready. </a:t>
            </a:r>
            <a:r>
              <a:rPr lang="en-US" sz="1400" b="1" dirty="0">
                <a:solidFill>
                  <a:srgbClr val="14222E"/>
                </a:solidFill>
                <a:latin typeface="IBM Plex Sans" pitchFamily="34" charset="0"/>
                <a:ea typeface="IBM Plex Sans" pitchFamily="34" charset="-122"/>
                <a:cs typeface="IBM Plex Sans" pitchFamily="34" charset="-120"/>
              </a:rPr>
              <a:t>configIDLE_SHOULD_YIELD</a:t>
            </a:r>
            <a:r>
              <a:rPr lang="en-US" sz="1400" dirty="0">
                <a:solidFill>
                  <a:srgbClr val="44505C"/>
                </a:solidFill>
                <a:latin typeface="IBM Plex Sans" pitchFamily="34" charset="0"/>
                <a:ea typeface="IBM Plex Sans" pitchFamily="34" charset="-122"/>
                <a:cs typeface="IBM Plex Sans" pitchFamily="34" charset="-120"/>
              </a:rPr>
              <a:t> controla a partilha com tasks da aplicação na mesma prioridade.</a:t>
            </a:r>
            <a:endParaRPr lang="en-US" sz="1400" dirty="0">
              <a:latin typeface="IBM Plex Sans" charset="0"/>
              <a:ea typeface="IBM Plex Sans" charset="0"/>
              <a:cs typeface="IBM Plex Sans" charset="0"/>
            </a:endParaRPr>
          </a:p>
        </p:txBody>
      </p:sp>
      <p:sp>
        <p:nvSpPr>
          <p:cNvPr id="7" name="Text 5"/>
          <p:cNvSpPr/>
          <p:nvPr/>
        </p:nvSpPr>
        <p:spPr>
          <a:xfrm>
            <a:off x="812800" y="3738885"/>
            <a:ext cx="5181600" cy="690880"/>
          </a:xfrm>
          <a:custGeom>
            <a:avLst/>
            <a:gdLst/>
            <a:ahLst/>
            <a:cxnLst/>
            <a:rect l="l" t="t" r="r" b="b"/>
            <a:pathLst>
              <a:path w="5181600" h="690880">
                <a:moveTo>
                  <a:pt x="0" y="0"/>
                </a:moveTo>
                <a:lnTo>
                  <a:pt x="5105400" y="0"/>
                </a:lnTo>
                <a:arcTo hR="76200" wR="76200" stAng="16200000" swAng="5400000"/>
                <a:lnTo>
                  <a:pt x="5181600" y="614680"/>
                </a:lnTo>
                <a:arcTo hR="76200" wR="76200" stAng="0" swAng="5400000"/>
                <a:lnTo>
                  <a:pt x="0" y="690880"/>
                </a:lnTo>
                <a:lnTo>
                  <a:pt x="0" y="0"/>
                </a:lnTo>
                <a:close/>
              </a:path>
            </a:pathLst>
          </a:custGeom>
          <a:solidFill>
            <a:srgbClr val="FBEFE7"/>
          </a:solidFill>
          <a:ln/>
        </p:spPr>
        <p:txBody>
          <a:bodyPr wrap="square" lIns="187960" tIns="114300" rIns="7163" bIns="8890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É a idle task que liberta a memória das tasks que se apagaram a si próprias. </a:t>
            </a:r>
            <a:r>
              <a:rPr lang="en-US" sz="1300" b="1" dirty="0">
                <a:solidFill>
                  <a:srgbClr val="14222E"/>
                </a:solidFill>
                <a:latin typeface="IBM Plex Sans" pitchFamily="34" charset="0"/>
                <a:ea typeface="IBM Plex Sans" pitchFamily="34" charset="-122"/>
                <a:cs typeface="IBM Plex Sans" pitchFamily="34" charset="-120"/>
              </a:rPr>
              <a:t>Não a deixar sem CPU.</a:t>
            </a:r>
            <a:endParaRPr lang="en-US" sz="1300" dirty="0">
              <a:latin typeface="IBM Plex Sans" charset="0"/>
              <a:ea typeface="IBM Plex Sans" charset="0"/>
              <a:cs typeface="IBM Plex Sans" charset="0"/>
            </a:endParaRPr>
          </a:p>
        </p:txBody>
      </p:sp>
      <p:sp>
        <p:nvSpPr>
          <p:cNvPr id="8" name="Shape 6"/>
          <p:cNvSpPr/>
          <p:nvPr/>
        </p:nvSpPr>
        <p:spPr>
          <a:xfrm>
            <a:off x="812800" y="3738885"/>
            <a:ext cx="5181600" cy="690880"/>
          </a:xfrm>
          <a:custGeom>
            <a:avLst/>
            <a:gdLst/>
            <a:ahLst/>
            <a:cxnLst/>
            <a:rect l="l" t="t" r="r" b="b"/>
            <a:pathLst>
              <a:path w="5181600" h="690880">
                <a:moveTo>
                  <a:pt x="38100" y="690880"/>
                </a:moveTo>
                <a:lnTo>
                  <a:pt x="0" y="690880"/>
                </a:lnTo>
                <a:lnTo>
                  <a:pt x="0" y="0"/>
                </a:lnTo>
                <a:lnTo>
                  <a:pt x="38100" y="0"/>
                </a:lnTo>
                <a:lnTo>
                  <a:pt x="38100" y="690880"/>
                </a:lnTo>
                <a:close/>
              </a:path>
            </a:pathLst>
          </a:custGeom>
          <a:solidFill>
            <a:srgbClr val="D0612A"/>
          </a:solidFill>
          <a:ln/>
        </p:spPr>
      </p:sp>
      <p:sp>
        <p:nvSpPr>
          <p:cNvPr id="9" name="Text 7"/>
          <p:cNvSpPr/>
          <p:nvPr/>
        </p:nvSpPr>
        <p:spPr>
          <a:xfrm>
            <a:off x="6197600" y="1899915"/>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Idle hook · configUSE_IDLE_HOOK = 1</a:t>
            </a:r>
            <a:endParaRPr lang="en-US" sz="1200" dirty="0">
              <a:latin typeface="IBM Plex Sans" charset="0"/>
              <a:ea typeface="IBM Plex Sans" charset="0"/>
              <a:cs typeface="IBM Plex Sans" charset="0"/>
            </a:endParaRPr>
          </a:p>
        </p:txBody>
      </p:sp>
      <p:sp>
        <p:nvSpPr>
          <p:cNvPr id="10" name="Text 8"/>
          <p:cNvSpPr/>
          <p:nvPr/>
        </p:nvSpPr>
        <p:spPr>
          <a:xfrm>
            <a:off x="6197600" y="2240285"/>
            <a:ext cx="5181600" cy="518160"/>
          </a:xfrm>
          <a:prstGeom prst="roundRect">
            <a:avLst>
              <a:gd name="adj" fmla="val 14706"/>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vApplicationIdleHook( void );</a:t>
            </a:r>
            <a:endParaRPr lang="en-US" sz="1200" dirty="0">
              <a:latin typeface="JetBrains Mono" charset="0"/>
              <a:ea typeface="JetBrains Mono" charset="0"/>
              <a:cs typeface="JetBrains Mono" charset="0"/>
            </a:endParaRPr>
          </a:p>
        </p:txBody>
      </p:sp>
      <p:sp>
        <p:nvSpPr>
          <p:cNvPr id="11" name="Text 9"/>
          <p:cNvSpPr/>
          <p:nvPr/>
        </p:nvSpPr>
        <p:spPr>
          <a:xfrm>
            <a:off x="6197600" y="2885455"/>
            <a:ext cx="53370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Chamado uma vez por iteração do loop da idle task. Usos comuns:</a:t>
            </a:r>
            <a:endParaRPr lang="en-US" sz="1400" dirty="0">
              <a:latin typeface="IBM Plex Sans" charset="0"/>
              <a:ea typeface="IBM Plex Sans" charset="0"/>
              <a:cs typeface="IBM Plex Sans" charset="0"/>
            </a:endParaRPr>
          </a:p>
        </p:txBody>
      </p:sp>
      <p:sp>
        <p:nvSpPr>
          <p:cNvPr id="12" name="Text 10"/>
          <p:cNvSpPr/>
          <p:nvPr/>
        </p:nvSpPr>
        <p:spPr>
          <a:xfrm>
            <a:off x="6400800" y="3510285"/>
            <a:ext cx="5127752" cy="116332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Processamento de fundo, sem a RAM de uma task extra</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Medir a capacidade de processamento livre</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Pôr o processador em modo de baixo consumo</a:t>
            </a:r>
            <a:endParaRPr lang="en-US" sz="1600" dirty="0">
              <a:latin typeface="IBM Plex Sans" charset="0"/>
              <a:ea typeface="IBM Plex Sans" charset="0"/>
              <a:cs typeface="IBM Plex Sans" charset="0"/>
            </a:endParaRPr>
          </a:p>
        </p:txBody>
      </p:sp>
      <p:sp>
        <p:nvSpPr>
          <p:cNvPr id="13" name="Text 11"/>
          <p:cNvSpPr/>
          <p:nvPr/>
        </p:nvSpPr>
        <p:spPr>
          <a:xfrm>
            <a:off x="6197600" y="4775200"/>
            <a:ext cx="5994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Regras: nunca bloquear nem suspender; retornar em tempo razoável.</a:t>
            </a:r>
            <a:endParaRPr lang="en-US" sz="1300" dirty="0">
              <a:latin typeface="IBM Plex Sans" charset="0"/>
              <a:ea typeface="IBM Plex Sans" charset="0"/>
              <a:cs typeface="IBM Plex Sans" charset="0"/>
            </a:endParaRPr>
          </a:p>
        </p:txBody>
      </p:sp>
      <p:sp>
        <p:nvSpPr>
          <p:cNvPr id="14" name="Text 12"/>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5" name="Text 13"/>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39</a:t>
            </a:r>
            <a:endParaRPr lang="en-US" sz="1200" dirty="0">
              <a:latin typeface="IBM Plex Sans" charset="0"/>
              <a:ea typeface="IBM Plex Sans" charset="0"/>
              <a:cs typeface="IBM Plex Sans"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TASKS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Mudar a prioridade e apagar tasks</a:t>
            </a:r>
            <a:endParaRPr lang="en-US" sz="3200" dirty="0">
              <a:latin typeface="IBM Plex Sans" charset="0"/>
              <a:ea typeface="IBM Plex Sans" charset="0"/>
              <a:cs typeface="IBM Plex Sans" charset="0"/>
            </a:endParaRPr>
          </a:p>
        </p:txBody>
      </p:sp>
      <p:sp>
        <p:nvSpPr>
          <p:cNvPr id="4" name="Shape 2"/>
          <p:cNvSpPr/>
          <p:nvPr/>
        </p:nvSpPr>
        <p:spPr>
          <a:xfrm>
            <a:off x="815975" y="1903090"/>
            <a:ext cx="5175250" cy="3491230"/>
          </a:xfrm>
          <a:prstGeom prst="roundRect">
            <a:avLst>
              <a:gd name="adj" fmla="val 2819"/>
            </a:avLst>
          </a:prstGeom>
          <a:solidFill>
            <a:srgbClr val="FCFBF8"/>
          </a:solidFill>
          <a:ln w="6350">
            <a:solidFill>
              <a:srgbClr val="DCDAD2"/>
            </a:solidFill>
            <a:prstDash val="solid"/>
          </a:ln>
        </p:spPr>
      </p:sp>
      <p:sp>
        <p:nvSpPr>
          <p:cNvPr id="5" name="Text 3"/>
          <p:cNvSpPr/>
          <p:nvPr/>
        </p:nvSpPr>
        <p:spPr>
          <a:xfrm>
            <a:off x="1021080" y="21082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INCLUDE_vTaskPrioritySet / INCLUDE_uxTaskPriorityGet = 1</a:t>
            </a:r>
            <a:endParaRPr lang="en-US" sz="1200" dirty="0">
              <a:latin typeface="IBM Plex Sans" charset="0"/>
              <a:ea typeface="IBM Plex Sans" charset="0"/>
              <a:cs typeface="IBM Plex Sans" charset="0"/>
            </a:endParaRPr>
          </a:p>
        </p:txBody>
      </p:sp>
      <p:sp>
        <p:nvSpPr>
          <p:cNvPr id="6" name="Text 4"/>
          <p:cNvSpPr/>
          <p:nvPr/>
        </p:nvSpPr>
        <p:spPr>
          <a:xfrm>
            <a:off x="1021080" y="2423170"/>
            <a:ext cx="490799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Prioridade em run time</a:t>
            </a:r>
            <a:endParaRPr lang="en-US" sz="1700" dirty="0">
              <a:latin typeface="IBM Plex Sans" charset="0"/>
              <a:ea typeface="IBM Plex Sans" charset="0"/>
              <a:cs typeface="IBM Plex Sans" charset="0"/>
            </a:endParaRPr>
          </a:p>
        </p:txBody>
      </p:sp>
      <p:sp>
        <p:nvSpPr>
          <p:cNvPr id="7" name="Text 5"/>
          <p:cNvSpPr/>
          <p:nvPr/>
        </p:nvSpPr>
        <p:spPr>
          <a:xfrm>
            <a:off x="1021080" y="2783855"/>
            <a:ext cx="4765040" cy="1158240"/>
          </a:xfrm>
          <a:prstGeom prst="roundRect">
            <a:avLst>
              <a:gd name="adj" fmla="val 6579"/>
            </a:avLst>
          </a:prstGeom>
          <a:solidFill>
            <a:srgbClr val="14222E"/>
          </a:solidFill>
          <a:ln/>
        </p:spPr>
        <p:txBody>
          <a:bodyPr wrap="none" lIns="155482" tIns="130082" rIns="23199"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vTaskPrioritySet( TaskHandle_t xTask,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UBaseType_t uxNewPriority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UBaseType_t uxTaskPriorityGet(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TaskHandle_t xTask );</a:t>
            </a:r>
            <a:endParaRPr lang="en-US" sz="1200" dirty="0">
              <a:latin typeface="JetBrains Mono" charset="0"/>
              <a:ea typeface="JetBrains Mono" charset="0"/>
              <a:cs typeface="JetBrains Mono" charset="0"/>
            </a:endParaRPr>
          </a:p>
        </p:txBody>
      </p:sp>
      <p:sp>
        <p:nvSpPr>
          <p:cNvPr id="8" name="Text 6"/>
          <p:cNvSpPr/>
          <p:nvPr/>
        </p:nvSpPr>
        <p:spPr>
          <a:xfrm>
            <a:off x="1021080" y="4043685"/>
            <a:ext cx="490799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05C"/>
                </a:solidFill>
                <a:latin typeface="IBM Plex Sans" pitchFamily="34" charset="0"/>
                <a:ea typeface="IBM Plex Sans" pitchFamily="34" charset="-122"/>
                <a:cs typeface="IBM Plex Sans" pitchFamily="34" charset="-120"/>
              </a:rPr>
              <a:t>NULL</a:t>
            </a:r>
            <a:r>
              <a:rPr lang="en-US" sz="1300" dirty="0">
                <a:solidFill>
                  <a:srgbClr val="44505C"/>
                </a:solidFill>
                <a:latin typeface="IBM Plex Sans" pitchFamily="34" charset="0"/>
                <a:ea typeface="IBM Plex Sans" pitchFamily="34" charset="-122"/>
                <a:cs typeface="IBM Plex Sans" pitchFamily="34" charset="-120"/>
              </a:rPr>
              <a:t> como handle = a própria task. O handle só é preciso para mexer noutra task (guarda-se no pxCreatedTask).</a:t>
            </a:r>
            <a:endParaRPr lang="en-US" sz="1300" dirty="0">
              <a:latin typeface="IBM Plex Sans" charset="0"/>
              <a:ea typeface="IBM Plex Sans" charset="0"/>
              <a:cs typeface="IBM Plex Sans" charset="0"/>
            </a:endParaRPr>
          </a:p>
        </p:txBody>
      </p:sp>
      <p:sp>
        <p:nvSpPr>
          <p:cNvPr id="9" name="Shape 7"/>
          <p:cNvSpPr/>
          <p:nvPr/>
        </p:nvSpPr>
        <p:spPr>
          <a:xfrm>
            <a:off x="6200775" y="1903090"/>
            <a:ext cx="5175250" cy="3491230"/>
          </a:xfrm>
          <a:prstGeom prst="roundRect">
            <a:avLst>
              <a:gd name="adj" fmla="val 2819"/>
            </a:avLst>
          </a:prstGeom>
          <a:solidFill>
            <a:srgbClr val="FCFBF8"/>
          </a:solidFill>
          <a:ln w="6350">
            <a:solidFill>
              <a:srgbClr val="DCDAD2"/>
            </a:solidFill>
            <a:prstDash val="solid"/>
          </a:ln>
        </p:spPr>
      </p:sp>
      <p:sp>
        <p:nvSpPr>
          <p:cNvPr id="10" name="Text 8"/>
          <p:cNvSpPr/>
          <p:nvPr/>
        </p:nvSpPr>
        <p:spPr>
          <a:xfrm>
            <a:off x="6405880" y="21082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INCLUDE_vTaskDelete = 1</a:t>
            </a:r>
            <a:endParaRPr lang="en-US" sz="1200" dirty="0">
              <a:latin typeface="IBM Plex Sans" charset="0"/>
              <a:ea typeface="IBM Plex Sans" charset="0"/>
              <a:cs typeface="IBM Plex Sans" charset="0"/>
            </a:endParaRPr>
          </a:p>
        </p:txBody>
      </p:sp>
      <p:sp>
        <p:nvSpPr>
          <p:cNvPr id="11" name="Text 9"/>
          <p:cNvSpPr/>
          <p:nvPr/>
        </p:nvSpPr>
        <p:spPr>
          <a:xfrm>
            <a:off x="6405880" y="2423170"/>
            <a:ext cx="4907991"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Apagar uma task</a:t>
            </a:r>
            <a:endParaRPr lang="en-US" sz="1700" dirty="0">
              <a:latin typeface="IBM Plex Sans" charset="0"/>
              <a:ea typeface="IBM Plex Sans" charset="0"/>
              <a:cs typeface="IBM Plex Sans" charset="0"/>
            </a:endParaRPr>
          </a:p>
        </p:txBody>
      </p:sp>
      <p:sp>
        <p:nvSpPr>
          <p:cNvPr id="12" name="Text 10"/>
          <p:cNvSpPr/>
          <p:nvPr/>
        </p:nvSpPr>
        <p:spPr>
          <a:xfrm>
            <a:off x="6405880" y="2783855"/>
            <a:ext cx="4765040" cy="518160"/>
          </a:xfrm>
          <a:prstGeom prst="roundRect">
            <a:avLst>
              <a:gd name="adj" fmla="val 14706"/>
            </a:avLst>
          </a:prstGeom>
          <a:solidFill>
            <a:srgbClr val="14222E"/>
          </a:solidFill>
          <a:ln/>
        </p:spPr>
        <p:txBody>
          <a:bodyPr wrap="none" lIns="155482" tIns="130082" rIns="23199"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vTaskDelete( TaskHandle_t xTaskToDelete );</a:t>
            </a:r>
            <a:endParaRPr lang="en-US" sz="1200" dirty="0">
              <a:latin typeface="JetBrains Mono" charset="0"/>
              <a:ea typeface="JetBrains Mono" charset="0"/>
              <a:cs typeface="JetBrains Mono" charset="0"/>
            </a:endParaRPr>
          </a:p>
        </p:txBody>
      </p:sp>
      <p:sp>
        <p:nvSpPr>
          <p:cNvPr id="13" name="Text 11"/>
          <p:cNvSpPr/>
          <p:nvPr/>
        </p:nvSpPr>
        <p:spPr>
          <a:xfrm>
            <a:off x="6405880" y="3403600"/>
            <a:ext cx="4907991"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4505C"/>
                </a:solidFill>
                <a:latin typeface="IBM Plex Sans" pitchFamily="34" charset="0"/>
                <a:ea typeface="IBM Plex Sans" pitchFamily="34" charset="-122"/>
                <a:cs typeface="IBM Plex Sans" pitchFamily="34" charset="-120"/>
              </a:rPr>
              <a:t>NULL</a:t>
            </a:r>
            <a:r>
              <a:rPr lang="en-US" sz="1300" dirty="0">
                <a:solidFill>
                  <a:srgbClr val="44505C"/>
                </a:solidFill>
                <a:latin typeface="IBM Plex Sans" pitchFamily="34" charset="0"/>
                <a:ea typeface="IBM Plex Sans" pitchFamily="34" charset="-122"/>
                <a:cs typeface="IBM Plex Sans" pitchFamily="34" charset="-120"/>
              </a:rPr>
              <a:t> = apaga-se a si própria. A task deixa de existir e não volta a Running.</a:t>
            </a:r>
            <a:endParaRPr lang="en-US" sz="1300" dirty="0">
              <a:latin typeface="IBM Plex Sans" charset="0"/>
              <a:ea typeface="IBM Plex Sans" charset="0"/>
              <a:cs typeface="IBM Plex Sans" charset="0"/>
            </a:endParaRPr>
          </a:p>
        </p:txBody>
      </p:sp>
      <p:sp>
        <p:nvSpPr>
          <p:cNvPr id="14" name="Text 12"/>
          <p:cNvSpPr/>
          <p:nvPr/>
        </p:nvSpPr>
        <p:spPr>
          <a:xfrm>
            <a:off x="6405880" y="3967485"/>
            <a:ext cx="4907991"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Só a memória alocada </a:t>
            </a:r>
            <a:r>
              <a:rPr lang="en-US" sz="1300" b="1" dirty="0">
                <a:solidFill>
                  <a:srgbClr val="44505C"/>
                </a:solidFill>
                <a:latin typeface="IBM Plex Sans" pitchFamily="34" charset="0"/>
                <a:ea typeface="IBM Plex Sans" pitchFamily="34" charset="-122"/>
                <a:cs typeface="IBM Plex Sans" pitchFamily="34" charset="-120"/>
              </a:rPr>
              <a:t>pelo kernel</a:t>
            </a:r>
            <a:r>
              <a:rPr lang="en-US" sz="1300" dirty="0">
                <a:solidFill>
                  <a:srgbClr val="44505C"/>
                </a:solidFill>
                <a:latin typeface="IBM Plex Sans" pitchFamily="34" charset="0"/>
                <a:ea typeface="IBM Plex Sans" pitchFamily="34" charset="-122"/>
                <a:cs typeface="IBM Plex Sans" pitchFamily="34" charset="-120"/>
              </a:rPr>
              <a:t> (TCB, stack) é libertada, pela idle task. O que a task alocou tem de ser libertado explicitamente.</a:t>
            </a:r>
            <a:endParaRPr lang="en-US" sz="1300" dirty="0">
              <a:latin typeface="IBM Plex Sans" charset="0"/>
              <a:ea typeface="IBM Plex Sans" charset="0"/>
              <a:cs typeface="IBM Plex Sans" charset="0"/>
            </a:endParaRPr>
          </a:p>
        </p:txBody>
      </p:sp>
      <p:sp>
        <p:nvSpPr>
          <p:cNvPr id="15" name="Text 13"/>
          <p:cNvSpPr/>
          <p:nvPr/>
        </p:nvSpPr>
        <p:spPr>
          <a:xfrm>
            <a:off x="6405880" y="4762500"/>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Criar e apagar tasks continuamente não é boa prática: preferir reutilizar tasks.</a:t>
            </a:r>
            <a:endParaRPr lang="en-US" sz="1200" dirty="0">
              <a:latin typeface="IBM Plex Sans" charset="0"/>
              <a:ea typeface="IBM Plex Sans" charset="0"/>
              <a:cs typeface="IBM Plex Sans" charset="0"/>
            </a:endParaRPr>
          </a:p>
        </p:txBody>
      </p:sp>
      <p:sp>
        <p:nvSpPr>
          <p:cNvPr id="16" name="Text 14"/>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7" name="Text 15"/>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17329"/>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17766A"/>
                </a:solidFill>
                <a:latin typeface="IBM Plex Sans" pitchFamily="34" charset="0"/>
                <a:ea typeface="IBM Plex Sans" pitchFamily="34" charset="-122"/>
                <a:cs typeface="IBM Plex Sans" pitchFamily="34" charset="-120"/>
              </a:rPr>
              <a:t>SCHEDULING ALGORITHMS</a:t>
            </a:r>
            <a:endParaRPr lang="en-US" sz="1088" dirty="0">
              <a:latin typeface="IBM Plex Sans" charset="0"/>
              <a:ea typeface="IBM Plex Sans" charset="0"/>
              <a:cs typeface="IBM Plex Sans" charset="0"/>
            </a:endParaRPr>
          </a:p>
        </p:txBody>
      </p:sp>
      <p:sp>
        <p:nvSpPr>
          <p:cNvPr id="3" name="Text 1"/>
          <p:cNvSpPr/>
          <p:nvPr>
            <p:ph type="title"/>
          </p:nvPr>
        </p:nvSpPr>
        <p:spPr>
          <a:xfrm>
            <a:off x="812800" y="1106339"/>
            <a:ext cx="10883392" cy="445849"/>
          </a:xfrm>
          <a:prstGeom prst="rect">
            <a:avLst/>
          </a:prstGeom>
          <a:noFill/>
          <a:ln/>
        </p:spPr>
        <p:txBody>
          <a:bodyPr wrap="square" lIns="0" tIns="0" rIns="0" bIns="0" rtlCol="0" anchor="t">
            <a:normAutofit/>
          </a:bodyPr>
          <a:lstStyle/>
          <a:p>
            <a:pPr algn="l" indent="0" marL="0">
              <a:lnSpc>
                <a:spcPts val="3323"/>
              </a:lnSpc>
              <a:buNone/>
            </a:pPr>
            <a:r>
              <a:rPr lang="en-US" sz="2890" b="1" i="0" dirty="0">
                <a:solidFill>
                  <a:srgbClr val="14222E"/>
                </a:solidFill>
                <a:latin typeface="IBM Plex Sans" pitchFamily="34" charset="0"/>
                <a:ea typeface="IBM Plex Sans" pitchFamily="34" charset="-122"/>
                <a:cs typeface="IBM Plex Sans" pitchFamily="34" charset="-120"/>
              </a:rPr>
              <a:t>Escolher o algoritmo de scheduling</a:t>
            </a:r>
            <a:endParaRPr lang="en-US" sz="2890" dirty="0">
              <a:latin typeface="IBM Plex Sans" charset="0"/>
              <a:ea typeface="IBM Plex Sans" charset="0"/>
              <a:cs typeface="IBM Plex Sans" charset="0"/>
            </a:endParaRPr>
          </a:p>
        </p:txBody>
      </p:sp>
      <p:sp>
        <p:nvSpPr>
          <p:cNvPr id="4" name="Shape 2"/>
          <p:cNvSpPr/>
          <p:nvPr/>
        </p:nvSpPr>
        <p:spPr>
          <a:xfrm>
            <a:off x="812800" y="1735058"/>
            <a:ext cx="10566400" cy="0"/>
          </a:xfrm>
          <a:prstGeom prst="line">
            <a:avLst/>
          </a:prstGeom>
          <a:noFill/>
          <a:ln w="10160">
            <a:solidFill>
              <a:srgbClr val="141413">
                <a:alpha val="22000"/>
              </a:srgbClr>
            </a:solidFill>
            <a:prstDash val="solid"/>
          </a:ln>
        </p:spPr>
      </p:sp>
      <p:sp>
        <p:nvSpPr>
          <p:cNvPr id="5" name="Shape 3"/>
          <p:cNvSpPr/>
          <p:nvPr/>
        </p:nvSpPr>
        <p:spPr>
          <a:xfrm>
            <a:off x="817880" y="1729978"/>
            <a:ext cx="0" cy="1440021"/>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03638"/>
          <a:ext cx="10353040" cy="1305878"/>
        </p:xfrm>
        <a:graphic>
          <a:graphicData uri="http://schemas.openxmlformats.org/drawingml/2006/table">
            <a:tbl>
              <a:tblPr/>
              <a:tblGrid>
                <a:gridCol w="3520034"/>
                <a:gridCol w="1656486"/>
                <a:gridCol w="2588260"/>
                <a:gridCol w="2588260"/>
              </a:tblGrid>
              <a:tr h="326469">
                <a:tc>
                  <a:txBody>
                    <a:bodyPr/>
                    <a:lstStyle/>
                    <a:p>
                      <a:pPr indent="0" marL="0">
                        <a:lnSpc>
                          <a:spcPts val="1661"/>
                        </a:lnSpc>
                        <a:buNone/>
                      </a:pPr>
                      <a:r>
                        <a:rPr lang="en-US" sz="1186" b="1" dirty="0">
                          <a:solidFill>
                            <a:srgbClr val="44505C"/>
                          </a:solidFill>
                          <a:latin typeface="IBM Plex Sans" pitchFamily="34" charset="0"/>
                          <a:ea typeface="IBM Plex Sans" pitchFamily="34" charset="-122"/>
                          <a:cs typeface="IBM Plex Sans" pitchFamily="34" charset="-120"/>
                        </a:rPr>
                        <a:t>Algoritmo</a:t>
                      </a:r>
                      <a:endParaRPr lang="en-US" sz="1186" dirty="0">
                        <a:latin typeface="IBM Plex Sans" charset="0"/>
                        <a:ea typeface="IBM Plex Sans" charset="0"/>
                        <a:cs typeface="IBM Plex Sans" charset="0"/>
                      </a:endParaRPr>
                    </a:p>
                  </a:txBody>
                  <a:tcPr marL="52729" marR="52729" marT="52729" marB="52729"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61"/>
                        </a:lnSpc>
                        <a:buNone/>
                      </a:pPr>
                      <a:r>
                        <a:rPr lang="en-US" sz="1186" b="1" dirty="0">
                          <a:solidFill>
                            <a:srgbClr val="44505C"/>
                          </a:solidFill>
                          <a:latin typeface="IBM Plex Sans" pitchFamily="34" charset="0"/>
                          <a:ea typeface="IBM Plex Sans" pitchFamily="34" charset="-122"/>
                          <a:cs typeface="IBM Plex Sans" pitchFamily="34" charset="-120"/>
                        </a:rPr>
                        <a:t>Preempção</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61"/>
                        </a:lnSpc>
                        <a:buNone/>
                      </a:pPr>
                      <a:r>
                        <a:rPr lang="en-US" sz="1186" b="1" dirty="0">
                          <a:solidFill>
                            <a:srgbClr val="44505C"/>
                          </a:solidFill>
                          <a:latin typeface="IBM Plex Sans" pitchFamily="34" charset="0"/>
                          <a:ea typeface="IBM Plex Sans" pitchFamily="34" charset="-122"/>
                          <a:cs typeface="IBM Plex Sans" pitchFamily="34" charset="-120"/>
                        </a:rPr>
                        <a:t>configUSE_PREEMPTION</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61"/>
                        </a:lnSpc>
                        <a:buNone/>
                      </a:pPr>
                      <a:r>
                        <a:rPr lang="en-US" sz="1186" b="1" dirty="0">
                          <a:solidFill>
                            <a:srgbClr val="44505C"/>
                          </a:solidFill>
                          <a:latin typeface="IBM Plex Sans" pitchFamily="34" charset="0"/>
                          <a:ea typeface="IBM Plex Sans" pitchFamily="34" charset="-122"/>
                          <a:cs typeface="IBM Plex Sans" pitchFamily="34" charset="-120"/>
                        </a:rPr>
                        <a:t>configUSE_TIME_SLICING</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26469">
                <a:tc>
                  <a:txBody>
                    <a:bodyPr/>
                    <a:lstStyle/>
                    <a:p>
                      <a:pPr indent="0" marL="0">
                        <a:lnSpc>
                          <a:spcPts val="1661"/>
                        </a:lnSpc>
                        <a:buNone/>
                      </a:pPr>
                      <a:r>
                        <a:rPr lang="en-US" sz="1186" dirty="0">
                          <a:solidFill>
                            <a:srgbClr val="17766A"/>
                          </a:solidFill>
                          <a:latin typeface="IBM Plex Sans" pitchFamily="34" charset="0"/>
                          <a:ea typeface="IBM Plex Sans" pitchFamily="34" charset="-122"/>
                          <a:cs typeface="IBM Plex Sans" pitchFamily="34" charset="-120"/>
                        </a:rPr>
                        <a:t>Preemptivo com time slicing</a:t>
                      </a:r>
                      <a:endParaRPr lang="en-US" sz="1186" dirty="0">
                        <a:latin typeface="IBM Plex Sans" charset="0"/>
                        <a:ea typeface="IBM Plex Sans" charset="0"/>
                        <a:cs typeface="IBM Plex Sans" charset="0"/>
                      </a:endParaRPr>
                    </a:p>
                  </a:txBody>
                  <a:tcPr marL="52729" marR="52729" marT="52729" marB="5272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Sim</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1</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1</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6469">
                <a:tc>
                  <a:txBody>
                    <a:bodyPr/>
                    <a:lstStyle/>
                    <a:p>
                      <a:pPr indent="0" marL="0">
                        <a:lnSpc>
                          <a:spcPts val="1661"/>
                        </a:lnSpc>
                        <a:buNone/>
                      </a:pPr>
                      <a:r>
                        <a:rPr lang="en-US" sz="1186" dirty="0">
                          <a:solidFill>
                            <a:srgbClr val="17766A"/>
                          </a:solidFill>
                          <a:latin typeface="IBM Plex Sans" pitchFamily="34" charset="0"/>
                          <a:ea typeface="IBM Plex Sans" pitchFamily="34" charset="-122"/>
                          <a:cs typeface="IBM Plex Sans" pitchFamily="34" charset="-120"/>
                        </a:rPr>
                        <a:t>Preemptivo sem time slicing</a:t>
                      </a:r>
                      <a:endParaRPr lang="en-US" sz="1186" dirty="0">
                        <a:latin typeface="IBM Plex Sans" charset="0"/>
                        <a:ea typeface="IBM Plex Sans" charset="0"/>
                        <a:cs typeface="IBM Plex Sans" charset="0"/>
                      </a:endParaRPr>
                    </a:p>
                  </a:txBody>
                  <a:tcPr marL="52729" marR="52729" marT="52729" marB="5272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Sim</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1</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0</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6469">
                <a:tc>
                  <a:txBody>
                    <a:bodyPr/>
                    <a:lstStyle/>
                    <a:p>
                      <a:pPr indent="0" marL="0">
                        <a:lnSpc>
                          <a:spcPts val="1661"/>
                        </a:lnSpc>
                        <a:buNone/>
                      </a:pPr>
                      <a:r>
                        <a:rPr lang="en-US" sz="1186" dirty="0">
                          <a:solidFill>
                            <a:srgbClr val="17766A"/>
                          </a:solidFill>
                          <a:latin typeface="IBM Plex Sans" pitchFamily="34" charset="0"/>
                          <a:ea typeface="IBM Plex Sans" pitchFamily="34" charset="-122"/>
                          <a:cs typeface="IBM Plex Sans" pitchFamily="34" charset="-120"/>
                        </a:rPr>
                        <a:t>Cooperativo</a:t>
                      </a:r>
                      <a:endParaRPr lang="en-US" sz="1186" dirty="0">
                        <a:latin typeface="IBM Plex Sans" charset="0"/>
                        <a:ea typeface="IBM Plex Sans" charset="0"/>
                        <a:cs typeface="IBM Plex Sans" charset="0"/>
                      </a:endParaRPr>
                    </a:p>
                  </a:txBody>
                  <a:tcPr marL="52729" marR="52729" marT="52729" marB="5272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Não</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0</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61"/>
                        </a:lnSpc>
                        <a:buNone/>
                      </a:pPr>
                      <a:r>
                        <a:rPr lang="en-US" sz="1186" dirty="0">
                          <a:solidFill>
                            <a:srgbClr val="44505C"/>
                          </a:solidFill>
                          <a:latin typeface="IBM Plex Sans" pitchFamily="34" charset="0"/>
                          <a:ea typeface="IBM Plex Sans" pitchFamily="34" charset="-122"/>
                          <a:cs typeface="IBM Plex Sans" pitchFamily="34" charset="-120"/>
                        </a:rPr>
                        <a:t>Qualquer</a:t>
                      </a:r>
                      <a:endParaRPr lang="en-US" sz="1186" dirty="0">
                        <a:latin typeface="IBM Plex Sans" charset="0"/>
                        <a:ea typeface="IBM Plex Sans" charset="0"/>
                        <a:cs typeface="IBM Plex Sans" charset="0"/>
                      </a:endParaRPr>
                    </a:p>
                  </a:txBody>
                  <a:tcPr marL="52729" marR="52729" marT="52729" marB="5272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Shape 4"/>
          <p:cNvSpPr/>
          <p:nvPr/>
        </p:nvSpPr>
        <p:spPr>
          <a:xfrm>
            <a:off x="815975" y="3376389"/>
            <a:ext cx="3414157" cy="1226979"/>
          </a:xfrm>
          <a:prstGeom prst="roundRect">
            <a:avLst>
              <a:gd name="adj" fmla="val 8022"/>
            </a:avLst>
          </a:prstGeom>
          <a:solidFill>
            <a:srgbClr val="FCFBF8"/>
          </a:solidFill>
          <a:ln w="6350">
            <a:solidFill>
              <a:srgbClr val="DCDAD2"/>
            </a:solidFill>
            <a:prstDash val="solid"/>
          </a:ln>
        </p:spPr>
      </p:sp>
      <p:sp>
        <p:nvSpPr>
          <p:cNvPr id="8" name="Text 5"/>
          <p:cNvSpPr/>
          <p:nvPr/>
        </p:nvSpPr>
        <p:spPr>
          <a:xfrm>
            <a:off x="995680" y="3556074"/>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Fixed priority</a:t>
            </a:r>
            <a:endParaRPr lang="en-US" sz="1500" dirty="0">
              <a:latin typeface="IBM Plex Sans" charset="0"/>
              <a:ea typeface="IBM Plex Sans" charset="0"/>
              <a:cs typeface="IBM Plex Sans" charset="0"/>
            </a:endParaRPr>
          </a:p>
        </p:txBody>
      </p:sp>
      <p:sp>
        <p:nvSpPr>
          <p:cNvPr id="9" name="Text 6"/>
          <p:cNvSpPr/>
          <p:nvPr/>
        </p:nvSpPr>
        <p:spPr>
          <a:xfrm>
            <a:off x="995680" y="3848174"/>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O algoritmo não muda as prioridades, mas as tasks podem mudá-las.</a:t>
            </a:r>
            <a:endParaRPr lang="en-US" sz="1300" dirty="0">
              <a:latin typeface="IBM Plex Sans" charset="0"/>
              <a:ea typeface="IBM Plex Sans" charset="0"/>
              <a:cs typeface="IBM Plex Sans" charset="0"/>
            </a:endParaRPr>
          </a:p>
        </p:txBody>
      </p:sp>
      <p:sp>
        <p:nvSpPr>
          <p:cNvPr id="10" name="Shape 7"/>
          <p:cNvSpPr/>
          <p:nvPr/>
        </p:nvSpPr>
        <p:spPr>
          <a:xfrm>
            <a:off x="4388882" y="3376389"/>
            <a:ext cx="3414236" cy="1226979"/>
          </a:xfrm>
          <a:prstGeom prst="roundRect">
            <a:avLst>
              <a:gd name="adj" fmla="val 8022"/>
            </a:avLst>
          </a:prstGeom>
          <a:solidFill>
            <a:srgbClr val="FCFBF8"/>
          </a:solidFill>
          <a:ln w="6350">
            <a:solidFill>
              <a:srgbClr val="DCDAD2"/>
            </a:solidFill>
            <a:prstDash val="solid"/>
          </a:ln>
        </p:spPr>
      </p:sp>
      <p:sp>
        <p:nvSpPr>
          <p:cNvPr id="11" name="Text 8"/>
          <p:cNvSpPr/>
          <p:nvPr/>
        </p:nvSpPr>
        <p:spPr>
          <a:xfrm>
            <a:off x="4568587" y="3556074"/>
            <a:ext cx="3146471" cy="224790"/>
          </a:xfrm>
          <a:prstGeom prst="rect">
            <a:avLst/>
          </a:prstGeom>
          <a:noFill/>
          <a:ln/>
        </p:spPr>
        <p:txBody>
          <a:bodyPr wrap="square" lIns="0" tIns="0" rIns="0" bIns="0" rtlCol="0" anchor="t">
            <a:normAutofit/>
          </a:bodyPr>
          <a:lstStyle/>
          <a:p>
            <a:pPr algn="l" indent="0" marL="0">
              <a:lnSpc>
                <a:spcPts val="1569"/>
              </a:lnSpc>
              <a:buNone/>
            </a:pPr>
            <a:r>
              <a:rPr lang="en-US" sz="1308" b="1" dirty="0">
                <a:solidFill>
                  <a:srgbClr val="14222E"/>
                </a:solidFill>
                <a:latin typeface="IBM Plex Sans" pitchFamily="34" charset="0"/>
                <a:ea typeface="IBM Plex Sans" pitchFamily="34" charset="-122"/>
                <a:cs typeface="IBM Plex Sans" pitchFamily="34" charset="-120"/>
              </a:rPr>
              <a:t>Preemptive</a:t>
            </a:r>
            <a:endParaRPr lang="en-US" sz="1308" dirty="0">
              <a:latin typeface="IBM Plex Sans" charset="0"/>
              <a:ea typeface="IBM Plex Sans" charset="0"/>
              <a:cs typeface="IBM Plex Sans" charset="0"/>
            </a:endParaRPr>
          </a:p>
        </p:txBody>
      </p:sp>
      <p:sp>
        <p:nvSpPr>
          <p:cNvPr id="12" name="Text 9"/>
          <p:cNvSpPr/>
          <p:nvPr/>
        </p:nvSpPr>
        <p:spPr>
          <a:xfrm>
            <a:off x="4568587" y="3818979"/>
            <a:ext cx="3146471" cy="630079"/>
          </a:xfrm>
          <a:prstGeom prst="rect">
            <a:avLst/>
          </a:prstGeom>
          <a:noFill/>
          <a:ln/>
        </p:spPr>
        <p:txBody>
          <a:bodyPr wrap="square" lIns="0" tIns="0" rIns="0" bIns="0" rtlCol="0" anchor="t">
            <a:normAutofit/>
          </a:bodyPr>
          <a:lstStyle/>
          <a:p>
            <a:pPr algn="l" indent="0" marL="0">
              <a:lnSpc>
                <a:spcPts val="1587"/>
              </a:lnSpc>
              <a:buNone/>
            </a:pPr>
            <a:r>
              <a:rPr lang="en-US" sz="1133" dirty="0">
                <a:solidFill>
                  <a:srgbClr val="44505C"/>
                </a:solidFill>
                <a:latin typeface="IBM Plex Sans" pitchFamily="34" charset="0"/>
                <a:ea typeface="IBM Plex Sans" pitchFamily="34" charset="-122"/>
                <a:cs typeface="IBM Plex Sans" pitchFamily="34" charset="-120"/>
              </a:rPr>
              <a:t>Se fica Ready uma task de maior prioridade, a que está em Running sai de imediato, sem yield nem block.</a:t>
            </a:r>
            <a:endParaRPr lang="en-US" sz="1133" dirty="0">
              <a:latin typeface="IBM Plex Sans" charset="0"/>
              <a:ea typeface="IBM Plex Sans" charset="0"/>
              <a:cs typeface="IBM Plex Sans" charset="0"/>
            </a:endParaRPr>
          </a:p>
        </p:txBody>
      </p:sp>
      <p:sp>
        <p:nvSpPr>
          <p:cNvPr id="13" name="Shape 10"/>
          <p:cNvSpPr/>
          <p:nvPr/>
        </p:nvSpPr>
        <p:spPr>
          <a:xfrm>
            <a:off x="7961868" y="3376389"/>
            <a:ext cx="3414157" cy="1226979"/>
          </a:xfrm>
          <a:prstGeom prst="roundRect">
            <a:avLst>
              <a:gd name="adj" fmla="val 8022"/>
            </a:avLst>
          </a:prstGeom>
          <a:solidFill>
            <a:srgbClr val="FCFBF8"/>
          </a:solidFill>
          <a:ln w="6350">
            <a:solidFill>
              <a:srgbClr val="DCDAD2"/>
            </a:solidFill>
            <a:prstDash val="solid"/>
          </a:ln>
        </p:spPr>
      </p:sp>
      <p:sp>
        <p:nvSpPr>
          <p:cNvPr id="14" name="Text 11"/>
          <p:cNvSpPr/>
          <p:nvPr/>
        </p:nvSpPr>
        <p:spPr>
          <a:xfrm>
            <a:off x="8141574" y="3556074"/>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Time slicing</a:t>
            </a:r>
            <a:endParaRPr lang="en-US" sz="1500" dirty="0">
              <a:latin typeface="IBM Plex Sans" charset="0"/>
              <a:ea typeface="IBM Plex Sans" charset="0"/>
              <a:cs typeface="IBM Plex Sans" charset="0"/>
            </a:endParaRPr>
          </a:p>
        </p:txBody>
      </p:sp>
      <p:sp>
        <p:nvSpPr>
          <p:cNvPr id="15" name="Text 12"/>
          <p:cNvSpPr/>
          <p:nvPr/>
        </p:nvSpPr>
        <p:spPr>
          <a:xfrm>
            <a:off x="8141574" y="3848174"/>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Tasks de igual prioridade trocam no fim de cada time slice, isto é, a cada tick.</a:t>
            </a:r>
            <a:endParaRPr lang="en-US" sz="1300" dirty="0">
              <a:latin typeface="IBM Plex Sans" charset="0"/>
              <a:ea typeface="IBM Plex Sans" charset="0"/>
              <a:cs typeface="IBM Plex Sans" charset="0"/>
            </a:endParaRPr>
          </a:p>
        </p:txBody>
      </p:sp>
      <p:sp>
        <p:nvSpPr>
          <p:cNvPr id="16" name="Text 13"/>
          <p:cNvSpPr/>
          <p:nvPr/>
        </p:nvSpPr>
        <p:spPr>
          <a:xfrm>
            <a:off x="812800" y="4809728"/>
            <a:ext cx="10883392" cy="236379"/>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66717C"/>
                </a:solidFill>
                <a:latin typeface="IBM Plex Sans" pitchFamily="34" charset="0"/>
                <a:ea typeface="IBM Plex Sans" pitchFamily="34" charset="-122"/>
                <a:cs typeface="IBM Plex Sans" pitchFamily="34" charset="-120"/>
              </a:rPr>
              <a:t>Em qualquer configuração single core, tasks da mesma prioridade são escolhidas à vez (</a:t>
            </a:r>
            <a:r>
              <a:rPr lang="en-US" sz="1194" b="1" dirty="0">
                <a:solidFill>
                  <a:srgbClr val="66717C"/>
                </a:solidFill>
                <a:latin typeface="IBM Plex Sans" pitchFamily="34" charset="0"/>
                <a:ea typeface="IBM Plex Sans" pitchFamily="34" charset="-122"/>
                <a:cs typeface="IBM Plex Sans" pitchFamily="34" charset="-120"/>
              </a:rPr>
              <a:t>round robin</a:t>
            </a:r>
            <a:r>
              <a:rPr lang="en-US" sz="1194" dirty="0">
                <a:solidFill>
                  <a:srgbClr val="66717C"/>
                </a:solidFill>
                <a:latin typeface="IBM Plex Sans" pitchFamily="34" charset="0"/>
                <a:ea typeface="IBM Plex Sans" pitchFamily="34" charset="-122"/>
                <a:cs typeface="IBM Plex Sans" pitchFamily="34" charset="-120"/>
              </a:rPr>
              <a:t>), o que não garante tempo igual.</a:t>
            </a:r>
            <a:endParaRPr lang="en-US" sz="1194" dirty="0">
              <a:latin typeface="IBM Plex Sans" charset="0"/>
              <a:ea typeface="IBM Plex Sans" charset="0"/>
              <a:cs typeface="IBM Plex Sans" charset="0"/>
            </a:endParaRPr>
          </a:p>
        </p:txBody>
      </p:sp>
      <p:sp>
        <p:nvSpPr>
          <p:cNvPr id="17" name="Shape 14"/>
          <p:cNvSpPr/>
          <p:nvPr/>
        </p:nvSpPr>
        <p:spPr>
          <a:xfrm>
            <a:off x="812800" y="5223917"/>
            <a:ext cx="10566400" cy="618093"/>
          </a:xfrm>
          <a:custGeom>
            <a:avLst/>
            <a:gdLst/>
            <a:ahLst/>
            <a:cxnLst/>
            <a:rect l="l" t="t" r="r" b="b"/>
            <a:pathLst>
              <a:path w="10566400" h="618093">
                <a:moveTo>
                  <a:pt x="0" y="0"/>
                </a:moveTo>
                <a:lnTo>
                  <a:pt x="10490200" y="0"/>
                </a:lnTo>
                <a:arcTo hR="76200" wR="76200" stAng="16200000" swAng="5400000"/>
                <a:lnTo>
                  <a:pt x="10566400" y="541893"/>
                </a:lnTo>
                <a:arcTo hR="76200" wR="76200" stAng="0" swAng="5400000"/>
                <a:lnTo>
                  <a:pt x="0" y="618093"/>
                </a:lnTo>
                <a:lnTo>
                  <a:pt x="0" y="0"/>
                </a:lnTo>
                <a:close/>
              </a:path>
            </a:pathLst>
          </a:custGeom>
          <a:solidFill>
            <a:srgbClr val="E3EFEC"/>
          </a:solidFill>
          <a:ln/>
        </p:spPr>
      </p:sp>
      <p:sp>
        <p:nvSpPr>
          <p:cNvPr id="18" name="Shape 15"/>
          <p:cNvSpPr/>
          <p:nvPr/>
        </p:nvSpPr>
        <p:spPr>
          <a:xfrm>
            <a:off x="812800" y="5223917"/>
            <a:ext cx="10566400" cy="618093"/>
          </a:xfrm>
          <a:custGeom>
            <a:avLst/>
            <a:gdLst/>
            <a:ahLst/>
            <a:cxnLst/>
            <a:rect l="l" t="t" r="r" b="b"/>
            <a:pathLst>
              <a:path w="10566400" h="618093">
                <a:moveTo>
                  <a:pt x="38100" y="618093"/>
                </a:moveTo>
                <a:lnTo>
                  <a:pt x="0" y="618093"/>
                </a:lnTo>
                <a:lnTo>
                  <a:pt x="0" y="0"/>
                </a:lnTo>
                <a:lnTo>
                  <a:pt x="38100" y="0"/>
                </a:lnTo>
                <a:lnTo>
                  <a:pt x="38100" y="618093"/>
                </a:lnTo>
                <a:close/>
              </a:path>
            </a:pathLst>
          </a:custGeom>
          <a:solidFill>
            <a:srgbClr val="17766A"/>
          </a:solidFill>
          <a:ln/>
        </p:spPr>
      </p:sp>
      <p:sp>
        <p:nvSpPr>
          <p:cNvPr id="19" name="Text 16"/>
          <p:cNvSpPr/>
          <p:nvPr/>
        </p:nvSpPr>
        <p:spPr>
          <a:xfrm>
            <a:off x="1013460" y="5417344"/>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IBM Plex Sans" pitchFamily="34" charset="0"/>
                <a:ea typeface="IBM Plex Sans" pitchFamily="34" charset="-122"/>
                <a:cs typeface="IBM Plex Sans" pitchFamily="34" charset="-120"/>
              </a:rPr>
              <a:t>SMP</a:t>
            </a:r>
            <a:endParaRPr lang="en-US" sz="1300" dirty="0">
              <a:latin typeface="IBM Plex Sans" charset="0"/>
              <a:ea typeface="IBM Plex Sans" charset="0"/>
              <a:cs typeface="IBM Plex Sans" charset="0"/>
            </a:endParaRPr>
          </a:p>
        </p:txBody>
      </p:sp>
      <p:sp>
        <p:nvSpPr>
          <p:cNvPr id="20" name="Text 17"/>
          <p:cNvSpPr/>
          <p:nvPr/>
        </p:nvSpPr>
        <p:spPr>
          <a:xfrm>
            <a:off x="1673860" y="5319638"/>
            <a:ext cx="98264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Com vários cores (ex.: os 2 do RP2350), as mesmas regras escolhem uma task </a:t>
            </a:r>
            <a:r>
              <a:rPr lang="en-US" sz="1200" b="1" dirty="0">
                <a:solidFill>
                  <a:srgbClr val="14222E"/>
                </a:solidFill>
                <a:latin typeface="IBM Plex Sans" pitchFamily="34" charset="0"/>
                <a:ea typeface="IBM Plex Sans" pitchFamily="34" charset="-122"/>
                <a:cs typeface="IBM Plex Sans" pitchFamily="34" charset="-120"/>
              </a:rPr>
              <a:t>por core</a:t>
            </a:r>
            <a:r>
              <a:rPr lang="en-US" sz="1200" dirty="0">
                <a:solidFill>
                  <a:srgbClr val="14222E"/>
                </a:solidFill>
                <a:latin typeface="IBM Plex Sans" pitchFamily="34" charset="0"/>
                <a:ea typeface="IBM Plex Sans" pitchFamily="34" charset="-122"/>
                <a:cs typeface="IBM Plex Sans" pitchFamily="34" charset="-120"/>
              </a:rPr>
              <a:t>: correm ao mesmo tempo as tasks Ready de maior prioridade. Com </a:t>
            </a:r>
            <a:r>
              <a:rPr lang="en-US" sz="1200" b="1" dirty="0">
                <a:solidFill>
                  <a:srgbClr val="14222E"/>
                </a:solidFill>
                <a:latin typeface="IBM Plex Sans" pitchFamily="34" charset="0"/>
                <a:ea typeface="IBM Plex Sans" pitchFamily="34" charset="-122"/>
                <a:cs typeface="IBM Plex Sans" pitchFamily="34" charset="-120"/>
              </a:rPr>
              <a:t>configRUN_MULTIPLE_PRIORITIES = 1</a:t>
            </a:r>
            <a:r>
              <a:rPr lang="en-US" sz="1200" dirty="0">
                <a:solidFill>
                  <a:srgbClr val="14222E"/>
                </a:solidFill>
                <a:latin typeface="IBM Plex Sans" pitchFamily="34" charset="0"/>
                <a:ea typeface="IBM Plex Sans" pitchFamily="34" charset="-122"/>
                <a:cs typeface="IBM Plex Sans" pitchFamily="34" charset="-120"/>
              </a:rPr>
              <a:t>, podem ser de prioridades diferentes.</a:t>
            </a:r>
            <a:endParaRPr lang="en-US" sz="1200" dirty="0">
              <a:latin typeface="IBM Plex Sans" charset="0"/>
              <a:ea typeface="IBM Plex Sans" charset="0"/>
              <a:cs typeface="IBM Plex Sans" charset="0"/>
            </a:endParaRPr>
          </a:p>
        </p:txBody>
      </p:sp>
      <p:sp>
        <p:nvSpPr>
          <p:cNvPr id="21" name="Text 18"/>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22" name="Text 19"/>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41</a:t>
            </a:r>
            <a:endParaRPr lang="en-US" sz="1200" dirty="0">
              <a:latin typeface="IBM Plex Sans" charset="0"/>
              <a:ea typeface="IBM Plex Sans" charset="0"/>
              <a:cs typeface="IBM Plex Sans"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SCHEDULING ALGORITHMS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Com ou sem time slicing</a:t>
            </a:r>
            <a:endParaRPr lang="en-US" sz="3200" dirty="0">
              <a:latin typeface="IBM Plex Sans" charset="0"/>
              <a:ea typeface="IBM Plex Sans" charset="0"/>
              <a:cs typeface="IBM Plex Sans" charset="0"/>
            </a:endParaRPr>
          </a:p>
        </p:txBody>
      </p:sp>
      <p:sp>
        <p:nvSpPr>
          <p:cNvPr id="4" name="Shape 2"/>
          <p:cNvSpPr/>
          <p:nvPr/>
        </p:nvSpPr>
        <p:spPr>
          <a:xfrm>
            <a:off x="815975" y="1801490"/>
            <a:ext cx="5175250" cy="2881630"/>
          </a:xfrm>
          <a:prstGeom prst="roundRect">
            <a:avLst>
              <a:gd name="adj" fmla="val 3416"/>
            </a:avLst>
          </a:prstGeom>
          <a:solidFill>
            <a:srgbClr val="FCFBF8"/>
          </a:solidFill>
          <a:ln w="6350">
            <a:solidFill>
              <a:srgbClr val="DCDAD2"/>
            </a:solidFill>
            <a:prstDash val="solid"/>
          </a:ln>
        </p:spPr>
      </p:sp>
      <p:sp>
        <p:nvSpPr>
          <p:cNvPr id="5" name="Text 3"/>
          <p:cNvSpPr/>
          <p:nvPr/>
        </p:nvSpPr>
        <p:spPr>
          <a:xfrm>
            <a:off x="1071880" y="20574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configUSE_TIME_SLICING = 1</a:t>
            </a:r>
            <a:endParaRPr lang="en-US" sz="1200" dirty="0">
              <a:latin typeface="IBM Plex Sans" charset="0"/>
              <a:ea typeface="IBM Plex Sans" charset="0"/>
              <a:cs typeface="IBM Plex Sans" charset="0"/>
            </a:endParaRPr>
          </a:p>
        </p:txBody>
      </p:sp>
      <p:sp>
        <p:nvSpPr>
          <p:cNvPr id="6" name="Text 4"/>
          <p:cNvSpPr/>
          <p:nvPr/>
        </p:nvSpPr>
        <p:spPr>
          <a:xfrm>
            <a:off x="1071880" y="237237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Troca a cada tick</a:t>
            </a:r>
            <a:endParaRPr lang="en-US" sz="1800" dirty="0">
              <a:latin typeface="IBM Plex Sans" charset="0"/>
              <a:ea typeface="IBM Plex Sans" charset="0"/>
              <a:cs typeface="IBM Plex Sans" charset="0"/>
            </a:endParaRPr>
          </a:p>
        </p:txBody>
      </p:sp>
      <p:sp>
        <p:nvSpPr>
          <p:cNvPr id="7" name="Text 5"/>
          <p:cNvSpPr/>
          <p:nvPr/>
        </p:nvSpPr>
        <p:spPr>
          <a:xfrm>
            <a:off x="1071880" y="2748285"/>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Com várias tasks Ready na prioridade mais alta, o scheduler escolhe outra em cada tick interrupt.</a:t>
            </a:r>
            <a:endParaRPr lang="en-US" sz="1400" dirty="0">
              <a:latin typeface="IBM Plex Sans" charset="0"/>
              <a:ea typeface="IBM Plex Sans" charset="0"/>
              <a:cs typeface="IBM Plex Sans" charset="0"/>
            </a:endParaRPr>
          </a:p>
        </p:txBody>
      </p:sp>
      <p:sp>
        <p:nvSpPr>
          <p:cNvPr id="8" name="Text 6"/>
          <p:cNvSpPr/>
          <p:nvPr/>
        </p:nvSpPr>
        <p:spPr>
          <a:xfrm>
            <a:off x="1071880" y="3347715"/>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É o comportamento por omissão da maioria das aplicações.</a:t>
            </a:r>
            <a:endParaRPr lang="en-US" sz="1300" dirty="0">
              <a:latin typeface="IBM Plex Sans" charset="0"/>
              <a:ea typeface="IBM Plex Sans" charset="0"/>
              <a:cs typeface="IBM Plex Sans" charset="0"/>
            </a:endParaRPr>
          </a:p>
        </p:txBody>
      </p:sp>
      <p:sp>
        <p:nvSpPr>
          <p:cNvPr id="9" name="Shape 7"/>
          <p:cNvSpPr/>
          <p:nvPr/>
        </p:nvSpPr>
        <p:spPr>
          <a:xfrm>
            <a:off x="6200775" y="1801490"/>
            <a:ext cx="5175250" cy="2881630"/>
          </a:xfrm>
          <a:prstGeom prst="roundRect">
            <a:avLst>
              <a:gd name="adj" fmla="val 3416"/>
            </a:avLst>
          </a:prstGeom>
          <a:solidFill>
            <a:srgbClr val="FCFBF8"/>
          </a:solidFill>
          <a:ln w="6350">
            <a:solidFill>
              <a:srgbClr val="DCDAD2"/>
            </a:solidFill>
            <a:prstDash val="solid"/>
          </a:ln>
        </p:spPr>
      </p:sp>
      <p:sp>
        <p:nvSpPr>
          <p:cNvPr id="10" name="Text 8"/>
          <p:cNvSpPr/>
          <p:nvPr/>
        </p:nvSpPr>
        <p:spPr>
          <a:xfrm>
            <a:off x="6456680" y="20574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0612A"/>
                </a:solidFill>
                <a:latin typeface="IBM Plex Sans" pitchFamily="34" charset="0"/>
                <a:ea typeface="IBM Plex Sans" pitchFamily="34" charset="-122"/>
                <a:cs typeface="IBM Plex Sans" pitchFamily="34" charset="-120"/>
              </a:rPr>
              <a:t>configUSE_TIME_SLICING = 0</a:t>
            </a:r>
            <a:endParaRPr lang="en-US" sz="1200" dirty="0">
              <a:latin typeface="IBM Plex Sans" charset="0"/>
              <a:ea typeface="IBM Plex Sans" charset="0"/>
              <a:cs typeface="IBM Plex Sans" charset="0"/>
            </a:endParaRPr>
          </a:p>
        </p:txBody>
      </p:sp>
      <p:sp>
        <p:nvSpPr>
          <p:cNvPr id="11" name="Text 9"/>
          <p:cNvSpPr/>
          <p:nvPr/>
        </p:nvSpPr>
        <p:spPr>
          <a:xfrm>
            <a:off x="6456680" y="237237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22E"/>
                </a:solidFill>
                <a:latin typeface="IBM Plex Sans" pitchFamily="34" charset="0"/>
                <a:ea typeface="IBM Plex Sans" pitchFamily="34" charset="-122"/>
                <a:cs typeface="IBM Plex Sans" pitchFamily="34" charset="-120"/>
              </a:rPr>
              <a:t>Só troca quando é obrigado</a:t>
            </a:r>
            <a:endParaRPr lang="en-US" sz="1800" dirty="0">
              <a:latin typeface="IBM Plex Sans" charset="0"/>
              <a:ea typeface="IBM Plex Sans" charset="0"/>
              <a:cs typeface="IBM Plex Sans" charset="0"/>
            </a:endParaRPr>
          </a:p>
        </p:txBody>
      </p:sp>
      <p:sp>
        <p:nvSpPr>
          <p:cNvPr id="12" name="Text 10"/>
          <p:cNvSpPr/>
          <p:nvPr/>
        </p:nvSpPr>
        <p:spPr>
          <a:xfrm>
            <a:off x="6456680" y="2748285"/>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Quando fica Ready uma task de maior prioridade, ou quando a task em Running passa a Blocked ou Suspended.</a:t>
            </a:r>
            <a:endParaRPr lang="en-US" sz="1400" dirty="0">
              <a:latin typeface="IBM Plex Sans" charset="0"/>
              <a:ea typeface="IBM Plex Sans" charset="0"/>
              <a:cs typeface="IBM Plex Sans" charset="0"/>
            </a:endParaRPr>
          </a:p>
        </p:txBody>
      </p:sp>
      <p:sp>
        <p:nvSpPr>
          <p:cNvPr id="13" name="Text 11"/>
          <p:cNvSpPr/>
          <p:nvPr/>
        </p:nvSpPr>
        <p:spPr>
          <a:xfrm>
            <a:off x="6456680" y="3596655"/>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Menos context switches e menos overhead, mas tasks de igual prioridade podem receber tempos muito diferentes.</a:t>
            </a:r>
            <a:endParaRPr lang="en-US" sz="1400" dirty="0">
              <a:latin typeface="IBM Plex Sans" charset="0"/>
              <a:ea typeface="IBM Plex Sans" charset="0"/>
              <a:cs typeface="IBM Plex Sans" charset="0"/>
            </a:endParaRPr>
          </a:p>
        </p:txBody>
      </p:sp>
      <p:sp>
        <p:nvSpPr>
          <p:cNvPr id="14" name="Text 12"/>
          <p:cNvSpPr/>
          <p:nvPr/>
        </p:nvSpPr>
        <p:spPr>
          <a:xfrm>
            <a:off x="6456680" y="4196085"/>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Técnica avançada: só para utilizadores experientes.</a:t>
            </a:r>
            <a:endParaRPr lang="en-US" sz="1300" dirty="0">
              <a:latin typeface="IBM Plex Sans" charset="0"/>
              <a:ea typeface="IBM Plex Sans" charset="0"/>
              <a:cs typeface="IBM Plex Sans" charset="0"/>
            </a:endParaRPr>
          </a:p>
        </p:txBody>
      </p:sp>
      <p:sp>
        <p:nvSpPr>
          <p:cNvPr id="15" name="Shape 13"/>
          <p:cNvSpPr/>
          <p:nvPr/>
        </p:nvSpPr>
        <p:spPr>
          <a:xfrm>
            <a:off x="812800" y="4889500"/>
            <a:ext cx="10566400" cy="767080"/>
          </a:xfrm>
          <a:prstGeom prst="roundRect">
            <a:avLst>
              <a:gd name="adj" fmla="val 9934"/>
            </a:avLst>
          </a:prstGeom>
          <a:solidFill>
            <a:srgbClr val="E3EFEC"/>
          </a:solidFill>
          <a:ln/>
        </p:spPr>
      </p:sp>
      <p:sp>
        <p:nvSpPr>
          <p:cNvPr id="16" name="Text 14"/>
          <p:cNvSpPr/>
          <p:nvPr/>
        </p:nvSpPr>
        <p:spPr>
          <a:xfrm>
            <a:off x="1016000" y="5157465"/>
            <a:ext cx="300863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configIDLE_SHOULD_YIELD</a:t>
            </a:r>
            <a:endParaRPr lang="en-US" sz="1300" dirty="0">
              <a:latin typeface="JetBrains Mono" charset="0"/>
              <a:ea typeface="JetBrains Mono" charset="0"/>
              <a:cs typeface="JetBrains Mono" charset="0"/>
            </a:endParaRPr>
          </a:p>
        </p:txBody>
      </p:sp>
      <p:sp>
        <p:nvSpPr>
          <p:cNvPr id="17" name="Text 15"/>
          <p:cNvSpPr/>
          <p:nvPr/>
        </p:nvSpPr>
        <p:spPr>
          <a:xfrm>
            <a:off x="4089400" y="5041900"/>
            <a:ext cx="72991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A 1, a idle task cede o resto do time slice se houver outras tasks de prioridade 0 em Ready. A 0, fica o time slice inteiro.</a:t>
            </a:r>
            <a:endParaRPr lang="en-US" sz="1300" dirty="0">
              <a:latin typeface="IBM Plex Sans" charset="0"/>
              <a:ea typeface="IBM Plex Sans" charset="0"/>
              <a:cs typeface="IBM Plex Sans" charset="0"/>
            </a:endParaRPr>
          </a:p>
        </p:txBody>
      </p:sp>
      <p:sp>
        <p:nvSpPr>
          <p:cNvPr id="18" name="Text 16"/>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9" name="Text 17"/>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42</a:t>
            </a:r>
            <a:endParaRPr lang="en-US" sz="1200" dirty="0">
              <a:latin typeface="IBM Plex Sans" charset="0"/>
              <a:ea typeface="IBM Plex Sans" charset="0"/>
              <a:cs typeface="IBM Plex Sans"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SCHEDULING ALGORITHMS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Scheduling cooperativo</a:t>
            </a:r>
            <a:endParaRPr lang="en-US" sz="3200" dirty="0">
              <a:latin typeface="IBM Plex Sans" charset="0"/>
              <a:ea typeface="IBM Plex Sans" charset="0"/>
              <a:cs typeface="IBM Plex Sans" charset="0"/>
            </a:endParaRPr>
          </a:p>
        </p:txBody>
      </p:sp>
      <p:sp>
        <p:nvSpPr>
          <p:cNvPr id="4" name="Text 2"/>
          <p:cNvSpPr/>
          <p:nvPr/>
        </p:nvSpPr>
        <p:spPr>
          <a:xfrm>
            <a:off x="812800" y="177291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Com </a:t>
            </a:r>
            <a:r>
              <a:rPr lang="en-US" sz="1500" b="1" dirty="0">
                <a:solidFill>
                  <a:srgbClr val="14222E"/>
                </a:solidFill>
                <a:latin typeface="IBM Plex Sans" pitchFamily="34" charset="0"/>
                <a:ea typeface="IBM Plex Sans" pitchFamily="34" charset="-122"/>
                <a:cs typeface="IBM Plex Sans" pitchFamily="34" charset="-120"/>
              </a:rPr>
              <a:t>configUSE_PREEMPTION = 0</a:t>
            </a:r>
            <a:r>
              <a:rPr lang="en-US" sz="1500" dirty="0">
                <a:solidFill>
                  <a:srgbClr val="44505C"/>
                </a:solidFill>
                <a:latin typeface="IBM Plex Sans" pitchFamily="34" charset="0"/>
                <a:ea typeface="IBM Plex Sans" pitchFamily="34" charset="-122"/>
                <a:cs typeface="IBM Plex Sans" pitchFamily="34" charset="-120"/>
              </a:rPr>
              <a:t>, só há troca de contexto quando a task em Running bloqueia ou chama </a:t>
            </a:r>
            <a:r>
              <a:rPr lang="en-US" sz="1500" b="1" dirty="0">
                <a:solidFill>
                  <a:srgbClr val="14222E"/>
                </a:solidFill>
                <a:latin typeface="IBM Plex Sans" pitchFamily="34" charset="0"/>
                <a:ea typeface="IBM Plex Sans" pitchFamily="34" charset="-122"/>
                <a:cs typeface="IBM Plex Sans" pitchFamily="34" charset="-120"/>
              </a:rPr>
              <a:t>taskYIELD()</a:t>
            </a:r>
            <a:r>
              <a:rPr lang="en-US" sz="1500" dirty="0">
                <a:solidFill>
                  <a:srgbClr val="44505C"/>
                </a:solidFill>
                <a:latin typeface="IBM Plex Sans" pitchFamily="34" charset="0"/>
                <a:ea typeface="IBM Plex Sans" pitchFamily="34" charset="-122"/>
                <a:cs typeface="IBM Plex Sans" pitchFamily="34" charset="-120"/>
              </a:rPr>
              <a:t>. Nunca há preempção, logo também não há time slicing.</a:t>
            </a:r>
            <a:endParaRPr lang="en-US" sz="1500" dirty="0">
              <a:latin typeface="IBM Plex Sans" charset="0"/>
              <a:ea typeface="IBM Plex Sans" charset="0"/>
              <a:cs typeface="IBM Plex Sans" charset="0"/>
            </a:endParaRPr>
          </a:p>
        </p:txBody>
      </p:sp>
      <p:sp>
        <p:nvSpPr>
          <p:cNvPr id="5" name="Shape 3"/>
          <p:cNvSpPr/>
          <p:nvPr/>
        </p:nvSpPr>
        <p:spPr>
          <a:xfrm>
            <a:off x="815975" y="2487290"/>
            <a:ext cx="10560050" cy="1398270"/>
          </a:xfrm>
          <a:prstGeom prst="roundRect">
            <a:avLst>
              <a:gd name="adj" fmla="val 7039"/>
            </a:avLst>
          </a:prstGeom>
          <a:solidFill>
            <a:srgbClr val="FCFBF8"/>
          </a:solidFill>
          <a:ln w="6350">
            <a:solidFill>
              <a:srgbClr val="DCDAD2"/>
            </a:solidFill>
            <a:prstDash val="solid"/>
          </a:ln>
        </p:spPr>
      </p:sp>
      <p:sp>
        <p:nvSpPr>
          <p:cNvPr id="6" name="Text 4"/>
          <p:cNvSpPr/>
          <p:nvPr/>
        </p:nvSpPr>
        <p:spPr>
          <a:xfrm>
            <a:off x="1021080" y="2692400"/>
            <a:ext cx="1045433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COM PREEMPÇÃO: DUAS TASKS A ESCREVER NA MESMA UART</a:t>
            </a:r>
            <a:endParaRPr lang="en-US" sz="1200" dirty="0">
              <a:latin typeface="IBM Plex Sans" charset="0"/>
              <a:ea typeface="IBM Plex Sans" charset="0"/>
              <a:cs typeface="IBM Plex Sans" charset="0"/>
            </a:endParaRPr>
          </a:p>
        </p:txBody>
      </p:sp>
      <p:sp>
        <p:nvSpPr>
          <p:cNvPr id="7" name="Text 5"/>
          <p:cNvSpPr/>
          <p:nvPr/>
        </p:nvSpPr>
        <p:spPr>
          <a:xfrm>
            <a:off x="1021080" y="2981970"/>
            <a:ext cx="10454335" cy="416560"/>
          </a:xfrm>
          <a:prstGeom prst="rect">
            <a:avLst/>
          </a:prstGeom>
          <a:noFill/>
          <a:ln/>
        </p:spPr>
        <p:txBody>
          <a:bodyPr wrap="square" lIns="0" tIns="0" rIns="0" bIns="0" rtlCol="0" anchor="t">
            <a:normAutofit/>
          </a:bodyPr>
          <a:lstStyle/>
          <a:p>
            <a:pPr algn="l" indent="0" marL="0">
              <a:lnSpc>
                <a:spcPts val="3080"/>
              </a:lnSpc>
              <a:buNone/>
            </a:pPr>
            <a:r>
              <a:rPr lang="en-US" sz="2200" b="1" spc="100" kern="0" dirty="0">
                <a:solidFill>
                  <a:srgbClr val="2F6FD0"/>
                </a:solidFill>
                <a:latin typeface="JetBrains Mono" pitchFamily="49" charset="0"/>
                <a:ea typeface="JetBrains Mono" pitchFamily="49" charset="-122"/>
                <a:cs typeface="JetBrains Mono" pitchFamily="49" charset="-120"/>
              </a:rPr>
              <a:t>abcdefg</a:t>
            </a:r>
            <a:r>
              <a:rPr lang="en-US" sz="2200" b="1" spc="100" kern="0" dirty="0">
                <a:solidFill>
                  <a:srgbClr val="D0612A"/>
                </a:solidFill>
                <a:latin typeface="JetBrains Mono" pitchFamily="49" charset="0"/>
                <a:ea typeface="JetBrains Mono" pitchFamily="49" charset="-122"/>
                <a:cs typeface="JetBrains Mono" pitchFamily="49" charset="-120"/>
              </a:rPr>
              <a:t>123456789</a:t>
            </a:r>
            <a:r>
              <a:rPr lang="en-US" sz="2200" b="1" spc="100" kern="0" dirty="0">
                <a:solidFill>
                  <a:srgbClr val="2F6FD0"/>
                </a:solidFill>
                <a:latin typeface="JetBrains Mono" pitchFamily="49" charset="0"/>
                <a:ea typeface="JetBrains Mono" pitchFamily="49" charset="-122"/>
                <a:cs typeface="JetBrains Mono" pitchFamily="49" charset="-120"/>
              </a:rPr>
              <a:t>hijklmnop</a:t>
            </a:r>
            <a:endParaRPr lang="en-US" sz="2200" dirty="0">
              <a:latin typeface="JetBrains Mono" charset="0"/>
              <a:ea typeface="JetBrains Mono" charset="0"/>
              <a:cs typeface="JetBrains Mono" charset="0"/>
            </a:endParaRPr>
          </a:p>
        </p:txBody>
      </p:sp>
      <p:sp>
        <p:nvSpPr>
          <p:cNvPr id="8" name="Text 6"/>
          <p:cNvSpPr/>
          <p:nvPr/>
        </p:nvSpPr>
        <p:spPr>
          <a:xfrm>
            <a:off x="1021080" y="3449315"/>
            <a:ext cx="10454335"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0"/>
                </a:solidFill>
                <a:latin typeface="IBM Plex Sans" pitchFamily="34" charset="0"/>
                <a:ea typeface="IBM Plex Sans" pitchFamily="34" charset="-122"/>
                <a:cs typeface="IBM Plex Sans" pitchFamily="34" charset="-120"/>
              </a:rPr>
              <a:t>Task 1</a:t>
            </a:r>
            <a:r>
              <a:rPr lang="en-US" sz="1300" dirty="0">
                <a:solidFill>
                  <a:srgbClr val="44505C"/>
                </a:solidFill>
                <a:latin typeface="IBM Plex Sans" pitchFamily="34" charset="0"/>
                <a:ea typeface="IBM Plex Sans" pitchFamily="34" charset="-122"/>
                <a:cs typeface="IBM Plex Sans" pitchFamily="34" charset="-120"/>
              </a:rPr>
              <a:t> escreve “abcdefghijklmnop”, mas é trocada a meio; a </a:t>
            </a:r>
            <a:r>
              <a:rPr lang="en-US" sz="1300" b="1" dirty="0">
                <a:solidFill>
                  <a:srgbClr val="D0612A"/>
                </a:solidFill>
                <a:latin typeface="IBM Plex Sans" pitchFamily="34" charset="0"/>
                <a:ea typeface="IBM Plex Sans" pitchFamily="34" charset="-122"/>
                <a:cs typeface="IBM Plex Sans" pitchFamily="34" charset="-120"/>
              </a:rPr>
              <a:t>Task 2</a:t>
            </a:r>
            <a:r>
              <a:rPr lang="en-US" sz="1300" dirty="0">
                <a:solidFill>
                  <a:srgbClr val="44505C"/>
                </a:solidFill>
                <a:latin typeface="IBM Plex Sans" pitchFamily="34" charset="0"/>
                <a:ea typeface="IBM Plex Sans" pitchFamily="34" charset="-122"/>
                <a:cs typeface="IBM Plex Sans" pitchFamily="34" charset="-120"/>
              </a:rPr>
              <a:t> escreve “123456789” no meio da string.</a:t>
            </a:r>
            <a:endParaRPr lang="en-US" sz="1300" dirty="0">
              <a:latin typeface="IBM Plex Sans" charset="0"/>
              <a:ea typeface="IBM Plex Sans" charset="0"/>
              <a:cs typeface="IBM Plex Sans" charset="0"/>
            </a:endParaRPr>
          </a:p>
        </p:txBody>
      </p:sp>
      <p:sp>
        <p:nvSpPr>
          <p:cNvPr id="9" name="Shape 7"/>
          <p:cNvSpPr/>
          <p:nvPr/>
        </p:nvSpPr>
        <p:spPr>
          <a:xfrm>
            <a:off x="815975" y="4069730"/>
            <a:ext cx="5200650" cy="1113790"/>
          </a:xfrm>
          <a:prstGeom prst="roundRect">
            <a:avLst>
              <a:gd name="adj" fmla="val 8837"/>
            </a:avLst>
          </a:prstGeom>
          <a:solidFill>
            <a:srgbClr val="FCFBF8"/>
          </a:solidFill>
          <a:ln w="6350">
            <a:solidFill>
              <a:srgbClr val="DCDAD2"/>
            </a:solidFill>
            <a:prstDash val="solid"/>
          </a:ln>
        </p:spPr>
      </p:sp>
      <p:sp>
        <p:nvSpPr>
          <p:cNvPr id="10" name="Text 8"/>
          <p:cNvSpPr/>
          <p:nvPr/>
        </p:nvSpPr>
        <p:spPr>
          <a:xfrm>
            <a:off x="995680" y="4249415"/>
            <a:ext cx="49864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Cooperativo: mais fácil de proteger</a:t>
            </a:r>
            <a:endParaRPr lang="en-US" sz="1500" dirty="0">
              <a:latin typeface="IBM Plex Sans" charset="0"/>
              <a:ea typeface="IBM Plex Sans" charset="0"/>
              <a:cs typeface="IBM Plex Sans" charset="0"/>
            </a:endParaRPr>
          </a:p>
        </p:txBody>
      </p:sp>
      <p:sp>
        <p:nvSpPr>
          <p:cNvPr id="11" name="Text 9"/>
          <p:cNvSpPr/>
          <p:nvPr/>
        </p:nvSpPr>
        <p:spPr>
          <a:xfrm>
            <a:off x="995680" y="4541515"/>
            <a:ext cx="498647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Somos nós que decidimos quando há troca: nunca a meio de um recurso inconsistente.</a:t>
            </a:r>
            <a:endParaRPr lang="en-US" sz="1300" dirty="0">
              <a:latin typeface="IBM Plex Sans" charset="0"/>
              <a:ea typeface="IBM Plex Sans" charset="0"/>
              <a:cs typeface="IBM Plex Sans" charset="0"/>
            </a:endParaRPr>
          </a:p>
        </p:txBody>
      </p:sp>
      <p:sp>
        <p:nvSpPr>
          <p:cNvPr id="12" name="Shape 10"/>
          <p:cNvSpPr/>
          <p:nvPr/>
        </p:nvSpPr>
        <p:spPr>
          <a:xfrm>
            <a:off x="6175375" y="4069730"/>
            <a:ext cx="5200650" cy="1113790"/>
          </a:xfrm>
          <a:prstGeom prst="roundRect">
            <a:avLst>
              <a:gd name="adj" fmla="val 8837"/>
            </a:avLst>
          </a:prstGeom>
          <a:solidFill>
            <a:srgbClr val="FCFBF8"/>
          </a:solidFill>
          <a:ln w="6350">
            <a:solidFill>
              <a:srgbClr val="DCDAD2"/>
            </a:solidFill>
            <a:prstDash val="solid"/>
          </a:ln>
        </p:spPr>
      </p:sp>
      <p:sp>
        <p:nvSpPr>
          <p:cNvPr id="13" name="Text 11"/>
          <p:cNvSpPr/>
          <p:nvPr/>
        </p:nvSpPr>
        <p:spPr>
          <a:xfrm>
            <a:off x="6355080" y="4249415"/>
            <a:ext cx="498647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Preemptivo: mais responsivo</a:t>
            </a:r>
            <a:endParaRPr lang="en-US" sz="1500" dirty="0">
              <a:latin typeface="IBM Plex Sans" charset="0"/>
              <a:ea typeface="IBM Plex Sans" charset="0"/>
              <a:cs typeface="IBM Plex Sans" charset="0"/>
            </a:endParaRPr>
          </a:p>
        </p:txBody>
      </p:sp>
      <p:sp>
        <p:nvSpPr>
          <p:cNvPr id="14" name="Text 12"/>
          <p:cNvSpPr/>
          <p:nvPr/>
        </p:nvSpPr>
        <p:spPr>
          <a:xfrm>
            <a:off x="6355080" y="4541515"/>
            <a:ext cx="498647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task de maior prioridade corre logo que fica Ready. Muitas vezes essencial em real-time.</a:t>
            </a:r>
            <a:endParaRPr lang="en-US" sz="1300" dirty="0">
              <a:latin typeface="IBM Plex Sans" charset="0"/>
              <a:ea typeface="IBM Plex Sans" charset="0"/>
              <a:cs typeface="IBM Plex Sans" charset="0"/>
            </a:endParaRPr>
          </a:p>
        </p:txBody>
      </p:sp>
      <p:sp>
        <p:nvSpPr>
          <p:cNvPr id="15" name="Text 13"/>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a:t>
            </a:r>
            <a:endParaRPr lang="en-US" sz="1200" dirty="0">
              <a:latin typeface="IBM Plex Sans" charset="0"/>
              <a:ea typeface="IBM Plex Sans" charset="0"/>
              <a:cs typeface="IBM Plex Sans" charset="0"/>
            </a:endParaRPr>
          </a:p>
        </p:txBody>
      </p:sp>
      <p:sp>
        <p:nvSpPr>
          <p:cNvPr id="16" name="Text 14"/>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43</a:t>
            </a:r>
            <a:endParaRPr lang="en-US" sz="1200" dirty="0">
              <a:latin typeface="IBM Plex Sans" charset="0"/>
              <a:ea typeface="IBM Plex Sans" charset="0"/>
              <a:cs typeface="IBM Plex Sans"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3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70"/>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Tasks são funções que nunca retornam, passam a maior parte do tempo em Blocked, e corre sempre a de maior prioridade que está pronta.</a:t>
            </a:r>
            <a:endParaRPr lang="en-US" sz="3200" dirty="0">
              <a:latin typeface="IBM Plex Sans" charset="0"/>
              <a:ea typeface="IBM Plex Sans" charset="0"/>
              <a:cs typeface="IBM Plex Sans" charset="0"/>
            </a:endParaRPr>
          </a:p>
        </p:txBody>
      </p:sp>
      <p:sp>
        <p:nvSpPr>
          <p:cNvPr id="4" name="Text 2"/>
          <p:cNvSpPr/>
          <p:nvPr/>
        </p:nvSpPr>
        <p:spPr>
          <a:xfrm>
            <a:off x="819150" y="2942605"/>
            <a:ext cx="132484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xTaskCreate</a:t>
            </a:r>
            <a:endParaRPr lang="en-US" sz="1400" dirty="0">
              <a:latin typeface="IBM Plex Sans" charset="0"/>
              <a:ea typeface="IBM Plex Sans" charset="0"/>
              <a:cs typeface="IBM Plex Sans" charset="0"/>
            </a:endParaRPr>
          </a:p>
        </p:txBody>
      </p:sp>
      <p:sp>
        <p:nvSpPr>
          <p:cNvPr id="5" name="Text 3"/>
          <p:cNvSpPr/>
          <p:nvPr/>
        </p:nvSpPr>
        <p:spPr>
          <a:xfrm>
            <a:off x="2258298" y="2942605"/>
            <a:ext cx="175260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Prioridades e tick</a:t>
            </a:r>
            <a:endParaRPr lang="en-US" sz="1400" dirty="0">
              <a:latin typeface="IBM Plex Sans" charset="0"/>
              <a:ea typeface="IBM Plex Sans" charset="0"/>
              <a:cs typeface="IBM Plex Sans" charset="0"/>
            </a:endParaRPr>
          </a:p>
        </p:txBody>
      </p:sp>
      <p:sp>
        <p:nvSpPr>
          <p:cNvPr id="6" name="Text 4"/>
          <p:cNvSpPr/>
          <p:nvPr/>
        </p:nvSpPr>
        <p:spPr>
          <a:xfrm>
            <a:off x="4125198" y="2942605"/>
            <a:ext cx="353417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Ready · Running · Blocked · Suspended</a:t>
            </a:r>
            <a:endParaRPr lang="en-US" sz="1400" dirty="0">
              <a:latin typeface="IBM Plex Sans" charset="0"/>
              <a:ea typeface="IBM Plex Sans" charset="0"/>
              <a:cs typeface="IBM Plex Sans" charset="0"/>
            </a:endParaRPr>
          </a:p>
        </p:txBody>
      </p:sp>
      <p:sp>
        <p:nvSpPr>
          <p:cNvPr id="7" name="Text 5"/>
          <p:cNvSpPr/>
          <p:nvPr/>
        </p:nvSpPr>
        <p:spPr>
          <a:xfrm>
            <a:off x="7773670" y="2942605"/>
            <a:ext cx="163925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vTaskDelayUntil</a:t>
            </a:r>
            <a:endParaRPr lang="en-US" sz="1400" dirty="0">
              <a:latin typeface="IBM Plex Sans" charset="0"/>
              <a:ea typeface="IBM Plex Sans" charset="0"/>
              <a:cs typeface="IBM Plex Sans" charset="0"/>
            </a:endParaRPr>
          </a:p>
        </p:txBody>
      </p:sp>
      <p:sp>
        <p:nvSpPr>
          <p:cNvPr id="8" name="Text 6"/>
          <p:cNvSpPr/>
          <p:nvPr/>
        </p:nvSpPr>
        <p:spPr>
          <a:xfrm>
            <a:off x="9527222" y="2942605"/>
            <a:ext cx="116784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Starvation</a:t>
            </a:r>
            <a:endParaRPr lang="en-US" sz="1400" dirty="0">
              <a:latin typeface="IBM Plex Sans" charset="0"/>
              <a:ea typeface="IBM Plex Sans" charset="0"/>
              <a:cs typeface="IBM Plex Sans" charset="0"/>
            </a:endParaRPr>
          </a:p>
        </p:txBody>
      </p:sp>
      <p:sp>
        <p:nvSpPr>
          <p:cNvPr id="9" name="Text 7"/>
          <p:cNvSpPr/>
          <p:nvPr/>
        </p:nvSpPr>
        <p:spPr>
          <a:xfrm>
            <a:off x="819150" y="3440435"/>
            <a:ext cx="166322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vTaskPrioritySet</a:t>
            </a:r>
            <a:endParaRPr lang="en-US" sz="1400" dirty="0">
              <a:latin typeface="IBM Plex Sans" charset="0"/>
              <a:ea typeface="IBM Plex Sans" charset="0"/>
              <a:cs typeface="IBM Plex Sans" charset="0"/>
            </a:endParaRPr>
          </a:p>
        </p:txBody>
      </p:sp>
      <p:sp>
        <p:nvSpPr>
          <p:cNvPr id="10" name="Text 8"/>
          <p:cNvSpPr/>
          <p:nvPr/>
        </p:nvSpPr>
        <p:spPr>
          <a:xfrm>
            <a:off x="2596674" y="3440435"/>
            <a:ext cx="129500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Time slicing</a:t>
            </a:r>
            <a:endParaRPr lang="en-US" sz="1400" dirty="0">
              <a:latin typeface="IBM Plex Sans" charset="0"/>
              <a:ea typeface="IBM Plex Sans" charset="0"/>
              <a:cs typeface="IBM Plex Sans" charset="0"/>
            </a:endParaRPr>
          </a:p>
        </p:txBody>
      </p:sp>
      <p:sp>
        <p:nvSpPr>
          <p:cNvPr id="11" name="Text 9"/>
          <p:cNvSpPr/>
          <p:nvPr/>
        </p:nvSpPr>
        <p:spPr>
          <a:xfrm>
            <a:off x="4005977" y="3440435"/>
            <a:ext cx="130651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Cooperativo</a:t>
            </a:r>
            <a:endParaRPr lang="en-US" sz="1400" dirty="0">
              <a:latin typeface="IBM Plex Sans" charset="0"/>
              <a:ea typeface="IBM Plex Sans" charset="0"/>
              <a:cs typeface="IBM Plex Sans" charset="0"/>
            </a:endParaRPr>
          </a:p>
        </p:txBody>
      </p:sp>
      <p:sp>
        <p:nvSpPr>
          <p:cNvPr id="12" name="Text 10"/>
          <p:cNvSpPr/>
          <p:nvPr/>
        </p:nvSpPr>
        <p:spPr>
          <a:xfrm>
            <a:off x="812800" y="576071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no Módulo 4: filas (queues).</a:t>
            </a:r>
            <a:endParaRPr lang="en-US" sz="1600" dirty="0">
              <a:latin typeface="IBM Plex Sans" charset="0"/>
              <a:ea typeface="IBM Plex Sans" charset="0"/>
              <a:cs typeface="IBM Plex Sans"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4</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1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Filas (queues)</a:t>
            </a:r>
            <a:endParaRPr lang="en-US" sz="6000" dirty="0">
              <a:latin typeface="IBM Plex Sans" charset="0"/>
              <a:ea typeface="IBM Plex Sans" charset="0"/>
              <a:cs typeface="IBM Plex Sans" charset="0"/>
            </a:endParaRPr>
          </a:p>
        </p:txBody>
      </p:sp>
      <p:sp>
        <p:nvSpPr>
          <p:cNvPr id="4" name="Text 2"/>
          <p:cNvSpPr/>
          <p:nvPr/>
        </p:nvSpPr>
        <p:spPr>
          <a:xfrm>
            <a:off x="812800" y="2128515"/>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Comunicação entre tasks</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697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 QUE É UMA QUEUE</a:t>
            </a:r>
            <a:endParaRPr lang="en-US" sz="1200" dirty="0">
              <a:latin typeface="IBM Plex Sans" charset="0"/>
              <a:ea typeface="IBM Plex Sans" charset="0"/>
              <a:cs typeface="IBM Plex Sans" charset="0"/>
            </a:endParaRPr>
          </a:p>
        </p:txBody>
      </p:sp>
      <p:sp>
        <p:nvSpPr>
          <p:cNvPr id="7" name="Text 5"/>
          <p:cNvSpPr/>
          <p:nvPr/>
        </p:nvSpPr>
        <p:spPr>
          <a:xfrm>
            <a:off x="812800" y="5151115"/>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Os dados são copiados; comprimento e tamanho de item fixos</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A API</a:t>
            </a:r>
            <a:endParaRPr lang="en-US" sz="1200" dirty="0">
              <a:latin typeface="IBM Plex Sans" charset="0"/>
              <a:ea typeface="IBM Plex Sans" charset="0"/>
              <a:cs typeface="IBM Plex Sans" charset="0"/>
            </a:endParaRPr>
          </a:p>
        </p:txBody>
      </p:sp>
      <p:sp>
        <p:nvSpPr>
          <p:cNvPr id="10" name="Text 8"/>
          <p:cNvSpPr/>
          <p:nvPr/>
        </p:nvSpPr>
        <p:spPr>
          <a:xfrm>
            <a:off x="4402614" y="5151115"/>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Criar, enviar, receber, bloquear, prioridades, várias origens</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PADRÕES</a:t>
            </a:r>
            <a:endParaRPr lang="en-US" sz="1200" dirty="0">
              <a:latin typeface="IBM Plex Sans" charset="0"/>
              <a:ea typeface="IBM Plex Sans" charset="0"/>
              <a:cs typeface="IBM Plex Sans" charset="0"/>
            </a:endParaRPr>
          </a:p>
        </p:txBody>
      </p:sp>
      <p:sp>
        <p:nvSpPr>
          <p:cNvPr id="13" name="Text 11"/>
          <p:cNvSpPr/>
          <p:nvPr/>
        </p:nvSpPr>
        <p:spPr>
          <a:xfrm>
            <a:off x="7992507" y="5151115"/>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Ponteiros para dados grandes, mailbox</a:t>
            </a:r>
            <a:endParaRPr lang="en-US" sz="1200" dirty="0">
              <a:latin typeface="IBM Plex Sans" charset="0"/>
              <a:ea typeface="IBM Plex Sans" charset="0"/>
              <a:cs typeface="IBM Plex Sans" charset="0"/>
            </a:endParaRPr>
          </a:p>
        </p:txBody>
      </p:sp>
      <p:sp>
        <p:nvSpPr>
          <p:cNvPr id="14" name="Text 12"/>
          <p:cNvSpPr/>
          <p:nvPr/>
        </p:nvSpPr>
        <p:spPr>
          <a:xfrm>
            <a:off x="812800" y="58318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5</a:t>
            </a:r>
            <a:endParaRPr lang="en-US" sz="1200" dirty="0">
              <a:latin typeface="IBM Plex Sans" charset="0"/>
              <a:ea typeface="IBM Plex Sans" charset="0"/>
              <a:cs typeface="IBM Plex Sans"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que é uma queue</a:t>
            </a:r>
            <a:endParaRPr lang="en-US" sz="3200" dirty="0">
              <a:latin typeface="IBM Plex Sans" charset="0"/>
              <a:ea typeface="IBM Plex Sans" charset="0"/>
              <a:cs typeface="IBM Plex Sans" charset="0"/>
            </a:endParaRPr>
          </a:p>
        </p:txBody>
      </p:sp>
      <p:sp>
        <p:nvSpPr>
          <p:cNvPr id="4" name="Text 2"/>
          <p:cNvSpPr/>
          <p:nvPr/>
        </p:nvSpPr>
        <p:spPr>
          <a:xfrm>
            <a:off x="812800" y="1899915"/>
            <a:ext cx="340106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Mecanismo de comunicação </a:t>
            </a:r>
            <a:r>
              <a:rPr lang="en-US" sz="1500" b="1" dirty="0">
                <a:solidFill>
                  <a:srgbClr val="44505C"/>
                </a:solidFill>
                <a:latin typeface="IBM Plex Sans" pitchFamily="34" charset="0"/>
                <a:ea typeface="IBM Plex Sans" pitchFamily="34" charset="-122"/>
                <a:cs typeface="IBM Plex Sans" pitchFamily="34" charset="-120"/>
              </a:rPr>
              <a:t>task → task</a:t>
            </a:r>
            <a:r>
              <a:rPr lang="en-US" sz="1500" dirty="0">
                <a:solidFill>
                  <a:srgbClr val="44505C"/>
                </a:solidFill>
                <a:latin typeface="IBM Plex Sans" pitchFamily="34" charset="0"/>
                <a:ea typeface="IBM Plex Sans" pitchFamily="34" charset="-122"/>
                <a:cs typeface="IBM Plex Sans" pitchFamily="34" charset="-120"/>
              </a:rPr>
              <a:t>, </a:t>
            </a:r>
            <a:r>
              <a:rPr lang="en-US" sz="1500" b="1" dirty="0">
                <a:solidFill>
                  <a:srgbClr val="44505C"/>
                </a:solidFill>
                <a:latin typeface="IBM Plex Sans" pitchFamily="34" charset="0"/>
                <a:ea typeface="IBM Plex Sans" pitchFamily="34" charset="-122"/>
                <a:cs typeface="IBM Plex Sans" pitchFamily="34" charset="-120"/>
              </a:rPr>
              <a:t>task → ISR</a:t>
            </a:r>
            <a:r>
              <a:rPr lang="en-US" sz="1500" dirty="0">
                <a:solidFill>
                  <a:srgbClr val="44505C"/>
                </a:solidFill>
                <a:latin typeface="IBM Plex Sans" pitchFamily="34" charset="0"/>
                <a:ea typeface="IBM Plex Sans" pitchFamily="34" charset="-122"/>
                <a:cs typeface="IBM Plex Sans" pitchFamily="34" charset="-120"/>
              </a:rPr>
              <a:t> e </a:t>
            </a:r>
            <a:r>
              <a:rPr lang="en-US" sz="1500" b="1" dirty="0">
                <a:solidFill>
                  <a:srgbClr val="44505C"/>
                </a:solidFill>
                <a:latin typeface="IBM Plex Sans" pitchFamily="34" charset="0"/>
                <a:ea typeface="IBM Plex Sans" pitchFamily="34" charset="-122"/>
                <a:cs typeface="IBM Plex Sans" pitchFamily="34" charset="-120"/>
              </a:rPr>
              <a:t>ISR → task</a:t>
            </a:r>
            <a:r>
              <a:rPr lang="en-US" sz="1500" dirty="0">
                <a:solidFill>
                  <a:srgbClr val="44505C"/>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p:txBody>
      </p:sp>
      <p:sp>
        <p:nvSpPr>
          <p:cNvPr id="5" name="Text 3"/>
          <p:cNvSpPr/>
          <p:nvPr/>
        </p:nvSpPr>
        <p:spPr>
          <a:xfrm>
            <a:off x="812800" y="2585715"/>
            <a:ext cx="3401060"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Guarda um número finito de itens de </a:t>
            </a:r>
            <a:r>
              <a:rPr lang="en-US" sz="1400" b="1" dirty="0">
                <a:solidFill>
                  <a:srgbClr val="44505C"/>
                </a:solidFill>
                <a:latin typeface="IBM Plex Sans" pitchFamily="34" charset="0"/>
                <a:ea typeface="IBM Plex Sans" pitchFamily="34" charset="-122"/>
                <a:cs typeface="IBM Plex Sans" pitchFamily="34" charset="-120"/>
              </a:rPr>
              <a:t>tamanho fixo</a:t>
            </a:r>
            <a:r>
              <a:rPr lang="en-US" sz="1400" dirty="0">
                <a:solidFill>
                  <a:srgbClr val="44505C"/>
                </a:solidFill>
                <a:latin typeface="IBM Plex Sans" pitchFamily="34" charset="0"/>
                <a:ea typeface="IBM Plex Sans" pitchFamily="34" charset="-122"/>
                <a:cs typeface="IBM Plex Sans" pitchFamily="34" charset="-120"/>
              </a:rPr>
              <a:t>. O comprimento (length) e o tamanho de cada item definem-se ao criar a queue.</a:t>
            </a:r>
            <a:endParaRPr lang="en-US" sz="1400" dirty="0">
              <a:latin typeface="IBM Plex Sans" charset="0"/>
              <a:ea typeface="IBM Plex Sans" charset="0"/>
              <a:cs typeface="IBM Plex Sans" charset="0"/>
            </a:endParaRPr>
          </a:p>
        </p:txBody>
      </p:sp>
      <p:sp>
        <p:nvSpPr>
          <p:cNvPr id="6" name="Text 4"/>
          <p:cNvSpPr/>
          <p:nvPr/>
        </p:nvSpPr>
        <p:spPr>
          <a:xfrm>
            <a:off x="812800" y="3733800"/>
            <a:ext cx="3401060"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Normalmente é uma FIFO: escreve-se no fim (tail) e lê-se da frente (head). Também se pode escrever à frente, ou sobrescrever.</a:t>
            </a:r>
            <a:endParaRPr lang="en-US" sz="1400" dirty="0">
              <a:latin typeface="IBM Plex Sans" charset="0"/>
              <a:ea typeface="IBM Plex Sans" charset="0"/>
              <a:cs typeface="IBM Plex Sans" charset="0"/>
            </a:endParaRPr>
          </a:p>
        </p:txBody>
      </p:sp>
      <p:sp>
        <p:nvSpPr>
          <p:cNvPr id="7" name="Text 5"/>
          <p:cNvSpPr/>
          <p:nvPr/>
        </p:nvSpPr>
        <p:spPr>
          <a:xfrm>
            <a:off x="4978400" y="1899915"/>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tail ←                    → head</a:t>
            </a:r>
            <a:endParaRPr lang="en-US" sz="1200" dirty="0">
              <a:latin typeface="IBM Plex Sans" charset="0"/>
              <a:ea typeface="IBM Plex Sans" charset="0"/>
              <a:cs typeface="IBM Plex Sans" charset="0"/>
            </a:endParaRPr>
          </a:p>
        </p:txBody>
      </p:sp>
      <p:sp>
        <p:nvSpPr>
          <p:cNvPr id="8" name="Text 6"/>
          <p:cNvSpPr/>
          <p:nvPr/>
        </p:nvSpPr>
        <p:spPr>
          <a:xfrm>
            <a:off x="4470400" y="231648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22E"/>
          </a:solidFill>
          <a:ln/>
        </p:spPr>
        <p:txBody>
          <a:bodyPr wrap="square" lIns="0" tIns="0" rIns="0" bIns="0" rtlCol="0" anchor="t">
            <a:normAutofit/>
          </a:bodyPr>
          <a:lstStyle/>
          <a:p>
            <a:pPr algn="ctr" indent="0" marL="0">
              <a:lnSpc>
                <a:spcPts val="2400"/>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9" name="Shape 7"/>
          <p:cNvSpPr/>
          <p:nvPr/>
        </p:nvSpPr>
        <p:spPr>
          <a:xfrm>
            <a:off x="4984750" y="2246635"/>
            <a:ext cx="520700" cy="444500"/>
          </a:xfrm>
          <a:prstGeom prst="roundRect">
            <a:avLst>
              <a:gd name="adj" fmla="val 10000"/>
            </a:avLst>
          </a:prstGeom>
          <a:solidFill>
            <a:srgbClr val="FCFBF8"/>
          </a:solidFill>
          <a:ln w="12700">
            <a:solidFill>
              <a:srgbClr val="A7B0B8"/>
            </a:solidFill>
            <a:prstDash val="dash"/>
          </a:ln>
        </p:spPr>
      </p:sp>
      <p:sp>
        <p:nvSpPr>
          <p:cNvPr id="10" name="Shape 8"/>
          <p:cNvSpPr/>
          <p:nvPr/>
        </p:nvSpPr>
        <p:spPr>
          <a:xfrm>
            <a:off x="5581650" y="2246635"/>
            <a:ext cx="520700" cy="444500"/>
          </a:xfrm>
          <a:prstGeom prst="roundRect">
            <a:avLst>
              <a:gd name="adj" fmla="val 10000"/>
            </a:avLst>
          </a:prstGeom>
          <a:solidFill>
            <a:srgbClr val="FCFBF8"/>
          </a:solidFill>
          <a:ln w="12700">
            <a:solidFill>
              <a:srgbClr val="A7B0B8"/>
            </a:solidFill>
            <a:prstDash val="dash"/>
          </a:ln>
        </p:spPr>
      </p:sp>
      <p:sp>
        <p:nvSpPr>
          <p:cNvPr id="11" name="Shape 9"/>
          <p:cNvSpPr/>
          <p:nvPr/>
        </p:nvSpPr>
        <p:spPr>
          <a:xfrm>
            <a:off x="6178550" y="2246635"/>
            <a:ext cx="520700" cy="444500"/>
          </a:xfrm>
          <a:prstGeom prst="roundRect">
            <a:avLst>
              <a:gd name="adj" fmla="val 10000"/>
            </a:avLst>
          </a:prstGeom>
          <a:solidFill>
            <a:srgbClr val="FCFBF8"/>
          </a:solidFill>
          <a:ln w="12700">
            <a:solidFill>
              <a:srgbClr val="A7B0B8"/>
            </a:solidFill>
            <a:prstDash val="dash"/>
          </a:ln>
        </p:spPr>
      </p:sp>
      <p:sp>
        <p:nvSpPr>
          <p:cNvPr id="12" name="Shape 10"/>
          <p:cNvSpPr/>
          <p:nvPr/>
        </p:nvSpPr>
        <p:spPr>
          <a:xfrm>
            <a:off x="6775450" y="2246635"/>
            <a:ext cx="520700" cy="444500"/>
          </a:xfrm>
          <a:prstGeom prst="roundRect">
            <a:avLst>
              <a:gd name="adj" fmla="val 10000"/>
            </a:avLst>
          </a:prstGeom>
          <a:solidFill>
            <a:srgbClr val="FCFBF8"/>
          </a:solidFill>
          <a:ln w="12700">
            <a:solidFill>
              <a:srgbClr val="A7B0B8"/>
            </a:solidFill>
            <a:prstDash val="dash"/>
          </a:ln>
        </p:spPr>
      </p:sp>
      <p:sp>
        <p:nvSpPr>
          <p:cNvPr id="13" name="Shape 11"/>
          <p:cNvSpPr/>
          <p:nvPr/>
        </p:nvSpPr>
        <p:spPr>
          <a:xfrm>
            <a:off x="7372350" y="2246635"/>
            <a:ext cx="520700" cy="444500"/>
          </a:xfrm>
          <a:prstGeom prst="roundRect">
            <a:avLst>
              <a:gd name="adj" fmla="val 10000"/>
            </a:avLst>
          </a:prstGeom>
          <a:solidFill>
            <a:srgbClr val="FCFBF8"/>
          </a:solidFill>
          <a:ln w="12700">
            <a:solidFill>
              <a:srgbClr val="A7B0B8"/>
            </a:solidFill>
            <a:prstDash val="dash"/>
          </a:ln>
        </p:spPr>
      </p:sp>
      <p:sp>
        <p:nvSpPr>
          <p:cNvPr id="14" name="Text 12"/>
          <p:cNvSpPr/>
          <p:nvPr/>
        </p:nvSpPr>
        <p:spPr>
          <a:xfrm>
            <a:off x="8102600" y="2353320"/>
            <a:ext cx="33748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Queue criada para 5 inteiros: vazia.</a:t>
            </a:r>
            <a:endParaRPr lang="en-US" sz="1300" dirty="0">
              <a:latin typeface="IBM Plex Sans" charset="0"/>
              <a:ea typeface="IBM Plex Sans" charset="0"/>
              <a:cs typeface="IBM Plex Sans" charset="0"/>
            </a:endParaRPr>
          </a:p>
        </p:txBody>
      </p:sp>
      <p:sp>
        <p:nvSpPr>
          <p:cNvPr id="15" name="Text 13"/>
          <p:cNvSpPr/>
          <p:nvPr/>
        </p:nvSpPr>
        <p:spPr>
          <a:xfrm>
            <a:off x="4470400" y="290321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22E"/>
          </a:solidFill>
          <a:ln/>
        </p:spPr>
        <p:txBody>
          <a:bodyPr wrap="square" lIns="0" tIns="0" rIns="0" bIns="0" rtlCol="0" anchor="t">
            <a:normAutofit/>
          </a:bodyPr>
          <a:lstStyle/>
          <a:p>
            <a:pPr algn="ctr" indent="0" marL="0">
              <a:lnSpc>
                <a:spcPts val="2400"/>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16" name="Shape 14"/>
          <p:cNvSpPr/>
          <p:nvPr/>
        </p:nvSpPr>
        <p:spPr>
          <a:xfrm>
            <a:off x="4984750" y="2833365"/>
            <a:ext cx="520700" cy="444500"/>
          </a:xfrm>
          <a:prstGeom prst="roundRect">
            <a:avLst>
              <a:gd name="adj" fmla="val 10000"/>
            </a:avLst>
          </a:prstGeom>
          <a:solidFill>
            <a:srgbClr val="FCFBF8"/>
          </a:solidFill>
          <a:ln w="12700">
            <a:solidFill>
              <a:srgbClr val="A7B0B8"/>
            </a:solidFill>
            <a:prstDash val="dash"/>
          </a:ln>
        </p:spPr>
      </p:sp>
      <p:sp>
        <p:nvSpPr>
          <p:cNvPr id="17" name="Shape 15"/>
          <p:cNvSpPr/>
          <p:nvPr/>
        </p:nvSpPr>
        <p:spPr>
          <a:xfrm>
            <a:off x="5581650" y="2833365"/>
            <a:ext cx="520700" cy="444500"/>
          </a:xfrm>
          <a:prstGeom prst="roundRect">
            <a:avLst>
              <a:gd name="adj" fmla="val 10000"/>
            </a:avLst>
          </a:prstGeom>
          <a:solidFill>
            <a:srgbClr val="FCFBF8"/>
          </a:solidFill>
          <a:ln w="12700">
            <a:solidFill>
              <a:srgbClr val="A7B0B8"/>
            </a:solidFill>
            <a:prstDash val="dash"/>
          </a:ln>
        </p:spPr>
      </p:sp>
      <p:sp>
        <p:nvSpPr>
          <p:cNvPr id="18" name="Shape 16"/>
          <p:cNvSpPr/>
          <p:nvPr/>
        </p:nvSpPr>
        <p:spPr>
          <a:xfrm>
            <a:off x="6178550" y="2833365"/>
            <a:ext cx="520700" cy="444500"/>
          </a:xfrm>
          <a:prstGeom prst="roundRect">
            <a:avLst>
              <a:gd name="adj" fmla="val 10000"/>
            </a:avLst>
          </a:prstGeom>
          <a:solidFill>
            <a:srgbClr val="FCFBF8"/>
          </a:solidFill>
          <a:ln w="12700">
            <a:solidFill>
              <a:srgbClr val="A7B0B8"/>
            </a:solidFill>
            <a:prstDash val="dash"/>
          </a:ln>
        </p:spPr>
      </p:sp>
      <p:sp>
        <p:nvSpPr>
          <p:cNvPr id="19" name="Shape 17"/>
          <p:cNvSpPr/>
          <p:nvPr/>
        </p:nvSpPr>
        <p:spPr>
          <a:xfrm>
            <a:off x="6775450" y="2833365"/>
            <a:ext cx="520700" cy="444500"/>
          </a:xfrm>
          <a:prstGeom prst="roundRect">
            <a:avLst>
              <a:gd name="adj" fmla="val 10000"/>
            </a:avLst>
          </a:prstGeom>
          <a:solidFill>
            <a:srgbClr val="FCFBF8"/>
          </a:solidFill>
          <a:ln w="12700">
            <a:solidFill>
              <a:srgbClr val="A7B0B8"/>
            </a:solidFill>
            <a:prstDash val="dash"/>
          </a:ln>
        </p:spPr>
      </p:sp>
      <p:sp>
        <p:nvSpPr>
          <p:cNvPr id="20" name="Text 18"/>
          <p:cNvSpPr/>
          <p:nvPr/>
        </p:nvSpPr>
        <p:spPr>
          <a:xfrm>
            <a:off x="7375525" y="2836540"/>
            <a:ext cx="514350" cy="438150"/>
          </a:xfrm>
          <a:prstGeom prst="roundRect">
            <a:avLst>
              <a:gd name="adj" fmla="val 9420"/>
            </a:avLst>
          </a:prstGeom>
          <a:solidFill>
            <a:srgbClr val="FBEFE7"/>
          </a:solidFill>
          <a:ln w="19050">
            <a:solidFill>
              <a:srgbClr val="D0612A"/>
            </a:solidFill>
            <a:prstDash val="solid"/>
          </a:ln>
        </p:spPr>
        <p:txBody>
          <a:bodyPr wrap="square" lIns="0" tIns="0" rIns="0" bIns="0" rtlCol="0" anchor="ctr">
            <a:normAutofit/>
          </a:bodyPr>
          <a:lstStyle/>
          <a:p>
            <a:pPr algn="ctr" indent="0" marL="0">
              <a:lnSpc>
                <a:spcPts val="2100"/>
              </a:lnSpc>
              <a:buNone/>
            </a:pPr>
            <a:r>
              <a:rPr lang="en-US" sz="1500" b="1" dirty="0">
                <a:solidFill>
                  <a:srgbClr val="14222E"/>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p:txBody>
      </p:sp>
      <p:sp>
        <p:nvSpPr>
          <p:cNvPr id="21" name="Text 19"/>
          <p:cNvSpPr/>
          <p:nvPr/>
        </p:nvSpPr>
        <p:spPr>
          <a:xfrm>
            <a:off x="8102600" y="2824485"/>
            <a:ext cx="33748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Task A envia x = 10 para o fim. É o único item: está no fim e na frente.</a:t>
            </a:r>
            <a:endParaRPr lang="en-US" sz="1300" dirty="0">
              <a:latin typeface="IBM Plex Sans" charset="0"/>
              <a:ea typeface="IBM Plex Sans" charset="0"/>
              <a:cs typeface="IBM Plex Sans" charset="0"/>
            </a:endParaRPr>
          </a:p>
        </p:txBody>
      </p:sp>
      <p:sp>
        <p:nvSpPr>
          <p:cNvPr id="22" name="Text 20"/>
          <p:cNvSpPr/>
          <p:nvPr/>
        </p:nvSpPr>
        <p:spPr>
          <a:xfrm>
            <a:off x="4470400" y="349250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22E"/>
          </a:solidFill>
          <a:ln/>
        </p:spPr>
        <p:txBody>
          <a:bodyPr wrap="square" lIns="0" tIns="0" rIns="0" bIns="0" rtlCol="0" anchor="t">
            <a:normAutofit/>
          </a:bodyPr>
          <a:lstStyle/>
          <a:p>
            <a:pPr algn="ctr" indent="0" marL="0">
              <a:lnSpc>
                <a:spcPts val="2400"/>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23" name="Shape 21"/>
          <p:cNvSpPr/>
          <p:nvPr/>
        </p:nvSpPr>
        <p:spPr>
          <a:xfrm>
            <a:off x="4984750" y="3422650"/>
            <a:ext cx="520700" cy="444500"/>
          </a:xfrm>
          <a:prstGeom prst="roundRect">
            <a:avLst>
              <a:gd name="adj" fmla="val 10000"/>
            </a:avLst>
          </a:prstGeom>
          <a:solidFill>
            <a:srgbClr val="FCFBF8"/>
          </a:solidFill>
          <a:ln w="12700">
            <a:solidFill>
              <a:srgbClr val="A7B0B8"/>
            </a:solidFill>
            <a:prstDash val="dash"/>
          </a:ln>
        </p:spPr>
      </p:sp>
      <p:sp>
        <p:nvSpPr>
          <p:cNvPr id="24" name="Shape 22"/>
          <p:cNvSpPr/>
          <p:nvPr/>
        </p:nvSpPr>
        <p:spPr>
          <a:xfrm>
            <a:off x="5581650" y="3422650"/>
            <a:ext cx="520700" cy="444500"/>
          </a:xfrm>
          <a:prstGeom prst="roundRect">
            <a:avLst>
              <a:gd name="adj" fmla="val 10000"/>
            </a:avLst>
          </a:prstGeom>
          <a:solidFill>
            <a:srgbClr val="FCFBF8"/>
          </a:solidFill>
          <a:ln w="12700">
            <a:solidFill>
              <a:srgbClr val="A7B0B8"/>
            </a:solidFill>
            <a:prstDash val="dash"/>
          </a:ln>
        </p:spPr>
      </p:sp>
      <p:sp>
        <p:nvSpPr>
          <p:cNvPr id="25" name="Shape 23"/>
          <p:cNvSpPr/>
          <p:nvPr/>
        </p:nvSpPr>
        <p:spPr>
          <a:xfrm>
            <a:off x="6178550" y="3422650"/>
            <a:ext cx="520700" cy="444500"/>
          </a:xfrm>
          <a:prstGeom prst="roundRect">
            <a:avLst>
              <a:gd name="adj" fmla="val 10000"/>
            </a:avLst>
          </a:prstGeom>
          <a:solidFill>
            <a:srgbClr val="FCFBF8"/>
          </a:solidFill>
          <a:ln w="12700">
            <a:solidFill>
              <a:srgbClr val="A7B0B8"/>
            </a:solidFill>
            <a:prstDash val="dash"/>
          </a:ln>
        </p:spPr>
      </p:sp>
      <p:sp>
        <p:nvSpPr>
          <p:cNvPr id="26" name="Text 24"/>
          <p:cNvSpPr/>
          <p:nvPr/>
        </p:nvSpPr>
        <p:spPr>
          <a:xfrm>
            <a:off x="6778625" y="3425825"/>
            <a:ext cx="514350" cy="438150"/>
          </a:xfrm>
          <a:prstGeom prst="roundRect">
            <a:avLst>
              <a:gd name="adj" fmla="val 9420"/>
            </a:avLst>
          </a:prstGeom>
          <a:solidFill>
            <a:srgbClr val="FBEFE7"/>
          </a:solidFill>
          <a:ln w="19050">
            <a:solidFill>
              <a:srgbClr val="D0612A"/>
            </a:solidFill>
            <a:prstDash val="solid"/>
          </a:ln>
        </p:spPr>
        <p:txBody>
          <a:bodyPr wrap="square" lIns="0" tIns="0" rIns="0" bIns="0" rtlCol="0" anchor="ctr">
            <a:normAutofit/>
          </a:bodyPr>
          <a:lstStyle/>
          <a:p>
            <a:pPr algn="ctr" indent="0" marL="0">
              <a:lnSpc>
                <a:spcPts val="2100"/>
              </a:lnSpc>
              <a:buNone/>
            </a:pPr>
            <a:r>
              <a:rPr lang="en-US" sz="1500" b="1" dirty="0">
                <a:solidFill>
                  <a:srgbClr val="14222E"/>
                </a:solidFill>
                <a:latin typeface="IBM Plex Sans" pitchFamily="34" charset="0"/>
                <a:ea typeface="IBM Plex Sans" pitchFamily="34" charset="-122"/>
                <a:cs typeface="IBM Plex Sans" pitchFamily="34" charset="-120"/>
              </a:rPr>
              <a:t>20</a:t>
            </a:r>
            <a:endParaRPr lang="en-US" sz="1500" dirty="0">
              <a:latin typeface="IBM Plex Sans" charset="0"/>
              <a:ea typeface="IBM Plex Sans" charset="0"/>
              <a:cs typeface="IBM Plex Sans" charset="0"/>
            </a:endParaRPr>
          </a:p>
        </p:txBody>
      </p:sp>
      <p:sp>
        <p:nvSpPr>
          <p:cNvPr id="27" name="Text 25"/>
          <p:cNvSpPr/>
          <p:nvPr/>
        </p:nvSpPr>
        <p:spPr>
          <a:xfrm>
            <a:off x="7372350" y="3422650"/>
            <a:ext cx="520700" cy="444500"/>
          </a:xfrm>
          <a:prstGeom prst="roundRect">
            <a:avLst>
              <a:gd name="adj" fmla="val 10000"/>
            </a:avLst>
          </a:prstGeom>
          <a:solidFill>
            <a:srgbClr val="E3EFEC"/>
          </a:solidFill>
          <a:ln w="12700">
            <a:solidFill>
              <a:srgbClr val="17766A"/>
            </a:solidFill>
            <a:prstDash val="solid"/>
          </a:ln>
        </p:spPr>
        <p:txBody>
          <a:bodyPr wrap="square" lIns="0" tIns="0" rIns="0" bIns="0" rtlCol="0" anchor="ctr">
            <a:normAutofit/>
          </a:bodyPr>
          <a:lstStyle/>
          <a:p>
            <a:pPr algn="ctr" indent="0" marL="0">
              <a:lnSpc>
                <a:spcPts val="2100"/>
              </a:lnSpc>
              <a:buNone/>
            </a:pPr>
            <a:r>
              <a:rPr lang="en-US" sz="1500" b="1" dirty="0">
                <a:solidFill>
                  <a:srgbClr val="14222E"/>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p:txBody>
      </p:sp>
      <p:sp>
        <p:nvSpPr>
          <p:cNvPr id="28" name="Text 26"/>
          <p:cNvSpPr/>
          <p:nvPr/>
        </p:nvSpPr>
        <p:spPr>
          <a:xfrm>
            <a:off x="8102600" y="3413770"/>
            <a:ext cx="33748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Task A muda x para 20 e envia outra vez. O 10 continua à frente.</a:t>
            </a:r>
            <a:endParaRPr lang="en-US" sz="1300" dirty="0">
              <a:latin typeface="IBM Plex Sans" charset="0"/>
              <a:ea typeface="IBM Plex Sans" charset="0"/>
              <a:cs typeface="IBM Plex Sans" charset="0"/>
            </a:endParaRPr>
          </a:p>
        </p:txBody>
      </p:sp>
      <p:sp>
        <p:nvSpPr>
          <p:cNvPr id="29" name="Text 27"/>
          <p:cNvSpPr/>
          <p:nvPr/>
        </p:nvSpPr>
        <p:spPr>
          <a:xfrm>
            <a:off x="4470400" y="408178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14222E"/>
          </a:solidFill>
          <a:ln/>
        </p:spPr>
        <p:txBody>
          <a:bodyPr wrap="square" lIns="0" tIns="0" rIns="0" bIns="0" rtlCol="0" anchor="t">
            <a:normAutofit/>
          </a:bodyPr>
          <a:lstStyle/>
          <a:p>
            <a:pPr algn="ctr" indent="0" marL="0">
              <a:lnSpc>
                <a:spcPts val="2400"/>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30" name="Shape 28"/>
          <p:cNvSpPr/>
          <p:nvPr/>
        </p:nvSpPr>
        <p:spPr>
          <a:xfrm>
            <a:off x="4984750" y="4011935"/>
            <a:ext cx="520700" cy="444500"/>
          </a:xfrm>
          <a:prstGeom prst="roundRect">
            <a:avLst>
              <a:gd name="adj" fmla="val 10000"/>
            </a:avLst>
          </a:prstGeom>
          <a:solidFill>
            <a:srgbClr val="FCFBF8"/>
          </a:solidFill>
          <a:ln w="12700">
            <a:solidFill>
              <a:srgbClr val="A7B0B8"/>
            </a:solidFill>
            <a:prstDash val="dash"/>
          </a:ln>
        </p:spPr>
      </p:sp>
      <p:sp>
        <p:nvSpPr>
          <p:cNvPr id="31" name="Shape 29"/>
          <p:cNvSpPr/>
          <p:nvPr/>
        </p:nvSpPr>
        <p:spPr>
          <a:xfrm>
            <a:off x="5581650" y="4011935"/>
            <a:ext cx="520700" cy="444500"/>
          </a:xfrm>
          <a:prstGeom prst="roundRect">
            <a:avLst>
              <a:gd name="adj" fmla="val 10000"/>
            </a:avLst>
          </a:prstGeom>
          <a:solidFill>
            <a:srgbClr val="FCFBF8"/>
          </a:solidFill>
          <a:ln w="12700">
            <a:solidFill>
              <a:srgbClr val="A7B0B8"/>
            </a:solidFill>
            <a:prstDash val="dash"/>
          </a:ln>
        </p:spPr>
      </p:sp>
      <p:sp>
        <p:nvSpPr>
          <p:cNvPr id="32" name="Shape 30"/>
          <p:cNvSpPr/>
          <p:nvPr/>
        </p:nvSpPr>
        <p:spPr>
          <a:xfrm>
            <a:off x="6178550" y="4011935"/>
            <a:ext cx="520700" cy="444500"/>
          </a:xfrm>
          <a:prstGeom prst="roundRect">
            <a:avLst>
              <a:gd name="adj" fmla="val 10000"/>
            </a:avLst>
          </a:prstGeom>
          <a:solidFill>
            <a:srgbClr val="FCFBF8"/>
          </a:solidFill>
          <a:ln w="12700">
            <a:solidFill>
              <a:srgbClr val="A7B0B8"/>
            </a:solidFill>
            <a:prstDash val="dash"/>
          </a:ln>
        </p:spPr>
      </p:sp>
      <p:sp>
        <p:nvSpPr>
          <p:cNvPr id="33" name="Shape 31"/>
          <p:cNvSpPr/>
          <p:nvPr/>
        </p:nvSpPr>
        <p:spPr>
          <a:xfrm>
            <a:off x="6775450" y="4011935"/>
            <a:ext cx="520700" cy="444500"/>
          </a:xfrm>
          <a:prstGeom prst="roundRect">
            <a:avLst>
              <a:gd name="adj" fmla="val 10000"/>
            </a:avLst>
          </a:prstGeom>
          <a:solidFill>
            <a:srgbClr val="FCFBF8"/>
          </a:solidFill>
          <a:ln w="12700">
            <a:solidFill>
              <a:srgbClr val="A7B0B8"/>
            </a:solidFill>
            <a:prstDash val="dash"/>
          </a:ln>
        </p:spPr>
      </p:sp>
      <p:sp>
        <p:nvSpPr>
          <p:cNvPr id="34" name="Text 32"/>
          <p:cNvSpPr/>
          <p:nvPr/>
        </p:nvSpPr>
        <p:spPr>
          <a:xfrm>
            <a:off x="7375525" y="4015110"/>
            <a:ext cx="514350" cy="438150"/>
          </a:xfrm>
          <a:prstGeom prst="roundRect">
            <a:avLst>
              <a:gd name="adj" fmla="val 9420"/>
            </a:avLst>
          </a:prstGeom>
          <a:solidFill>
            <a:srgbClr val="FBEFE7"/>
          </a:solidFill>
          <a:ln w="19050">
            <a:solidFill>
              <a:srgbClr val="D0612A"/>
            </a:solidFill>
            <a:prstDash val="solid"/>
          </a:ln>
        </p:spPr>
        <p:txBody>
          <a:bodyPr wrap="square" lIns="0" tIns="0" rIns="0" bIns="0" rtlCol="0" anchor="ctr">
            <a:normAutofit/>
          </a:bodyPr>
          <a:lstStyle/>
          <a:p>
            <a:pPr algn="ctr" indent="0" marL="0">
              <a:lnSpc>
                <a:spcPts val="2100"/>
              </a:lnSpc>
              <a:buNone/>
            </a:pPr>
            <a:r>
              <a:rPr lang="en-US" sz="1500" b="1" dirty="0">
                <a:solidFill>
                  <a:srgbClr val="14222E"/>
                </a:solidFill>
                <a:latin typeface="IBM Plex Sans" pitchFamily="34" charset="0"/>
                <a:ea typeface="IBM Plex Sans" pitchFamily="34" charset="-122"/>
                <a:cs typeface="IBM Plex Sans" pitchFamily="34" charset="-120"/>
              </a:rPr>
              <a:t>20</a:t>
            </a:r>
            <a:endParaRPr lang="en-US" sz="1500" dirty="0">
              <a:latin typeface="IBM Plex Sans" charset="0"/>
              <a:ea typeface="IBM Plex Sans" charset="0"/>
              <a:cs typeface="IBM Plex Sans" charset="0"/>
            </a:endParaRPr>
          </a:p>
        </p:txBody>
      </p:sp>
      <p:sp>
        <p:nvSpPr>
          <p:cNvPr id="35" name="Text 33"/>
          <p:cNvSpPr/>
          <p:nvPr/>
        </p:nvSpPr>
        <p:spPr>
          <a:xfrm>
            <a:off x="8102600" y="4003055"/>
            <a:ext cx="33748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Task B recebe para y: fica com 10, o da frente. Na queue sobra o 20.</a:t>
            </a:r>
            <a:endParaRPr lang="en-US" sz="1300" dirty="0">
              <a:latin typeface="IBM Plex Sans" charset="0"/>
              <a:ea typeface="IBM Plex Sans" charset="0"/>
              <a:cs typeface="IBM Plex Sans" charset="0"/>
            </a:endParaRPr>
          </a:p>
        </p:txBody>
      </p:sp>
      <p:sp>
        <p:nvSpPr>
          <p:cNvPr id="36" name="Text 34"/>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37" name="Text 35"/>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46</a:t>
            </a:r>
            <a:endParaRPr lang="en-US" sz="1200" dirty="0">
              <a:latin typeface="IBM Plex Sans" charset="0"/>
              <a:ea typeface="IBM Plex Sans" charset="0"/>
              <a:cs typeface="IBM Plex Sans"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FreeRTOS copia os dados para a queue</a:t>
            </a:r>
            <a:endParaRPr lang="en-US" sz="3200" dirty="0">
              <a:latin typeface="IBM Plex Sans" charset="0"/>
              <a:ea typeface="IBM Plex Sans" charset="0"/>
              <a:cs typeface="IBM Plex Sans" charset="0"/>
            </a:endParaRPr>
          </a:p>
        </p:txBody>
      </p:sp>
      <p:sp>
        <p:nvSpPr>
          <p:cNvPr id="4" name="Text 2"/>
          <p:cNvSpPr/>
          <p:nvPr/>
        </p:nvSpPr>
        <p:spPr>
          <a:xfrm>
            <a:off x="812800" y="179831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44505C"/>
                </a:solidFill>
                <a:latin typeface="IBM Plex Sans" pitchFamily="34" charset="0"/>
                <a:ea typeface="IBM Plex Sans" pitchFamily="34" charset="-122"/>
                <a:cs typeface="IBM Plex Sans" pitchFamily="34" charset="-120"/>
              </a:rPr>
              <a:t>Queue by copy</a:t>
            </a:r>
            <a:r>
              <a:rPr lang="en-US" sz="1500" dirty="0">
                <a:solidFill>
                  <a:srgbClr val="44505C"/>
                </a:solidFill>
                <a:latin typeface="IBM Plex Sans" pitchFamily="34" charset="0"/>
                <a:ea typeface="IBM Plex Sans" pitchFamily="34" charset="-122"/>
                <a:cs typeface="IBM Plex Sans" pitchFamily="34" charset="-120"/>
              </a:rPr>
              <a:t>: os dados enviados são copiados byte a byte para a queue (e não apenas uma referência). É mais poderoso e mais simples:</a:t>
            </a:r>
            <a:endParaRPr lang="en-US" sz="1500" dirty="0">
              <a:latin typeface="IBM Plex Sans" charset="0"/>
              <a:ea typeface="IBM Plex Sans" charset="0"/>
              <a:cs typeface="IBM Plex Sans" charset="0"/>
            </a:endParaRPr>
          </a:p>
        </p:txBody>
      </p:sp>
      <p:sp>
        <p:nvSpPr>
          <p:cNvPr id="5" name="Shape 3"/>
          <p:cNvSpPr/>
          <p:nvPr/>
        </p:nvSpPr>
        <p:spPr>
          <a:xfrm>
            <a:off x="815975" y="2538090"/>
            <a:ext cx="3431064" cy="974090"/>
          </a:xfrm>
          <a:prstGeom prst="roundRect">
            <a:avLst>
              <a:gd name="adj" fmla="val 8801"/>
            </a:avLst>
          </a:prstGeom>
          <a:solidFill>
            <a:srgbClr val="FCFBF8"/>
          </a:solidFill>
          <a:ln w="6350">
            <a:solidFill>
              <a:srgbClr val="DCDAD2"/>
            </a:solidFill>
            <a:prstDash val="solid"/>
          </a:ln>
        </p:spPr>
      </p:sp>
      <p:pic>
        <p:nvPicPr>
          <p:cNvPr id="6" name="Image 0" descr="Check">    </p:cNvPr>
          <p:cNvPicPr>
            <a:picLocks noChangeAspect="1"/>
          </p:cNvPicPr>
          <p:nvPr/>
        </p:nvPicPr>
        <p:blipFill>
          <a:blip r:embed="rId1"/>
          <a:srcRect l="0" r="0" t="0" b="0"/>
          <a:stretch/>
        </p:blipFill>
        <p:spPr>
          <a:xfrm>
            <a:off x="970280" y="2692400"/>
            <a:ext cx="254000" cy="254000"/>
          </a:xfrm>
          <a:prstGeom prst="rect">
            <a:avLst/>
          </a:prstGeom>
        </p:spPr>
      </p:pic>
      <p:sp>
        <p:nvSpPr>
          <p:cNvPr id="7" name="Text 4"/>
          <p:cNvSpPr/>
          <p:nvPr/>
        </p:nvSpPr>
        <p:spPr>
          <a:xfrm>
            <a:off x="1351280" y="2692400"/>
            <a:ext cx="28236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Também serve para referências</a:t>
            </a:r>
            <a:endParaRPr lang="en-US" sz="1400" dirty="0">
              <a:latin typeface="IBM Plex Sans" charset="0"/>
              <a:ea typeface="IBM Plex Sans" charset="0"/>
              <a:cs typeface="IBM Plex Sans" charset="0"/>
            </a:endParaRPr>
          </a:p>
        </p:txBody>
      </p:sp>
      <p:sp>
        <p:nvSpPr>
          <p:cNvPr id="8" name="Text 5"/>
          <p:cNvSpPr/>
          <p:nvPr/>
        </p:nvSpPr>
        <p:spPr>
          <a:xfrm>
            <a:off x="1351280" y="2931170"/>
            <a:ext cx="28236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o dado for grande, copia-se para a queue um ponteiro.</a:t>
            </a:r>
            <a:endParaRPr lang="en-US" sz="1200" dirty="0">
              <a:latin typeface="IBM Plex Sans" charset="0"/>
              <a:ea typeface="IBM Plex Sans" charset="0"/>
              <a:cs typeface="IBM Plex Sans" charset="0"/>
            </a:endParaRPr>
          </a:p>
        </p:txBody>
      </p:sp>
      <p:sp>
        <p:nvSpPr>
          <p:cNvPr id="9" name="Shape 6"/>
          <p:cNvSpPr/>
          <p:nvPr/>
        </p:nvSpPr>
        <p:spPr>
          <a:xfrm>
            <a:off x="4380389" y="2538090"/>
            <a:ext cx="3431143" cy="974090"/>
          </a:xfrm>
          <a:prstGeom prst="roundRect">
            <a:avLst>
              <a:gd name="adj" fmla="val 8801"/>
            </a:avLst>
          </a:prstGeom>
          <a:solidFill>
            <a:srgbClr val="FCFBF8"/>
          </a:solidFill>
          <a:ln w="6350">
            <a:solidFill>
              <a:srgbClr val="DCDAD2"/>
            </a:solidFill>
            <a:prstDash val="solid"/>
          </a:ln>
        </p:spPr>
      </p:sp>
      <p:pic>
        <p:nvPicPr>
          <p:cNvPr id="10" name="Image 1" descr="Code">    </p:cNvPr>
          <p:cNvPicPr>
            <a:picLocks noChangeAspect="1"/>
          </p:cNvPicPr>
          <p:nvPr/>
        </p:nvPicPr>
        <p:blipFill>
          <a:blip r:embed="rId2"/>
          <a:srcRect l="0" r="0" t="0" b="0"/>
          <a:stretch/>
        </p:blipFill>
        <p:spPr>
          <a:xfrm>
            <a:off x="4534694" y="2692400"/>
            <a:ext cx="254000" cy="254000"/>
          </a:xfrm>
          <a:prstGeom prst="rect">
            <a:avLst/>
          </a:prstGeom>
        </p:spPr>
      </p:pic>
      <p:sp>
        <p:nvSpPr>
          <p:cNvPr id="11" name="Text 7"/>
          <p:cNvSpPr/>
          <p:nvPr/>
        </p:nvSpPr>
        <p:spPr>
          <a:xfrm>
            <a:off x="4915694" y="2692400"/>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Variáveis da stack</a:t>
            </a:r>
            <a:endParaRPr lang="en-US" sz="1400" dirty="0">
              <a:latin typeface="IBM Plex Sans" charset="0"/>
              <a:ea typeface="IBM Plex Sans" charset="0"/>
              <a:cs typeface="IBM Plex Sans" charset="0"/>
            </a:endParaRPr>
          </a:p>
        </p:txBody>
      </p:sp>
      <p:sp>
        <p:nvSpPr>
          <p:cNvPr id="12" name="Text 8"/>
          <p:cNvSpPr/>
          <p:nvPr/>
        </p:nvSpPr>
        <p:spPr>
          <a:xfrm>
            <a:off x="4915694" y="2931170"/>
            <a:ext cx="28237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Pode-se enviar uma variável local, mesmo que deixe de existir depois.</a:t>
            </a:r>
            <a:endParaRPr lang="en-US" sz="1200" dirty="0">
              <a:latin typeface="IBM Plex Sans" charset="0"/>
              <a:ea typeface="IBM Plex Sans" charset="0"/>
              <a:cs typeface="IBM Plex Sans" charset="0"/>
            </a:endParaRPr>
          </a:p>
        </p:txBody>
      </p:sp>
      <p:sp>
        <p:nvSpPr>
          <p:cNvPr id="13" name="Shape 9"/>
          <p:cNvSpPr/>
          <p:nvPr/>
        </p:nvSpPr>
        <p:spPr>
          <a:xfrm>
            <a:off x="7944882" y="2538090"/>
            <a:ext cx="3431143" cy="974090"/>
          </a:xfrm>
          <a:prstGeom prst="roundRect">
            <a:avLst>
              <a:gd name="adj" fmla="val 8801"/>
            </a:avLst>
          </a:prstGeom>
          <a:solidFill>
            <a:srgbClr val="FCFBF8"/>
          </a:solidFill>
          <a:ln w="6350">
            <a:solidFill>
              <a:srgbClr val="DCDAD2"/>
            </a:solidFill>
            <a:prstDash val="solid"/>
          </a:ln>
        </p:spPr>
      </p:sp>
      <p:pic>
        <p:nvPicPr>
          <p:cNvPr id="14" name="Image 2" descr="Database">    </p:cNvPr>
          <p:cNvPicPr>
            <a:picLocks noChangeAspect="1"/>
          </p:cNvPicPr>
          <p:nvPr/>
        </p:nvPicPr>
        <p:blipFill>
          <a:blip r:embed="rId3"/>
          <a:srcRect l="0" r="0" t="0" b="0"/>
          <a:stretch/>
        </p:blipFill>
        <p:spPr>
          <a:xfrm>
            <a:off x="8099187" y="2692400"/>
            <a:ext cx="254000" cy="254000"/>
          </a:xfrm>
          <a:prstGeom prst="rect">
            <a:avLst/>
          </a:prstGeom>
        </p:spPr>
      </p:pic>
      <p:sp>
        <p:nvSpPr>
          <p:cNvPr id="15" name="Text 10"/>
          <p:cNvSpPr/>
          <p:nvPr/>
        </p:nvSpPr>
        <p:spPr>
          <a:xfrm>
            <a:off x="8480187" y="2692400"/>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Nada para alocar antes</a:t>
            </a:r>
            <a:endParaRPr lang="en-US" sz="1400" dirty="0">
              <a:latin typeface="IBM Plex Sans" charset="0"/>
              <a:ea typeface="IBM Plex Sans" charset="0"/>
              <a:cs typeface="IBM Plex Sans" charset="0"/>
            </a:endParaRPr>
          </a:p>
        </p:txBody>
      </p:sp>
      <p:sp>
        <p:nvSpPr>
          <p:cNvPr id="16" name="Text 11"/>
          <p:cNvSpPr/>
          <p:nvPr/>
        </p:nvSpPr>
        <p:spPr>
          <a:xfrm>
            <a:off x="8480187" y="2931170"/>
            <a:ext cx="28237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é preciso malloc() nem um array global só para poder enviar.</a:t>
            </a:r>
            <a:endParaRPr lang="en-US" sz="1200" dirty="0">
              <a:latin typeface="IBM Plex Sans" charset="0"/>
              <a:ea typeface="IBM Plex Sans" charset="0"/>
              <a:cs typeface="IBM Plex Sans" charset="0"/>
            </a:endParaRPr>
          </a:p>
        </p:txBody>
      </p:sp>
      <p:sp>
        <p:nvSpPr>
          <p:cNvPr id="17" name="Shape 12"/>
          <p:cNvSpPr/>
          <p:nvPr/>
        </p:nvSpPr>
        <p:spPr>
          <a:xfrm>
            <a:off x="815975" y="3645545"/>
            <a:ext cx="3431064" cy="974090"/>
          </a:xfrm>
          <a:prstGeom prst="roundRect">
            <a:avLst>
              <a:gd name="adj" fmla="val 8801"/>
            </a:avLst>
          </a:prstGeom>
          <a:solidFill>
            <a:srgbClr val="FCFBF8"/>
          </a:solidFill>
          <a:ln w="6350">
            <a:solidFill>
              <a:srgbClr val="DCDAD2"/>
            </a:solidFill>
            <a:prstDash val="solid"/>
          </a:ln>
        </p:spPr>
      </p:sp>
      <p:pic>
        <p:nvPicPr>
          <p:cNvPr id="18" name="Image 3" descr="Lightning">    </p:cNvPr>
          <p:cNvPicPr>
            <a:picLocks noChangeAspect="1"/>
          </p:cNvPicPr>
          <p:nvPr/>
        </p:nvPicPr>
        <p:blipFill>
          <a:blip r:embed="rId4"/>
          <a:srcRect l="0" r="0" t="0" b="0"/>
          <a:stretch/>
        </p:blipFill>
        <p:spPr>
          <a:xfrm>
            <a:off x="970280" y="3799855"/>
            <a:ext cx="254000" cy="254000"/>
          </a:xfrm>
          <a:prstGeom prst="rect">
            <a:avLst/>
          </a:prstGeom>
        </p:spPr>
      </p:pic>
      <p:sp>
        <p:nvSpPr>
          <p:cNvPr id="19" name="Text 13"/>
          <p:cNvSpPr/>
          <p:nvPr/>
        </p:nvSpPr>
        <p:spPr>
          <a:xfrm>
            <a:off x="1351280" y="3799855"/>
            <a:ext cx="28236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Pode alterar logo a variável</a:t>
            </a:r>
            <a:endParaRPr lang="en-US" sz="1400" dirty="0">
              <a:latin typeface="IBM Plex Sans" charset="0"/>
              <a:ea typeface="IBM Plex Sans" charset="0"/>
              <a:cs typeface="IBM Plex Sans" charset="0"/>
            </a:endParaRPr>
          </a:p>
        </p:txBody>
      </p:sp>
      <p:sp>
        <p:nvSpPr>
          <p:cNvPr id="20" name="Text 14"/>
          <p:cNvSpPr/>
          <p:nvPr/>
        </p:nvSpPr>
        <p:spPr>
          <a:xfrm>
            <a:off x="1351280" y="4038600"/>
            <a:ext cx="28236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Logo após o xQueueSend() pode mudar: a queue tem a cópia.</a:t>
            </a:r>
            <a:endParaRPr lang="en-US" sz="1200" dirty="0">
              <a:latin typeface="IBM Plex Sans" charset="0"/>
              <a:ea typeface="IBM Plex Sans" charset="0"/>
              <a:cs typeface="IBM Plex Sans" charset="0"/>
            </a:endParaRPr>
          </a:p>
        </p:txBody>
      </p:sp>
      <p:sp>
        <p:nvSpPr>
          <p:cNvPr id="21" name="Shape 15"/>
          <p:cNvSpPr/>
          <p:nvPr/>
        </p:nvSpPr>
        <p:spPr>
          <a:xfrm>
            <a:off x="4380389" y="3645545"/>
            <a:ext cx="3431143" cy="974090"/>
          </a:xfrm>
          <a:prstGeom prst="roundRect">
            <a:avLst>
              <a:gd name="adj" fmla="val 8801"/>
            </a:avLst>
          </a:prstGeom>
          <a:solidFill>
            <a:srgbClr val="FCFBF8"/>
          </a:solidFill>
          <a:ln w="6350">
            <a:solidFill>
              <a:srgbClr val="DCDAD2"/>
            </a:solidFill>
            <a:prstDash val="solid"/>
          </a:ln>
        </p:spPr>
      </p:sp>
      <p:pic>
        <p:nvPicPr>
          <p:cNvPr id="22" name="Image 4" descr="Users">    </p:cNvPr>
          <p:cNvPicPr>
            <a:picLocks noChangeAspect="1"/>
          </p:cNvPicPr>
          <p:nvPr/>
        </p:nvPicPr>
        <p:blipFill>
          <a:blip r:embed="rId5"/>
          <a:srcRect l="0" r="0" t="0" b="0"/>
          <a:stretch/>
        </p:blipFill>
        <p:spPr>
          <a:xfrm>
            <a:off x="4534694" y="3799855"/>
            <a:ext cx="254000" cy="254000"/>
          </a:xfrm>
          <a:prstGeom prst="rect">
            <a:avLst/>
          </a:prstGeom>
        </p:spPr>
      </p:pic>
      <p:sp>
        <p:nvSpPr>
          <p:cNvPr id="23" name="Text 16"/>
          <p:cNvSpPr/>
          <p:nvPr/>
        </p:nvSpPr>
        <p:spPr>
          <a:xfrm>
            <a:off x="4915694" y="3799855"/>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Tasks desacopladas</a:t>
            </a:r>
            <a:endParaRPr lang="en-US" sz="1400" dirty="0">
              <a:latin typeface="IBM Plex Sans" charset="0"/>
              <a:ea typeface="IBM Plex Sans" charset="0"/>
              <a:cs typeface="IBM Plex Sans" charset="0"/>
            </a:endParaRPr>
          </a:p>
        </p:txBody>
      </p:sp>
      <p:sp>
        <p:nvSpPr>
          <p:cNvPr id="24" name="Text 17"/>
          <p:cNvSpPr/>
          <p:nvPr/>
        </p:nvSpPr>
        <p:spPr>
          <a:xfrm>
            <a:off x="4915694" y="4038600"/>
            <a:ext cx="28237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Ninguém tem de saber quem é o dono do dado nem quem o liberta.</a:t>
            </a:r>
            <a:endParaRPr lang="en-US" sz="1200" dirty="0">
              <a:latin typeface="IBM Plex Sans" charset="0"/>
              <a:ea typeface="IBM Plex Sans" charset="0"/>
              <a:cs typeface="IBM Plex Sans" charset="0"/>
            </a:endParaRPr>
          </a:p>
        </p:txBody>
      </p:sp>
      <p:sp>
        <p:nvSpPr>
          <p:cNvPr id="25" name="Shape 18"/>
          <p:cNvSpPr/>
          <p:nvPr/>
        </p:nvSpPr>
        <p:spPr>
          <a:xfrm>
            <a:off x="7944882" y="3645545"/>
            <a:ext cx="3431143" cy="974090"/>
          </a:xfrm>
          <a:prstGeom prst="roundRect">
            <a:avLst>
              <a:gd name="adj" fmla="val 8801"/>
            </a:avLst>
          </a:prstGeom>
          <a:solidFill>
            <a:srgbClr val="FCFBF8"/>
          </a:solidFill>
          <a:ln w="6350">
            <a:solidFill>
              <a:srgbClr val="DCDAD2"/>
            </a:solidFill>
            <a:prstDash val="solid"/>
          </a:ln>
        </p:spPr>
      </p:sp>
      <p:pic>
        <p:nvPicPr>
          <p:cNvPr id="26" name="Image 5" descr="Settings">    </p:cNvPr>
          <p:cNvPicPr>
            <a:picLocks noChangeAspect="1"/>
          </p:cNvPicPr>
          <p:nvPr/>
        </p:nvPicPr>
        <p:blipFill>
          <a:blip r:embed="rId6"/>
          <a:srcRect l="0" r="0" t="0" b="0"/>
          <a:stretch/>
        </p:blipFill>
        <p:spPr>
          <a:xfrm>
            <a:off x="8099187" y="3799855"/>
            <a:ext cx="254000" cy="254000"/>
          </a:xfrm>
          <a:prstGeom prst="rect">
            <a:avLst/>
          </a:prstGeom>
        </p:spPr>
      </p:pic>
      <p:sp>
        <p:nvSpPr>
          <p:cNvPr id="27" name="Text 19"/>
          <p:cNvSpPr/>
          <p:nvPr/>
        </p:nvSpPr>
        <p:spPr>
          <a:xfrm>
            <a:off x="8480187" y="3799855"/>
            <a:ext cx="2823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Memória a cargo do RTOS</a:t>
            </a:r>
            <a:endParaRPr lang="en-US" sz="1400" dirty="0">
              <a:latin typeface="IBM Plex Sans" charset="0"/>
              <a:ea typeface="IBM Plex Sans" charset="0"/>
              <a:cs typeface="IBM Plex Sans" charset="0"/>
            </a:endParaRPr>
          </a:p>
        </p:txBody>
      </p:sp>
      <p:sp>
        <p:nvSpPr>
          <p:cNvPr id="28" name="Text 20"/>
          <p:cNvSpPr/>
          <p:nvPr/>
        </p:nvSpPr>
        <p:spPr>
          <a:xfrm>
            <a:off x="8480187" y="4038600"/>
            <a:ext cx="28237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kernel aloca a memória onde os dados ficam.</a:t>
            </a:r>
            <a:endParaRPr lang="en-US" sz="1200" dirty="0">
              <a:latin typeface="IBM Plex Sans" charset="0"/>
              <a:ea typeface="IBM Plex Sans" charset="0"/>
              <a:cs typeface="IBM Plex Sans" charset="0"/>
            </a:endParaRPr>
          </a:p>
        </p:txBody>
      </p:sp>
      <p:sp>
        <p:nvSpPr>
          <p:cNvPr id="29" name="Shape 21"/>
          <p:cNvSpPr/>
          <p:nvPr/>
        </p:nvSpPr>
        <p:spPr>
          <a:xfrm>
            <a:off x="815975" y="4752975"/>
            <a:ext cx="3431064" cy="974090"/>
          </a:xfrm>
          <a:prstGeom prst="roundRect">
            <a:avLst>
              <a:gd name="adj" fmla="val 8801"/>
            </a:avLst>
          </a:prstGeom>
          <a:solidFill>
            <a:srgbClr val="FCFBF8"/>
          </a:solidFill>
          <a:ln w="6350">
            <a:solidFill>
              <a:srgbClr val="DCDAD2"/>
            </a:solidFill>
            <a:prstDash val="solid"/>
          </a:ln>
        </p:spPr>
      </p:sp>
      <p:pic>
        <p:nvPicPr>
          <p:cNvPr id="30" name="Image 6" descr="Lock">    </p:cNvPr>
          <p:cNvPicPr>
            <a:picLocks noChangeAspect="1"/>
          </p:cNvPicPr>
          <p:nvPr/>
        </p:nvPicPr>
        <p:blipFill>
          <a:blip r:embed="rId7"/>
          <a:srcRect l="0" r="0" t="0" b="0"/>
          <a:stretch/>
        </p:blipFill>
        <p:spPr>
          <a:xfrm>
            <a:off x="970280" y="4907285"/>
            <a:ext cx="254000" cy="254000"/>
          </a:xfrm>
          <a:prstGeom prst="rect">
            <a:avLst/>
          </a:prstGeom>
        </p:spPr>
      </p:pic>
      <p:sp>
        <p:nvSpPr>
          <p:cNvPr id="31" name="Text 22"/>
          <p:cNvSpPr/>
          <p:nvPr/>
        </p:nvSpPr>
        <p:spPr>
          <a:xfrm>
            <a:off x="1351280" y="4907285"/>
            <a:ext cx="28236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Atravessa proteção de memória</a:t>
            </a:r>
            <a:endParaRPr lang="en-US" sz="1400" dirty="0">
              <a:latin typeface="IBM Plex Sans" charset="0"/>
              <a:ea typeface="IBM Plex Sans" charset="0"/>
              <a:cs typeface="IBM Plex Sans" charset="0"/>
            </a:endParaRPr>
          </a:p>
        </p:txBody>
      </p:sp>
      <p:sp>
        <p:nvSpPr>
          <p:cNvPr id="32" name="Text 23"/>
          <p:cNvSpPr/>
          <p:nvPr/>
        </p:nvSpPr>
        <p:spPr>
          <a:xfrm>
            <a:off x="1351280" y="5146055"/>
            <a:ext cx="28236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 MPU, a cópia passa fronteiras que um ponteiro não passa.</a:t>
            </a:r>
            <a:endParaRPr lang="en-US" sz="1200" dirty="0">
              <a:latin typeface="IBM Plex Sans" charset="0"/>
              <a:ea typeface="IBM Plex Sans" charset="0"/>
              <a:cs typeface="IBM Plex Sans" charset="0"/>
            </a:endParaRPr>
          </a:p>
        </p:txBody>
      </p:sp>
      <p:sp>
        <p:nvSpPr>
          <p:cNvPr id="33" name="Text 24"/>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34" name="Text 25"/>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47</a:t>
            </a:r>
            <a:endParaRPr lang="en-US" sz="1200" dirty="0">
              <a:latin typeface="IBM Plex Sans" charset="0"/>
              <a:ea typeface="IBM Plex Sans" charset="0"/>
              <a:cs typeface="IBM Plex Sans"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Várias tasks e bloqueio numa queue</a:t>
            </a:r>
            <a:endParaRPr lang="en-US" sz="3200" dirty="0">
              <a:latin typeface="IBM Plex Sans" charset="0"/>
              <a:ea typeface="IBM Plex Sans" charset="0"/>
              <a:cs typeface="IBM Plex Sans" charset="0"/>
            </a:endParaRPr>
          </a:p>
        </p:txBody>
      </p:sp>
      <p:sp>
        <p:nvSpPr>
          <p:cNvPr id="4" name="Text 2"/>
          <p:cNvSpPr/>
          <p:nvPr/>
        </p:nvSpPr>
        <p:spPr>
          <a:xfrm>
            <a:off x="812800" y="179831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Uma queue é um objeto próprio: qualquer task ou ISR que a conheça pode escrever ou ler. É muito comum ter </a:t>
            </a:r>
            <a:r>
              <a:rPr lang="en-US" sz="1500" b="1" dirty="0">
                <a:solidFill>
                  <a:srgbClr val="44505C"/>
                </a:solidFill>
                <a:latin typeface="IBM Plex Sans" pitchFamily="34" charset="0"/>
                <a:ea typeface="IBM Plex Sans" pitchFamily="34" charset="-122"/>
                <a:cs typeface="IBM Plex Sans" pitchFamily="34" charset="-120"/>
              </a:rPr>
              <a:t>vários escritores</a:t>
            </a:r>
            <a:r>
              <a:rPr lang="en-US" sz="1500" dirty="0">
                <a:solidFill>
                  <a:srgbClr val="44505C"/>
                </a:solidFill>
                <a:latin typeface="IBM Plex Sans" pitchFamily="34" charset="0"/>
                <a:ea typeface="IBM Plex Sans" pitchFamily="34" charset="-122"/>
                <a:cs typeface="IBM Plex Sans" pitchFamily="34" charset="-120"/>
              </a:rPr>
              <a:t>; vários leitores é bem menos comum.</a:t>
            </a:r>
            <a:endParaRPr lang="en-US" sz="1500" dirty="0">
              <a:latin typeface="IBM Plex Sans" charset="0"/>
              <a:ea typeface="IBM Plex Sans" charset="0"/>
              <a:cs typeface="IBM Plex Sans" charset="0"/>
            </a:endParaRPr>
          </a:p>
        </p:txBody>
      </p:sp>
      <p:sp>
        <p:nvSpPr>
          <p:cNvPr id="5" name="Shape 3"/>
          <p:cNvSpPr/>
          <p:nvPr/>
        </p:nvSpPr>
        <p:spPr>
          <a:xfrm>
            <a:off x="815975" y="2538090"/>
            <a:ext cx="5175250" cy="1934210"/>
          </a:xfrm>
          <a:prstGeom prst="roundRect">
            <a:avLst>
              <a:gd name="adj" fmla="val 5089"/>
            </a:avLst>
          </a:prstGeom>
          <a:solidFill>
            <a:srgbClr val="FCFBF8"/>
          </a:solidFill>
          <a:ln w="6350">
            <a:solidFill>
              <a:srgbClr val="DCDAD2"/>
            </a:solidFill>
            <a:prstDash val="solid"/>
          </a:ln>
        </p:spPr>
      </p:sp>
      <p:sp>
        <p:nvSpPr>
          <p:cNvPr id="6" name="Text 4"/>
          <p:cNvSpPr/>
          <p:nvPr/>
        </p:nvSpPr>
        <p:spPr>
          <a:xfrm>
            <a:off x="1071880" y="27940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LER DE UMA QUEUE VAZIA</a:t>
            </a:r>
            <a:endParaRPr lang="en-US" sz="1200" dirty="0">
              <a:latin typeface="IBM Plex Sans" charset="0"/>
              <a:ea typeface="IBM Plex Sans" charset="0"/>
              <a:cs typeface="IBM Plex Sans" charset="0"/>
            </a:endParaRPr>
          </a:p>
        </p:txBody>
      </p:sp>
      <p:sp>
        <p:nvSpPr>
          <p:cNvPr id="7" name="Text 5"/>
          <p:cNvSpPr/>
          <p:nvPr/>
        </p:nvSpPr>
        <p:spPr>
          <a:xfrm>
            <a:off x="1071880" y="310897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Bloquear à espera de dados</a:t>
            </a:r>
            <a:endParaRPr lang="en-US" sz="1700" dirty="0">
              <a:latin typeface="IBM Plex Sans" charset="0"/>
              <a:ea typeface="IBM Plex Sans" charset="0"/>
              <a:cs typeface="IBM Plex Sans" charset="0"/>
            </a:endParaRPr>
          </a:p>
        </p:txBody>
      </p:sp>
      <p:sp>
        <p:nvSpPr>
          <p:cNvPr id="8" name="Text 6"/>
          <p:cNvSpPr/>
          <p:nvPr/>
        </p:nvSpPr>
        <p:spPr>
          <a:xfrm>
            <a:off x="1071880" y="3469655"/>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A task indica um block time e fica em Blocked. Passa a Ready quando outra task ou ISR escreve na queue, ou quando o tempo expira.</a:t>
            </a:r>
            <a:endParaRPr lang="en-US" sz="1400" dirty="0">
              <a:latin typeface="IBM Plex Sans" charset="0"/>
              <a:ea typeface="IBM Plex Sans" charset="0"/>
              <a:cs typeface="IBM Plex Sans" charset="0"/>
            </a:endParaRPr>
          </a:p>
        </p:txBody>
      </p:sp>
      <p:sp>
        <p:nvSpPr>
          <p:cNvPr id="9" name="Shape 7"/>
          <p:cNvSpPr/>
          <p:nvPr/>
        </p:nvSpPr>
        <p:spPr>
          <a:xfrm>
            <a:off x="6200775" y="2538090"/>
            <a:ext cx="5175250" cy="1934210"/>
          </a:xfrm>
          <a:prstGeom prst="roundRect">
            <a:avLst>
              <a:gd name="adj" fmla="val 5089"/>
            </a:avLst>
          </a:prstGeom>
          <a:solidFill>
            <a:srgbClr val="FCFBF8"/>
          </a:solidFill>
          <a:ln w="6350">
            <a:solidFill>
              <a:srgbClr val="DCDAD2"/>
            </a:solidFill>
            <a:prstDash val="solid"/>
          </a:ln>
        </p:spPr>
      </p:sp>
      <p:sp>
        <p:nvSpPr>
          <p:cNvPr id="10" name="Text 8"/>
          <p:cNvSpPr/>
          <p:nvPr/>
        </p:nvSpPr>
        <p:spPr>
          <a:xfrm>
            <a:off x="6456680" y="27940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ESCREVER NUMA QUEUE CHEIA</a:t>
            </a:r>
            <a:endParaRPr lang="en-US" sz="1200" dirty="0">
              <a:latin typeface="IBM Plex Sans" charset="0"/>
              <a:ea typeface="IBM Plex Sans" charset="0"/>
              <a:cs typeface="IBM Plex Sans" charset="0"/>
            </a:endParaRPr>
          </a:p>
        </p:txBody>
      </p:sp>
      <p:sp>
        <p:nvSpPr>
          <p:cNvPr id="11" name="Text 9"/>
          <p:cNvSpPr/>
          <p:nvPr/>
        </p:nvSpPr>
        <p:spPr>
          <a:xfrm>
            <a:off x="6456680" y="310897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Bloquear à espera de espaço</a:t>
            </a:r>
            <a:endParaRPr lang="en-US" sz="1700" dirty="0">
              <a:latin typeface="IBM Plex Sans" charset="0"/>
              <a:ea typeface="IBM Plex Sans" charset="0"/>
              <a:cs typeface="IBM Plex Sans" charset="0"/>
            </a:endParaRPr>
          </a:p>
        </p:txBody>
      </p:sp>
      <p:sp>
        <p:nvSpPr>
          <p:cNvPr id="12" name="Text 10"/>
          <p:cNvSpPr/>
          <p:nvPr/>
        </p:nvSpPr>
        <p:spPr>
          <a:xfrm>
            <a:off x="6456680" y="3469655"/>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Igual: fica em Blocked até haver espaço ou até o block time expirar.</a:t>
            </a:r>
            <a:endParaRPr lang="en-US" sz="1400" dirty="0">
              <a:latin typeface="IBM Plex Sans" charset="0"/>
              <a:ea typeface="IBM Plex Sans" charset="0"/>
              <a:cs typeface="IBM Plex Sans" charset="0"/>
            </a:endParaRPr>
          </a:p>
        </p:txBody>
      </p:sp>
      <p:sp>
        <p:nvSpPr>
          <p:cNvPr id="13" name="Text 11"/>
          <p:cNvSpPr/>
          <p:nvPr/>
        </p:nvSpPr>
        <p:spPr>
          <a:xfrm>
            <a:off x="812800" y="4678685"/>
            <a:ext cx="10566400" cy="751840"/>
          </a:xfrm>
          <a:prstGeom prst="roundRect">
            <a:avLst>
              <a:gd name="adj" fmla="val 10135"/>
            </a:avLst>
          </a:prstGeom>
          <a:solidFill>
            <a:srgbClr val="E3EFEC"/>
          </a:solidFill>
          <a:ln/>
        </p:spPr>
        <p:txBody>
          <a:bodyPr wrap="square" lIns="155482" tIns="104682" rIns="0" bIns="79282" rtlCol="0" anchor="t">
            <a:normAutofit/>
          </a:bodyPr>
          <a:lstStyle/>
          <a:p>
            <a:pPr algn="l"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Com várias tasks bloqueadas, só uma é desbloqueada: </a:t>
            </a:r>
            <a:r>
              <a:rPr lang="en-US" sz="1400" b="1" dirty="0">
                <a:solidFill>
                  <a:srgbClr val="14222E"/>
                </a:solidFill>
                <a:latin typeface="IBM Plex Sans" pitchFamily="34" charset="0"/>
                <a:ea typeface="IBM Plex Sans" pitchFamily="34" charset="-122"/>
                <a:cs typeface="IBM Plex Sans" pitchFamily="34" charset="-120"/>
              </a:rPr>
              <a:t>a de maior prioridade</a:t>
            </a:r>
            <a:r>
              <a:rPr lang="en-US" sz="1400" dirty="0">
                <a:solidFill>
                  <a:srgbClr val="14222E"/>
                </a:solidFill>
                <a:latin typeface="IBM Plex Sans" pitchFamily="34" charset="0"/>
                <a:ea typeface="IBM Plex Sans" pitchFamily="34" charset="-122"/>
                <a:cs typeface="IBM Plex Sans" pitchFamily="34" charset="-120"/>
              </a:rPr>
              <a:t>. Com prioridades iguais, </a:t>
            </a:r>
            <a:r>
              <a:rPr lang="en-US" sz="1400" b="1" dirty="0">
                <a:solidFill>
                  <a:srgbClr val="14222E"/>
                </a:solidFill>
                <a:latin typeface="IBM Plex Sans" pitchFamily="34" charset="0"/>
                <a:ea typeface="IBM Plex Sans" pitchFamily="34" charset="-122"/>
                <a:cs typeface="IBM Plex Sans" pitchFamily="34" charset="-120"/>
              </a:rPr>
              <a:t>a que espera há mais tempo</a:t>
            </a:r>
            <a:r>
              <a:rPr lang="en-US" sz="1400" dirty="0">
                <a:solidFill>
                  <a:srgbClr val="1422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sp>
        <p:nvSpPr>
          <p:cNvPr id="14" name="Text 12"/>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15" name="Text 13"/>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48</a:t>
            </a:r>
            <a:endParaRPr lang="en-US" sz="1200" dirty="0">
              <a:latin typeface="IBM Plex Sans" charset="0"/>
              <a:ea typeface="IBM Plex Sans" charset="0"/>
              <a:cs typeface="IBM Plex Sans"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API essencial</a:t>
            </a:r>
            <a:endParaRPr lang="en-US" sz="3200" dirty="0">
              <a:latin typeface="IBM Plex Sans" charset="0"/>
              <a:ea typeface="IBM Plex Sans" charset="0"/>
              <a:cs typeface="IBM Plex Sans" charset="0"/>
            </a:endParaRPr>
          </a:p>
        </p:txBody>
      </p:sp>
      <p:sp>
        <p:nvSpPr>
          <p:cNvPr id="4" name="Text 2"/>
          <p:cNvSpPr/>
          <p:nvPr/>
        </p:nvSpPr>
        <p:spPr>
          <a:xfrm>
            <a:off x="812800" y="1899915"/>
            <a:ext cx="5842000" cy="2438400"/>
          </a:xfrm>
          <a:prstGeom prst="roundRect">
            <a:avLst>
              <a:gd name="adj" fmla="val 3125"/>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QueueHandle_t xQueueCreate( UBaseType_t uxQueueLength,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UBaseType_t uxItemSize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xQueueSendToBack( QueueHandle_t xQueue,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void * pvItemToQueue,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xTicksToWait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xQueueSendToFront(): iguais; xQueueSend() == ToBack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xQueueReceive( QueueHandle_t xQueue,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void * const pvBuffer,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xTicksToWait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UBaseType_t uxQueueMessagesWaiting( QueueHandle_t xQueue );</a:t>
            </a:r>
            <a:endParaRPr lang="en-US" sz="1200" dirty="0">
              <a:latin typeface="JetBrains Mono" charset="0"/>
              <a:ea typeface="JetBrains Mono" charset="0"/>
              <a:cs typeface="JetBrains Mono" charset="0"/>
            </a:endParaRPr>
          </a:p>
        </p:txBody>
      </p:sp>
      <p:sp>
        <p:nvSpPr>
          <p:cNvPr id="5" name="Text 3"/>
          <p:cNvSpPr/>
          <p:nvPr/>
        </p:nvSpPr>
        <p:spPr>
          <a:xfrm>
            <a:off x="812800" y="4439915"/>
            <a:ext cx="601726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xQueueCreate() devolve o handle, ou NULL se não houver heap.</a:t>
            </a:r>
            <a:endParaRPr lang="en-US" sz="1300" dirty="0">
              <a:latin typeface="IBM Plex Sans" charset="0"/>
              <a:ea typeface="IBM Plex Sans" charset="0"/>
              <a:cs typeface="IBM Plex Sans" charset="0"/>
            </a:endParaRPr>
          </a:p>
        </p:txBody>
      </p:sp>
      <p:sp>
        <p:nvSpPr>
          <p:cNvPr id="6" name="Text 4"/>
          <p:cNvSpPr/>
          <p:nvPr/>
        </p:nvSpPr>
        <p:spPr>
          <a:xfrm>
            <a:off x="6908800" y="1899915"/>
            <a:ext cx="46045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XTICKSTOWAIT</a:t>
            </a:r>
            <a:endParaRPr lang="en-US" sz="1200" dirty="0">
              <a:latin typeface="IBM Plex Sans" charset="0"/>
              <a:ea typeface="IBM Plex Sans" charset="0"/>
              <a:cs typeface="IBM Plex Sans" charset="0"/>
            </a:endParaRPr>
          </a:p>
        </p:txBody>
      </p:sp>
      <p:sp>
        <p:nvSpPr>
          <p:cNvPr id="7" name="Shape 5"/>
          <p:cNvSpPr/>
          <p:nvPr/>
        </p:nvSpPr>
        <p:spPr>
          <a:xfrm>
            <a:off x="6908800" y="2219965"/>
            <a:ext cx="4470400" cy="0"/>
          </a:xfrm>
          <a:prstGeom prst="line">
            <a:avLst/>
          </a:prstGeom>
          <a:noFill/>
          <a:ln w="10160">
            <a:solidFill>
              <a:srgbClr val="141413">
                <a:alpha val="22000"/>
              </a:srgbClr>
            </a:solidFill>
            <a:prstDash val="solid"/>
          </a:ln>
        </p:spPr>
      </p:sp>
      <p:sp>
        <p:nvSpPr>
          <p:cNvPr id="8" name="Shape 6"/>
          <p:cNvSpPr/>
          <p:nvPr/>
        </p:nvSpPr>
        <p:spPr>
          <a:xfrm>
            <a:off x="6913880" y="2214885"/>
            <a:ext cx="0" cy="1341120"/>
          </a:xfrm>
          <a:prstGeom prst="line">
            <a:avLst/>
          </a:prstGeom>
          <a:noFill/>
          <a:ln w="10160">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20560" y="2288545"/>
          <a:ext cx="4257040" cy="1203960"/>
        </p:xfrm>
        <a:graphic>
          <a:graphicData uri="http://schemas.openxmlformats.org/drawingml/2006/table">
            <a:tbl>
              <a:tblPr/>
              <a:tblGrid>
                <a:gridCol w="1873098"/>
                <a:gridCol w="2383942"/>
              </a:tblGrid>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0</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Retorna logo se cheia / vazia.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pdMS_TO_TICKS( ms )</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Espera no máximo esse tempo.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portMAX_DELAY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Espera sem limite (INCLUDE_vTaskSuspend =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0" name="Text 7"/>
          <p:cNvSpPr/>
          <p:nvPr/>
        </p:nvSpPr>
        <p:spPr>
          <a:xfrm>
            <a:off x="6908800" y="3657600"/>
            <a:ext cx="46045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RETORNO</a:t>
            </a:r>
            <a:endParaRPr lang="en-US" sz="1200" dirty="0">
              <a:latin typeface="IBM Plex Sans" charset="0"/>
              <a:ea typeface="IBM Plex Sans" charset="0"/>
              <a:cs typeface="IBM Plex Sans" charset="0"/>
            </a:endParaRPr>
          </a:p>
        </p:txBody>
      </p:sp>
      <p:sp>
        <p:nvSpPr>
          <p:cNvPr id="11" name="Text 8"/>
          <p:cNvSpPr/>
          <p:nvPr/>
        </p:nvSpPr>
        <p:spPr>
          <a:xfrm>
            <a:off x="6908800" y="3972570"/>
            <a:ext cx="46045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pdPASS, ou errQUEUE_FULL / errQUEUE_EMPTY (iguais a pdFAIL) se o tempo expirou.</a:t>
            </a:r>
            <a:endParaRPr lang="en-US" sz="1200" dirty="0">
              <a:latin typeface="IBM Plex Sans" charset="0"/>
              <a:ea typeface="IBM Plex Sans" charset="0"/>
              <a:cs typeface="IBM Plex Sans" charset="0"/>
            </a:endParaRPr>
          </a:p>
        </p:txBody>
      </p:sp>
      <p:sp>
        <p:nvSpPr>
          <p:cNvPr id="12" name="Text 9"/>
          <p:cNvSpPr/>
          <p:nvPr/>
        </p:nvSpPr>
        <p:spPr>
          <a:xfrm>
            <a:off x="6908800" y="4500885"/>
            <a:ext cx="4470400" cy="655320"/>
          </a:xfrm>
          <a:custGeom>
            <a:avLst/>
            <a:gdLst/>
            <a:ahLst/>
            <a:cxnLst/>
            <a:rect l="l" t="t" r="r" b="b"/>
            <a:pathLst>
              <a:path w="4470400" h="655320">
                <a:moveTo>
                  <a:pt x="0" y="0"/>
                </a:moveTo>
                <a:lnTo>
                  <a:pt x="4394200" y="0"/>
                </a:lnTo>
                <a:arcTo hR="76200" wR="76200" stAng="16200000" swAng="5400000"/>
                <a:lnTo>
                  <a:pt x="4470400" y="579120"/>
                </a:lnTo>
                <a:arcTo hR="76200" wR="76200" stAng="0" swAng="5400000"/>
                <a:lnTo>
                  <a:pt x="0" y="655320"/>
                </a:lnTo>
                <a:lnTo>
                  <a:pt x="0" y="0"/>
                </a:lnTo>
                <a:close/>
              </a:path>
            </a:pathLst>
          </a:custGeom>
          <a:solidFill>
            <a:srgbClr val="FBEFE7"/>
          </a:solidFill>
          <a:ln/>
        </p:spPr>
        <p:txBody>
          <a:bodyPr wrap="square" lIns="175260" tIns="114300" rIns="15037" bIns="8890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Nunca</a:t>
            </a:r>
            <a:r>
              <a:rPr lang="en-US" sz="1200" dirty="0">
                <a:solidFill>
                  <a:srgbClr val="14222E"/>
                </a:solidFill>
                <a:latin typeface="IBM Plex Sans" pitchFamily="34" charset="0"/>
                <a:ea typeface="IBM Plex Sans" pitchFamily="34" charset="-122"/>
                <a:cs typeface="IBM Plex Sans" pitchFamily="34" charset="-120"/>
              </a:rPr>
              <a:t> chamar estas funções numa ISR: usar as versões …FromISR() (módulo 5).</a:t>
            </a:r>
            <a:endParaRPr lang="en-US" sz="1200" dirty="0">
              <a:latin typeface="IBM Plex Sans" charset="0"/>
              <a:ea typeface="IBM Plex Sans" charset="0"/>
              <a:cs typeface="IBM Plex Sans" charset="0"/>
            </a:endParaRPr>
          </a:p>
        </p:txBody>
      </p:sp>
      <p:sp>
        <p:nvSpPr>
          <p:cNvPr id="13" name="Shape 10"/>
          <p:cNvSpPr/>
          <p:nvPr/>
        </p:nvSpPr>
        <p:spPr>
          <a:xfrm>
            <a:off x="6908800" y="4500885"/>
            <a:ext cx="4470400" cy="655320"/>
          </a:xfrm>
          <a:custGeom>
            <a:avLst/>
            <a:gdLst/>
            <a:ahLst/>
            <a:cxnLst/>
            <a:rect l="l" t="t" r="r" b="b"/>
            <a:pathLst>
              <a:path w="4470400" h="655320">
                <a:moveTo>
                  <a:pt x="38100" y="655320"/>
                </a:moveTo>
                <a:lnTo>
                  <a:pt x="0" y="655320"/>
                </a:lnTo>
                <a:lnTo>
                  <a:pt x="0" y="0"/>
                </a:lnTo>
                <a:lnTo>
                  <a:pt x="38100" y="0"/>
                </a:lnTo>
                <a:lnTo>
                  <a:pt x="38100" y="655320"/>
                </a:lnTo>
                <a:close/>
              </a:path>
            </a:pathLst>
          </a:custGeom>
          <a:solidFill>
            <a:srgbClr val="D0612A"/>
          </a:solidFill>
          <a:ln/>
        </p:spPr>
      </p:sp>
      <p:sp>
        <p:nvSpPr>
          <p:cNvPr id="14" name="Text 11"/>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15" name="Text 12"/>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49</a:t>
            </a:r>
            <a:endParaRPr lang="en-US" sz="1200" dirty="0">
              <a:latin typeface="IBM Plex Sans" charset="0"/>
              <a:ea typeface="IBM Plex Sans" charset="0"/>
              <a:cs typeface="IBM Plex Sans"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Exemplo: bloquear ao receber</a:t>
            </a:r>
            <a:endParaRPr lang="en-US" sz="3200" dirty="0">
              <a:latin typeface="IBM Plex Sans" charset="0"/>
              <a:ea typeface="IBM Plex Sans" charset="0"/>
              <a:cs typeface="IBM Plex Sans" charset="0"/>
            </a:endParaRPr>
          </a:p>
        </p:txBody>
      </p:sp>
      <p:sp>
        <p:nvSpPr>
          <p:cNvPr id="4" name="Text 2"/>
          <p:cNvSpPr/>
          <p:nvPr/>
        </p:nvSpPr>
        <p:spPr>
          <a:xfrm>
            <a:off x="812800" y="1798315"/>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2 EMISSORES (T1, T2), PRIORIDADE 1: ENVIAM 100 E 200</a:t>
            </a:r>
            <a:endParaRPr lang="en-US" sz="1200" dirty="0">
              <a:latin typeface="IBM Plex Sans" charset="0"/>
              <a:ea typeface="IBM Plex Sans" charset="0"/>
              <a:cs typeface="IBM Plex Sans" charset="0"/>
            </a:endParaRPr>
          </a:p>
        </p:txBody>
      </p:sp>
      <p:sp>
        <p:nvSpPr>
          <p:cNvPr id="5" name="Text 3"/>
          <p:cNvSpPr/>
          <p:nvPr/>
        </p:nvSpPr>
        <p:spPr>
          <a:xfrm>
            <a:off x="812800" y="2075185"/>
            <a:ext cx="5181600" cy="1534160"/>
          </a:xfrm>
          <a:prstGeom prst="roundRect">
            <a:avLst>
              <a:gd name="adj" fmla="val 4967"/>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for( ;; ) /* vSenderTask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sem block time: nunca enche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xQueueSendToBack( xQueue,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&amp;lValueToSend,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6" name="Text 4"/>
          <p:cNvSpPr/>
          <p:nvPr/>
        </p:nvSpPr>
        <p:spPr>
          <a:xfrm>
            <a:off x="6197600" y="1798315"/>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1 RECETOR, PRIORIDADE 2</a:t>
            </a:r>
            <a:endParaRPr lang="en-US" sz="1200" dirty="0">
              <a:latin typeface="IBM Plex Sans" charset="0"/>
              <a:ea typeface="IBM Plex Sans" charset="0"/>
              <a:cs typeface="IBM Plex Sans" charset="0"/>
            </a:endParaRPr>
          </a:p>
        </p:txBody>
      </p:sp>
      <p:sp>
        <p:nvSpPr>
          <p:cNvPr id="7" name="Text 5"/>
          <p:cNvSpPr/>
          <p:nvPr/>
        </p:nvSpPr>
        <p:spPr>
          <a:xfrm>
            <a:off x="6197600" y="2075185"/>
            <a:ext cx="5181600" cy="1747520"/>
          </a:xfrm>
          <a:prstGeom prst="roundRect">
            <a:avLst>
              <a:gd name="adj" fmla="val 4360"/>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for( ;; ) /* vReceiverTask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bloqueia até 100 ms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if( xQueueReceive( xQueue, &amp;lValor,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pdMS_TO_TICKS( 100 ) ) == pdPASS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imprime lValor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8" name="Text 6"/>
          <p:cNvSpPr/>
          <p:nvPr/>
        </p:nvSpPr>
        <p:spPr>
          <a:xfrm>
            <a:off x="812800" y="40259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EXEMPLO EM AÇÃO · QUEUE DE 5 ITENS · ENTRA À ESQUERDA, SAI À DIREITA</a:t>
            </a:r>
            <a:endParaRPr lang="en-US" sz="1200" dirty="0">
              <a:latin typeface="IBM Plex Sans" charset="0"/>
              <a:ea typeface="IBM Plex Sans" charset="0"/>
              <a:cs typeface="IBM Plex Sans" charset="0"/>
            </a:endParaRPr>
          </a:p>
        </p:txBody>
      </p:sp>
      <p:sp>
        <p:nvSpPr>
          <p:cNvPr id="9" name="Text 7"/>
          <p:cNvSpPr/>
          <p:nvPr/>
        </p:nvSpPr>
        <p:spPr>
          <a:xfrm>
            <a:off x="812800" y="435357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10" name="Shape 8"/>
          <p:cNvSpPr/>
          <p:nvPr/>
        </p:nvSpPr>
        <p:spPr>
          <a:xfrm>
            <a:off x="1123950" y="4334520"/>
            <a:ext cx="292100" cy="292100"/>
          </a:xfrm>
          <a:prstGeom prst="roundRect">
            <a:avLst>
              <a:gd name="adj" fmla="val 15217"/>
            </a:avLst>
          </a:prstGeom>
          <a:solidFill>
            <a:srgbClr val="FCFBF8"/>
          </a:solidFill>
          <a:ln w="12700">
            <a:solidFill>
              <a:srgbClr val="A7B0B8"/>
            </a:solidFill>
            <a:prstDash val="dash"/>
          </a:ln>
        </p:spPr>
      </p:sp>
      <p:sp>
        <p:nvSpPr>
          <p:cNvPr id="11" name="Shape 9"/>
          <p:cNvSpPr/>
          <p:nvPr/>
        </p:nvSpPr>
        <p:spPr>
          <a:xfrm>
            <a:off x="1454150" y="4334520"/>
            <a:ext cx="292100" cy="292100"/>
          </a:xfrm>
          <a:prstGeom prst="roundRect">
            <a:avLst>
              <a:gd name="adj" fmla="val 15217"/>
            </a:avLst>
          </a:prstGeom>
          <a:solidFill>
            <a:srgbClr val="FCFBF8"/>
          </a:solidFill>
          <a:ln w="12700">
            <a:solidFill>
              <a:srgbClr val="A7B0B8"/>
            </a:solidFill>
            <a:prstDash val="dash"/>
          </a:ln>
        </p:spPr>
      </p:sp>
      <p:sp>
        <p:nvSpPr>
          <p:cNvPr id="12" name="Shape 10"/>
          <p:cNvSpPr/>
          <p:nvPr/>
        </p:nvSpPr>
        <p:spPr>
          <a:xfrm>
            <a:off x="1784350" y="4334520"/>
            <a:ext cx="292100" cy="292100"/>
          </a:xfrm>
          <a:prstGeom prst="roundRect">
            <a:avLst>
              <a:gd name="adj" fmla="val 15217"/>
            </a:avLst>
          </a:prstGeom>
          <a:solidFill>
            <a:srgbClr val="FCFBF8"/>
          </a:solidFill>
          <a:ln w="12700">
            <a:solidFill>
              <a:srgbClr val="A7B0B8"/>
            </a:solidFill>
            <a:prstDash val="dash"/>
          </a:ln>
        </p:spPr>
      </p:sp>
      <p:sp>
        <p:nvSpPr>
          <p:cNvPr id="13" name="Shape 11"/>
          <p:cNvSpPr/>
          <p:nvPr/>
        </p:nvSpPr>
        <p:spPr>
          <a:xfrm>
            <a:off x="2114550" y="4334520"/>
            <a:ext cx="292100" cy="292100"/>
          </a:xfrm>
          <a:prstGeom prst="roundRect">
            <a:avLst>
              <a:gd name="adj" fmla="val 15217"/>
            </a:avLst>
          </a:prstGeom>
          <a:solidFill>
            <a:srgbClr val="FCFBF8"/>
          </a:solidFill>
          <a:ln w="12700">
            <a:solidFill>
              <a:srgbClr val="A7B0B8"/>
            </a:solidFill>
            <a:prstDash val="dash"/>
          </a:ln>
        </p:spPr>
      </p:sp>
      <p:sp>
        <p:nvSpPr>
          <p:cNvPr id="14" name="Shape 12"/>
          <p:cNvSpPr/>
          <p:nvPr/>
        </p:nvSpPr>
        <p:spPr>
          <a:xfrm>
            <a:off x="2444750" y="4334520"/>
            <a:ext cx="292100" cy="292100"/>
          </a:xfrm>
          <a:prstGeom prst="roundRect">
            <a:avLst>
              <a:gd name="adj" fmla="val 15217"/>
            </a:avLst>
          </a:prstGeom>
          <a:solidFill>
            <a:srgbClr val="FCFBF8"/>
          </a:solidFill>
          <a:ln w="12700">
            <a:solidFill>
              <a:srgbClr val="A7B0B8"/>
            </a:solidFill>
            <a:prstDash val="dash"/>
          </a:ln>
        </p:spPr>
      </p:sp>
      <p:sp>
        <p:nvSpPr>
          <p:cNvPr id="15" name="Text 13"/>
          <p:cNvSpPr/>
          <p:nvPr/>
        </p:nvSpPr>
        <p:spPr>
          <a:xfrm>
            <a:off x="812800" y="4709170"/>
            <a:ext cx="20929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Recetor em Blocked: queue vazia</a:t>
            </a:r>
            <a:endParaRPr lang="en-US" sz="1200" dirty="0">
              <a:latin typeface="IBM Plex Sans" charset="0"/>
              <a:ea typeface="IBM Plex Sans" charset="0"/>
              <a:cs typeface="IBM Plex Sans" charset="0"/>
            </a:endParaRPr>
          </a:p>
        </p:txBody>
      </p:sp>
      <p:sp>
        <p:nvSpPr>
          <p:cNvPr id="16" name="Text 14"/>
          <p:cNvSpPr/>
          <p:nvPr/>
        </p:nvSpPr>
        <p:spPr>
          <a:xfrm>
            <a:off x="2946400" y="435357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17" name="Shape 15"/>
          <p:cNvSpPr/>
          <p:nvPr/>
        </p:nvSpPr>
        <p:spPr>
          <a:xfrm>
            <a:off x="3257550" y="4334520"/>
            <a:ext cx="292100" cy="292100"/>
          </a:xfrm>
          <a:prstGeom prst="roundRect">
            <a:avLst>
              <a:gd name="adj" fmla="val 15217"/>
            </a:avLst>
          </a:prstGeom>
          <a:solidFill>
            <a:srgbClr val="FCFBF8"/>
          </a:solidFill>
          <a:ln w="12700">
            <a:solidFill>
              <a:srgbClr val="A7B0B8"/>
            </a:solidFill>
            <a:prstDash val="dash"/>
          </a:ln>
        </p:spPr>
      </p:sp>
      <p:sp>
        <p:nvSpPr>
          <p:cNvPr id="18" name="Shape 16"/>
          <p:cNvSpPr/>
          <p:nvPr/>
        </p:nvSpPr>
        <p:spPr>
          <a:xfrm>
            <a:off x="3587750" y="4334520"/>
            <a:ext cx="292100" cy="292100"/>
          </a:xfrm>
          <a:prstGeom prst="roundRect">
            <a:avLst>
              <a:gd name="adj" fmla="val 15217"/>
            </a:avLst>
          </a:prstGeom>
          <a:solidFill>
            <a:srgbClr val="FCFBF8"/>
          </a:solidFill>
          <a:ln w="12700">
            <a:solidFill>
              <a:srgbClr val="A7B0B8"/>
            </a:solidFill>
            <a:prstDash val="dash"/>
          </a:ln>
        </p:spPr>
      </p:sp>
      <p:sp>
        <p:nvSpPr>
          <p:cNvPr id="19" name="Shape 17"/>
          <p:cNvSpPr/>
          <p:nvPr/>
        </p:nvSpPr>
        <p:spPr>
          <a:xfrm>
            <a:off x="3917950" y="4334520"/>
            <a:ext cx="292100" cy="292100"/>
          </a:xfrm>
          <a:prstGeom prst="roundRect">
            <a:avLst>
              <a:gd name="adj" fmla="val 15217"/>
            </a:avLst>
          </a:prstGeom>
          <a:solidFill>
            <a:srgbClr val="FCFBF8"/>
          </a:solidFill>
          <a:ln w="12700">
            <a:solidFill>
              <a:srgbClr val="A7B0B8"/>
            </a:solidFill>
            <a:prstDash val="dash"/>
          </a:ln>
        </p:spPr>
      </p:sp>
      <p:sp>
        <p:nvSpPr>
          <p:cNvPr id="20" name="Shape 18"/>
          <p:cNvSpPr/>
          <p:nvPr/>
        </p:nvSpPr>
        <p:spPr>
          <a:xfrm>
            <a:off x="4248150" y="4334520"/>
            <a:ext cx="292100" cy="292100"/>
          </a:xfrm>
          <a:prstGeom prst="roundRect">
            <a:avLst>
              <a:gd name="adj" fmla="val 15217"/>
            </a:avLst>
          </a:prstGeom>
          <a:solidFill>
            <a:srgbClr val="FCFBF8"/>
          </a:solidFill>
          <a:ln w="12700">
            <a:solidFill>
              <a:srgbClr val="A7B0B8"/>
            </a:solidFill>
            <a:prstDash val="dash"/>
          </a:ln>
        </p:spPr>
      </p:sp>
      <p:sp>
        <p:nvSpPr>
          <p:cNvPr id="21" name="Text 19"/>
          <p:cNvSpPr/>
          <p:nvPr/>
        </p:nvSpPr>
        <p:spPr>
          <a:xfrm>
            <a:off x="4572000" y="4328170"/>
            <a:ext cx="304800" cy="304800"/>
          </a:xfrm>
          <a:custGeom>
            <a:avLst/>
            <a:gdLst/>
            <a:ahLst/>
            <a:cxnLst/>
            <a:rect l="l" t="t" r="r" b="b"/>
            <a:pathLst>
              <a:path w="304800" h="304800">
                <a:moveTo>
                  <a:pt x="50800" y="0"/>
                </a:moveTo>
                <a:lnTo>
                  <a:pt x="254000" y="0"/>
                </a:lnTo>
                <a:arcTo hR="50800" wR="50800" stAng="16200000" swAng="5400000"/>
                <a:lnTo>
                  <a:pt x="304800" y="254000"/>
                </a:lnTo>
                <a:arcTo hR="50800" wR="50800" stAng="0" swAng="5400000"/>
                <a:lnTo>
                  <a:pt x="50800" y="304800"/>
                </a:lnTo>
                <a:arcTo hR="50800" wR="50800" stAng="5400000" swAng="5400000"/>
                <a:lnTo>
                  <a:pt x="0" y="50800"/>
                </a:lnTo>
                <a:arcTo hR="50800" wR="50800" stAng="10800000" swAng="5400000"/>
                <a:close/>
              </a:path>
            </a:pathLst>
          </a:cu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p:txBody>
      </p:sp>
      <p:sp>
        <p:nvSpPr>
          <p:cNvPr id="22" name="Text 20"/>
          <p:cNvSpPr/>
          <p:nvPr/>
        </p:nvSpPr>
        <p:spPr>
          <a:xfrm>
            <a:off x="2946400" y="4709170"/>
            <a:ext cx="20929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T1 envia 100 → o recetor acorda e preempta-o</a:t>
            </a:r>
            <a:endParaRPr lang="en-US" sz="1200" dirty="0">
              <a:latin typeface="IBM Plex Sans" charset="0"/>
              <a:ea typeface="IBM Plex Sans" charset="0"/>
              <a:cs typeface="IBM Plex Sans" charset="0"/>
            </a:endParaRPr>
          </a:p>
        </p:txBody>
      </p:sp>
      <p:sp>
        <p:nvSpPr>
          <p:cNvPr id="23" name="Text 21"/>
          <p:cNvSpPr/>
          <p:nvPr/>
        </p:nvSpPr>
        <p:spPr>
          <a:xfrm>
            <a:off x="5080000" y="435357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24" name="Shape 22"/>
          <p:cNvSpPr/>
          <p:nvPr/>
        </p:nvSpPr>
        <p:spPr>
          <a:xfrm>
            <a:off x="5391150" y="4334520"/>
            <a:ext cx="292100" cy="292100"/>
          </a:xfrm>
          <a:prstGeom prst="roundRect">
            <a:avLst>
              <a:gd name="adj" fmla="val 15217"/>
            </a:avLst>
          </a:prstGeom>
          <a:solidFill>
            <a:srgbClr val="FCFBF8"/>
          </a:solidFill>
          <a:ln w="12700">
            <a:solidFill>
              <a:srgbClr val="A7B0B8"/>
            </a:solidFill>
            <a:prstDash val="dash"/>
          </a:ln>
        </p:spPr>
      </p:sp>
      <p:sp>
        <p:nvSpPr>
          <p:cNvPr id="25" name="Shape 23"/>
          <p:cNvSpPr/>
          <p:nvPr/>
        </p:nvSpPr>
        <p:spPr>
          <a:xfrm>
            <a:off x="5721350" y="4334520"/>
            <a:ext cx="292100" cy="292100"/>
          </a:xfrm>
          <a:prstGeom prst="roundRect">
            <a:avLst>
              <a:gd name="adj" fmla="val 15217"/>
            </a:avLst>
          </a:prstGeom>
          <a:solidFill>
            <a:srgbClr val="FCFBF8"/>
          </a:solidFill>
          <a:ln w="12700">
            <a:solidFill>
              <a:srgbClr val="A7B0B8"/>
            </a:solidFill>
            <a:prstDash val="dash"/>
          </a:ln>
        </p:spPr>
      </p:sp>
      <p:sp>
        <p:nvSpPr>
          <p:cNvPr id="26" name="Shape 24"/>
          <p:cNvSpPr/>
          <p:nvPr/>
        </p:nvSpPr>
        <p:spPr>
          <a:xfrm>
            <a:off x="6051550" y="4334520"/>
            <a:ext cx="292100" cy="292100"/>
          </a:xfrm>
          <a:prstGeom prst="roundRect">
            <a:avLst>
              <a:gd name="adj" fmla="val 15217"/>
            </a:avLst>
          </a:prstGeom>
          <a:solidFill>
            <a:srgbClr val="FCFBF8"/>
          </a:solidFill>
          <a:ln w="12700">
            <a:solidFill>
              <a:srgbClr val="A7B0B8"/>
            </a:solidFill>
            <a:prstDash val="dash"/>
          </a:ln>
        </p:spPr>
      </p:sp>
      <p:sp>
        <p:nvSpPr>
          <p:cNvPr id="27" name="Shape 25"/>
          <p:cNvSpPr/>
          <p:nvPr/>
        </p:nvSpPr>
        <p:spPr>
          <a:xfrm>
            <a:off x="6381750" y="4334520"/>
            <a:ext cx="292100" cy="292100"/>
          </a:xfrm>
          <a:prstGeom prst="roundRect">
            <a:avLst>
              <a:gd name="adj" fmla="val 15217"/>
            </a:avLst>
          </a:prstGeom>
          <a:solidFill>
            <a:srgbClr val="FCFBF8"/>
          </a:solidFill>
          <a:ln w="12700">
            <a:solidFill>
              <a:srgbClr val="A7B0B8"/>
            </a:solidFill>
            <a:prstDash val="dash"/>
          </a:ln>
        </p:spPr>
      </p:sp>
      <p:sp>
        <p:nvSpPr>
          <p:cNvPr id="28" name="Shape 26"/>
          <p:cNvSpPr/>
          <p:nvPr/>
        </p:nvSpPr>
        <p:spPr>
          <a:xfrm>
            <a:off x="6711950" y="4334520"/>
            <a:ext cx="292100" cy="292100"/>
          </a:xfrm>
          <a:prstGeom prst="roundRect">
            <a:avLst>
              <a:gd name="adj" fmla="val 15217"/>
            </a:avLst>
          </a:prstGeom>
          <a:solidFill>
            <a:srgbClr val="FCFBF8"/>
          </a:solidFill>
          <a:ln w="12700">
            <a:solidFill>
              <a:srgbClr val="A7B0B8"/>
            </a:solidFill>
            <a:prstDash val="dash"/>
          </a:ln>
        </p:spPr>
      </p:sp>
      <p:sp>
        <p:nvSpPr>
          <p:cNvPr id="29" name="Text 27"/>
          <p:cNvSpPr/>
          <p:nvPr/>
        </p:nvSpPr>
        <p:spPr>
          <a:xfrm>
            <a:off x="5080000" y="4709170"/>
            <a:ext cx="20929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Recetor retira o 100 e volta a bloquear</a:t>
            </a:r>
            <a:endParaRPr lang="en-US" sz="1200" dirty="0">
              <a:latin typeface="IBM Plex Sans" charset="0"/>
              <a:ea typeface="IBM Plex Sans" charset="0"/>
              <a:cs typeface="IBM Plex Sans" charset="0"/>
            </a:endParaRPr>
          </a:p>
        </p:txBody>
      </p:sp>
      <p:sp>
        <p:nvSpPr>
          <p:cNvPr id="30" name="Text 28"/>
          <p:cNvSpPr/>
          <p:nvPr/>
        </p:nvSpPr>
        <p:spPr>
          <a:xfrm>
            <a:off x="7213600" y="435357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31" name="Shape 29"/>
          <p:cNvSpPr/>
          <p:nvPr/>
        </p:nvSpPr>
        <p:spPr>
          <a:xfrm>
            <a:off x="7524750" y="4334520"/>
            <a:ext cx="292100" cy="292100"/>
          </a:xfrm>
          <a:prstGeom prst="roundRect">
            <a:avLst>
              <a:gd name="adj" fmla="val 15217"/>
            </a:avLst>
          </a:prstGeom>
          <a:solidFill>
            <a:srgbClr val="FCFBF8"/>
          </a:solidFill>
          <a:ln w="12700">
            <a:solidFill>
              <a:srgbClr val="A7B0B8"/>
            </a:solidFill>
            <a:prstDash val="dash"/>
          </a:ln>
        </p:spPr>
      </p:sp>
      <p:sp>
        <p:nvSpPr>
          <p:cNvPr id="32" name="Shape 30"/>
          <p:cNvSpPr/>
          <p:nvPr/>
        </p:nvSpPr>
        <p:spPr>
          <a:xfrm>
            <a:off x="7854950" y="4334520"/>
            <a:ext cx="292100" cy="292100"/>
          </a:xfrm>
          <a:prstGeom prst="roundRect">
            <a:avLst>
              <a:gd name="adj" fmla="val 15217"/>
            </a:avLst>
          </a:prstGeom>
          <a:solidFill>
            <a:srgbClr val="FCFBF8"/>
          </a:solidFill>
          <a:ln w="12700">
            <a:solidFill>
              <a:srgbClr val="A7B0B8"/>
            </a:solidFill>
            <a:prstDash val="dash"/>
          </a:ln>
        </p:spPr>
      </p:sp>
      <p:sp>
        <p:nvSpPr>
          <p:cNvPr id="33" name="Shape 31"/>
          <p:cNvSpPr/>
          <p:nvPr/>
        </p:nvSpPr>
        <p:spPr>
          <a:xfrm>
            <a:off x="8185150" y="4334520"/>
            <a:ext cx="292100" cy="292100"/>
          </a:xfrm>
          <a:prstGeom prst="roundRect">
            <a:avLst>
              <a:gd name="adj" fmla="val 15217"/>
            </a:avLst>
          </a:prstGeom>
          <a:solidFill>
            <a:srgbClr val="FCFBF8"/>
          </a:solidFill>
          <a:ln w="12700">
            <a:solidFill>
              <a:srgbClr val="A7B0B8"/>
            </a:solidFill>
            <a:prstDash val="dash"/>
          </a:ln>
        </p:spPr>
      </p:sp>
      <p:sp>
        <p:nvSpPr>
          <p:cNvPr id="34" name="Shape 32"/>
          <p:cNvSpPr/>
          <p:nvPr/>
        </p:nvSpPr>
        <p:spPr>
          <a:xfrm>
            <a:off x="8515350" y="4334520"/>
            <a:ext cx="292100" cy="292100"/>
          </a:xfrm>
          <a:prstGeom prst="roundRect">
            <a:avLst>
              <a:gd name="adj" fmla="val 15217"/>
            </a:avLst>
          </a:prstGeom>
          <a:solidFill>
            <a:srgbClr val="FCFBF8"/>
          </a:solidFill>
          <a:ln w="12700">
            <a:solidFill>
              <a:srgbClr val="A7B0B8"/>
            </a:solidFill>
            <a:prstDash val="dash"/>
          </a:ln>
        </p:spPr>
      </p:sp>
      <p:sp>
        <p:nvSpPr>
          <p:cNvPr id="35" name="Text 33"/>
          <p:cNvSpPr/>
          <p:nvPr/>
        </p:nvSpPr>
        <p:spPr>
          <a:xfrm>
            <a:off x="8839200" y="4328170"/>
            <a:ext cx="304800" cy="304800"/>
          </a:xfrm>
          <a:custGeom>
            <a:avLst/>
            <a:gdLst/>
            <a:ahLst/>
            <a:cxnLst/>
            <a:rect l="l" t="t" r="r" b="b"/>
            <a:pathLst>
              <a:path w="304800" h="304800">
                <a:moveTo>
                  <a:pt x="50800" y="0"/>
                </a:moveTo>
                <a:lnTo>
                  <a:pt x="254000" y="0"/>
                </a:lnTo>
                <a:arcTo hR="50800" wR="50800" stAng="16200000" swAng="5400000"/>
                <a:lnTo>
                  <a:pt x="304800" y="254000"/>
                </a:lnTo>
                <a:arcTo hR="50800" wR="50800" stAng="0" swAng="5400000"/>
                <a:lnTo>
                  <a:pt x="50800" y="304800"/>
                </a:lnTo>
                <a:arcTo hR="50800" wR="50800" stAng="5400000" swAng="5400000"/>
                <a:lnTo>
                  <a:pt x="0" y="50800"/>
                </a:lnTo>
                <a:arcTo hR="50800" wR="50800" stAng="10800000" swAng="5400000"/>
                <a:close/>
              </a:path>
            </a:pathLst>
          </a:custGeom>
          <a:solidFill>
            <a:srgbClr val="D0612A"/>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200</a:t>
            </a:r>
            <a:endParaRPr lang="en-US" sz="1200" dirty="0">
              <a:latin typeface="IBM Plex Sans" charset="0"/>
              <a:ea typeface="IBM Plex Sans" charset="0"/>
              <a:cs typeface="IBM Plex Sans" charset="0"/>
            </a:endParaRPr>
          </a:p>
        </p:txBody>
      </p:sp>
      <p:sp>
        <p:nvSpPr>
          <p:cNvPr id="36" name="Text 34"/>
          <p:cNvSpPr/>
          <p:nvPr/>
        </p:nvSpPr>
        <p:spPr>
          <a:xfrm>
            <a:off x="7213600" y="4709170"/>
            <a:ext cx="20929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Mais tarde a T2 envia 200 → recetor acorda</a:t>
            </a:r>
            <a:endParaRPr lang="en-US" sz="1200" dirty="0">
              <a:latin typeface="IBM Plex Sans" charset="0"/>
              <a:ea typeface="IBM Plex Sans" charset="0"/>
              <a:cs typeface="IBM Plex Sans" charset="0"/>
            </a:endParaRPr>
          </a:p>
        </p:txBody>
      </p:sp>
      <p:sp>
        <p:nvSpPr>
          <p:cNvPr id="37" name="Text 35"/>
          <p:cNvSpPr/>
          <p:nvPr/>
        </p:nvSpPr>
        <p:spPr>
          <a:xfrm>
            <a:off x="9347200" y="435357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p:txBody>
      </p:sp>
      <p:sp>
        <p:nvSpPr>
          <p:cNvPr id="38" name="Shape 36"/>
          <p:cNvSpPr/>
          <p:nvPr/>
        </p:nvSpPr>
        <p:spPr>
          <a:xfrm>
            <a:off x="9658350" y="4334520"/>
            <a:ext cx="292100" cy="292100"/>
          </a:xfrm>
          <a:prstGeom prst="roundRect">
            <a:avLst>
              <a:gd name="adj" fmla="val 15217"/>
            </a:avLst>
          </a:prstGeom>
          <a:solidFill>
            <a:srgbClr val="FCFBF8"/>
          </a:solidFill>
          <a:ln w="12700">
            <a:solidFill>
              <a:srgbClr val="A7B0B8"/>
            </a:solidFill>
            <a:prstDash val="dash"/>
          </a:ln>
        </p:spPr>
      </p:sp>
      <p:sp>
        <p:nvSpPr>
          <p:cNvPr id="39" name="Shape 37"/>
          <p:cNvSpPr/>
          <p:nvPr/>
        </p:nvSpPr>
        <p:spPr>
          <a:xfrm>
            <a:off x="9988550" y="4334520"/>
            <a:ext cx="292100" cy="292100"/>
          </a:xfrm>
          <a:prstGeom prst="roundRect">
            <a:avLst>
              <a:gd name="adj" fmla="val 15217"/>
            </a:avLst>
          </a:prstGeom>
          <a:solidFill>
            <a:srgbClr val="FCFBF8"/>
          </a:solidFill>
          <a:ln w="12700">
            <a:solidFill>
              <a:srgbClr val="A7B0B8"/>
            </a:solidFill>
            <a:prstDash val="dash"/>
          </a:ln>
        </p:spPr>
      </p:sp>
      <p:sp>
        <p:nvSpPr>
          <p:cNvPr id="40" name="Shape 38"/>
          <p:cNvSpPr/>
          <p:nvPr/>
        </p:nvSpPr>
        <p:spPr>
          <a:xfrm>
            <a:off x="10318750" y="4334520"/>
            <a:ext cx="292100" cy="292100"/>
          </a:xfrm>
          <a:prstGeom prst="roundRect">
            <a:avLst>
              <a:gd name="adj" fmla="val 15217"/>
            </a:avLst>
          </a:prstGeom>
          <a:solidFill>
            <a:srgbClr val="FCFBF8"/>
          </a:solidFill>
          <a:ln w="12700">
            <a:solidFill>
              <a:srgbClr val="A7B0B8"/>
            </a:solidFill>
            <a:prstDash val="dash"/>
          </a:ln>
        </p:spPr>
      </p:sp>
      <p:sp>
        <p:nvSpPr>
          <p:cNvPr id="41" name="Shape 39"/>
          <p:cNvSpPr/>
          <p:nvPr/>
        </p:nvSpPr>
        <p:spPr>
          <a:xfrm>
            <a:off x="10648950" y="4334520"/>
            <a:ext cx="292100" cy="292100"/>
          </a:xfrm>
          <a:prstGeom prst="roundRect">
            <a:avLst>
              <a:gd name="adj" fmla="val 15217"/>
            </a:avLst>
          </a:prstGeom>
          <a:solidFill>
            <a:srgbClr val="FCFBF8"/>
          </a:solidFill>
          <a:ln w="12700">
            <a:solidFill>
              <a:srgbClr val="A7B0B8"/>
            </a:solidFill>
            <a:prstDash val="dash"/>
          </a:ln>
        </p:spPr>
      </p:sp>
      <p:sp>
        <p:nvSpPr>
          <p:cNvPr id="42" name="Shape 40"/>
          <p:cNvSpPr/>
          <p:nvPr/>
        </p:nvSpPr>
        <p:spPr>
          <a:xfrm>
            <a:off x="10979150" y="4334520"/>
            <a:ext cx="292100" cy="292100"/>
          </a:xfrm>
          <a:prstGeom prst="roundRect">
            <a:avLst>
              <a:gd name="adj" fmla="val 15217"/>
            </a:avLst>
          </a:prstGeom>
          <a:solidFill>
            <a:srgbClr val="FCFBF8"/>
          </a:solidFill>
          <a:ln w="12700">
            <a:solidFill>
              <a:srgbClr val="A7B0B8"/>
            </a:solidFill>
            <a:prstDash val="dash"/>
          </a:ln>
        </p:spPr>
      </p:sp>
      <p:sp>
        <p:nvSpPr>
          <p:cNvPr id="43" name="Text 41"/>
          <p:cNvSpPr/>
          <p:nvPr/>
        </p:nvSpPr>
        <p:spPr>
          <a:xfrm>
            <a:off x="9347200" y="4709170"/>
            <a:ext cx="209296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Retira-o: </a:t>
            </a:r>
            <a:r>
              <a:rPr lang="en-US" sz="1200" b="1" dirty="0">
                <a:solidFill>
                  <a:srgbClr val="44505C"/>
                </a:solidFill>
                <a:latin typeface="IBM Plex Sans" pitchFamily="34" charset="0"/>
                <a:ea typeface="IBM Plex Sans" pitchFamily="34" charset="-122"/>
                <a:cs typeface="IBM Plex Sans" pitchFamily="34" charset="-120"/>
              </a:rPr>
              <a:t>nunca mais de 1 item</a:t>
            </a:r>
            <a:endParaRPr lang="en-US" sz="1200" dirty="0">
              <a:latin typeface="IBM Plex Sans" charset="0"/>
              <a:ea typeface="IBM Plex Sans" charset="0"/>
              <a:cs typeface="IBM Plex Sans" charset="0"/>
            </a:endParaRPr>
          </a:p>
        </p:txBody>
      </p:sp>
      <p:sp>
        <p:nvSpPr>
          <p:cNvPr id="44" name="Text 42"/>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45" name="Text 43"/>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50</a:t>
            </a:r>
            <a:endParaRPr lang="en-US" sz="1200" dirty="0">
              <a:latin typeface="IBM Plex Sans" charset="0"/>
              <a:ea typeface="IBM Plex Sans" charset="0"/>
              <a:cs typeface="IBM Plex Sans"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As prioridades mudam o comportamento</a:t>
            </a:r>
            <a:endParaRPr lang="en-US" sz="3200" dirty="0">
              <a:latin typeface="IBM Plex Sans" charset="0"/>
              <a:ea typeface="IBM Plex Sans" charset="0"/>
              <a:cs typeface="IBM Plex Sans" charset="0"/>
            </a:endParaRPr>
          </a:p>
        </p:txBody>
      </p:sp>
      <p:sp>
        <p:nvSpPr>
          <p:cNvPr id="4" name="Shape 2"/>
          <p:cNvSpPr/>
          <p:nvPr/>
        </p:nvSpPr>
        <p:spPr>
          <a:xfrm>
            <a:off x="815975" y="1801490"/>
            <a:ext cx="5175250" cy="1918970"/>
          </a:xfrm>
          <a:prstGeom prst="roundRect">
            <a:avLst>
              <a:gd name="adj" fmla="val 5129"/>
            </a:avLst>
          </a:prstGeom>
          <a:solidFill>
            <a:srgbClr val="FCFBF8"/>
          </a:solidFill>
          <a:ln w="6350">
            <a:solidFill>
              <a:srgbClr val="DCDAD2"/>
            </a:solidFill>
            <a:prstDash val="solid"/>
          </a:ln>
        </p:spPr>
      </p:sp>
      <p:sp>
        <p:nvSpPr>
          <p:cNvPr id="5" name="Text 3"/>
          <p:cNvSpPr/>
          <p:nvPr/>
        </p:nvSpPr>
        <p:spPr>
          <a:xfrm>
            <a:off x="1071880" y="20574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EXEMPLO ANTERIOR</a:t>
            </a:r>
            <a:endParaRPr lang="en-US" sz="1200" dirty="0">
              <a:latin typeface="IBM Plex Sans" charset="0"/>
              <a:ea typeface="IBM Plex Sans" charset="0"/>
              <a:cs typeface="IBM Plex Sans" charset="0"/>
            </a:endParaRPr>
          </a:p>
        </p:txBody>
      </p:sp>
      <p:sp>
        <p:nvSpPr>
          <p:cNvPr id="6" name="Text 4"/>
          <p:cNvSpPr/>
          <p:nvPr/>
        </p:nvSpPr>
        <p:spPr>
          <a:xfrm>
            <a:off x="1071880" y="2372370"/>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22E"/>
                </a:solidFill>
                <a:latin typeface="IBM Plex Sans" pitchFamily="34" charset="0"/>
                <a:ea typeface="IBM Plex Sans" pitchFamily="34" charset="-122"/>
                <a:cs typeface="IBM Plex Sans" pitchFamily="34" charset="-120"/>
              </a:rPr>
              <a:t>Recetor com prioridade mais alta</a:t>
            </a:r>
            <a:endParaRPr lang="en-US" sz="1600" dirty="0">
              <a:latin typeface="IBM Plex Sans" charset="0"/>
              <a:ea typeface="IBM Plex Sans" charset="0"/>
              <a:cs typeface="IBM Plex Sans" charset="0"/>
            </a:endParaRPr>
          </a:p>
        </p:txBody>
      </p:sp>
      <p:sp>
        <p:nvSpPr>
          <p:cNvPr id="7" name="Text 5"/>
          <p:cNvSpPr/>
          <p:nvPr/>
        </p:nvSpPr>
        <p:spPr>
          <a:xfrm>
            <a:off x="1071880" y="2717800"/>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Retira cada item assim que entra: a queue </a:t>
            </a:r>
            <a:r>
              <a:rPr lang="en-US" sz="1400" b="1" dirty="0">
                <a:solidFill>
                  <a:srgbClr val="44505C"/>
                </a:solidFill>
                <a:latin typeface="IBM Plex Sans" pitchFamily="34" charset="0"/>
                <a:ea typeface="IBM Plex Sans" pitchFamily="34" charset="-122"/>
                <a:cs typeface="IBM Plex Sans" pitchFamily="34" charset="-120"/>
              </a:rPr>
              <a:t>nunca tem mais de um item</a:t>
            </a:r>
            <a:r>
              <a:rPr lang="en-US" sz="1400" dirty="0">
                <a:solidFill>
                  <a:srgbClr val="44505C"/>
                </a:solidFill>
                <a:latin typeface="IBM Plex Sans" pitchFamily="34" charset="0"/>
                <a:ea typeface="IBM Plex Sans" pitchFamily="34" charset="-122"/>
                <a:cs typeface="IBM Plex Sans" pitchFamily="34" charset="-120"/>
              </a:rPr>
              <a:t>. Quem envia não precisa de block time.</a:t>
            </a:r>
            <a:endParaRPr lang="en-US" sz="1400" dirty="0">
              <a:latin typeface="IBM Plex Sans" charset="0"/>
              <a:ea typeface="IBM Plex Sans" charset="0"/>
              <a:cs typeface="IBM Plex Sans" charset="0"/>
            </a:endParaRPr>
          </a:p>
        </p:txBody>
      </p:sp>
      <p:sp>
        <p:nvSpPr>
          <p:cNvPr id="8" name="Shape 6"/>
          <p:cNvSpPr/>
          <p:nvPr/>
        </p:nvSpPr>
        <p:spPr>
          <a:xfrm>
            <a:off x="6200775" y="1801490"/>
            <a:ext cx="5175250" cy="1918970"/>
          </a:xfrm>
          <a:prstGeom prst="roundRect">
            <a:avLst>
              <a:gd name="adj" fmla="val 5129"/>
            </a:avLst>
          </a:prstGeom>
          <a:solidFill>
            <a:srgbClr val="FCFBF8"/>
          </a:solidFill>
          <a:ln w="6350">
            <a:solidFill>
              <a:srgbClr val="DCDAD2"/>
            </a:solidFill>
            <a:prstDash val="solid"/>
          </a:ln>
        </p:spPr>
      </p:sp>
      <p:sp>
        <p:nvSpPr>
          <p:cNvPr id="9" name="Text 7"/>
          <p:cNvSpPr/>
          <p:nvPr/>
        </p:nvSpPr>
        <p:spPr>
          <a:xfrm>
            <a:off x="6456680" y="20574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EXEMPLO INVERSÃO</a:t>
            </a:r>
            <a:endParaRPr lang="en-US" sz="1200" dirty="0">
              <a:latin typeface="IBM Plex Sans" charset="0"/>
              <a:ea typeface="IBM Plex Sans" charset="0"/>
              <a:cs typeface="IBM Plex Sans" charset="0"/>
            </a:endParaRPr>
          </a:p>
        </p:txBody>
      </p:sp>
      <p:sp>
        <p:nvSpPr>
          <p:cNvPr id="10" name="Text 8"/>
          <p:cNvSpPr/>
          <p:nvPr/>
        </p:nvSpPr>
        <p:spPr>
          <a:xfrm>
            <a:off x="6456680" y="2372370"/>
            <a:ext cx="48033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22E"/>
                </a:solidFill>
                <a:latin typeface="IBM Plex Sans" pitchFamily="34" charset="0"/>
                <a:ea typeface="IBM Plex Sans" pitchFamily="34" charset="-122"/>
                <a:cs typeface="IBM Plex Sans" pitchFamily="34" charset="-120"/>
              </a:rPr>
              <a:t>Emissores com prioridade mais alta</a:t>
            </a:r>
            <a:endParaRPr lang="en-US" sz="1600" dirty="0">
              <a:latin typeface="IBM Plex Sans" charset="0"/>
              <a:ea typeface="IBM Plex Sans" charset="0"/>
              <a:cs typeface="IBM Plex Sans" charset="0"/>
            </a:endParaRPr>
          </a:p>
        </p:txBody>
      </p:sp>
      <p:sp>
        <p:nvSpPr>
          <p:cNvPr id="11" name="Text 9"/>
          <p:cNvSpPr/>
          <p:nvPr/>
        </p:nvSpPr>
        <p:spPr>
          <a:xfrm>
            <a:off x="6456680" y="2717800"/>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Voltam a encher a queue mal há espaço: a queue está </a:t>
            </a:r>
            <a:r>
              <a:rPr lang="en-US" sz="1400" b="1" dirty="0">
                <a:solidFill>
                  <a:srgbClr val="44505C"/>
                </a:solidFill>
                <a:latin typeface="IBM Plex Sans" pitchFamily="34" charset="0"/>
                <a:ea typeface="IBM Plex Sans" pitchFamily="34" charset="-122"/>
                <a:cs typeface="IBM Plex Sans" pitchFamily="34" charset="-120"/>
              </a:rPr>
              <a:t>normalmente cheia</a:t>
            </a:r>
            <a:r>
              <a:rPr lang="en-US" sz="1400" dirty="0">
                <a:solidFill>
                  <a:srgbClr val="44505C"/>
                </a:solidFill>
                <a:latin typeface="IBM Plex Sans" pitchFamily="34" charset="0"/>
                <a:ea typeface="IBM Plex Sans" pitchFamily="34" charset="-122"/>
                <a:cs typeface="IBM Plex Sans" pitchFamily="34" charset="-120"/>
              </a:rPr>
              <a:t>. Quem envia bloqueia (100 ms); o recetor só corre com a queue cheia.</a:t>
            </a:r>
            <a:endParaRPr lang="en-US" sz="1400" dirty="0">
              <a:latin typeface="IBM Plex Sans" charset="0"/>
              <a:ea typeface="IBM Plex Sans" charset="0"/>
              <a:cs typeface="IBM Plex Sans" charset="0"/>
            </a:endParaRPr>
          </a:p>
        </p:txBody>
      </p:sp>
      <p:sp>
        <p:nvSpPr>
          <p:cNvPr id="12" name="Text 10"/>
          <p:cNvSpPr/>
          <p:nvPr/>
        </p:nvSpPr>
        <p:spPr>
          <a:xfrm>
            <a:off x="812800" y="39268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EXEMPLO INVERSÃO EM AÇÃO · QUEUE DE 3 ITENS · ENTRA À ESQUERDA, SAI À DIREITA</a:t>
            </a:r>
            <a:endParaRPr lang="en-US" sz="1200" dirty="0">
              <a:latin typeface="IBM Plex Sans" charset="0"/>
              <a:ea typeface="IBM Plex Sans" charset="0"/>
              <a:cs typeface="IBM Plex Sans" charset="0"/>
            </a:endParaRPr>
          </a:p>
        </p:txBody>
      </p:sp>
      <p:sp>
        <p:nvSpPr>
          <p:cNvPr id="13" name="Text 11"/>
          <p:cNvSpPr/>
          <p:nvPr/>
        </p:nvSpPr>
        <p:spPr>
          <a:xfrm>
            <a:off x="812800" y="42926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14" name="Text 12"/>
          <p:cNvSpPr/>
          <p:nvPr/>
        </p:nvSpPr>
        <p:spPr>
          <a:xfrm>
            <a:off x="1139825" y="4251325"/>
            <a:ext cx="374650" cy="336550"/>
          </a:xfrm>
          <a:prstGeom prst="roundRect">
            <a:avLst>
              <a:gd name="adj" fmla="val 12264"/>
            </a:avLst>
          </a:prstGeom>
          <a:solidFill>
            <a:srgbClr val="2F6FD0"/>
          </a:solidFill>
          <a:ln w="19050">
            <a:solidFill>
              <a:srgbClr val="14222E"/>
            </a:solidFill>
            <a:prstDash val="solid"/>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15" name="Text 13"/>
          <p:cNvSpPr/>
          <p:nvPr/>
        </p:nvSpPr>
        <p:spPr>
          <a:xfrm>
            <a:off x="1571625" y="4251325"/>
            <a:ext cx="374650" cy="336550"/>
          </a:xfrm>
          <a:prstGeom prst="roundRect">
            <a:avLst>
              <a:gd name="adj" fmla="val 12264"/>
            </a:avLst>
          </a:prstGeom>
          <a:solidFill>
            <a:srgbClr val="2F6FD0"/>
          </a:solidFill>
          <a:ln w="19050">
            <a:solidFill>
              <a:srgbClr val="14222E"/>
            </a:solidFill>
            <a:prstDash val="solid"/>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16" name="Text 14"/>
          <p:cNvSpPr/>
          <p:nvPr/>
        </p:nvSpPr>
        <p:spPr>
          <a:xfrm>
            <a:off x="2003425" y="4251325"/>
            <a:ext cx="374650" cy="336550"/>
          </a:xfrm>
          <a:prstGeom prst="roundRect">
            <a:avLst>
              <a:gd name="adj" fmla="val 12264"/>
            </a:avLst>
          </a:prstGeom>
          <a:solidFill>
            <a:srgbClr val="2F6FD0"/>
          </a:solidFill>
          <a:ln w="19050">
            <a:solidFill>
              <a:srgbClr val="14222E"/>
            </a:solidFill>
            <a:prstDash val="solid"/>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17" name="Text 15"/>
          <p:cNvSpPr/>
          <p:nvPr/>
        </p:nvSpPr>
        <p:spPr>
          <a:xfrm>
            <a:off x="812800" y="4673600"/>
            <a:ext cx="17272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T1 envia 3 e bloqueia: </a:t>
            </a:r>
            <a:r>
              <a:rPr lang="en-US" sz="1200" b="1" dirty="0">
                <a:solidFill>
                  <a:srgbClr val="44505C"/>
                </a:solidFill>
                <a:latin typeface="IBM Plex Sans" pitchFamily="34" charset="0"/>
                <a:ea typeface="IBM Plex Sans" pitchFamily="34" charset="-122"/>
                <a:cs typeface="IBM Plex Sans" pitchFamily="34" charset="-120"/>
              </a:rPr>
              <a:t>cheia</a:t>
            </a:r>
            <a:endParaRPr lang="en-US" sz="1200" dirty="0">
              <a:latin typeface="IBM Plex Sans" charset="0"/>
              <a:ea typeface="IBM Plex Sans" charset="0"/>
              <a:cs typeface="IBM Plex Sans" charset="0"/>
            </a:endParaRPr>
          </a:p>
        </p:txBody>
      </p:sp>
      <p:sp>
        <p:nvSpPr>
          <p:cNvPr id="18" name="Text 16"/>
          <p:cNvSpPr/>
          <p:nvPr/>
        </p:nvSpPr>
        <p:spPr>
          <a:xfrm>
            <a:off x="2590800" y="42926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19" name="Text 17"/>
          <p:cNvSpPr/>
          <p:nvPr/>
        </p:nvSpPr>
        <p:spPr>
          <a:xfrm>
            <a:off x="29083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20" name="Text 18"/>
          <p:cNvSpPr/>
          <p:nvPr/>
        </p:nvSpPr>
        <p:spPr>
          <a:xfrm>
            <a:off x="33401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21" name="Text 19"/>
          <p:cNvSpPr/>
          <p:nvPr/>
        </p:nvSpPr>
        <p:spPr>
          <a:xfrm>
            <a:off x="37719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22" name="Text 20"/>
          <p:cNvSpPr/>
          <p:nvPr/>
        </p:nvSpPr>
        <p:spPr>
          <a:xfrm>
            <a:off x="2590800" y="4673600"/>
            <a:ext cx="1727200"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T2 encontra-a cheia e bloqueia: corre o </a:t>
            </a:r>
            <a:r>
              <a:rPr lang="en-US" sz="1200" b="1" dirty="0">
                <a:solidFill>
                  <a:srgbClr val="44505C"/>
                </a:solidFill>
                <a:latin typeface="IBM Plex Sans" pitchFamily="34" charset="0"/>
                <a:ea typeface="IBM Plex Sans" pitchFamily="34" charset="-122"/>
                <a:cs typeface="IBM Plex Sans" pitchFamily="34" charset="-120"/>
              </a:rPr>
              <a:t>recetor</a:t>
            </a:r>
            <a:endParaRPr lang="en-US" sz="1200" dirty="0">
              <a:latin typeface="IBM Plex Sans" charset="0"/>
              <a:ea typeface="IBM Plex Sans" charset="0"/>
              <a:cs typeface="IBM Plex Sans" charset="0"/>
            </a:endParaRPr>
          </a:p>
        </p:txBody>
      </p:sp>
      <p:sp>
        <p:nvSpPr>
          <p:cNvPr id="23" name="Text 21"/>
          <p:cNvSpPr/>
          <p:nvPr/>
        </p:nvSpPr>
        <p:spPr>
          <a:xfrm>
            <a:off x="4368800" y="42926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24" name="Shape 22"/>
          <p:cNvSpPr/>
          <p:nvPr/>
        </p:nvSpPr>
        <p:spPr>
          <a:xfrm>
            <a:off x="4692650" y="4248150"/>
            <a:ext cx="381000" cy="342900"/>
          </a:xfrm>
          <a:prstGeom prst="roundRect">
            <a:avLst>
              <a:gd name="adj" fmla="val 12963"/>
            </a:avLst>
          </a:prstGeom>
          <a:solidFill>
            <a:srgbClr val="FCFBF8"/>
          </a:solidFill>
          <a:ln w="12700">
            <a:solidFill>
              <a:srgbClr val="A7B0B8"/>
            </a:solidFill>
            <a:prstDash val="dash"/>
          </a:ln>
        </p:spPr>
      </p:sp>
      <p:sp>
        <p:nvSpPr>
          <p:cNvPr id="25" name="Text 23"/>
          <p:cNvSpPr/>
          <p:nvPr/>
        </p:nvSpPr>
        <p:spPr>
          <a:xfrm>
            <a:off x="51181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26" name="Text 24"/>
          <p:cNvSpPr/>
          <p:nvPr/>
        </p:nvSpPr>
        <p:spPr>
          <a:xfrm>
            <a:off x="55499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27" name="Text 25"/>
          <p:cNvSpPr/>
          <p:nvPr/>
        </p:nvSpPr>
        <p:spPr>
          <a:xfrm>
            <a:off x="4368800" y="4673600"/>
            <a:ext cx="17272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Recetor retira 1 → T1 acorda e preempta-o</a:t>
            </a:r>
            <a:endParaRPr lang="en-US" sz="1200" dirty="0">
              <a:latin typeface="IBM Plex Sans" charset="0"/>
              <a:ea typeface="IBM Plex Sans" charset="0"/>
              <a:cs typeface="IBM Plex Sans" charset="0"/>
            </a:endParaRPr>
          </a:p>
        </p:txBody>
      </p:sp>
      <p:sp>
        <p:nvSpPr>
          <p:cNvPr id="28" name="Text 26"/>
          <p:cNvSpPr/>
          <p:nvPr/>
        </p:nvSpPr>
        <p:spPr>
          <a:xfrm>
            <a:off x="6146800" y="42926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29" name="Text 27"/>
          <p:cNvSpPr/>
          <p:nvPr/>
        </p:nvSpPr>
        <p:spPr>
          <a:xfrm>
            <a:off x="6473825" y="4251325"/>
            <a:ext cx="374650" cy="336550"/>
          </a:xfrm>
          <a:prstGeom prst="roundRect">
            <a:avLst>
              <a:gd name="adj" fmla="val 12264"/>
            </a:avLst>
          </a:prstGeom>
          <a:solidFill>
            <a:srgbClr val="2F6FD0"/>
          </a:solidFill>
          <a:ln w="19050">
            <a:solidFill>
              <a:srgbClr val="14222E"/>
            </a:solidFill>
            <a:prstDash val="solid"/>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30" name="Text 28"/>
          <p:cNvSpPr/>
          <p:nvPr/>
        </p:nvSpPr>
        <p:spPr>
          <a:xfrm>
            <a:off x="68961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31" name="Text 29"/>
          <p:cNvSpPr/>
          <p:nvPr/>
        </p:nvSpPr>
        <p:spPr>
          <a:xfrm>
            <a:off x="73279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32" name="Text 30"/>
          <p:cNvSpPr/>
          <p:nvPr/>
        </p:nvSpPr>
        <p:spPr>
          <a:xfrm>
            <a:off x="6146800" y="4673600"/>
            <a:ext cx="17272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T1 volta a encher e bloqueia</a:t>
            </a:r>
            <a:endParaRPr lang="en-US" sz="1200" dirty="0">
              <a:latin typeface="IBM Plex Sans" charset="0"/>
              <a:ea typeface="IBM Plex Sans" charset="0"/>
              <a:cs typeface="IBM Plex Sans" charset="0"/>
            </a:endParaRPr>
          </a:p>
        </p:txBody>
      </p:sp>
      <p:sp>
        <p:nvSpPr>
          <p:cNvPr id="33" name="Text 31"/>
          <p:cNvSpPr/>
          <p:nvPr/>
        </p:nvSpPr>
        <p:spPr>
          <a:xfrm>
            <a:off x="7924800" y="42926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p:txBody>
      </p:sp>
      <p:sp>
        <p:nvSpPr>
          <p:cNvPr id="34" name="Shape 32"/>
          <p:cNvSpPr/>
          <p:nvPr/>
        </p:nvSpPr>
        <p:spPr>
          <a:xfrm>
            <a:off x="8248650" y="4248150"/>
            <a:ext cx="381000" cy="342900"/>
          </a:xfrm>
          <a:prstGeom prst="roundRect">
            <a:avLst>
              <a:gd name="adj" fmla="val 12963"/>
            </a:avLst>
          </a:prstGeom>
          <a:solidFill>
            <a:srgbClr val="FCFBF8"/>
          </a:solidFill>
          <a:ln w="12700">
            <a:solidFill>
              <a:srgbClr val="A7B0B8"/>
            </a:solidFill>
            <a:prstDash val="dash"/>
          </a:ln>
        </p:spPr>
      </p:sp>
      <p:sp>
        <p:nvSpPr>
          <p:cNvPr id="35" name="Text 33"/>
          <p:cNvSpPr/>
          <p:nvPr/>
        </p:nvSpPr>
        <p:spPr>
          <a:xfrm>
            <a:off x="86741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36" name="Text 34"/>
          <p:cNvSpPr/>
          <p:nvPr/>
        </p:nvSpPr>
        <p:spPr>
          <a:xfrm>
            <a:off x="91059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37" name="Text 35"/>
          <p:cNvSpPr/>
          <p:nvPr/>
        </p:nvSpPr>
        <p:spPr>
          <a:xfrm>
            <a:off x="7924800" y="4673600"/>
            <a:ext cx="1727200"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Recetor retira 1 → agora acorda a T2</a:t>
            </a:r>
            <a:endParaRPr lang="en-US" sz="1200" dirty="0">
              <a:latin typeface="IBM Plex Sans" charset="0"/>
              <a:ea typeface="IBM Plex Sans" charset="0"/>
              <a:cs typeface="IBM Plex Sans" charset="0"/>
            </a:endParaRPr>
          </a:p>
        </p:txBody>
      </p:sp>
      <p:sp>
        <p:nvSpPr>
          <p:cNvPr id="38" name="Text 36"/>
          <p:cNvSpPr/>
          <p:nvPr/>
        </p:nvSpPr>
        <p:spPr>
          <a:xfrm>
            <a:off x="9702800" y="4292600"/>
            <a:ext cx="254000" cy="254000"/>
          </a:xfrm>
          <a:custGeom>
            <a:avLst/>
            <a:gdLst/>
            <a:ahLst/>
            <a:cxnLst/>
            <a:rect l="l" t="t" r="r" b="b"/>
            <a:pathLst>
              <a:path w="254000" h="254000">
                <a:moveTo>
                  <a:pt x="127000" y="0"/>
                </a:moveTo>
                <a:lnTo>
                  <a:pt x="127000" y="0"/>
                </a:lnTo>
                <a:arcTo hR="127000" wR="127000" stAng="16200000" swAng="5400000"/>
                <a:lnTo>
                  <a:pt x="254000" y="127000"/>
                </a:lnTo>
                <a:arcTo hR="127000" wR="127000" stAng="0" swAng="5400000"/>
                <a:lnTo>
                  <a:pt x="127000" y="254000"/>
                </a:lnTo>
                <a:arcTo hR="127000" wR="127000" stAng="5400000" swAng="5400000"/>
                <a:lnTo>
                  <a:pt x="0" y="127000"/>
                </a:lnTo>
                <a:arcTo hR="127000" wR="127000" stAng="10800000" swAng="5400000"/>
                <a:close/>
              </a:path>
            </a:pathLst>
          </a:custGeom>
          <a:solidFill>
            <a:srgbClr val="14222E"/>
          </a:solidFill>
          <a:ln/>
        </p:spPr>
        <p:txBody>
          <a:bodyPr wrap="square" lIns="0" tIns="0" rIns="0" bIns="0" rtlCol="0" anchor="t">
            <a:normAutofit/>
          </a:bodyPr>
          <a:lstStyle/>
          <a:p>
            <a:pPr algn="ctr" indent="0" marL="0">
              <a:lnSpc>
                <a:spcPts val="2004"/>
              </a:lnSpc>
              <a:buNone/>
            </a:pPr>
            <a:r>
              <a:rPr lang="en-US" sz="1200" b="1" dirty="0">
                <a:solidFill>
                  <a:srgbClr val="F5F4EF"/>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p:txBody>
      </p:sp>
      <p:sp>
        <p:nvSpPr>
          <p:cNvPr id="39" name="Text 37"/>
          <p:cNvSpPr/>
          <p:nvPr/>
        </p:nvSpPr>
        <p:spPr>
          <a:xfrm>
            <a:off x="10029825" y="4251325"/>
            <a:ext cx="374650" cy="336550"/>
          </a:xfrm>
          <a:prstGeom prst="roundRect">
            <a:avLst>
              <a:gd name="adj" fmla="val 12264"/>
            </a:avLst>
          </a:prstGeom>
          <a:solidFill>
            <a:srgbClr val="D0612A"/>
          </a:solidFill>
          <a:ln w="19050">
            <a:solidFill>
              <a:srgbClr val="14222E"/>
            </a:solidFill>
            <a:prstDash val="solid"/>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p:txBody>
      </p:sp>
      <p:sp>
        <p:nvSpPr>
          <p:cNvPr id="40" name="Text 38"/>
          <p:cNvSpPr/>
          <p:nvPr/>
        </p:nvSpPr>
        <p:spPr>
          <a:xfrm>
            <a:off x="104521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41" name="Text 39"/>
          <p:cNvSpPr/>
          <p:nvPr/>
        </p:nvSpPr>
        <p:spPr>
          <a:xfrm>
            <a:off x="10883900" y="4241800"/>
            <a:ext cx="393700" cy="355600"/>
          </a:xfrm>
          <a:prstGeom prst="roundRect">
            <a:avLst>
              <a:gd name="adj" fmla="val 14286"/>
            </a:avLst>
          </a:prstGeom>
          <a:solidFill>
            <a:srgbClr val="2F6FD0"/>
          </a:solidFill>
          <a:ln/>
        </p:spPr>
        <p:txBody>
          <a:bodyPr wrap="squar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42" name="Text 40"/>
          <p:cNvSpPr/>
          <p:nvPr/>
        </p:nvSpPr>
        <p:spPr>
          <a:xfrm>
            <a:off x="9702800" y="4673600"/>
            <a:ext cx="1727200" cy="61976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4505C"/>
                </a:solidFill>
                <a:latin typeface="IBM Plex Sans" pitchFamily="34" charset="0"/>
                <a:ea typeface="IBM Plex Sans" pitchFamily="34" charset="-122"/>
                <a:cs typeface="IBM Plex Sans" pitchFamily="34" charset="-120"/>
              </a:rPr>
              <a:t>T2 enche: </a:t>
            </a:r>
            <a:r>
              <a:rPr lang="en-US" sz="1200" b="1" dirty="0">
                <a:solidFill>
                  <a:srgbClr val="44505C"/>
                </a:solidFill>
                <a:latin typeface="IBM Plex Sans" pitchFamily="34" charset="0"/>
                <a:ea typeface="IBM Plex Sans" pitchFamily="34" charset="-122"/>
                <a:cs typeface="IBM Plex Sans" pitchFamily="34" charset="-120"/>
              </a:rPr>
              <a:t>sempre cheia</a:t>
            </a:r>
            <a:r>
              <a:rPr lang="en-US" sz="1200" dirty="0">
                <a:solidFill>
                  <a:srgbClr val="44505C"/>
                </a:solidFill>
                <a:latin typeface="IBM Plex Sans" pitchFamily="34" charset="0"/>
                <a:ea typeface="IBM Plex Sans" pitchFamily="34" charset="-122"/>
                <a:cs typeface="IBM Plex Sans" pitchFamily="34" charset="-120"/>
              </a:rPr>
              <a:t>, sai um de cada vez</a:t>
            </a:r>
            <a:endParaRPr lang="en-US" sz="1200" dirty="0">
              <a:latin typeface="IBM Plex Sans" charset="0"/>
              <a:ea typeface="IBM Plex Sans" charset="0"/>
              <a:cs typeface="IBM Plex Sans" charset="0"/>
            </a:endParaRPr>
          </a:p>
        </p:txBody>
      </p:sp>
      <p:sp>
        <p:nvSpPr>
          <p:cNvPr id="43" name="Text 41"/>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44" name="Text 42"/>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51</a:t>
            </a:r>
            <a:endParaRPr lang="en-US" sz="1200" dirty="0">
              <a:latin typeface="IBM Plex Sans" charset="0"/>
              <a:ea typeface="IBM Plex Sans" charset="0"/>
              <a:cs typeface="IBM Plex Sans"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Receber de várias origens numa só queue</a:t>
            </a:r>
            <a:endParaRPr lang="en-US" sz="3200" dirty="0">
              <a:latin typeface="IBM Plex Sans" charset="0"/>
              <a:ea typeface="IBM Plex Sans" charset="0"/>
              <a:cs typeface="IBM Plex Sans" charset="0"/>
            </a:endParaRPr>
          </a:p>
        </p:txBody>
      </p:sp>
      <p:sp>
        <p:nvSpPr>
          <p:cNvPr id="4" name="Text 2"/>
          <p:cNvSpPr/>
          <p:nvPr/>
        </p:nvSpPr>
        <p:spPr>
          <a:xfrm>
            <a:off x="819150" y="1931665"/>
            <a:ext cx="2273300" cy="749300"/>
          </a:xfrm>
          <a:prstGeom prst="roundRect">
            <a:avLst>
              <a:gd name="adj" fmla="val 12712"/>
            </a:avLst>
          </a:prstGeom>
          <a:solidFill>
            <a:srgbClr val="FCFBF8"/>
          </a:solidFill>
          <a:ln w="12700">
            <a:solidFill>
              <a:srgbClr val="14222E"/>
            </a:solidFill>
            <a:prstDash val="solid"/>
          </a:ln>
        </p:spPr>
        <p:txBody>
          <a:bodyPr wrap="square" lIns="46575" tIns="115612" rIns="46575"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CAN bus task</a:t>
            </a:r>
            <a:endParaRPr lang="en-US" sz="1400" dirty="0">
              <a:latin typeface="IBM Plex Sans" charset="0"/>
              <a:ea typeface="IBM Plex Sans" charset="0"/>
              <a:cs typeface="IBM Plex Sans" charset="0"/>
            </a:endParaRPr>
          </a:p>
          <a:p>
            <a:pPr algn="ctr" indent="0" marL="0">
              <a:lnSpc>
                <a:spcPts val="1820"/>
              </a:lnSpc>
              <a:buNone/>
            </a:pPr>
            <a:r>
              <a:rPr lang="en-US" sz="1400" b="1" dirty="0">
                <a:solidFill>
                  <a:srgbClr val="66717C"/>
                </a:solidFill>
                <a:latin typeface="IBM Plex Sans" pitchFamily="34" charset="0"/>
                <a:ea typeface="IBM Plex Sans" pitchFamily="34" charset="-122"/>
                <a:cs typeface="IBM Plex Sans" pitchFamily="34" charset="-120"/>
              </a:rPr>
              <a:t>descodifica mensagens</a:t>
            </a:r>
            <a:endParaRPr lang="en-US" sz="1400" dirty="0">
              <a:latin typeface="IBM Plex Sans" charset="0"/>
              <a:ea typeface="IBM Plex Sans" charset="0"/>
              <a:cs typeface="IBM Plex Sans" charset="0"/>
            </a:endParaRPr>
          </a:p>
        </p:txBody>
      </p:sp>
      <p:sp>
        <p:nvSpPr>
          <p:cNvPr id="5" name="Text 3"/>
          <p:cNvSpPr/>
          <p:nvPr/>
        </p:nvSpPr>
        <p:spPr>
          <a:xfrm>
            <a:off x="819150" y="3392165"/>
            <a:ext cx="2273300" cy="749300"/>
          </a:xfrm>
          <a:prstGeom prst="roundRect">
            <a:avLst>
              <a:gd name="adj" fmla="val 12712"/>
            </a:avLst>
          </a:prstGeom>
          <a:solidFill>
            <a:srgbClr val="FCFBF8"/>
          </a:solidFill>
          <a:ln w="12700">
            <a:solidFill>
              <a:srgbClr val="14222E"/>
            </a:solidFill>
            <a:prstDash val="solid"/>
          </a:ln>
        </p:spPr>
        <p:txBody>
          <a:bodyPr wrap="square" lIns="46575" tIns="115612" rIns="46575"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HMI task</a:t>
            </a:r>
            <a:endParaRPr lang="en-US" sz="1400" dirty="0">
              <a:latin typeface="IBM Plex Sans" charset="0"/>
              <a:ea typeface="IBM Plex Sans" charset="0"/>
              <a:cs typeface="IBM Plex Sans" charset="0"/>
            </a:endParaRPr>
          </a:p>
          <a:p>
            <a:pPr algn="ctr" indent="0" marL="0">
              <a:lnSpc>
                <a:spcPts val="1820"/>
              </a:lnSpc>
              <a:buNone/>
            </a:pPr>
            <a:r>
              <a:rPr lang="en-US" sz="1400" b="1" dirty="0">
                <a:solidFill>
                  <a:srgbClr val="66717C"/>
                </a:solidFill>
                <a:latin typeface="IBM Plex Sans" pitchFamily="34" charset="0"/>
                <a:ea typeface="IBM Plex Sans" pitchFamily="34" charset="-122"/>
                <a:cs typeface="IBM Plex Sans" pitchFamily="34" charset="-120"/>
              </a:rPr>
              <a:t>comandos do operador</a:t>
            </a:r>
            <a:endParaRPr lang="en-US" sz="1400" dirty="0">
              <a:latin typeface="IBM Plex Sans" charset="0"/>
              <a:ea typeface="IBM Plex Sans" charset="0"/>
              <a:cs typeface="IBM Plex Sans" charset="0"/>
            </a:endParaRPr>
          </a:p>
        </p:txBody>
      </p:sp>
      <p:sp>
        <p:nvSpPr>
          <p:cNvPr id="6" name="Shape 4"/>
          <p:cNvSpPr/>
          <p:nvPr/>
        </p:nvSpPr>
        <p:spPr>
          <a:xfrm>
            <a:off x="4756150" y="2757165"/>
            <a:ext cx="2908300" cy="749300"/>
          </a:xfrm>
          <a:prstGeom prst="roundRect">
            <a:avLst>
              <a:gd name="adj" fmla="val 9322"/>
            </a:avLst>
          </a:prstGeom>
          <a:solidFill>
            <a:srgbClr val="E3EFEC"/>
          </a:solidFill>
          <a:ln w="12700">
            <a:solidFill>
              <a:srgbClr val="17766A"/>
            </a:solidFill>
            <a:prstDash val="solid"/>
          </a:ln>
        </p:spPr>
      </p:sp>
      <p:sp>
        <p:nvSpPr>
          <p:cNvPr id="7" name="Text 5"/>
          <p:cNvSpPr/>
          <p:nvPr/>
        </p:nvSpPr>
        <p:spPr>
          <a:xfrm>
            <a:off x="5708650" y="2484115"/>
            <a:ext cx="196215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Queue de Data_t</a:t>
            </a:r>
            <a:endParaRPr lang="en-US" sz="1200" dirty="0">
              <a:latin typeface="IBM Plex Sans" charset="0"/>
              <a:ea typeface="IBM Plex Sans" charset="0"/>
              <a:cs typeface="IBM Plex Sans" charset="0"/>
            </a:endParaRPr>
          </a:p>
        </p:txBody>
      </p:sp>
      <p:sp>
        <p:nvSpPr>
          <p:cNvPr id="8" name="Text 6"/>
          <p:cNvSpPr/>
          <p:nvPr/>
        </p:nvSpPr>
        <p:spPr>
          <a:xfrm>
            <a:off x="4883150" y="2896865"/>
            <a:ext cx="1257300" cy="480060"/>
          </a:xfrm>
          <a:custGeom>
            <a:avLst/>
            <a:gdLst/>
            <a:ahLst/>
            <a:cxnLst/>
            <a:rect l="l" t="t" r="r" b="b"/>
            <a:pathLst>
              <a:path w="1257300" h="480060">
                <a:moveTo>
                  <a:pt x="44450" y="0"/>
                </a:moveTo>
                <a:lnTo>
                  <a:pt x="1212850" y="0"/>
                </a:lnTo>
                <a:arcTo hR="44450" wR="44450" stAng="16200000" swAng="5400000"/>
                <a:lnTo>
                  <a:pt x="1257300" y="435610"/>
                </a:lnTo>
                <a:arcTo hR="44450" wR="44450" stAng="0" swAng="5400000"/>
                <a:lnTo>
                  <a:pt x="44450" y="480060"/>
                </a:lnTo>
                <a:arcTo hR="44450" wR="44450" stAng="5400000" swAng="5400000"/>
                <a:lnTo>
                  <a:pt x="0" y="44450"/>
                </a:lnTo>
                <a:arcTo hR="44450" wR="44450" stAng="10800000" swAng="5400000"/>
                <a:close/>
              </a:path>
            </a:pathLst>
          </a:custGeom>
          <a:solidFill>
            <a:srgbClr val="FCFBF8"/>
          </a:solidFill>
          <a:ln w="12700">
            <a:solidFill>
              <a:srgbClr val="17766A"/>
            </a:solidFill>
            <a:prstDash val="solid"/>
          </a:ln>
        </p:spPr>
        <p:txBody>
          <a:bodyPr wrap="square" lIns="29210" tIns="41910" rIns="29210" bIns="16510" rtlCol="0" anchor="t">
            <a:normAutofit/>
          </a:bodyPr>
          <a:lstStyle/>
          <a:p>
            <a:pPr algn="ctr" indent="0" marL="0">
              <a:lnSpc>
                <a:spcPts val="1560"/>
              </a:lnSpc>
              <a:buNone/>
            </a:pPr>
            <a:r>
              <a:rPr lang="en-US" sz="1200" dirty="0">
                <a:solidFill>
                  <a:srgbClr val="14222E"/>
                </a:solidFill>
                <a:latin typeface="IBM Plex Sans" pitchFamily="34" charset="0"/>
                <a:ea typeface="IBM Plex Sans" pitchFamily="34" charset="-122"/>
                <a:cs typeface="IBM Plex Sans" pitchFamily="34" charset="-120"/>
              </a:rPr>
              <a:t>eSpeedSetPoint</a:t>
            </a:r>
            <a:endParaRPr lang="en-US" sz="1200" dirty="0">
              <a:latin typeface="IBM Plex Sans" charset="0"/>
              <a:ea typeface="IBM Plex Sans" charset="0"/>
              <a:cs typeface="IBM Plex Sans" charset="0"/>
            </a:endParaRPr>
          </a:p>
          <a:p>
            <a:pPr algn="ctr" indent="0" marL="0">
              <a:lnSpc>
                <a:spcPts val="1560"/>
              </a:lnSpc>
              <a:buNone/>
            </a:pPr>
            <a:r>
              <a:rPr lang="en-US" sz="1200" dirty="0">
                <a:solidFill>
                  <a:srgbClr val="14222E"/>
                </a:solidFill>
                <a:latin typeface="IBM Plex Sans" pitchFamily="34" charset="0"/>
                <a:ea typeface="IBM Plex Sans" pitchFamily="34" charset="-122"/>
                <a:cs typeface="IBM Plex Sans" pitchFamily="34" charset="-120"/>
              </a:rPr>
              <a:t>valor</a:t>
            </a:r>
            <a:endParaRPr lang="en-US" sz="1200" dirty="0">
              <a:latin typeface="IBM Plex Sans" charset="0"/>
              <a:ea typeface="IBM Plex Sans" charset="0"/>
              <a:cs typeface="IBM Plex Sans" charset="0"/>
            </a:endParaRPr>
          </a:p>
        </p:txBody>
      </p:sp>
      <p:sp>
        <p:nvSpPr>
          <p:cNvPr id="9" name="Text 7"/>
          <p:cNvSpPr/>
          <p:nvPr/>
        </p:nvSpPr>
        <p:spPr>
          <a:xfrm>
            <a:off x="6280150" y="2896865"/>
            <a:ext cx="1257300" cy="480060"/>
          </a:xfrm>
          <a:custGeom>
            <a:avLst/>
            <a:gdLst/>
            <a:ahLst/>
            <a:cxnLst/>
            <a:rect l="l" t="t" r="r" b="b"/>
            <a:pathLst>
              <a:path w="1257300" h="480060">
                <a:moveTo>
                  <a:pt x="44450" y="0"/>
                </a:moveTo>
                <a:lnTo>
                  <a:pt x="1212850" y="0"/>
                </a:lnTo>
                <a:arcTo hR="44450" wR="44450" stAng="16200000" swAng="5400000"/>
                <a:lnTo>
                  <a:pt x="1257300" y="435610"/>
                </a:lnTo>
                <a:arcTo hR="44450" wR="44450" stAng="0" swAng="5400000"/>
                <a:lnTo>
                  <a:pt x="44450" y="480060"/>
                </a:lnTo>
                <a:arcTo hR="44450" wR="44450" stAng="5400000" swAng="5400000"/>
                <a:lnTo>
                  <a:pt x="0" y="44450"/>
                </a:lnTo>
                <a:arcTo hR="44450" wR="44450" stAng="10800000" swAng="5400000"/>
                <a:close/>
              </a:path>
            </a:pathLst>
          </a:custGeom>
          <a:solidFill>
            <a:srgbClr val="FCFBF8"/>
          </a:solidFill>
          <a:ln w="12700">
            <a:solidFill>
              <a:srgbClr val="17766A"/>
            </a:solidFill>
            <a:prstDash val="solid"/>
          </a:ln>
        </p:spPr>
        <p:txBody>
          <a:bodyPr wrap="square" lIns="29210" tIns="41910" rIns="29210" bIns="16510" rtlCol="0" anchor="t">
            <a:normAutofit/>
          </a:bodyPr>
          <a:lstStyle/>
          <a:p>
            <a:pPr algn="ctr" indent="0" marL="0">
              <a:lnSpc>
                <a:spcPts val="1560"/>
              </a:lnSpc>
              <a:buNone/>
            </a:pPr>
            <a:r>
              <a:rPr lang="en-US" sz="1200" dirty="0">
                <a:solidFill>
                  <a:srgbClr val="14222E"/>
                </a:solidFill>
                <a:latin typeface="IBM Plex Sans" pitchFamily="34" charset="0"/>
                <a:ea typeface="IBM Plex Sans" pitchFamily="34" charset="-122"/>
                <a:cs typeface="IBM Plex Sans" pitchFamily="34" charset="-120"/>
              </a:rPr>
              <a:t>eMotorSpeed</a:t>
            </a:r>
            <a:endParaRPr lang="en-US" sz="1200" dirty="0">
              <a:latin typeface="IBM Plex Sans" charset="0"/>
              <a:ea typeface="IBM Plex Sans" charset="0"/>
              <a:cs typeface="IBM Plex Sans" charset="0"/>
            </a:endParaRPr>
          </a:p>
          <a:p>
            <a:pPr algn="ctr" indent="0" marL="0">
              <a:lnSpc>
                <a:spcPts val="1560"/>
              </a:lnSpc>
              <a:buNone/>
            </a:pPr>
            <a:r>
              <a:rPr lang="en-US" sz="1200" dirty="0">
                <a:solidFill>
                  <a:srgbClr val="14222E"/>
                </a:solidFill>
                <a:latin typeface="IBM Plex Sans" pitchFamily="34" charset="0"/>
                <a:ea typeface="IBM Plex Sans" pitchFamily="34" charset="-122"/>
                <a:cs typeface="IBM Plex Sans" pitchFamily="34" charset="-120"/>
              </a:rPr>
              <a:t>valor</a:t>
            </a:r>
            <a:endParaRPr lang="en-US" sz="1200" dirty="0">
              <a:latin typeface="IBM Plex Sans" charset="0"/>
              <a:ea typeface="IBM Plex Sans" charset="0"/>
              <a:cs typeface="IBM Plex Sans" charset="0"/>
            </a:endParaRPr>
          </a:p>
        </p:txBody>
      </p:sp>
      <p:sp>
        <p:nvSpPr>
          <p:cNvPr id="10" name="Text 8"/>
          <p:cNvSpPr/>
          <p:nvPr/>
        </p:nvSpPr>
        <p:spPr>
          <a:xfrm>
            <a:off x="9099550" y="2661915"/>
            <a:ext cx="2273300" cy="749300"/>
          </a:xfrm>
          <a:prstGeom prst="roundRect">
            <a:avLst>
              <a:gd name="adj" fmla="val 12712"/>
            </a:avLst>
          </a:prstGeom>
          <a:solidFill>
            <a:srgbClr val="FCFBF8"/>
          </a:solidFill>
          <a:ln w="12700">
            <a:solidFill>
              <a:srgbClr val="14222E"/>
            </a:solidFill>
            <a:prstDash val="solid"/>
          </a:ln>
        </p:spPr>
        <p:txBody>
          <a:bodyPr wrap="square" lIns="46575" tIns="115612" rIns="46575"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Controller task</a:t>
            </a:r>
            <a:endParaRPr lang="en-US" sz="1400" dirty="0">
              <a:latin typeface="IBM Plex Sans" charset="0"/>
              <a:ea typeface="IBM Plex Sans" charset="0"/>
              <a:cs typeface="IBM Plex Sans" charset="0"/>
            </a:endParaRPr>
          </a:p>
          <a:p>
            <a:pPr algn="ctr" indent="0" marL="0">
              <a:lnSpc>
                <a:spcPts val="1820"/>
              </a:lnSpc>
              <a:buNone/>
            </a:pPr>
            <a:r>
              <a:rPr lang="en-US" sz="1400" b="1" dirty="0">
                <a:solidFill>
                  <a:srgbClr val="66717C"/>
                </a:solidFill>
                <a:latin typeface="IBM Plex Sans" pitchFamily="34" charset="0"/>
                <a:ea typeface="IBM Plex Sans" pitchFamily="34" charset="-122"/>
                <a:cs typeface="IBM Plex Sans" pitchFamily="34" charset="-120"/>
              </a:rPr>
              <a:t>função principal</a:t>
            </a:r>
            <a:endParaRPr lang="en-US" sz="1400" dirty="0">
              <a:latin typeface="IBM Plex Sans" charset="0"/>
              <a:ea typeface="IBM Plex Sans" charset="0"/>
              <a:cs typeface="IBM Plex Sans" charset="0"/>
            </a:endParaRPr>
          </a:p>
        </p:txBody>
      </p:sp>
      <p:pic>
        <p:nvPicPr>
          <p:cNvPr id="11" name="Image 0" descr="connector">    </p:cNvPr>
          <p:cNvPicPr>
            <a:picLocks noChangeAspect="1"/>
          </p:cNvPicPr>
          <p:nvPr/>
        </p:nvPicPr>
        <p:blipFill>
          <a:blip r:embed="rId1"/>
          <a:srcRect l="0" r="0" t="0" b="0"/>
          <a:stretch/>
        </p:blipFill>
        <p:spPr>
          <a:xfrm>
            <a:off x="3048000" y="2350765"/>
            <a:ext cx="2260600" cy="450850"/>
          </a:xfrm>
          <a:prstGeom prst="rect">
            <a:avLst/>
          </a:prstGeom>
        </p:spPr>
      </p:pic>
      <p:pic>
        <p:nvPicPr>
          <p:cNvPr id="12" name="Image 1" descr="connector">    </p:cNvPr>
          <p:cNvPicPr>
            <a:picLocks noChangeAspect="1"/>
          </p:cNvPicPr>
          <p:nvPr/>
        </p:nvPicPr>
        <p:blipFill>
          <a:blip r:embed="rId2"/>
          <a:srcRect l="0" r="0" t="0" b="0"/>
          <a:stretch/>
        </p:blipFill>
        <p:spPr>
          <a:xfrm>
            <a:off x="3048000" y="3462015"/>
            <a:ext cx="2260600" cy="450850"/>
          </a:xfrm>
          <a:prstGeom prst="rect">
            <a:avLst/>
          </a:prstGeom>
        </p:spPr>
      </p:pic>
      <p:pic>
        <p:nvPicPr>
          <p:cNvPr id="13" name="Image 2" descr="connector">    </p:cNvPr>
          <p:cNvPicPr>
            <a:picLocks noChangeAspect="1"/>
          </p:cNvPicPr>
          <p:nvPr/>
        </p:nvPicPr>
        <p:blipFill>
          <a:blip r:embed="rId3"/>
          <a:srcRect l="0" r="0" t="0" b="0"/>
          <a:stretch/>
        </p:blipFill>
        <p:spPr>
          <a:xfrm>
            <a:off x="7620000" y="3081015"/>
            <a:ext cx="1524000" cy="101600"/>
          </a:xfrm>
          <a:prstGeom prst="rect">
            <a:avLst/>
          </a:prstGeom>
        </p:spPr>
      </p:pic>
      <p:sp>
        <p:nvSpPr>
          <p:cNvPr id="14" name="Text 9"/>
          <p:cNvSpPr/>
          <p:nvPr/>
        </p:nvSpPr>
        <p:spPr>
          <a:xfrm>
            <a:off x="812800" y="4668515"/>
            <a:ext cx="5207000" cy="665480"/>
          </a:xfrm>
          <a:prstGeom prst="roundRect">
            <a:avLst>
              <a:gd name="adj" fmla="val 11450"/>
            </a:avLst>
          </a:prstGeom>
          <a:solidFill>
            <a:srgbClr val="E3EFEC"/>
          </a:solidFill>
          <a:ln/>
        </p:spPr>
        <p:txBody>
          <a:bodyPr wrap="square" lIns="104682" tIns="79282" rIns="0" bIns="53882" rtlCol="0" anchor="t">
            <a:normAutofit/>
          </a:bodyPr>
          <a:lstStyle/>
          <a:p>
            <a:pPr algn="l" indent="0" marL="0">
              <a:lnSpc>
                <a:spcPts val="1820"/>
              </a:lnSpc>
              <a:buNone/>
            </a:pPr>
            <a:r>
              <a:rPr lang="en-US" sz="1300" b="1" dirty="0">
                <a:solidFill>
                  <a:srgbClr val="14222E"/>
                </a:solidFill>
                <a:latin typeface="IBM Plex Sans" pitchFamily="34" charset="0"/>
                <a:ea typeface="IBM Plex Sans" pitchFamily="34" charset="-122"/>
                <a:cs typeface="IBM Plex Sans" pitchFamily="34" charset="-120"/>
              </a:rPr>
              <a:t>eDataID</a:t>
            </a:r>
            <a:r>
              <a:rPr lang="en-US" sz="1300" dirty="0">
                <a:solidFill>
                  <a:srgbClr val="14222E"/>
                </a:solidFill>
                <a:latin typeface="IBM Plex Sans" pitchFamily="34" charset="0"/>
                <a:ea typeface="IBM Plex Sans" pitchFamily="34" charset="-122"/>
                <a:cs typeface="IBM Plex Sans" pitchFamily="34" charset="-120"/>
              </a:rPr>
              <a:t> diz ao Controller o que é o dado (velocidade do motor, novo set point…)</a:t>
            </a:r>
            <a:endParaRPr lang="en-US" sz="1300" dirty="0">
              <a:latin typeface="IBM Plex Sans" charset="0"/>
              <a:ea typeface="IBM Plex Sans" charset="0"/>
              <a:cs typeface="IBM Plex Sans" charset="0"/>
            </a:endParaRPr>
          </a:p>
        </p:txBody>
      </p:sp>
      <p:sp>
        <p:nvSpPr>
          <p:cNvPr id="15" name="Text 10"/>
          <p:cNvSpPr/>
          <p:nvPr/>
        </p:nvSpPr>
        <p:spPr>
          <a:xfrm>
            <a:off x="6172200" y="4668515"/>
            <a:ext cx="5207000" cy="665480"/>
          </a:xfrm>
          <a:prstGeom prst="roundRect">
            <a:avLst>
              <a:gd name="adj" fmla="val 11450"/>
            </a:avLst>
          </a:prstGeom>
          <a:solidFill>
            <a:srgbClr val="E3EFEC"/>
          </a:solidFill>
          <a:ln/>
        </p:spPr>
        <p:txBody>
          <a:bodyPr wrap="square" lIns="104682" tIns="79282" rIns="0" bIns="53882" rtlCol="0" anchor="t">
            <a:normAutofit/>
          </a:bodyPr>
          <a:lstStyle/>
          <a:p>
            <a:pPr algn="l" indent="0" marL="0">
              <a:lnSpc>
                <a:spcPts val="1820"/>
              </a:lnSpc>
              <a:buNone/>
            </a:pPr>
            <a:r>
              <a:rPr lang="en-US" sz="1300" b="1" dirty="0">
                <a:solidFill>
                  <a:srgbClr val="14222E"/>
                </a:solidFill>
                <a:latin typeface="IBM Plex Sans" pitchFamily="34" charset="0"/>
                <a:ea typeface="IBM Plex Sans" pitchFamily="34" charset="-122"/>
                <a:cs typeface="IBM Plex Sans" pitchFamily="34" charset="-120"/>
              </a:rPr>
              <a:t>lDataValue</a:t>
            </a:r>
            <a:r>
              <a:rPr lang="en-US" sz="1300" dirty="0">
                <a:solidFill>
                  <a:srgbClr val="14222E"/>
                </a:solidFill>
                <a:latin typeface="IBM Plex Sans" pitchFamily="34" charset="0"/>
                <a:ea typeface="IBM Plex Sans" pitchFamily="34" charset="-122"/>
                <a:cs typeface="IBM Plex Sans" pitchFamily="34" charset="-120"/>
              </a:rPr>
              <a:t> leva o valor. Uma queue, uma task à espera, várias origens.</a:t>
            </a:r>
            <a:endParaRPr lang="en-US" sz="1300" dirty="0">
              <a:latin typeface="IBM Plex Sans" charset="0"/>
              <a:ea typeface="IBM Plex Sans" charset="0"/>
              <a:cs typeface="IBM Plex Sans" charset="0"/>
            </a:endParaRPr>
          </a:p>
        </p:txBody>
      </p:sp>
      <p:sp>
        <p:nvSpPr>
          <p:cNvPr id="16" name="Text 11"/>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17" name="Text 12"/>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52</a:t>
            </a:r>
            <a:endParaRPr lang="en-US" sz="1200" dirty="0">
              <a:latin typeface="IBM Plex Sans" charset="0"/>
              <a:ea typeface="IBM Plex Sans" charset="0"/>
              <a:cs typeface="IBM Plex Sans"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Dados grandes: enviar ponteiros</a:t>
            </a:r>
            <a:endParaRPr lang="en-US" sz="3200" dirty="0">
              <a:latin typeface="IBM Plex Sans" charset="0"/>
              <a:ea typeface="IBM Plex Sans" charset="0"/>
              <a:cs typeface="IBM Plex Sans" charset="0"/>
            </a:endParaRPr>
          </a:p>
        </p:txBody>
      </p:sp>
      <p:sp>
        <p:nvSpPr>
          <p:cNvPr id="4" name="Text 2"/>
          <p:cNvSpPr/>
          <p:nvPr/>
        </p:nvSpPr>
        <p:spPr>
          <a:xfrm>
            <a:off x="812800" y="1899915"/>
            <a:ext cx="405511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Copiar dados grandes byte a byte é caro. Enviar um </a:t>
            </a:r>
            <a:r>
              <a:rPr lang="en-US" sz="1400" b="1" dirty="0">
                <a:solidFill>
                  <a:srgbClr val="44505C"/>
                </a:solidFill>
                <a:latin typeface="IBM Plex Sans" pitchFamily="34" charset="0"/>
                <a:ea typeface="IBM Plex Sans" pitchFamily="34" charset="-122"/>
                <a:cs typeface="IBM Plex Sans" pitchFamily="34" charset="-120"/>
              </a:rPr>
              <a:t>ponteiro</a:t>
            </a:r>
            <a:r>
              <a:rPr lang="en-US" sz="1400" dirty="0">
                <a:solidFill>
                  <a:srgbClr val="44505C"/>
                </a:solidFill>
                <a:latin typeface="IBM Plex Sans" pitchFamily="34" charset="0"/>
                <a:ea typeface="IBM Plex Sans" pitchFamily="34" charset="-122"/>
                <a:cs typeface="IBM Plex Sans" pitchFamily="34" charset="-120"/>
              </a:rPr>
              <a:t> poupa tempo e RAM, mas exige cuidado:</a:t>
            </a:r>
            <a:endParaRPr lang="en-US" sz="1400" dirty="0">
              <a:latin typeface="IBM Plex Sans" charset="0"/>
              <a:ea typeface="IBM Plex Sans" charset="0"/>
              <a:cs typeface="IBM Plex Sans" charset="0"/>
            </a:endParaRPr>
          </a:p>
        </p:txBody>
      </p:sp>
      <p:sp>
        <p:nvSpPr>
          <p:cNvPr id="5" name="Shape 3"/>
          <p:cNvSpPr/>
          <p:nvPr/>
        </p:nvSpPr>
        <p:spPr>
          <a:xfrm>
            <a:off x="815975" y="2776860"/>
            <a:ext cx="3930650" cy="986790"/>
          </a:xfrm>
          <a:prstGeom prst="roundRect">
            <a:avLst>
              <a:gd name="adj" fmla="val 9974"/>
            </a:avLst>
          </a:prstGeom>
          <a:solidFill>
            <a:srgbClr val="FCFBF8"/>
          </a:solidFill>
          <a:ln w="6350">
            <a:solidFill>
              <a:srgbClr val="DCDAD2"/>
            </a:solidFill>
            <a:prstDash val="solid"/>
          </a:ln>
        </p:spPr>
      </p:sp>
      <p:sp>
        <p:nvSpPr>
          <p:cNvPr id="6" name="Text 4"/>
          <p:cNvSpPr/>
          <p:nvPr/>
        </p:nvSpPr>
        <p:spPr>
          <a:xfrm>
            <a:off x="970280" y="2931170"/>
            <a:ext cx="373070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Dono bem definido</a:t>
            </a:r>
            <a:endParaRPr lang="en-US" sz="1400" dirty="0">
              <a:latin typeface="IBM Plex Sans" charset="0"/>
              <a:ea typeface="IBM Plex Sans" charset="0"/>
              <a:cs typeface="IBM Plex Sans" charset="0"/>
            </a:endParaRPr>
          </a:p>
        </p:txBody>
      </p:sp>
      <p:sp>
        <p:nvSpPr>
          <p:cNvPr id="7" name="Text 5"/>
          <p:cNvSpPr/>
          <p:nvPr/>
        </p:nvSpPr>
        <p:spPr>
          <a:xfrm>
            <a:off x="970280" y="3182615"/>
            <a:ext cx="373070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Antes do envio só quem envia mexe na memória; depois, só quem recebe.</a:t>
            </a:r>
            <a:endParaRPr lang="en-US" sz="1200" dirty="0">
              <a:latin typeface="IBM Plex Sans" charset="0"/>
              <a:ea typeface="IBM Plex Sans" charset="0"/>
              <a:cs typeface="IBM Plex Sans" charset="0"/>
            </a:endParaRPr>
          </a:p>
        </p:txBody>
      </p:sp>
      <p:sp>
        <p:nvSpPr>
          <p:cNvPr id="8" name="Shape 6"/>
          <p:cNvSpPr/>
          <p:nvPr/>
        </p:nvSpPr>
        <p:spPr>
          <a:xfrm>
            <a:off x="815975" y="3896990"/>
            <a:ext cx="3930650" cy="986790"/>
          </a:xfrm>
          <a:prstGeom prst="roundRect">
            <a:avLst>
              <a:gd name="adj" fmla="val 9974"/>
            </a:avLst>
          </a:prstGeom>
          <a:solidFill>
            <a:srgbClr val="FCFBF8"/>
          </a:solidFill>
          <a:ln w="6350">
            <a:solidFill>
              <a:srgbClr val="DCDAD2"/>
            </a:solidFill>
            <a:prstDash val="solid"/>
          </a:ln>
        </p:spPr>
      </p:sp>
      <p:sp>
        <p:nvSpPr>
          <p:cNvPr id="9" name="Text 7"/>
          <p:cNvSpPr/>
          <p:nvPr/>
        </p:nvSpPr>
        <p:spPr>
          <a:xfrm>
            <a:off x="970280" y="4051300"/>
            <a:ext cx="373070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 memória continua válida</a:t>
            </a:r>
            <a:endParaRPr lang="en-US" sz="1400" dirty="0">
              <a:latin typeface="IBM Plex Sans" charset="0"/>
              <a:ea typeface="IBM Plex Sans" charset="0"/>
              <a:cs typeface="IBM Plex Sans" charset="0"/>
            </a:endParaRPr>
          </a:p>
        </p:txBody>
      </p:sp>
      <p:sp>
        <p:nvSpPr>
          <p:cNvPr id="10" name="Text 8"/>
          <p:cNvSpPr/>
          <p:nvPr/>
        </p:nvSpPr>
        <p:spPr>
          <a:xfrm>
            <a:off x="970280" y="4302770"/>
            <a:ext cx="373070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Exatamente uma task liberta o buffer, e ninguém lhe mexe depois disso.</a:t>
            </a:r>
            <a:endParaRPr lang="en-US" sz="1200" dirty="0">
              <a:latin typeface="IBM Plex Sans" charset="0"/>
              <a:ea typeface="IBM Plex Sans" charset="0"/>
              <a:cs typeface="IBM Plex Sans" charset="0"/>
            </a:endParaRPr>
          </a:p>
        </p:txBody>
      </p:sp>
      <p:sp>
        <p:nvSpPr>
          <p:cNvPr id="11" name="Shape 9"/>
          <p:cNvSpPr/>
          <p:nvPr/>
        </p:nvSpPr>
        <p:spPr>
          <a:xfrm>
            <a:off x="815975" y="5017145"/>
            <a:ext cx="3930650" cy="773430"/>
          </a:xfrm>
          <a:prstGeom prst="roundRect">
            <a:avLst>
              <a:gd name="adj" fmla="val 12726"/>
            </a:avLst>
          </a:prstGeom>
          <a:solidFill>
            <a:srgbClr val="FCFBF8"/>
          </a:solidFill>
          <a:ln w="6350">
            <a:solidFill>
              <a:srgbClr val="DCDAD2"/>
            </a:solidFill>
            <a:prstDash val="solid"/>
          </a:ln>
        </p:spPr>
      </p:sp>
      <p:sp>
        <p:nvSpPr>
          <p:cNvPr id="12" name="Text 10"/>
          <p:cNvSpPr/>
          <p:nvPr/>
        </p:nvSpPr>
        <p:spPr>
          <a:xfrm>
            <a:off x="970280" y="5171455"/>
            <a:ext cx="373070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Nunca dados da stack</a:t>
            </a:r>
            <a:endParaRPr lang="en-US" sz="1400" dirty="0">
              <a:latin typeface="IBM Plex Sans" charset="0"/>
              <a:ea typeface="IBM Plex Sans" charset="0"/>
              <a:cs typeface="IBM Plex Sans" charset="0"/>
            </a:endParaRPr>
          </a:p>
        </p:txBody>
      </p:sp>
      <p:sp>
        <p:nvSpPr>
          <p:cNvPr id="13" name="Text 11"/>
          <p:cNvSpPr/>
          <p:nvPr/>
        </p:nvSpPr>
        <p:spPr>
          <a:xfrm>
            <a:off x="970280" y="5422900"/>
            <a:ext cx="37307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Deixam de ser válidos quando o stack frame muda.</a:t>
            </a:r>
            <a:endParaRPr lang="en-US" sz="1200" dirty="0">
              <a:latin typeface="IBM Plex Sans" charset="0"/>
              <a:ea typeface="IBM Plex Sans" charset="0"/>
              <a:cs typeface="IBM Plex Sans" charset="0"/>
            </a:endParaRPr>
          </a:p>
        </p:txBody>
      </p:sp>
      <p:sp>
        <p:nvSpPr>
          <p:cNvPr id="14" name="Text 12"/>
          <p:cNvSpPr/>
          <p:nvPr/>
        </p:nvSpPr>
        <p:spPr>
          <a:xfrm>
            <a:off x="5003800" y="1899915"/>
            <a:ext cx="6375400" cy="3078480"/>
          </a:xfrm>
          <a:prstGeom prst="roundRect">
            <a:avLst>
              <a:gd name="adj" fmla="val 2475"/>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xPointerQueue = xQueueCreate( 5, sizeof( char * )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Quem envia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pcStringToSend = ( char * ) prvGetBuffer( xMaxStringLength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snprintf( pcStringToSend, xMaxStringLength,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"String number %d\r\n", xStringNumber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xQueueSend( xPointerQueue, &amp;pcStringToSend, portMAX_DELAY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Quem recebe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xQueueReceive( xPointerQueue, &amp;pcReceivedString,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vPrintString( pcReceivedString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prvReleaseBuffer( pcReceivedString );</a:t>
            </a:r>
            <a:endParaRPr lang="en-US" sz="1200" dirty="0">
              <a:latin typeface="JetBrains Mono" charset="0"/>
              <a:ea typeface="JetBrains Mono" charset="0"/>
              <a:cs typeface="JetBrains Mono" charset="0"/>
            </a:endParaRPr>
          </a:p>
        </p:txBody>
      </p:sp>
      <p:sp>
        <p:nvSpPr>
          <p:cNvPr id="15" name="Text 13"/>
          <p:cNvSpPr/>
          <p:nvPr/>
        </p:nvSpPr>
        <p:spPr>
          <a:xfrm>
            <a:off x="5003800" y="5054600"/>
            <a:ext cx="656666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Nota: envia-se o </a:t>
            </a:r>
            <a:r>
              <a:rPr lang="en-US" sz="1200" b="1" dirty="0">
                <a:solidFill>
                  <a:srgbClr val="66717C"/>
                </a:solidFill>
                <a:latin typeface="IBM Plex Sans" pitchFamily="34" charset="0"/>
                <a:ea typeface="IBM Plex Sans" pitchFamily="34" charset="-122"/>
                <a:cs typeface="IBM Plex Sans" pitchFamily="34" charset="-120"/>
              </a:rPr>
              <a:t>endereço do ponteiro</a:t>
            </a:r>
            <a:r>
              <a:rPr lang="en-US" sz="1200" dirty="0">
                <a:solidFill>
                  <a:srgbClr val="66717C"/>
                </a:solidFill>
                <a:latin typeface="IBM Plex Sans" pitchFamily="34" charset="0"/>
                <a:ea typeface="IBM Plex Sans" pitchFamily="34" charset="-122"/>
                <a:cs typeface="IBM Plex Sans" pitchFamily="34" charset="-120"/>
              </a:rPr>
              <a:t> (&amp;pcStringToSend): a queue copia o ponteiro, não a string.</a:t>
            </a:r>
            <a:endParaRPr lang="en-US" sz="1200" dirty="0">
              <a:latin typeface="IBM Plex Sans" charset="0"/>
              <a:ea typeface="IBM Plex Sans" charset="0"/>
              <a:cs typeface="IBM Plex Sans" charset="0"/>
            </a:endParaRPr>
          </a:p>
        </p:txBody>
      </p:sp>
      <p:sp>
        <p:nvSpPr>
          <p:cNvPr id="16" name="Text 14"/>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17" name="Text 15"/>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53</a:t>
            </a:r>
            <a:endParaRPr lang="en-US" sz="1200" dirty="0">
              <a:latin typeface="IBM Plex Sans" charset="0"/>
              <a:ea typeface="IBM Plex Sans" charset="0"/>
              <a:cs typeface="IBM Plex Sans"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QUEUES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Mailbox: uma queue de comprimento 1</a:t>
            </a:r>
            <a:endParaRPr lang="en-US" sz="3200" dirty="0">
              <a:latin typeface="IBM Plex Sans" charset="0"/>
              <a:ea typeface="IBM Plex Sans" charset="0"/>
              <a:cs typeface="IBM Plex Sans" charset="0"/>
            </a:endParaRPr>
          </a:p>
        </p:txBody>
      </p:sp>
      <p:sp>
        <p:nvSpPr>
          <p:cNvPr id="4" name="Shape 2"/>
          <p:cNvSpPr/>
          <p:nvPr/>
        </p:nvSpPr>
        <p:spPr>
          <a:xfrm>
            <a:off x="815975" y="1801490"/>
            <a:ext cx="5175250" cy="1700530"/>
          </a:xfrm>
          <a:prstGeom prst="roundRect">
            <a:avLst>
              <a:gd name="adj" fmla="val 5788"/>
            </a:avLst>
          </a:prstGeom>
          <a:solidFill>
            <a:srgbClr val="FCFBF8"/>
          </a:solidFill>
          <a:ln w="6350">
            <a:solidFill>
              <a:srgbClr val="DCDAD2"/>
            </a:solidFill>
            <a:prstDash val="solid"/>
          </a:ln>
        </p:spPr>
      </p:sp>
      <p:sp>
        <p:nvSpPr>
          <p:cNvPr id="5" name="Text 3"/>
          <p:cNvSpPr/>
          <p:nvPr/>
        </p:nvSpPr>
        <p:spPr>
          <a:xfrm>
            <a:off x="1021080" y="20066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QUEUE</a:t>
            </a:r>
            <a:endParaRPr lang="en-US" sz="1200" dirty="0">
              <a:latin typeface="IBM Plex Sans" charset="0"/>
              <a:ea typeface="IBM Plex Sans" charset="0"/>
              <a:cs typeface="IBM Plex Sans" charset="0"/>
            </a:endParaRPr>
          </a:p>
        </p:txBody>
      </p:sp>
      <p:sp>
        <p:nvSpPr>
          <p:cNvPr id="6" name="Text 4"/>
          <p:cNvSpPr/>
          <p:nvPr/>
        </p:nvSpPr>
        <p:spPr>
          <a:xfrm>
            <a:off x="1021080" y="2296170"/>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Os dados </a:t>
            </a:r>
            <a:r>
              <a:rPr lang="en-US" sz="1400" b="1" dirty="0">
                <a:solidFill>
                  <a:srgbClr val="44505C"/>
                </a:solidFill>
                <a:latin typeface="IBM Plex Sans" pitchFamily="34" charset="0"/>
                <a:ea typeface="IBM Plex Sans" pitchFamily="34" charset="-122"/>
                <a:cs typeface="IBM Plex Sans" pitchFamily="34" charset="-120"/>
              </a:rPr>
              <a:t>passam</a:t>
            </a:r>
            <a:r>
              <a:rPr lang="en-US" sz="1400" dirty="0">
                <a:solidFill>
                  <a:srgbClr val="44505C"/>
                </a:solidFill>
                <a:latin typeface="IBM Plex Sans" pitchFamily="34" charset="0"/>
                <a:ea typeface="IBM Plex Sans" pitchFamily="34" charset="-122"/>
                <a:cs typeface="IBM Plex Sans" pitchFamily="34" charset="-120"/>
              </a:rPr>
              <a:t> pela queue: quem envia coloca, quem recebe retira.</a:t>
            </a:r>
            <a:endParaRPr lang="en-US" sz="1400" dirty="0">
              <a:latin typeface="IBM Plex Sans" charset="0"/>
              <a:ea typeface="IBM Plex Sans" charset="0"/>
              <a:cs typeface="IBM Plex Sans" charset="0"/>
            </a:endParaRPr>
          </a:p>
        </p:txBody>
      </p:sp>
      <p:sp>
        <p:nvSpPr>
          <p:cNvPr id="7" name="Shape 5"/>
          <p:cNvSpPr/>
          <p:nvPr/>
        </p:nvSpPr>
        <p:spPr>
          <a:xfrm>
            <a:off x="6200775" y="1801490"/>
            <a:ext cx="5175250" cy="1700530"/>
          </a:xfrm>
          <a:prstGeom prst="roundRect">
            <a:avLst>
              <a:gd name="adj" fmla="val 5788"/>
            </a:avLst>
          </a:prstGeom>
          <a:solidFill>
            <a:srgbClr val="E3EFEC"/>
          </a:solidFill>
          <a:ln w="6350">
            <a:solidFill>
              <a:srgbClr val="DCDAD2"/>
            </a:solidFill>
            <a:prstDash val="solid"/>
          </a:ln>
        </p:spPr>
      </p:sp>
      <p:sp>
        <p:nvSpPr>
          <p:cNvPr id="8" name="Text 6"/>
          <p:cNvSpPr/>
          <p:nvPr/>
        </p:nvSpPr>
        <p:spPr>
          <a:xfrm>
            <a:off x="6405880" y="20066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MAILBOX</a:t>
            </a:r>
            <a:endParaRPr lang="en-US" sz="1200" dirty="0">
              <a:latin typeface="IBM Plex Sans" charset="0"/>
              <a:ea typeface="IBM Plex Sans" charset="0"/>
              <a:cs typeface="IBM Plex Sans" charset="0"/>
            </a:endParaRPr>
          </a:p>
        </p:txBody>
      </p:sp>
      <p:sp>
        <p:nvSpPr>
          <p:cNvPr id="9" name="Text 7"/>
          <p:cNvSpPr/>
          <p:nvPr/>
        </p:nvSpPr>
        <p:spPr>
          <a:xfrm>
            <a:off x="6405880" y="2296170"/>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Os dados </a:t>
            </a:r>
            <a:r>
              <a:rPr lang="en-US" sz="1400" b="1" dirty="0">
                <a:solidFill>
                  <a:srgbClr val="44505C"/>
                </a:solidFill>
                <a:latin typeface="IBM Plex Sans" pitchFamily="34" charset="0"/>
                <a:ea typeface="IBM Plex Sans" pitchFamily="34" charset="-122"/>
                <a:cs typeface="IBM Plex Sans" pitchFamily="34" charset="-120"/>
              </a:rPr>
              <a:t>ficam</a:t>
            </a:r>
            <a:r>
              <a:rPr lang="en-US" sz="1400" dirty="0">
                <a:solidFill>
                  <a:srgbClr val="44505C"/>
                </a:solidFill>
                <a:latin typeface="IBM Plex Sans" pitchFamily="34" charset="0"/>
                <a:ea typeface="IBM Plex Sans" pitchFamily="34" charset="-122"/>
                <a:cs typeface="IBM Plex Sans" pitchFamily="34" charset="-120"/>
              </a:rPr>
              <a:t> na mailbox até serem sobrescritos. Qualquer task ou ISR os pode ler, sem os retirar.</a:t>
            </a:r>
            <a:endParaRPr lang="en-US" sz="1400" dirty="0">
              <a:latin typeface="IBM Plex Sans" charset="0"/>
              <a:ea typeface="IBM Plex Sans" charset="0"/>
              <a:cs typeface="IBM Plex Sans" charset="0"/>
            </a:endParaRPr>
          </a:p>
        </p:txBody>
      </p:sp>
      <p:sp>
        <p:nvSpPr>
          <p:cNvPr id="10" name="Text 8"/>
          <p:cNvSpPr/>
          <p:nvPr/>
        </p:nvSpPr>
        <p:spPr>
          <a:xfrm>
            <a:off x="6405880" y="2870200"/>
            <a:ext cx="490799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Exemplo:</a:t>
            </a:r>
            <a:r>
              <a:rPr lang="en-US" sz="1200" dirty="0">
                <a:solidFill>
                  <a:srgbClr val="14222E"/>
                </a:solidFill>
                <a:latin typeface="IBM Plex Sans" pitchFamily="34" charset="0"/>
                <a:ea typeface="IBM Plex Sans" pitchFamily="34" charset="-122"/>
                <a:cs typeface="IBM Plex Sans" pitchFamily="34" charset="-120"/>
              </a:rPr>
              <a:t> a task do sensor escreve a temperatura a cada 100 ms; as outras leem o último valor quando precisam.</a:t>
            </a:r>
            <a:endParaRPr lang="en-US" sz="1200" dirty="0">
              <a:latin typeface="IBM Plex Sans" charset="0"/>
              <a:ea typeface="IBM Plex Sans" charset="0"/>
              <a:cs typeface="IBM Plex Sans" charset="0"/>
            </a:endParaRPr>
          </a:p>
        </p:txBody>
      </p:sp>
      <p:sp>
        <p:nvSpPr>
          <p:cNvPr id="11" name="Text 9"/>
          <p:cNvSpPr/>
          <p:nvPr/>
        </p:nvSpPr>
        <p:spPr>
          <a:xfrm>
            <a:off x="812800" y="37084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Escrever: xQueueOverwrite()</a:t>
            </a:r>
            <a:endParaRPr lang="en-US" sz="1200" dirty="0">
              <a:latin typeface="IBM Plex Sans" charset="0"/>
              <a:ea typeface="IBM Plex Sans" charset="0"/>
              <a:cs typeface="IBM Plex Sans" charset="0"/>
            </a:endParaRPr>
          </a:p>
        </p:txBody>
      </p:sp>
      <p:sp>
        <p:nvSpPr>
          <p:cNvPr id="12" name="Text 10"/>
          <p:cNvSpPr/>
          <p:nvPr/>
        </p:nvSpPr>
        <p:spPr>
          <a:xfrm>
            <a:off x="812800" y="3997970"/>
            <a:ext cx="5181600" cy="1371600"/>
          </a:xfrm>
          <a:prstGeom prst="roundRect">
            <a:avLst>
              <a:gd name="adj" fmla="val 5556"/>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xMailbox = xQueueCreate( 1, sizeof( Example_t )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xData.ulValue = ulNewValue;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xData.xTimeStamp = xTaskGetTickCount();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xQueueOverwrite( xMailbox, &amp;xData );</a:t>
            </a:r>
            <a:endParaRPr lang="en-US" sz="1200" dirty="0">
              <a:latin typeface="JetBrains Mono" charset="0"/>
              <a:ea typeface="JetBrains Mono" charset="0"/>
              <a:cs typeface="JetBrains Mono" charset="0"/>
            </a:endParaRPr>
          </a:p>
        </p:txBody>
      </p:sp>
      <p:sp>
        <p:nvSpPr>
          <p:cNvPr id="13" name="Text 11"/>
          <p:cNvSpPr/>
          <p:nvPr/>
        </p:nvSpPr>
        <p:spPr>
          <a:xfrm>
            <a:off x="812800" y="5445770"/>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Só para queues de comprimento 1. Devolve sempre pdPASS.</a:t>
            </a:r>
            <a:endParaRPr lang="en-US" sz="1200" dirty="0">
              <a:latin typeface="IBM Plex Sans" charset="0"/>
              <a:ea typeface="IBM Plex Sans" charset="0"/>
              <a:cs typeface="IBM Plex Sans" charset="0"/>
            </a:endParaRPr>
          </a:p>
        </p:txBody>
      </p:sp>
      <p:sp>
        <p:nvSpPr>
          <p:cNvPr id="14" name="Text 12"/>
          <p:cNvSpPr/>
          <p:nvPr/>
        </p:nvSpPr>
        <p:spPr>
          <a:xfrm>
            <a:off x="6197600" y="37084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Ler: xQueuePeek()</a:t>
            </a:r>
            <a:endParaRPr lang="en-US" sz="1200" dirty="0">
              <a:latin typeface="IBM Plex Sans" charset="0"/>
              <a:ea typeface="IBM Plex Sans" charset="0"/>
              <a:cs typeface="IBM Plex Sans" charset="0"/>
            </a:endParaRPr>
          </a:p>
        </p:txBody>
      </p:sp>
      <p:sp>
        <p:nvSpPr>
          <p:cNvPr id="15" name="Text 13"/>
          <p:cNvSpPr/>
          <p:nvPr/>
        </p:nvSpPr>
        <p:spPr>
          <a:xfrm>
            <a:off x="6197600" y="3997970"/>
            <a:ext cx="5181600" cy="1371600"/>
          </a:xfrm>
          <a:prstGeom prst="roundRect">
            <a:avLst>
              <a:gd name="adj" fmla="val 5556"/>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xQueuePeek( QueueHandle_t xQueue,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void * const pvBuffer,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xTicksToWait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xQueuePeek( xMailbox, pxData, portMAX_DELAY );</a:t>
            </a:r>
            <a:endParaRPr lang="en-US" sz="1200" dirty="0">
              <a:latin typeface="JetBrains Mono" charset="0"/>
              <a:ea typeface="JetBrains Mono" charset="0"/>
              <a:cs typeface="JetBrains Mono" charset="0"/>
            </a:endParaRPr>
          </a:p>
        </p:txBody>
      </p:sp>
      <p:sp>
        <p:nvSpPr>
          <p:cNvPr id="16" name="Text 14"/>
          <p:cNvSpPr/>
          <p:nvPr/>
        </p:nvSpPr>
        <p:spPr>
          <a:xfrm>
            <a:off x="6197600" y="5445770"/>
            <a:ext cx="533704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Lê da frente </a:t>
            </a:r>
            <a:r>
              <a:rPr lang="en-US" sz="1200" b="1" dirty="0">
                <a:solidFill>
                  <a:srgbClr val="66717C"/>
                </a:solidFill>
                <a:latin typeface="IBM Plex Sans" pitchFamily="34" charset="0"/>
                <a:ea typeface="IBM Plex Sans" pitchFamily="34" charset="-122"/>
                <a:cs typeface="IBM Plex Sans" pitchFamily="34" charset="-120"/>
              </a:rPr>
              <a:t>sem remover</a:t>
            </a:r>
            <a:r>
              <a:rPr lang="en-US" sz="1200" dirty="0">
                <a:solidFill>
                  <a:srgbClr val="66717C"/>
                </a:solidFill>
                <a:latin typeface="IBM Plex Sans" pitchFamily="34" charset="0"/>
                <a:ea typeface="IBM Plex Sans" pitchFamily="34" charset="-122"/>
                <a:cs typeface="IBM Plex Sans" pitchFamily="34" charset="-120"/>
              </a:rPr>
              <a:t>. Mesmos parâmetros de xQueueReceive().</a:t>
            </a:r>
            <a:endParaRPr lang="en-US" sz="1200" dirty="0">
              <a:latin typeface="IBM Plex Sans" charset="0"/>
              <a:ea typeface="IBM Plex Sans" charset="0"/>
              <a:cs typeface="IBM Plex Sans" charset="0"/>
            </a:endParaRPr>
          </a:p>
        </p:txBody>
      </p:sp>
      <p:sp>
        <p:nvSpPr>
          <p:cNvPr id="17" name="Text 15"/>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5</a:t>
            </a:r>
            <a:endParaRPr lang="en-US" sz="1200" dirty="0">
              <a:latin typeface="IBM Plex Sans" charset="0"/>
              <a:ea typeface="IBM Plex Sans" charset="0"/>
              <a:cs typeface="IBM Plex Sans" charset="0"/>
            </a:endParaRPr>
          </a:p>
        </p:txBody>
      </p:sp>
      <p:sp>
        <p:nvSpPr>
          <p:cNvPr id="18" name="Text 16"/>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54</a:t>
            </a:r>
            <a:endParaRPr lang="en-US" sz="1200" dirty="0">
              <a:latin typeface="IBM Plex Sans" charset="0"/>
              <a:ea typeface="IBM Plex Sans" charset="0"/>
              <a:cs typeface="IBM Plex Sans"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4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70"/>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As queues copiam os dados e bloqueiam quem lê de uma queue vazia ou escreve numa cheia; as prioridades decidem se andam vazias ou cheias.</a:t>
            </a:r>
            <a:endParaRPr lang="en-US" sz="3200" dirty="0">
              <a:latin typeface="IBM Plex Sans" charset="0"/>
              <a:ea typeface="IBM Plex Sans" charset="0"/>
              <a:cs typeface="IBM Plex Sans" charset="0"/>
            </a:endParaRPr>
          </a:p>
        </p:txBody>
      </p:sp>
      <p:sp>
        <p:nvSpPr>
          <p:cNvPr id="4" name="Text 2"/>
          <p:cNvSpPr/>
          <p:nvPr/>
        </p:nvSpPr>
        <p:spPr>
          <a:xfrm>
            <a:off x="819150" y="2942605"/>
            <a:ext cx="279701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xQueueSend / xQueueReceive</a:t>
            </a:r>
            <a:endParaRPr lang="en-US" sz="1400" dirty="0">
              <a:latin typeface="IBM Plex Sans" charset="0"/>
              <a:ea typeface="IBM Plex Sans" charset="0"/>
              <a:cs typeface="IBM Plex Sans" charset="0"/>
            </a:endParaRPr>
          </a:p>
        </p:txBody>
      </p:sp>
      <p:sp>
        <p:nvSpPr>
          <p:cNvPr id="5" name="Text 3"/>
          <p:cNvSpPr/>
          <p:nvPr/>
        </p:nvSpPr>
        <p:spPr>
          <a:xfrm>
            <a:off x="3730466" y="2942605"/>
            <a:ext cx="151749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Queue by copy</a:t>
            </a:r>
            <a:endParaRPr lang="en-US" sz="1400" dirty="0">
              <a:latin typeface="IBM Plex Sans" charset="0"/>
              <a:ea typeface="IBM Plex Sans" charset="0"/>
              <a:cs typeface="IBM Plex Sans" charset="0"/>
            </a:endParaRPr>
          </a:p>
        </p:txBody>
      </p:sp>
      <p:sp>
        <p:nvSpPr>
          <p:cNvPr id="6" name="Text 4"/>
          <p:cNvSpPr/>
          <p:nvPr/>
        </p:nvSpPr>
        <p:spPr>
          <a:xfrm>
            <a:off x="5362258" y="2942605"/>
            <a:ext cx="118832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Block time</a:t>
            </a:r>
            <a:endParaRPr lang="en-US" sz="1400" dirty="0">
              <a:latin typeface="IBM Plex Sans" charset="0"/>
              <a:ea typeface="IBM Plex Sans" charset="0"/>
              <a:cs typeface="IBM Plex Sans" charset="0"/>
            </a:endParaRPr>
          </a:p>
        </p:txBody>
      </p:sp>
      <p:sp>
        <p:nvSpPr>
          <p:cNvPr id="7" name="Text 5"/>
          <p:cNvSpPr/>
          <p:nvPr/>
        </p:nvSpPr>
        <p:spPr>
          <a:xfrm>
            <a:off x="6664881" y="2942605"/>
            <a:ext cx="277876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Estruturas para várias origens</a:t>
            </a:r>
            <a:endParaRPr lang="en-US" sz="1400" dirty="0">
              <a:latin typeface="IBM Plex Sans" charset="0"/>
              <a:ea typeface="IBM Plex Sans" charset="0"/>
              <a:cs typeface="IBM Plex Sans" charset="0"/>
            </a:endParaRPr>
          </a:p>
        </p:txBody>
      </p:sp>
      <p:sp>
        <p:nvSpPr>
          <p:cNvPr id="8" name="Text 6"/>
          <p:cNvSpPr/>
          <p:nvPr/>
        </p:nvSpPr>
        <p:spPr>
          <a:xfrm>
            <a:off x="819150" y="3440435"/>
            <a:ext cx="276344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Ponteiros para dados grandes</a:t>
            </a:r>
            <a:endParaRPr lang="en-US" sz="1400" dirty="0">
              <a:latin typeface="IBM Plex Sans" charset="0"/>
              <a:ea typeface="IBM Plex Sans" charset="0"/>
              <a:cs typeface="IBM Plex Sans" charset="0"/>
            </a:endParaRPr>
          </a:p>
        </p:txBody>
      </p:sp>
      <p:sp>
        <p:nvSpPr>
          <p:cNvPr id="9" name="Text 7"/>
          <p:cNvSpPr/>
          <p:nvPr/>
        </p:nvSpPr>
        <p:spPr>
          <a:xfrm>
            <a:off x="3696891" y="3440435"/>
            <a:ext cx="95916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Mailbox</a:t>
            </a:r>
            <a:endParaRPr lang="en-US" sz="1400" dirty="0">
              <a:latin typeface="IBM Plex Sans" charset="0"/>
              <a:ea typeface="IBM Plex Sans" charset="0"/>
              <a:cs typeface="IBM Plex Sans" charset="0"/>
            </a:endParaRPr>
          </a:p>
        </p:txBody>
      </p:sp>
      <p:sp>
        <p:nvSpPr>
          <p:cNvPr id="10" name="Text 8"/>
          <p:cNvSpPr/>
          <p:nvPr/>
        </p:nvSpPr>
        <p:spPr>
          <a:xfrm>
            <a:off x="812800" y="576071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sessões práticas 1 e 2, na placa. Depois, o Módulo 5.</a:t>
            </a:r>
            <a:endParaRPr lang="en-US" sz="1600" dirty="0">
              <a:latin typeface="IBM Plex Sans" charset="0"/>
              <a:ea typeface="IBM Plex Sans" charset="0"/>
              <a:cs typeface="IBM Plex Sans"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SESSÃO PRÁTICA 1</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15"/>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Ambiente e primeiro projeto</a:t>
            </a:r>
            <a:endParaRPr lang="en-US" sz="6000" dirty="0">
              <a:latin typeface="IBM Plex Sans" charset="0"/>
              <a:ea typeface="IBM Plex Sans" charset="0"/>
              <a:cs typeface="IBM Plex Sans" charset="0"/>
            </a:endParaRPr>
          </a:p>
        </p:txBody>
      </p:sp>
      <p:sp>
        <p:nvSpPr>
          <p:cNvPr id="4" name="Text 2"/>
          <p:cNvSpPr/>
          <p:nvPr/>
        </p:nvSpPr>
        <p:spPr>
          <a:xfrm>
            <a:off x="812800" y="2128515"/>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Raspberry Pi Pico 2 nos cores RISC-V, VS Code, pico-sdk, FreeRTOS e um J-Link</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697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A DISTRIBUIÇÃO (LIVRO, CAP. 2)</a:t>
            </a:r>
            <a:endParaRPr lang="en-US" sz="1200" dirty="0">
              <a:latin typeface="IBM Plex Sans" charset="0"/>
              <a:ea typeface="IBM Plex Sans" charset="0"/>
              <a:cs typeface="IBM Plex Sans" charset="0"/>
            </a:endParaRPr>
          </a:p>
        </p:txBody>
      </p:sp>
      <p:sp>
        <p:nvSpPr>
          <p:cNvPr id="7" name="Text 5"/>
          <p:cNvSpPr/>
          <p:nvPr/>
        </p:nvSpPr>
        <p:spPr>
          <a:xfrm>
            <a:off x="812800" y="5151115"/>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Ports, ficheiros-fonte, include paths, FreeRTOSConfig.h, convenções</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INTEGRAR NO PICO-SDK</a:t>
            </a:r>
            <a:endParaRPr lang="en-US" sz="1200" dirty="0">
              <a:latin typeface="IBM Plex Sans" charset="0"/>
              <a:ea typeface="IBM Plex Sans" charset="0"/>
              <a:cs typeface="IBM Plex Sans" charset="0"/>
            </a:endParaRPr>
          </a:p>
        </p:txBody>
      </p:sp>
      <p:sp>
        <p:nvSpPr>
          <p:cNvPr id="10" name="Text 8"/>
          <p:cNvSpPr/>
          <p:nvPr/>
        </p:nvSpPr>
        <p:spPr>
          <a:xfrm>
            <a:off x="4402614" y="5151115"/>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Projeto Pico em RISC-V, kernel da Raspberry Pi, configuração</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PRIMEIRO PROGRAMA</a:t>
            </a:r>
            <a:endParaRPr lang="en-US" sz="1200" dirty="0">
              <a:latin typeface="IBM Plex Sans" charset="0"/>
              <a:ea typeface="IBM Plex Sans" charset="0"/>
              <a:cs typeface="IBM Plex Sans" charset="0"/>
            </a:endParaRPr>
          </a:p>
        </p:txBody>
      </p:sp>
      <p:sp>
        <p:nvSpPr>
          <p:cNvPr id="13" name="Text 11"/>
          <p:cNvSpPr/>
          <p:nvPr/>
        </p:nvSpPr>
        <p:spPr>
          <a:xfrm>
            <a:off x="7992507" y="5151115"/>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Duas tasks, uma queue, um LED; hooks e debug com o J-Link</a:t>
            </a:r>
            <a:endParaRPr lang="en-US" sz="1200" dirty="0">
              <a:latin typeface="IBM Plex Sans" charset="0"/>
              <a:ea typeface="IBM Plex Sans" charset="0"/>
              <a:cs typeface="IBM Plex Sans" charset="0"/>
            </a:endParaRPr>
          </a:p>
        </p:txBody>
      </p:sp>
      <p:sp>
        <p:nvSpPr>
          <p:cNvPr id="14" name="Text 12"/>
          <p:cNvSpPr/>
          <p:nvPr/>
        </p:nvSpPr>
        <p:spPr>
          <a:xfrm>
            <a:off x="812800" y="58318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2; pico-sdk, pico-examples e raspberrypi/FreeRTOS-Kernel</a:t>
            </a:r>
            <a:endParaRPr lang="en-US" sz="1200" dirty="0">
              <a:latin typeface="IBM Plex Sans" charset="0"/>
              <a:ea typeface="IBM Plex Sans" charset="0"/>
              <a:cs typeface="IBM Plex Sans"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1</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No fim desta sessão, cada formando tem</a:t>
            </a:r>
            <a:endParaRPr lang="en-US" sz="3200" dirty="0">
              <a:latin typeface="IBM Plex Sans" charset="0"/>
              <a:ea typeface="IBM Plex Sans" charset="0"/>
              <a:cs typeface="IBM Plex Sans" charset="0"/>
            </a:endParaRPr>
          </a:p>
        </p:txBody>
      </p:sp>
      <p:sp>
        <p:nvSpPr>
          <p:cNvPr id="4" name="Shape 2"/>
          <p:cNvSpPr/>
          <p:nvPr/>
        </p:nvSpPr>
        <p:spPr>
          <a:xfrm>
            <a:off x="812800" y="1801490"/>
            <a:ext cx="5130800" cy="0"/>
          </a:xfrm>
          <a:prstGeom prst="line">
            <a:avLst/>
          </a:prstGeom>
          <a:noFill/>
          <a:ln w="6350">
            <a:solidFill>
              <a:srgbClr val="DCDAD2"/>
            </a:solidFill>
            <a:prstDash val="solid"/>
          </a:ln>
        </p:spPr>
      </p:sp>
      <p:sp>
        <p:nvSpPr>
          <p:cNvPr id="5" name="Text 3"/>
          <p:cNvSpPr/>
          <p:nvPr/>
        </p:nvSpPr>
        <p:spPr>
          <a:xfrm>
            <a:off x="812800" y="190500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01</a:t>
            </a:r>
            <a:endParaRPr lang="en-US" sz="1400" dirty="0">
              <a:latin typeface="JetBrains Mono" charset="0"/>
              <a:ea typeface="JetBrains Mono" charset="0"/>
              <a:cs typeface="JetBrains Mono" charset="0"/>
            </a:endParaRPr>
          </a:p>
        </p:txBody>
      </p:sp>
      <p:sp>
        <p:nvSpPr>
          <p:cNvPr id="6" name="Text 4"/>
          <p:cNvSpPr/>
          <p:nvPr/>
        </p:nvSpPr>
        <p:spPr>
          <a:xfrm>
            <a:off x="1295400" y="1905000"/>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Ferramentas instaladas</a:t>
            </a:r>
            <a:endParaRPr lang="en-US" sz="1500" dirty="0">
              <a:latin typeface="IBM Plex Sans" charset="0"/>
              <a:ea typeface="IBM Plex Sans" charset="0"/>
              <a:cs typeface="IBM Plex Sans" charset="0"/>
            </a:endParaRPr>
          </a:p>
        </p:txBody>
      </p:sp>
      <p:sp>
        <p:nvSpPr>
          <p:cNvPr id="7" name="Text 5"/>
          <p:cNvSpPr/>
          <p:nvPr/>
        </p:nvSpPr>
        <p:spPr>
          <a:xfrm>
            <a:off x="1295400" y="2159000"/>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VS Code e extensão Pico a compilar; J-Link a programar a placa.</a:t>
            </a:r>
            <a:endParaRPr lang="en-US" sz="1200" dirty="0">
              <a:latin typeface="IBM Plex Sans" charset="0"/>
              <a:ea typeface="IBM Plex Sans" charset="0"/>
              <a:cs typeface="IBM Plex Sans" charset="0"/>
            </a:endParaRPr>
          </a:p>
        </p:txBody>
      </p:sp>
      <p:sp>
        <p:nvSpPr>
          <p:cNvPr id="8" name="Shape 6"/>
          <p:cNvSpPr/>
          <p:nvPr/>
        </p:nvSpPr>
        <p:spPr>
          <a:xfrm>
            <a:off x="6248400" y="1801490"/>
            <a:ext cx="5130800" cy="0"/>
          </a:xfrm>
          <a:prstGeom prst="line">
            <a:avLst/>
          </a:prstGeom>
          <a:noFill/>
          <a:ln w="6350">
            <a:solidFill>
              <a:srgbClr val="DCDAD2"/>
            </a:solidFill>
            <a:prstDash val="solid"/>
          </a:ln>
        </p:spPr>
      </p:sp>
      <p:sp>
        <p:nvSpPr>
          <p:cNvPr id="9" name="Text 7"/>
          <p:cNvSpPr/>
          <p:nvPr/>
        </p:nvSpPr>
        <p:spPr>
          <a:xfrm>
            <a:off x="6248400" y="1905000"/>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02</a:t>
            </a:r>
            <a:endParaRPr lang="en-US" sz="1400" dirty="0">
              <a:latin typeface="JetBrains Mono" charset="0"/>
              <a:ea typeface="JetBrains Mono" charset="0"/>
              <a:cs typeface="JetBrains Mono" charset="0"/>
            </a:endParaRPr>
          </a:p>
        </p:txBody>
      </p:sp>
      <p:sp>
        <p:nvSpPr>
          <p:cNvPr id="10" name="Text 8"/>
          <p:cNvSpPr/>
          <p:nvPr/>
        </p:nvSpPr>
        <p:spPr>
          <a:xfrm>
            <a:off x="6731000" y="1905000"/>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Kernel descarregado</a:t>
            </a:r>
            <a:endParaRPr lang="en-US" sz="1500" dirty="0">
              <a:latin typeface="IBM Plex Sans" charset="0"/>
              <a:ea typeface="IBM Plex Sans" charset="0"/>
              <a:cs typeface="IBM Plex Sans" charset="0"/>
            </a:endParaRPr>
          </a:p>
        </p:txBody>
      </p:sp>
      <p:sp>
        <p:nvSpPr>
          <p:cNvPr id="11" name="Text 9"/>
          <p:cNvSpPr/>
          <p:nvPr/>
        </p:nvSpPr>
        <p:spPr>
          <a:xfrm>
            <a:off x="6731000" y="2159000"/>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FreeRTOS-Kernel da Raspberry Pi, com o port RP2350_RISC-V.</a:t>
            </a:r>
            <a:endParaRPr lang="en-US" sz="1200" dirty="0">
              <a:latin typeface="IBM Plex Sans" charset="0"/>
              <a:ea typeface="IBM Plex Sans" charset="0"/>
              <a:cs typeface="IBM Plex Sans" charset="0"/>
            </a:endParaRPr>
          </a:p>
        </p:txBody>
      </p:sp>
      <p:sp>
        <p:nvSpPr>
          <p:cNvPr id="12" name="Shape 10"/>
          <p:cNvSpPr/>
          <p:nvPr/>
        </p:nvSpPr>
        <p:spPr>
          <a:xfrm>
            <a:off x="812800" y="2426345"/>
            <a:ext cx="5130800" cy="0"/>
          </a:xfrm>
          <a:prstGeom prst="line">
            <a:avLst/>
          </a:prstGeom>
          <a:noFill/>
          <a:ln w="6350">
            <a:solidFill>
              <a:srgbClr val="DCDAD2"/>
            </a:solidFill>
            <a:prstDash val="solid"/>
          </a:ln>
        </p:spPr>
      </p:sp>
      <p:sp>
        <p:nvSpPr>
          <p:cNvPr id="13" name="Text 11"/>
          <p:cNvSpPr/>
          <p:nvPr/>
        </p:nvSpPr>
        <p:spPr>
          <a:xfrm>
            <a:off x="812800" y="2529855"/>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03</a:t>
            </a:r>
            <a:endParaRPr lang="en-US" sz="1400" dirty="0">
              <a:latin typeface="JetBrains Mono" charset="0"/>
              <a:ea typeface="JetBrains Mono" charset="0"/>
              <a:cs typeface="JetBrains Mono" charset="0"/>
            </a:endParaRPr>
          </a:p>
        </p:txBody>
      </p:sp>
      <p:sp>
        <p:nvSpPr>
          <p:cNvPr id="14" name="Text 12"/>
          <p:cNvSpPr/>
          <p:nvPr/>
        </p:nvSpPr>
        <p:spPr>
          <a:xfrm>
            <a:off x="1295400" y="2529855"/>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Projeto base a correr</a:t>
            </a:r>
            <a:endParaRPr lang="en-US" sz="1500" dirty="0">
              <a:latin typeface="IBM Plex Sans" charset="0"/>
              <a:ea typeface="IBM Plex Sans" charset="0"/>
              <a:cs typeface="IBM Plex Sans" charset="0"/>
            </a:endParaRPr>
          </a:p>
        </p:txBody>
      </p:sp>
      <p:sp>
        <p:nvSpPr>
          <p:cNvPr id="15" name="Text 13"/>
          <p:cNvSpPr/>
          <p:nvPr/>
        </p:nvSpPr>
        <p:spPr>
          <a:xfrm>
            <a:off x="1295400" y="2783855"/>
            <a:ext cx="478764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 LED a piscar com o pico-sdk, nos cores RISC-V, ainda sem RTOS.</a:t>
            </a:r>
            <a:endParaRPr lang="en-US" sz="1200" dirty="0">
              <a:latin typeface="IBM Plex Sans" charset="0"/>
              <a:ea typeface="IBM Plex Sans" charset="0"/>
              <a:cs typeface="IBM Plex Sans" charset="0"/>
            </a:endParaRPr>
          </a:p>
        </p:txBody>
      </p:sp>
      <p:sp>
        <p:nvSpPr>
          <p:cNvPr id="16" name="Shape 14"/>
          <p:cNvSpPr/>
          <p:nvPr/>
        </p:nvSpPr>
        <p:spPr>
          <a:xfrm>
            <a:off x="6248400" y="2426345"/>
            <a:ext cx="5130800" cy="0"/>
          </a:xfrm>
          <a:prstGeom prst="line">
            <a:avLst/>
          </a:prstGeom>
          <a:noFill/>
          <a:ln w="6350">
            <a:solidFill>
              <a:srgbClr val="DCDAD2"/>
            </a:solidFill>
            <a:prstDash val="solid"/>
          </a:ln>
        </p:spPr>
      </p:sp>
      <p:sp>
        <p:nvSpPr>
          <p:cNvPr id="17" name="Text 15"/>
          <p:cNvSpPr/>
          <p:nvPr/>
        </p:nvSpPr>
        <p:spPr>
          <a:xfrm>
            <a:off x="6248400" y="2529855"/>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04</a:t>
            </a:r>
            <a:endParaRPr lang="en-US" sz="1400" dirty="0">
              <a:latin typeface="JetBrains Mono" charset="0"/>
              <a:ea typeface="JetBrains Mono" charset="0"/>
              <a:cs typeface="JetBrains Mono" charset="0"/>
            </a:endParaRPr>
          </a:p>
        </p:txBody>
      </p:sp>
      <p:sp>
        <p:nvSpPr>
          <p:cNvPr id="18" name="Text 16"/>
          <p:cNvSpPr/>
          <p:nvPr/>
        </p:nvSpPr>
        <p:spPr>
          <a:xfrm>
            <a:off x="6731000" y="2529855"/>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FreeRTOS integrado</a:t>
            </a:r>
            <a:endParaRPr lang="en-US" sz="1500" dirty="0">
              <a:latin typeface="IBM Plex Sans" charset="0"/>
              <a:ea typeface="IBM Plex Sans" charset="0"/>
              <a:cs typeface="IBM Plex Sans" charset="0"/>
            </a:endParaRPr>
          </a:p>
        </p:txBody>
      </p:sp>
      <p:sp>
        <p:nvSpPr>
          <p:cNvPr id="19" name="Text 17"/>
          <p:cNvSpPr/>
          <p:nvPr/>
        </p:nvSpPr>
        <p:spPr>
          <a:xfrm>
            <a:off x="6731000" y="278385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CMake, FreeRTOSConfig.h e um só core.</a:t>
            </a:r>
            <a:endParaRPr lang="en-US" sz="1200" dirty="0">
              <a:latin typeface="IBM Plex Sans" charset="0"/>
              <a:ea typeface="IBM Plex Sans" charset="0"/>
              <a:cs typeface="IBM Plex Sans" charset="0"/>
            </a:endParaRPr>
          </a:p>
        </p:txBody>
      </p:sp>
      <p:sp>
        <p:nvSpPr>
          <p:cNvPr id="20" name="Shape 18"/>
          <p:cNvSpPr/>
          <p:nvPr/>
        </p:nvSpPr>
        <p:spPr>
          <a:xfrm>
            <a:off x="812800" y="3264545"/>
            <a:ext cx="5130800" cy="0"/>
          </a:xfrm>
          <a:prstGeom prst="line">
            <a:avLst/>
          </a:prstGeom>
          <a:noFill/>
          <a:ln w="6350">
            <a:solidFill>
              <a:srgbClr val="DCDAD2"/>
            </a:solidFill>
            <a:prstDash val="solid"/>
          </a:ln>
        </p:spPr>
      </p:sp>
      <p:sp>
        <p:nvSpPr>
          <p:cNvPr id="21" name="Text 19"/>
          <p:cNvSpPr/>
          <p:nvPr/>
        </p:nvSpPr>
        <p:spPr>
          <a:xfrm>
            <a:off x="812800" y="3368055"/>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05</a:t>
            </a:r>
            <a:endParaRPr lang="en-US" sz="1400" dirty="0">
              <a:latin typeface="JetBrains Mono" charset="0"/>
              <a:ea typeface="JetBrains Mono" charset="0"/>
              <a:cs typeface="JetBrains Mono" charset="0"/>
            </a:endParaRPr>
          </a:p>
        </p:txBody>
      </p:sp>
      <p:sp>
        <p:nvSpPr>
          <p:cNvPr id="22" name="Text 20"/>
          <p:cNvSpPr/>
          <p:nvPr/>
        </p:nvSpPr>
        <p:spPr>
          <a:xfrm>
            <a:off x="1295400" y="3368055"/>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Primeiro programa</a:t>
            </a:r>
            <a:endParaRPr lang="en-US" sz="1500" dirty="0">
              <a:latin typeface="IBM Plex Sans" charset="0"/>
              <a:ea typeface="IBM Plex Sans" charset="0"/>
              <a:cs typeface="IBM Plex Sans" charset="0"/>
            </a:endParaRPr>
          </a:p>
        </p:txBody>
      </p:sp>
      <p:sp>
        <p:nvSpPr>
          <p:cNvPr id="23" name="Text 21"/>
          <p:cNvSpPr/>
          <p:nvPr/>
        </p:nvSpPr>
        <p:spPr>
          <a:xfrm>
            <a:off x="1295400" y="362205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Duas tasks e uma queue a controlar o LED.</a:t>
            </a:r>
            <a:endParaRPr lang="en-US" sz="1200" dirty="0">
              <a:latin typeface="IBM Plex Sans" charset="0"/>
              <a:ea typeface="IBM Plex Sans" charset="0"/>
              <a:cs typeface="IBM Plex Sans" charset="0"/>
            </a:endParaRPr>
          </a:p>
        </p:txBody>
      </p:sp>
      <p:sp>
        <p:nvSpPr>
          <p:cNvPr id="24" name="Shape 22"/>
          <p:cNvSpPr/>
          <p:nvPr/>
        </p:nvSpPr>
        <p:spPr>
          <a:xfrm>
            <a:off x="6248400" y="3264545"/>
            <a:ext cx="5130800" cy="0"/>
          </a:xfrm>
          <a:prstGeom prst="line">
            <a:avLst/>
          </a:prstGeom>
          <a:noFill/>
          <a:ln w="6350">
            <a:solidFill>
              <a:srgbClr val="DCDAD2"/>
            </a:solidFill>
            <a:prstDash val="solid"/>
          </a:ln>
        </p:spPr>
      </p:sp>
      <p:sp>
        <p:nvSpPr>
          <p:cNvPr id="25" name="Text 23"/>
          <p:cNvSpPr/>
          <p:nvPr/>
        </p:nvSpPr>
        <p:spPr>
          <a:xfrm>
            <a:off x="6248400" y="3368055"/>
            <a:ext cx="4064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06</a:t>
            </a:r>
            <a:endParaRPr lang="en-US" sz="1400" dirty="0">
              <a:latin typeface="JetBrains Mono" charset="0"/>
              <a:ea typeface="JetBrains Mono" charset="0"/>
              <a:cs typeface="JetBrains Mono" charset="0"/>
            </a:endParaRPr>
          </a:p>
        </p:txBody>
      </p:sp>
      <p:sp>
        <p:nvSpPr>
          <p:cNvPr id="26" name="Text 24"/>
          <p:cNvSpPr/>
          <p:nvPr/>
        </p:nvSpPr>
        <p:spPr>
          <a:xfrm>
            <a:off x="6731000" y="3368055"/>
            <a:ext cx="478764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Rede de segurança</a:t>
            </a:r>
            <a:endParaRPr lang="en-US" sz="1500" dirty="0">
              <a:latin typeface="IBM Plex Sans" charset="0"/>
              <a:ea typeface="IBM Plex Sans" charset="0"/>
              <a:cs typeface="IBM Plex Sans" charset="0"/>
            </a:endParaRPr>
          </a:p>
        </p:txBody>
      </p:sp>
      <p:sp>
        <p:nvSpPr>
          <p:cNvPr id="27" name="Text 25"/>
          <p:cNvSpPr/>
          <p:nvPr/>
        </p:nvSpPr>
        <p:spPr>
          <a:xfrm>
            <a:off x="6731000" y="3622055"/>
            <a:ext cx="47876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configASSERT, hooks, RTT e debug com o RTOS a correr.</a:t>
            </a:r>
            <a:endParaRPr lang="en-US" sz="1200" dirty="0">
              <a:latin typeface="IBM Plex Sans" charset="0"/>
              <a:ea typeface="IBM Plex Sans" charset="0"/>
              <a:cs typeface="IBM Plex Sans" charset="0"/>
            </a:endParaRPr>
          </a:p>
        </p:txBody>
      </p:sp>
      <p:sp>
        <p:nvSpPr>
          <p:cNvPr id="28" name="Text 26"/>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57</a:t>
            </a:r>
            <a:endParaRPr lang="en-US" sz="1200" dirty="0">
              <a:latin typeface="IBM Plex Sans" charset="0"/>
              <a:ea typeface="IBM Plex Sans" charset="0"/>
              <a:cs typeface="IBM Plex Sans"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3" name="Text 1"/>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58</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1</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que instalar e ligar antes</a:t>
            </a:r>
            <a:endParaRPr lang="en-US" sz="3200" dirty="0">
              <a:latin typeface="IBM Plex Sans" charset="0"/>
              <a:ea typeface="IBM Plex Sans" charset="0"/>
              <a:cs typeface="IBM Plex Sans" charset="0"/>
            </a:endParaRPr>
          </a:p>
        </p:txBody>
      </p:sp>
      <p:sp>
        <p:nvSpPr>
          <p:cNvPr id="6" name="Shape 4"/>
          <p:cNvSpPr/>
          <p:nvPr/>
        </p:nvSpPr>
        <p:spPr>
          <a:xfrm>
            <a:off x="812800" y="1783080"/>
            <a:ext cx="10566400" cy="0"/>
          </a:xfrm>
          <a:prstGeom prst="line">
            <a:avLst/>
          </a:prstGeom>
          <a:noFill/>
          <a:ln w="10160">
            <a:solidFill>
              <a:srgbClr val="141413">
                <a:alpha val="22000"/>
              </a:srgbClr>
            </a:solidFill>
            <a:prstDash val="solid"/>
          </a:ln>
        </p:spPr>
      </p:sp>
      <p:sp>
        <p:nvSpPr>
          <p:cNvPr id="7" name="Shape 5"/>
          <p:cNvSpPr/>
          <p:nvPr/>
        </p:nvSpPr>
        <p:spPr>
          <a:xfrm>
            <a:off x="817880" y="1778000"/>
            <a:ext cx="0" cy="3302000"/>
          </a:xfrm>
          <a:prstGeom prst="line">
            <a:avLst/>
          </a:prstGeom>
          <a:noFill/>
          <a:ln w="1016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24560" y="1851660"/>
          <a:ext cx="10353040" cy="3164840"/>
        </p:xfrm>
        <a:graphic>
          <a:graphicData uri="http://schemas.openxmlformats.org/drawingml/2006/table">
            <a:tbl>
              <a:tblPr/>
              <a:tblGrid>
                <a:gridCol w="3520034"/>
                <a:gridCol w="6833006"/>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Ferramenta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Para quê</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VS Code + extensão Raspberry Pi Pico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Instala o pico-sdk, a toolchain RISC-V, CMake, Ninja e picotool; cria e compila projetos.</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ID: raspberry-pi.raspberry-pi-pico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Raspberry Pi Pico 2 W</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RP2350: dois Cortex-M33 e dois Hazard3 RISC-V. Usamos um core RISC-V. LED externo no GP1.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SEGGER J-Link + J-Link Software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Programa a flash e faz debug por SWD. Dispositivo: RP2350_RV32_0.</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segger.com/downloads/jlink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Cortex-Debug (e RTOS Views)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Extensões do VS Code que ligam o debugger ao J-Link GDB Server.</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IDs: marus25.cortex-debug · mcu-debug.rtos-views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Cabos e botão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USB para a Pico; SWD do J-Link ao conector de debug; um LED (com resistência) do GP1 ao GND; um botão entre o GP0 e o GND.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FreeRTOS-Kernel da Raspberry Pi + Git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github.com/raspberrypi/FreeRTOS-Kernel, com o port RP2350_RISC-V.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9" name="Text 6"/>
          <p:cNvSpPr/>
          <p:nvPr/>
        </p:nvSpPr>
        <p:spPr>
          <a:xfrm>
            <a:off x="812800" y="5302250"/>
            <a:ext cx="10566400" cy="416560"/>
          </a:xfrm>
          <a:custGeom>
            <a:avLst/>
            <a:gdLst/>
            <a:ahLst/>
            <a:cxnLst/>
            <a:rect l="l" t="t" r="r" b="b"/>
            <a:pathLst>
              <a:path w="10566400" h="416560">
                <a:moveTo>
                  <a:pt x="0" y="0"/>
                </a:moveTo>
                <a:lnTo>
                  <a:pt x="10490200" y="0"/>
                </a:lnTo>
                <a:arcTo hR="76200" wR="76200" stAng="16200000" swAng="5400000"/>
                <a:lnTo>
                  <a:pt x="10566400" y="340360"/>
                </a:lnTo>
                <a:arcTo hR="76200" wR="76200" stAng="0" swAng="5400000"/>
                <a:lnTo>
                  <a:pt x="0" y="416560"/>
                </a:lnTo>
                <a:lnTo>
                  <a:pt x="0" y="0"/>
                </a:lnTo>
                <a:close/>
              </a:path>
            </a:pathLst>
          </a:custGeom>
          <a:solidFill>
            <a:srgbClr val="FBEFE7"/>
          </a:solidFill>
          <a:ln/>
        </p:spPr>
        <p:txBody>
          <a:bodyPr wrap="square" lIns="162560" tIns="101600" rIns="0" bIns="7620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O J-Link precisa de </a:t>
            </a:r>
            <a:r>
              <a:rPr lang="en-US" sz="1200" b="1" dirty="0">
                <a:solidFill>
                  <a:srgbClr val="14222E"/>
                </a:solidFill>
                <a:latin typeface="IBM Plex Sans" pitchFamily="34" charset="0"/>
                <a:ea typeface="IBM Plex Sans" pitchFamily="34" charset="-122"/>
                <a:cs typeface="IBM Plex Sans" pitchFamily="34" charset="-120"/>
              </a:rPr>
              <a:t>VTref</a:t>
            </a:r>
            <a:r>
              <a:rPr lang="en-US" sz="1200" dirty="0">
                <a:solidFill>
                  <a:srgbClr val="14222E"/>
                </a:solidFill>
                <a:latin typeface="IBM Plex Sans" pitchFamily="34" charset="0"/>
                <a:ea typeface="IBM Plex Sans" pitchFamily="34" charset="-122"/>
                <a:cs typeface="IBM Plex Sans" pitchFamily="34" charset="-120"/>
              </a:rPr>
              <a:t>: ligar ao 3V3(OUT) da Pico, além de SWCLK, SWDIO e GND. Testar a ligação no J-Link Commander </a:t>
            </a:r>
            <a:r>
              <a:rPr lang="en-US" sz="1200" b="1" dirty="0">
                <a:solidFill>
                  <a:srgbClr val="14222E"/>
                </a:solidFill>
                <a:latin typeface="IBM Plex Sans" pitchFamily="34" charset="0"/>
                <a:ea typeface="IBM Plex Sans" pitchFamily="34" charset="-122"/>
                <a:cs typeface="IBM Plex Sans" pitchFamily="34" charset="-120"/>
              </a:rPr>
              <a:t>antes</a:t>
            </a:r>
            <a:r>
              <a:rPr lang="en-US" sz="1200" dirty="0">
                <a:solidFill>
                  <a:srgbClr val="14222E"/>
                </a:solidFill>
                <a:latin typeface="IBM Plex Sans" pitchFamily="34" charset="0"/>
                <a:ea typeface="IBM Plex Sans" pitchFamily="34" charset="-122"/>
                <a:cs typeface="IBM Plex Sans" pitchFamily="34" charset="-120"/>
              </a:rPr>
              <a:t> da sessão.</a:t>
            </a:r>
            <a:endParaRPr lang="en-US" sz="1200" dirty="0">
              <a:latin typeface="IBM Plex Sans" charset="0"/>
              <a:ea typeface="IBM Plex Sans" charset="0"/>
              <a:cs typeface="IBM Plex Sans" charset="0"/>
            </a:endParaRPr>
          </a:p>
        </p:txBody>
      </p:sp>
      <p:sp>
        <p:nvSpPr>
          <p:cNvPr id="10" name="Shape 7"/>
          <p:cNvSpPr/>
          <p:nvPr/>
        </p:nvSpPr>
        <p:spPr>
          <a:xfrm>
            <a:off x="812800" y="5302250"/>
            <a:ext cx="10566400" cy="416560"/>
          </a:xfrm>
          <a:custGeom>
            <a:avLst/>
            <a:gdLst/>
            <a:ahLst/>
            <a:cxnLst/>
            <a:rect l="l" t="t" r="r" b="b"/>
            <a:pathLst>
              <a:path w="10566400" h="416560">
                <a:moveTo>
                  <a:pt x="38100" y="416560"/>
                </a:moveTo>
                <a:lnTo>
                  <a:pt x="0" y="416560"/>
                </a:lnTo>
                <a:lnTo>
                  <a:pt x="0" y="0"/>
                </a:lnTo>
                <a:lnTo>
                  <a:pt x="38100" y="0"/>
                </a:lnTo>
                <a:lnTo>
                  <a:pt x="38100" y="416560"/>
                </a:lnTo>
                <a:close/>
              </a:path>
            </a:pathLst>
          </a:custGeom>
          <a:solidFill>
            <a:srgbClr val="D0612A"/>
          </a:solidFill>
          <a:ln/>
        </p:spPr>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A DISTRIBUIÇÃO DO FREERTOS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Ports e onde obter o código</a:t>
            </a:r>
            <a:endParaRPr lang="en-US" sz="3200" dirty="0">
              <a:latin typeface="IBM Plex Sans" charset="0"/>
              <a:ea typeface="IBM Plex Sans" charset="0"/>
              <a:cs typeface="IBM Plex Sans" charset="0"/>
            </a:endParaRPr>
          </a:p>
        </p:txBody>
      </p:sp>
      <p:sp>
        <p:nvSpPr>
          <p:cNvPr id="4" name="Text 2"/>
          <p:cNvSpPr/>
          <p:nvPr/>
        </p:nvSpPr>
        <p:spPr>
          <a:xfrm>
            <a:off x="812800" y="1899915"/>
            <a:ext cx="4866132" cy="77216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4505C"/>
                </a:solidFill>
                <a:latin typeface="IBM Plex Sans" pitchFamily="34" charset="0"/>
                <a:ea typeface="IBM Plex Sans" pitchFamily="34" charset="-122"/>
                <a:cs typeface="IBM Plex Sans" pitchFamily="34" charset="-120"/>
              </a:rPr>
              <a:t>Port</a:t>
            </a:r>
            <a:r>
              <a:rPr lang="en-US" sz="1400" dirty="0">
                <a:solidFill>
                  <a:srgbClr val="44505C"/>
                </a:solidFill>
                <a:latin typeface="IBM Plex Sans" pitchFamily="34" charset="0"/>
                <a:ea typeface="IBM Plex Sans" pitchFamily="34" charset="-122"/>
                <a:cs typeface="IBM Plex Sans" pitchFamily="34" charset="-120"/>
              </a:rPr>
              <a:t> = uma combinação de compilador e processador. O FreeRTOS compila com cerca de 20 compiladores e corre em mais de 40 arquiteturas.</a:t>
            </a:r>
            <a:endParaRPr lang="en-US" sz="1400" dirty="0">
              <a:latin typeface="IBM Plex Sans" charset="0"/>
              <a:ea typeface="IBM Plex Sans" charset="0"/>
              <a:cs typeface="IBM Plex Sans" charset="0"/>
            </a:endParaRPr>
          </a:p>
        </p:txBody>
      </p:sp>
      <p:sp>
        <p:nvSpPr>
          <p:cNvPr id="5" name="Text 3"/>
          <p:cNvSpPr/>
          <p:nvPr/>
        </p:nvSpPr>
        <p:spPr>
          <a:xfrm>
            <a:off x="812800" y="2773685"/>
            <a:ext cx="486613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 FreeRTOS é uma </a:t>
            </a:r>
            <a:r>
              <a:rPr lang="en-US" sz="1400" b="1" dirty="0">
                <a:solidFill>
                  <a:srgbClr val="44505C"/>
                </a:solidFill>
                <a:latin typeface="IBM Plex Sans" pitchFamily="34" charset="0"/>
                <a:ea typeface="IBM Plex Sans" pitchFamily="34" charset="-122"/>
                <a:cs typeface="IBM Plex Sans" pitchFamily="34" charset="-120"/>
              </a:rPr>
              <a:t>biblioteca de ficheiros C</a:t>
            </a:r>
            <a:r>
              <a:rPr lang="en-US" sz="1400" dirty="0">
                <a:solidFill>
                  <a:srgbClr val="44505C"/>
                </a:solidFill>
                <a:latin typeface="IBM Plex Sans" pitchFamily="34" charset="0"/>
                <a:ea typeface="IBM Plex Sans" pitchFamily="34" charset="-122"/>
                <a:cs typeface="IBM Plex Sans" pitchFamily="34" charset="-120"/>
              </a:rPr>
              <a:t>: compilados com o projeto, tornam a API disponível numa aplicação bare-metal.</a:t>
            </a:r>
            <a:endParaRPr lang="en-US" sz="1400" dirty="0">
              <a:latin typeface="IBM Plex Sans" charset="0"/>
              <a:ea typeface="IBM Plex Sans" charset="0"/>
              <a:cs typeface="IBM Plex Sans" charset="0"/>
            </a:endParaRPr>
          </a:p>
        </p:txBody>
      </p:sp>
      <p:sp>
        <p:nvSpPr>
          <p:cNvPr id="6" name="Shape 4"/>
          <p:cNvSpPr/>
          <p:nvPr/>
        </p:nvSpPr>
        <p:spPr>
          <a:xfrm>
            <a:off x="815975" y="3650630"/>
            <a:ext cx="4718050" cy="999490"/>
          </a:xfrm>
          <a:prstGeom prst="roundRect">
            <a:avLst>
              <a:gd name="adj" fmla="val 9848"/>
            </a:avLst>
          </a:prstGeom>
          <a:solidFill>
            <a:srgbClr val="FCFBF8"/>
          </a:solidFill>
          <a:ln w="6350">
            <a:solidFill>
              <a:srgbClr val="DCDAD2"/>
            </a:solidFill>
            <a:prstDash val="solid"/>
          </a:ln>
        </p:spPr>
      </p:sp>
      <p:sp>
        <p:nvSpPr>
          <p:cNvPr id="7" name="Text 5"/>
          <p:cNvSpPr/>
          <p:nvPr/>
        </p:nvSpPr>
        <p:spPr>
          <a:xfrm>
            <a:off x="970280" y="3804915"/>
            <a:ext cx="454172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Distribuição principal</a:t>
            </a:r>
            <a:endParaRPr lang="en-US" sz="1400" dirty="0">
              <a:latin typeface="IBM Plex Sans" charset="0"/>
              <a:ea typeface="IBM Plex Sans" charset="0"/>
              <a:cs typeface="IBM Plex Sans" charset="0"/>
            </a:endParaRPr>
          </a:p>
        </p:txBody>
      </p:sp>
      <p:sp>
        <p:nvSpPr>
          <p:cNvPr id="8" name="Text 6"/>
          <p:cNvSpPr/>
          <p:nvPr/>
        </p:nvSpPr>
        <p:spPr>
          <a:xfrm>
            <a:off x="970280" y="4069085"/>
            <a:ext cx="45417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Kernel, bibliotecas e todas as demos. A melhor forma de começar.</a:t>
            </a:r>
            <a:endParaRPr lang="en-US" sz="1200" dirty="0">
              <a:latin typeface="IBM Plex Sans" charset="0"/>
              <a:ea typeface="IBM Plex Sans" charset="0"/>
              <a:cs typeface="IBM Plex Sans" charset="0"/>
            </a:endParaRPr>
          </a:p>
        </p:txBody>
      </p:sp>
      <p:sp>
        <p:nvSpPr>
          <p:cNvPr id="9" name="Shape 7"/>
          <p:cNvSpPr/>
          <p:nvPr/>
        </p:nvSpPr>
        <p:spPr>
          <a:xfrm>
            <a:off x="815975" y="4783460"/>
            <a:ext cx="4718050" cy="999490"/>
          </a:xfrm>
          <a:prstGeom prst="roundRect">
            <a:avLst>
              <a:gd name="adj" fmla="val 9848"/>
            </a:avLst>
          </a:prstGeom>
          <a:solidFill>
            <a:srgbClr val="FCFBF8"/>
          </a:solidFill>
          <a:ln w="6350">
            <a:solidFill>
              <a:srgbClr val="DCDAD2"/>
            </a:solidFill>
            <a:prstDash val="solid"/>
          </a:ln>
        </p:spPr>
      </p:sp>
      <p:sp>
        <p:nvSpPr>
          <p:cNvPr id="10" name="Text 8"/>
          <p:cNvSpPr/>
          <p:nvPr/>
        </p:nvSpPr>
        <p:spPr>
          <a:xfrm>
            <a:off x="970280" y="4937770"/>
            <a:ext cx="454172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Repositórios individuais</a:t>
            </a:r>
            <a:endParaRPr lang="en-US" sz="1400" dirty="0">
              <a:latin typeface="IBM Plex Sans" charset="0"/>
              <a:ea typeface="IBM Plex Sans" charset="0"/>
              <a:cs typeface="IBM Plex Sans" charset="0"/>
            </a:endParaRPr>
          </a:p>
        </p:txBody>
      </p:sp>
      <p:sp>
        <p:nvSpPr>
          <p:cNvPr id="11" name="Text 9"/>
          <p:cNvSpPr/>
          <p:nvPr/>
        </p:nvSpPr>
        <p:spPr>
          <a:xfrm>
            <a:off x="970280" y="5201915"/>
            <a:ext cx="45417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 só o kernel. Hoje: o fork da Raspberry Pi, que tem o port do RP2350 em RISC-V.</a:t>
            </a:r>
            <a:endParaRPr lang="en-US" sz="1200" dirty="0">
              <a:latin typeface="IBM Plex Sans" charset="0"/>
              <a:ea typeface="IBM Plex Sans" charset="0"/>
              <a:cs typeface="IBM Plex Sans" charset="0"/>
            </a:endParaRPr>
          </a:p>
        </p:txBody>
      </p:sp>
      <p:sp>
        <p:nvSpPr>
          <p:cNvPr id="12" name="Text 10"/>
          <p:cNvSpPr/>
          <p:nvPr/>
        </p:nvSpPr>
        <p:spPr>
          <a:xfrm>
            <a:off x="5791200" y="1899915"/>
            <a:ext cx="5755640" cy="23010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66717C"/>
                </a:solidFill>
                <a:latin typeface="IBM Plex Sans" pitchFamily="34" charset="0"/>
                <a:ea typeface="IBM Plex Sans" pitchFamily="34" charset="-122"/>
                <a:cs typeface="IBM Plex Sans" pitchFamily="34" charset="-120"/>
              </a:rPr>
              <a:t>DISTRIBUIÇÃO PRINCIPAL, COM SUBMÓDULOS</a:t>
            </a:r>
            <a:endParaRPr lang="en-US" sz="1159" dirty="0">
              <a:latin typeface="IBM Plex Sans" charset="0"/>
              <a:ea typeface="IBM Plex Sans" charset="0"/>
              <a:cs typeface="IBM Plex Sans" charset="0"/>
            </a:endParaRPr>
          </a:p>
        </p:txBody>
      </p:sp>
      <p:sp>
        <p:nvSpPr>
          <p:cNvPr id="13" name="Text 11"/>
          <p:cNvSpPr/>
          <p:nvPr/>
        </p:nvSpPr>
        <p:spPr>
          <a:xfrm>
            <a:off x="5791200" y="2180828"/>
            <a:ext cx="5588000" cy="663416"/>
          </a:xfrm>
          <a:prstGeom prst="roundRect">
            <a:avLst>
              <a:gd name="adj" fmla="val 11486"/>
            </a:avLst>
          </a:prstGeom>
          <a:solidFill>
            <a:srgbClr val="14222E"/>
          </a:solidFill>
          <a:ln/>
        </p:spPr>
        <p:txBody>
          <a:bodyPr wrap="none" lIns="130082" tIns="104682" rIns="0" bIns="79282" rtlCol="0" anchor="t">
            <a:normAutofit/>
          </a:bodyPr>
          <a:lstStyle/>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git clone https://github.com/FreeRTOS/FreeRTOS.git \</a:t>
            </a:r>
            <a:endParaRPr lang="en-US" sz="1151" dirty="0">
              <a:latin typeface="JetBrains Mono" charset="0"/>
              <a:ea typeface="JetBrains Mono" charset="0"/>
              <a:cs typeface="JetBrains Mono" charset="0"/>
            </a:endParaRPr>
          </a:p>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    --recurse-submodules</a:t>
            </a:r>
            <a:endParaRPr lang="en-US" sz="1151" dirty="0">
              <a:latin typeface="JetBrains Mono" charset="0"/>
              <a:ea typeface="JetBrains Mono" charset="0"/>
              <a:cs typeface="JetBrains Mono" charset="0"/>
            </a:endParaRPr>
          </a:p>
        </p:txBody>
      </p:sp>
      <p:sp>
        <p:nvSpPr>
          <p:cNvPr id="14" name="Text 12"/>
          <p:cNvSpPr/>
          <p:nvPr/>
        </p:nvSpPr>
        <p:spPr>
          <a:xfrm>
            <a:off x="5791200" y="2920454"/>
            <a:ext cx="5588000" cy="1482328"/>
          </a:xfrm>
          <a:prstGeom prst="roundRect">
            <a:avLst>
              <a:gd name="adj" fmla="val 5141"/>
            </a:avLst>
          </a:prstGeom>
          <a:solidFill>
            <a:srgbClr val="14222E"/>
          </a:solidFill>
          <a:ln/>
        </p:spPr>
        <p:txBody>
          <a:bodyPr wrap="none" lIns="130082" tIns="104682" rIns="0" bIns="79282" rtlCol="0" anchor="t">
            <a:normAutofit/>
          </a:bodyPr>
          <a:lstStyle/>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FreeRTOS</a:t>
            </a:r>
            <a:endParaRPr lang="en-US" sz="1151" dirty="0">
              <a:latin typeface="JetBrains Mono" charset="0"/>
              <a:ea typeface="JetBrains Mono" charset="0"/>
              <a:cs typeface="JetBrains Mono" charset="0"/>
            </a:endParaRPr>
          </a:p>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├─Source código-fonte do kernel</a:t>
            </a:r>
            <a:endParaRPr lang="en-US" sz="1151" dirty="0">
              <a:latin typeface="JetBrains Mono" charset="0"/>
              <a:ea typeface="JetBrains Mono" charset="0"/>
              <a:cs typeface="JetBrains Mono" charset="0"/>
            </a:endParaRPr>
          </a:p>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└─Demo demos pré-configuradas por port</a:t>
            </a:r>
            <a:endParaRPr lang="en-US" sz="1151" dirty="0">
              <a:latin typeface="JetBrains Mono" charset="0"/>
              <a:ea typeface="JetBrains Mono" charset="0"/>
              <a:cs typeface="JetBrains Mono" charset="0"/>
            </a:endParaRPr>
          </a:p>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FreeRTOS-Plus</a:t>
            </a:r>
            <a:endParaRPr lang="en-US" sz="1151" dirty="0">
              <a:latin typeface="JetBrains Mono" charset="0"/>
              <a:ea typeface="JetBrains Mono" charset="0"/>
              <a:cs typeface="JetBrains Mono" charset="0"/>
            </a:endParaRPr>
          </a:p>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├─Source outras bibliotecas FreeRTOS</a:t>
            </a:r>
            <a:endParaRPr lang="en-US" sz="1151" dirty="0">
              <a:latin typeface="JetBrains Mono" charset="0"/>
              <a:ea typeface="JetBrains Mono" charset="0"/>
              <a:cs typeface="JetBrains Mono" charset="0"/>
            </a:endParaRPr>
          </a:p>
          <a:p>
            <a:pPr algn="l" indent="0" marL="0">
              <a:lnSpc>
                <a:spcPts val="1612"/>
              </a:lnSpc>
              <a:buNone/>
            </a:pPr>
            <a:r>
              <a:rPr lang="en-US" sz="1151" dirty="0">
                <a:solidFill>
                  <a:srgbClr val="E6EAE8"/>
                </a:solidFill>
                <a:latin typeface="JetBrains Mono" pitchFamily="49" charset="0"/>
                <a:ea typeface="JetBrains Mono" pitchFamily="49" charset="-122"/>
                <a:cs typeface="JetBrains Mono" pitchFamily="49" charset="-120"/>
              </a:rPr>
              <a:t>└─Demo demos dessas bibliotecas</a:t>
            </a:r>
            <a:endParaRPr lang="en-US" sz="1151" dirty="0">
              <a:latin typeface="JetBrains Mono" charset="0"/>
              <a:ea typeface="JetBrains Mono" charset="0"/>
              <a:cs typeface="JetBrains Mono" charset="0"/>
            </a:endParaRPr>
          </a:p>
        </p:txBody>
      </p:sp>
      <p:sp>
        <p:nvSpPr>
          <p:cNvPr id="15" name="Text 13"/>
          <p:cNvSpPr/>
          <p:nvPr/>
        </p:nvSpPr>
        <p:spPr>
          <a:xfrm>
            <a:off x="5791200" y="4478982"/>
            <a:ext cx="5755640" cy="23010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66717C"/>
                </a:solidFill>
                <a:latin typeface="IBM Plex Sans" pitchFamily="34" charset="0"/>
                <a:ea typeface="IBM Plex Sans" pitchFamily="34" charset="-122"/>
                <a:cs typeface="IBM Plex Sans" pitchFamily="34" charset="-120"/>
              </a:rPr>
              <a:t>SÓ O KERNEL, VERSÃO DA RASPBERRY PI</a:t>
            </a:r>
            <a:endParaRPr lang="en-US" sz="1159" dirty="0">
              <a:latin typeface="IBM Plex Sans" charset="0"/>
              <a:ea typeface="IBM Plex Sans" charset="0"/>
              <a:cs typeface="IBM Plex Sans" charset="0"/>
            </a:endParaRPr>
          </a:p>
        </p:txBody>
      </p:sp>
      <p:sp>
        <p:nvSpPr>
          <p:cNvPr id="16" name="Text 14"/>
          <p:cNvSpPr/>
          <p:nvPr/>
        </p:nvSpPr>
        <p:spPr>
          <a:xfrm>
            <a:off x="5791200" y="4759896"/>
            <a:ext cx="5588000" cy="458708"/>
          </a:xfrm>
          <a:prstGeom prst="roundRect">
            <a:avLst>
              <a:gd name="adj" fmla="val 16612"/>
            </a:avLst>
          </a:prstGeom>
          <a:solidFill>
            <a:srgbClr val="14222E"/>
          </a:solidFill>
          <a:ln/>
        </p:spPr>
        <p:txBody>
          <a:bodyPr wrap="none" lIns="130082" tIns="104682" rIns="0" bIns="79282" rtlCol="0" anchor="t">
            <a:normAutofit/>
          </a:bodyPr>
          <a:lstStyle/>
          <a:p>
            <a:pPr algn="l" indent="0" marL="0">
              <a:lnSpc>
                <a:spcPts val="1622"/>
              </a:lnSpc>
              <a:buNone/>
            </a:pPr>
            <a:r>
              <a:rPr lang="en-US" sz="1159" dirty="0">
                <a:solidFill>
                  <a:srgbClr val="E6EAE8"/>
                </a:solidFill>
                <a:latin typeface="JetBrains Mono" pitchFamily="49" charset="0"/>
                <a:ea typeface="JetBrains Mono" pitchFamily="49" charset="-122"/>
                <a:cs typeface="JetBrains Mono" pitchFamily="49" charset="-120"/>
              </a:rPr>
              <a:t>git clone https://github.com/raspberrypi/FreeRTOS-Kernel</a:t>
            </a:r>
            <a:endParaRPr lang="en-US" sz="1159" dirty="0">
              <a:latin typeface="JetBrains Mono" charset="0"/>
              <a:ea typeface="JetBrains Mono" charset="0"/>
              <a:cs typeface="JetBrains Mono" charset="0"/>
            </a:endParaRPr>
          </a:p>
        </p:txBody>
      </p:sp>
      <p:sp>
        <p:nvSpPr>
          <p:cNvPr id="17" name="Text 15"/>
          <p:cNvSpPr/>
          <p:nvPr/>
        </p:nvSpPr>
        <p:spPr>
          <a:xfrm>
            <a:off x="5791200" y="5294784"/>
            <a:ext cx="5588000" cy="547211"/>
          </a:xfrm>
          <a:custGeom>
            <a:avLst/>
            <a:gdLst/>
            <a:ahLst/>
            <a:cxnLst/>
            <a:rect l="l" t="t" r="r" b="b"/>
            <a:pathLst>
              <a:path w="5588000" h="547211">
                <a:moveTo>
                  <a:pt x="0" y="0"/>
                </a:moveTo>
                <a:lnTo>
                  <a:pt x="5511800" y="0"/>
                </a:lnTo>
                <a:arcTo hR="76200" wR="76200" stAng="16200000" swAng="5400000"/>
                <a:lnTo>
                  <a:pt x="5588000" y="471011"/>
                </a:lnTo>
                <a:arcTo hR="76200" wR="76200" stAng="0" swAng="5400000"/>
                <a:lnTo>
                  <a:pt x="0" y="547211"/>
                </a:lnTo>
                <a:lnTo>
                  <a:pt x="0" y="0"/>
                </a:lnTo>
                <a:close/>
              </a:path>
            </a:pathLst>
          </a:custGeom>
          <a:solidFill>
            <a:srgbClr val="FBEFE7"/>
          </a:solidFill>
          <a:ln/>
        </p:spPr>
        <p:txBody>
          <a:bodyPr wrap="square" lIns="149860" tIns="76200" rIns="0" bIns="50800" rtlCol="0" anchor="t">
            <a:normAutofit/>
          </a:bodyPr>
          <a:lstStyle/>
          <a:p>
            <a:pPr algn="l" indent="0" marL="0">
              <a:lnSpc>
                <a:spcPts val="1559"/>
              </a:lnSpc>
              <a:buNone/>
            </a:pPr>
            <a:r>
              <a:rPr lang="en-US" sz="1155" b="1" dirty="0">
                <a:solidFill>
                  <a:srgbClr val="14222E"/>
                </a:solidFill>
                <a:latin typeface="IBM Plex Sans" pitchFamily="34" charset="0"/>
                <a:ea typeface="IBM Plex Sans" pitchFamily="34" charset="-122"/>
                <a:cs typeface="IBM Plex Sans" pitchFamily="34" charset="-120"/>
              </a:rPr>
              <a:t>Atenção:</a:t>
            </a:r>
            <a:r>
              <a:rPr lang="en-US" sz="1155" dirty="0">
                <a:solidFill>
                  <a:srgbClr val="14222E"/>
                </a:solidFill>
                <a:latin typeface="IBM Plex Sans" pitchFamily="34" charset="0"/>
                <a:ea typeface="IBM Plex Sans" pitchFamily="34" charset="-122"/>
                <a:cs typeface="IBM Plex Sans" pitchFamily="34" charset="-120"/>
              </a:rPr>
              <a:t> o fork está parado desde julho de 2024 (V11.1.0+) e não recebe as correções do kernel oficial.</a:t>
            </a:r>
            <a:endParaRPr lang="en-US" sz="1155" dirty="0">
              <a:latin typeface="IBM Plex Sans" charset="0"/>
              <a:ea typeface="IBM Plex Sans" charset="0"/>
              <a:cs typeface="IBM Plex Sans" charset="0"/>
            </a:endParaRPr>
          </a:p>
        </p:txBody>
      </p:sp>
      <p:sp>
        <p:nvSpPr>
          <p:cNvPr id="18" name="Shape 16"/>
          <p:cNvSpPr/>
          <p:nvPr/>
        </p:nvSpPr>
        <p:spPr>
          <a:xfrm>
            <a:off x="5791200" y="5294784"/>
            <a:ext cx="5588000" cy="547211"/>
          </a:xfrm>
          <a:custGeom>
            <a:avLst/>
            <a:gdLst/>
            <a:ahLst/>
            <a:cxnLst/>
            <a:rect l="l" t="t" r="r" b="b"/>
            <a:pathLst>
              <a:path w="5588000" h="547211">
                <a:moveTo>
                  <a:pt x="38100" y="547211"/>
                </a:moveTo>
                <a:lnTo>
                  <a:pt x="0" y="547211"/>
                </a:lnTo>
                <a:lnTo>
                  <a:pt x="0" y="0"/>
                </a:lnTo>
                <a:lnTo>
                  <a:pt x="38100" y="0"/>
                </a:lnTo>
                <a:lnTo>
                  <a:pt x="38100" y="547211"/>
                </a:lnTo>
                <a:close/>
              </a:path>
            </a:pathLst>
          </a:custGeom>
          <a:solidFill>
            <a:srgbClr val="D0612A"/>
          </a:solidFill>
          <a:ln/>
        </p:spPr>
      </p:sp>
      <p:sp>
        <p:nvSpPr>
          <p:cNvPr id="19" name="Text 17"/>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2</a:t>
            </a:r>
            <a:endParaRPr lang="en-US" sz="1200" dirty="0">
              <a:latin typeface="IBM Plex Sans" charset="0"/>
              <a:ea typeface="IBM Plex Sans" charset="0"/>
              <a:cs typeface="IBM Plex Sans" charset="0"/>
            </a:endParaRPr>
          </a:p>
        </p:txBody>
      </p:sp>
      <p:sp>
        <p:nvSpPr>
          <p:cNvPr id="20" name="Text 18"/>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59</a:t>
            </a:r>
            <a:endParaRPr lang="en-US" sz="1200" dirty="0">
              <a:latin typeface="IBM Plex Sans" charset="0"/>
              <a:ea typeface="IBM Plex Sans" charset="0"/>
              <a:cs typeface="IBM Plex Sans"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A DISTRIBUIÇÃO DO FREERTOS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Que ficheiros entram no projeto</a:t>
            </a:r>
            <a:endParaRPr lang="en-US" sz="3200" dirty="0">
              <a:latin typeface="IBM Plex Sans" charset="0"/>
              <a:ea typeface="IBM Plex Sans" charset="0"/>
              <a:cs typeface="IBM Plex Sans" charset="0"/>
            </a:endParaRPr>
          </a:p>
        </p:txBody>
      </p:sp>
      <p:sp>
        <p:nvSpPr>
          <p:cNvPr id="4" name="Shape 2"/>
          <p:cNvSpPr/>
          <p:nvPr/>
        </p:nvSpPr>
        <p:spPr>
          <a:xfrm>
            <a:off x="812800" y="1904995"/>
            <a:ext cx="7112000" cy="0"/>
          </a:xfrm>
          <a:prstGeom prst="line">
            <a:avLst/>
          </a:prstGeom>
          <a:noFill/>
          <a:ln w="10160">
            <a:solidFill>
              <a:srgbClr val="141413">
                <a:alpha val="22000"/>
              </a:srgbClr>
            </a:solidFill>
            <a:prstDash val="solid"/>
          </a:ln>
        </p:spPr>
      </p:sp>
      <p:sp>
        <p:nvSpPr>
          <p:cNvPr id="5" name="Shape 3"/>
          <p:cNvSpPr/>
          <p:nvPr/>
        </p:nvSpPr>
        <p:spPr>
          <a:xfrm>
            <a:off x="817880" y="1899915"/>
            <a:ext cx="0" cy="374904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973575"/>
          <a:ext cx="6898640" cy="3611880"/>
        </p:xfrm>
        <a:graphic>
          <a:graphicData uri="http://schemas.openxmlformats.org/drawingml/2006/table">
            <a:tbl>
              <a:tblPr/>
              <a:tblGrid>
                <a:gridCol w="3035402"/>
                <a:gridCol w="1931619"/>
                <a:gridCol w="1931619"/>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Ficheiro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Quando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Nota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tasks.c, list.c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Sempre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Núcleo do kernel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queue.c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Quase sempre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Queues e semáforos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timers.c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usar software timers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Módulo 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event_groups.c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usar event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stream_buffer.c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usar stream ou message buffers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croutine.c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usar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Co-routines, já sem manutenção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portable/ThirdParty/GCC/RP2350_RISC-V/*</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Sempre (o nosso 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port.c, portASM.S, portmacro.h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portable/MemMang/heap_4.c</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 só heap_n.c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Módulo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78800" y="1899915"/>
            <a:ext cx="3296412"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No repo da Raspberry Pi (</a:t>
            </a:r>
            <a:r>
              <a:rPr lang="en-US" sz="1300" b="1" dirty="0">
                <a:solidFill>
                  <a:srgbClr val="44505C"/>
                </a:solidFill>
                <a:latin typeface="IBM Plex Sans" pitchFamily="34" charset="0"/>
                <a:ea typeface="IBM Plex Sans" pitchFamily="34" charset="-122"/>
                <a:cs typeface="IBM Plex Sans" pitchFamily="34" charset="-120"/>
              </a:rPr>
              <a:t>github.com/raspberrypi/FreeRTOS-Kernel</a:t>
            </a:r>
            <a:r>
              <a:rPr lang="en-US" sz="1300" dirty="0">
                <a:solidFill>
                  <a:srgbClr val="44505C"/>
                </a:solidFill>
                <a:latin typeface="IBM Plex Sans" pitchFamily="34" charset="0"/>
                <a:ea typeface="IBM Plex Sans" pitchFamily="34" charset="-122"/>
                <a:cs typeface="IBM Plex Sans" pitchFamily="34" charset="-120"/>
              </a:rPr>
              <a:t>), os ports de terceiros ficam em </a:t>
            </a:r>
            <a:r>
              <a:rPr lang="en-US" sz="1300" b="1" dirty="0">
                <a:solidFill>
                  <a:srgbClr val="44505C"/>
                </a:solidFill>
                <a:latin typeface="IBM Plex Sans" pitchFamily="34" charset="0"/>
                <a:ea typeface="IBM Plex Sans" pitchFamily="34" charset="-122"/>
                <a:cs typeface="IBM Plex Sans" pitchFamily="34" charset="-120"/>
              </a:rPr>
              <a:t>portable/ThirdParty/[compilador]/[port]</a:t>
            </a:r>
            <a:r>
              <a:rPr lang="en-US" sz="1300" dirty="0">
                <a:solidFill>
                  <a:srgbClr val="44505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sp>
        <p:nvSpPr>
          <p:cNvPr id="8" name="Text 5"/>
          <p:cNvSpPr/>
          <p:nvPr/>
        </p:nvSpPr>
        <p:spPr>
          <a:xfrm>
            <a:off x="8178800" y="2951485"/>
            <a:ext cx="3200400" cy="690880"/>
          </a:xfrm>
          <a:prstGeom prst="roundRect">
            <a:avLst>
              <a:gd name="adj" fmla="val 11029"/>
            </a:avLst>
          </a:prstGeom>
          <a:solidFill>
            <a:srgbClr val="E3EFEC"/>
          </a:solidFill>
          <a:ln/>
        </p:spPr>
        <p:txBody>
          <a:bodyPr wrap="square" lIns="117382" tIns="91982" rIns="29752" bIns="66582"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Pico 2 em RISC-V: </a:t>
            </a:r>
            <a:r>
              <a:rPr lang="en-US" sz="1300" b="1" dirty="0">
                <a:solidFill>
                  <a:srgbClr val="14222E"/>
                </a:solidFill>
                <a:latin typeface="IBM Plex Sans" pitchFamily="34" charset="0"/>
                <a:ea typeface="IBM Plex Sans" pitchFamily="34" charset="-122"/>
                <a:cs typeface="IBM Plex Sans" pitchFamily="34" charset="-120"/>
              </a:rPr>
              <a:t>RP2350_RISC-V</a:t>
            </a:r>
            <a:r>
              <a:rPr lang="en-US" sz="1300" dirty="0">
                <a:solidFill>
                  <a:srgbClr val="14222E"/>
                </a:solidFill>
                <a:latin typeface="IBM Plex Sans" pitchFamily="34" charset="0"/>
                <a:ea typeface="IBM Plex Sans" pitchFamily="34" charset="-122"/>
                <a:cs typeface="IBM Plex Sans" pitchFamily="34" charset="-120"/>
              </a:rPr>
              <a:t>, da Raspberry Pi.</a:t>
            </a:r>
            <a:endParaRPr lang="en-US" sz="1300" dirty="0">
              <a:latin typeface="IBM Plex Sans" charset="0"/>
              <a:ea typeface="IBM Plex Sans" charset="0"/>
              <a:cs typeface="IBM Plex Sans" charset="0"/>
            </a:endParaRPr>
          </a:p>
        </p:txBody>
      </p:sp>
      <p:sp>
        <p:nvSpPr>
          <p:cNvPr id="9" name="Text 6"/>
          <p:cNvSpPr/>
          <p:nvPr/>
        </p:nvSpPr>
        <p:spPr>
          <a:xfrm>
            <a:off x="8178800" y="3769370"/>
            <a:ext cx="3200400" cy="690880"/>
          </a:xfrm>
          <a:prstGeom prst="roundRect">
            <a:avLst>
              <a:gd name="adj" fmla="val 11029"/>
            </a:avLst>
          </a:prstGeom>
          <a:solidFill>
            <a:srgbClr val="E3EFEC"/>
          </a:solidFill>
          <a:ln/>
        </p:spPr>
        <p:txBody>
          <a:bodyPr wrap="square" lIns="117382" tIns="91982" rIns="29752" bIns="66582"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Com o pico-sdk, o CMake do port escolhe estes ficheiros.</a:t>
            </a:r>
            <a:endParaRPr lang="en-US" sz="1300" dirty="0">
              <a:latin typeface="IBM Plex Sans" charset="0"/>
              <a:ea typeface="IBM Plex Sans" charset="0"/>
              <a:cs typeface="IBM Plex Sans" charset="0"/>
            </a:endParaRPr>
          </a:p>
        </p:txBody>
      </p:sp>
      <p:sp>
        <p:nvSpPr>
          <p:cNvPr id="10" name="Text 7"/>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2</a:t>
            </a:r>
            <a:endParaRPr lang="en-US" sz="1200" dirty="0">
              <a:latin typeface="IBM Plex Sans" charset="0"/>
              <a:ea typeface="IBM Plex Sans" charset="0"/>
              <a:cs typeface="IBM Plex Sans" charset="0"/>
            </a:endParaRPr>
          </a:p>
        </p:txBody>
      </p:sp>
      <p:sp>
        <p:nvSpPr>
          <p:cNvPr id="11" name="Text 8"/>
          <p:cNvSpPr/>
          <p:nvPr/>
        </p:nvSpPr>
        <p:spPr>
          <a:xfrm>
            <a:off x="10058400" y="6238255"/>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A DISTRIBUIÇÃO DO FREERTOS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Include paths e headers</a:t>
            </a:r>
            <a:endParaRPr lang="en-US" sz="3200" dirty="0">
              <a:latin typeface="IBM Plex Sans" charset="0"/>
              <a:ea typeface="IBM Plex Sans" charset="0"/>
              <a:cs typeface="IBM Plex Sans" charset="0"/>
            </a:endParaRPr>
          </a:p>
        </p:txBody>
      </p:sp>
      <p:sp>
        <p:nvSpPr>
          <p:cNvPr id="4" name="Shape 2"/>
          <p:cNvSpPr/>
          <p:nvPr/>
        </p:nvSpPr>
        <p:spPr>
          <a:xfrm>
            <a:off x="815975" y="1852290"/>
            <a:ext cx="5175250" cy="2183130"/>
          </a:xfrm>
          <a:prstGeom prst="roundRect">
            <a:avLst>
              <a:gd name="adj" fmla="val 4508"/>
            </a:avLst>
          </a:prstGeom>
          <a:solidFill>
            <a:srgbClr val="FCFBF8"/>
          </a:solidFill>
          <a:ln w="6350">
            <a:solidFill>
              <a:srgbClr val="DCDAD2"/>
            </a:solidFill>
            <a:prstDash val="solid"/>
          </a:ln>
        </p:spPr>
      </p:sp>
      <p:sp>
        <p:nvSpPr>
          <p:cNvPr id="5" name="Text 3"/>
          <p:cNvSpPr/>
          <p:nvPr/>
        </p:nvSpPr>
        <p:spPr>
          <a:xfrm>
            <a:off x="1021080" y="20574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TRÊS INCLUDE PATHS</a:t>
            </a:r>
            <a:endParaRPr lang="en-US" sz="1200" dirty="0">
              <a:latin typeface="IBM Plex Sans" charset="0"/>
              <a:ea typeface="IBM Plex Sans" charset="0"/>
              <a:cs typeface="IBM Plex Sans" charset="0"/>
            </a:endParaRPr>
          </a:p>
        </p:txBody>
      </p:sp>
      <p:sp>
        <p:nvSpPr>
          <p:cNvPr id="6" name="Text 4"/>
          <p:cNvSpPr/>
          <p:nvPr/>
        </p:nvSpPr>
        <p:spPr>
          <a:xfrm>
            <a:off x="1224280" y="2372370"/>
            <a:ext cx="4698695" cy="87884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Os headers do kernel: </a:t>
            </a:r>
            <a:r>
              <a:rPr lang="en-US" sz="1600" b="1" dirty="0">
                <a:solidFill>
                  <a:srgbClr val="14222E"/>
                </a:solidFill>
                <a:latin typeface="IBM Plex Sans" pitchFamily="34" charset="0"/>
                <a:ea typeface="IBM Plex Sans" pitchFamily="34" charset="-122"/>
                <a:cs typeface="IBM Plex Sans" pitchFamily="34" charset="-120"/>
              </a:rPr>
              <a:t>include/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O port: </a:t>
            </a:r>
            <a:r>
              <a:rPr lang="en-US" sz="1600" b="1" dirty="0">
                <a:solidFill>
                  <a:srgbClr val="14222E"/>
                </a:solidFill>
                <a:latin typeface="IBM Plex Sans" pitchFamily="34" charset="0"/>
                <a:ea typeface="IBM Plex Sans" pitchFamily="34" charset="-122"/>
                <a:cs typeface="IBM Plex Sans" pitchFamily="34" charset="-120"/>
              </a:rPr>
              <a:t>…/RP2350_RISC-V/include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A pasta com o </a:t>
            </a:r>
            <a:r>
              <a:rPr lang="en-US" sz="1600" b="1" dirty="0">
                <a:solidFill>
                  <a:srgbClr val="14222E"/>
                </a:solidFill>
                <a:latin typeface="IBM Plex Sans" pitchFamily="34" charset="0"/>
                <a:ea typeface="IBM Plex Sans" pitchFamily="34" charset="-122"/>
                <a:cs typeface="IBM Plex Sans" pitchFamily="34" charset="-120"/>
              </a:rPr>
              <a:t>FreeRTOSConfig.h</a:t>
            </a:r>
            <a:endParaRPr lang="en-US" sz="1600" dirty="0">
              <a:latin typeface="IBM Plex Sans" charset="0"/>
              <a:ea typeface="IBM Plex Sans" charset="0"/>
              <a:cs typeface="IBM Plex Sans" charset="0"/>
            </a:endParaRPr>
          </a:p>
        </p:txBody>
      </p:sp>
      <p:sp>
        <p:nvSpPr>
          <p:cNvPr id="7" name="Text 5"/>
          <p:cNvSpPr/>
          <p:nvPr/>
        </p:nvSpPr>
        <p:spPr>
          <a:xfrm>
            <a:off x="1021080" y="33274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Com o pico-sdk, os dois primeiros vêm do CMake do port.</a:t>
            </a:r>
            <a:endParaRPr lang="en-US" sz="1200" dirty="0">
              <a:latin typeface="IBM Plex Sans" charset="0"/>
              <a:ea typeface="IBM Plex Sans" charset="0"/>
              <a:cs typeface="IBM Plex Sans" charset="0"/>
            </a:endParaRPr>
          </a:p>
        </p:txBody>
      </p:sp>
      <p:sp>
        <p:nvSpPr>
          <p:cNvPr id="8" name="Shape 6"/>
          <p:cNvSpPr/>
          <p:nvPr/>
        </p:nvSpPr>
        <p:spPr>
          <a:xfrm>
            <a:off x="6200775" y="1852290"/>
            <a:ext cx="5175250" cy="2183130"/>
          </a:xfrm>
          <a:prstGeom prst="roundRect">
            <a:avLst>
              <a:gd name="adj" fmla="val 4508"/>
            </a:avLst>
          </a:prstGeom>
          <a:solidFill>
            <a:srgbClr val="FCFBF8"/>
          </a:solidFill>
          <a:ln w="6350">
            <a:solidFill>
              <a:srgbClr val="DCDAD2"/>
            </a:solidFill>
            <a:prstDash val="solid"/>
          </a:ln>
        </p:spPr>
      </p:sp>
      <p:sp>
        <p:nvSpPr>
          <p:cNvPr id="9" name="Text 7"/>
          <p:cNvSpPr/>
          <p:nvPr/>
        </p:nvSpPr>
        <p:spPr>
          <a:xfrm>
            <a:off x="6405880" y="20574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EM CADA FICHEIRO QUE USA A API</a:t>
            </a:r>
            <a:endParaRPr lang="en-US" sz="1200" dirty="0">
              <a:latin typeface="IBM Plex Sans" charset="0"/>
              <a:ea typeface="IBM Plex Sans" charset="0"/>
              <a:cs typeface="IBM Plex Sans" charset="0"/>
            </a:endParaRPr>
          </a:p>
        </p:txBody>
      </p:sp>
      <p:sp>
        <p:nvSpPr>
          <p:cNvPr id="10" name="Text 8"/>
          <p:cNvSpPr/>
          <p:nvPr/>
        </p:nvSpPr>
        <p:spPr>
          <a:xfrm>
            <a:off x="6405880" y="2372370"/>
            <a:ext cx="4765040" cy="894080"/>
          </a:xfrm>
          <a:prstGeom prst="roundRect">
            <a:avLst>
              <a:gd name="adj" fmla="val 8523"/>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"FreeRTOS.h" /* sempre primeiro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"task.h"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"queue.h" /* ou semphr.h… */</a:t>
            </a:r>
            <a:endParaRPr lang="en-US" sz="1200" dirty="0">
              <a:latin typeface="JetBrains Mono" charset="0"/>
              <a:ea typeface="JetBrains Mono" charset="0"/>
              <a:cs typeface="JetBrains Mono" charset="0"/>
            </a:endParaRPr>
          </a:p>
        </p:txBody>
      </p:sp>
      <p:sp>
        <p:nvSpPr>
          <p:cNvPr id="11" name="Text 9"/>
          <p:cNvSpPr/>
          <p:nvPr/>
        </p:nvSpPr>
        <p:spPr>
          <a:xfrm>
            <a:off x="6405880" y="3368055"/>
            <a:ext cx="490799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Nunca incluir o FreeRTOSConfig.h diretamente: o FreeRTOS.h inclui-o no momento certo. Nenhum outro header do kernel.</a:t>
            </a:r>
            <a:endParaRPr lang="en-US" sz="1300" dirty="0">
              <a:latin typeface="IBM Plex Sans" charset="0"/>
              <a:ea typeface="IBM Plex Sans" charset="0"/>
              <a:cs typeface="IBM Plex Sans" charset="0"/>
            </a:endParaRPr>
          </a:p>
        </p:txBody>
      </p:sp>
      <p:sp>
        <p:nvSpPr>
          <p:cNvPr id="12" name="Text 10"/>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2</a:t>
            </a:r>
            <a:endParaRPr lang="en-US" sz="1200" dirty="0">
              <a:latin typeface="IBM Plex Sans" charset="0"/>
              <a:ea typeface="IBM Plex Sans" charset="0"/>
              <a:cs typeface="IBM Plex Sans" charset="0"/>
            </a:endParaRPr>
          </a:p>
        </p:txBody>
      </p:sp>
      <p:sp>
        <p:nvSpPr>
          <p:cNvPr id="13" name="Text 1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61</a:t>
            </a:r>
            <a:endParaRPr lang="en-US" sz="1200" dirty="0">
              <a:latin typeface="IBM Plex Sans" charset="0"/>
              <a:ea typeface="IBM Plex Sans" charset="0"/>
              <a:cs typeface="IBM Plex Sans"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A DISTRIBUIÇÃO DO FREERTOS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FreeRTOSConfig.h</a:t>
            </a:r>
            <a:endParaRPr lang="en-US" sz="3200" dirty="0">
              <a:latin typeface="IBM Plex Sans" charset="0"/>
              <a:ea typeface="IBM Plex Sans" charset="0"/>
              <a:cs typeface="IBM Plex Sans" charset="0"/>
            </a:endParaRPr>
          </a:p>
        </p:txBody>
      </p:sp>
      <p:sp>
        <p:nvSpPr>
          <p:cNvPr id="4" name="Text 2"/>
          <p:cNvSpPr/>
          <p:nvPr/>
        </p:nvSpPr>
        <p:spPr>
          <a:xfrm>
            <a:off x="812800" y="1899940"/>
            <a:ext cx="405511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Adapta o kernel à aplicação: pertence à </a:t>
            </a:r>
            <a:r>
              <a:rPr lang="en-US" sz="1300" b="1" dirty="0">
                <a:solidFill>
                  <a:srgbClr val="44505C"/>
                </a:solidFill>
                <a:latin typeface="IBM Plex Sans" pitchFamily="34" charset="0"/>
                <a:ea typeface="IBM Plex Sans" pitchFamily="34" charset="-122"/>
                <a:cs typeface="IBM Plex Sans" pitchFamily="34" charset="-120"/>
              </a:rPr>
              <a:t>aplicação</a:t>
            </a:r>
            <a:r>
              <a:rPr lang="en-US" sz="1300" dirty="0">
                <a:solidFill>
                  <a:srgbClr val="44505C"/>
                </a:solidFill>
                <a:latin typeface="IBM Plex Sans" pitchFamily="34" charset="0"/>
                <a:ea typeface="IBM Plex Sans" pitchFamily="34" charset="-122"/>
                <a:cs typeface="IBM Plex Sans" pitchFamily="34" charset="-120"/>
              </a:rPr>
              <a:t>, não à pasta do código-fonte do FreeRTOS.</a:t>
            </a:r>
            <a:endParaRPr lang="en-US" sz="1300" dirty="0">
              <a:latin typeface="IBM Plex Sans" charset="0"/>
              <a:ea typeface="IBM Plex Sans" charset="0"/>
              <a:cs typeface="IBM Plex Sans" charset="0"/>
            </a:endParaRPr>
          </a:p>
        </p:txBody>
      </p:sp>
      <p:sp>
        <p:nvSpPr>
          <p:cNvPr id="5" name="Text 3"/>
          <p:cNvSpPr/>
          <p:nvPr/>
        </p:nvSpPr>
        <p:spPr>
          <a:xfrm>
            <a:off x="812800" y="2489200"/>
            <a:ext cx="405511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Começar pelo da demo do mesmo port. Para o RP2350: </a:t>
            </a:r>
            <a:r>
              <a:rPr lang="en-US" sz="1300" b="1" dirty="0">
                <a:solidFill>
                  <a:srgbClr val="44505C"/>
                </a:solidFill>
                <a:latin typeface="IBM Plex Sans" pitchFamily="34" charset="0"/>
                <a:ea typeface="IBM Plex Sans" pitchFamily="34" charset="-122"/>
                <a:cs typeface="IBM Plex Sans" pitchFamily="34" charset="-120"/>
              </a:rPr>
              <a:t>pico-examples/freertos</a:t>
            </a:r>
            <a:r>
              <a:rPr lang="en-US" sz="1300" dirty="0">
                <a:solidFill>
                  <a:srgbClr val="44505C"/>
                </a:solidFill>
                <a:latin typeface="IBM Plex Sans" pitchFamily="34" charset="0"/>
                <a:ea typeface="IBM Plex Sans" pitchFamily="34" charset="-122"/>
                <a:cs typeface="IBM Plex Sans" pitchFamily="34" charset="-120"/>
              </a:rPr>
              <a:t>, FreeRTOSConfig_examples_common.h.</a:t>
            </a:r>
            <a:endParaRPr lang="en-US" sz="1300" dirty="0">
              <a:latin typeface="IBM Plex Sans" charset="0"/>
              <a:ea typeface="IBM Plex Sans" charset="0"/>
              <a:cs typeface="IBM Plex Sans" charset="0"/>
            </a:endParaRPr>
          </a:p>
        </p:txBody>
      </p:sp>
      <p:sp>
        <p:nvSpPr>
          <p:cNvPr id="6" name="Text 4"/>
          <p:cNvSpPr/>
          <p:nvPr/>
        </p:nvSpPr>
        <p:spPr>
          <a:xfrm>
            <a:off x="812800" y="3309640"/>
            <a:ext cx="3937000" cy="843280"/>
          </a:xfrm>
          <a:custGeom>
            <a:avLst/>
            <a:gdLst/>
            <a:ahLst/>
            <a:cxnLst/>
            <a:rect l="l" t="t" r="r" b="b"/>
            <a:pathLst>
              <a:path w="3937000" h="843280">
                <a:moveTo>
                  <a:pt x="0" y="0"/>
                </a:moveTo>
                <a:lnTo>
                  <a:pt x="3860800" y="0"/>
                </a:lnTo>
                <a:arcTo hR="76200" wR="76200" stAng="16200000" swAng="5400000"/>
                <a:lnTo>
                  <a:pt x="3937000" y="767080"/>
                </a:lnTo>
                <a:arcTo hR="76200" wR="76200" stAng="0" swAng="5400000"/>
                <a:lnTo>
                  <a:pt x="0" y="843280"/>
                </a:lnTo>
                <a:lnTo>
                  <a:pt x="0" y="0"/>
                </a:lnTo>
                <a:close/>
              </a:path>
            </a:pathLst>
          </a:custGeom>
          <a:solidFill>
            <a:srgbClr val="FBEFE7"/>
          </a:solidFill>
          <a:ln/>
        </p:spPr>
        <p:txBody>
          <a:bodyPr wrap="square" lIns="162560" tIns="101600" rIns="17577" bIns="7620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Valores de partida para esta sessão. O port é SMP: </a:t>
            </a:r>
            <a:r>
              <a:rPr lang="en-US" sz="1200" b="1" dirty="0">
                <a:solidFill>
                  <a:srgbClr val="14222E"/>
                </a:solidFill>
                <a:latin typeface="IBM Plex Sans" pitchFamily="34" charset="0"/>
                <a:ea typeface="IBM Plex Sans" pitchFamily="34" charset="-122"/>
                <a:cs typeface="IBM Plex Sans" pitchFamily="34" charset="-120"/>
              </a:rPr>
              <a:t>configNUMBER_OF_CORES = 1</a:t>
            </a:r>
            <a:r>
              <a:rPr lang="en-US" sz="1200" dirty="0">
                <a:solidFill>
                  <a:srgbClr val="14222E"/>
                </a:solidFill>
                <a:latin typeface="IBM Plex Sans" pitchFamily="34" charset="0"/>
                <a:ea typeface="IBM Plex Sans" pitchFamily="34" charset="-122"/>
                <a:cs typeface="IBM Plex Sans" pitchFamily="34" charset="-120"/>
              </a:rPr>
              <a:t> põe-no a correr num core.</a:t>
            </a:r>
            <a:endParaRPr lang="en-US" sz="1200" dirty="0">
              <a:latin typeface="IBM Plex Sans" charset="0"/>
              <a:ea typeface="IBM Plex Sans" charset="0"/>
              <a:cs typeface="IBM Plex Sans" charset="0"/>
            </a:endParaRPr>
          </a:p>
        </p:txBody>
      </p:sp>
      <p:sp>
        <p:nvSpPr>
          <p:cNvPr id="7" name="Shape 5"/>
          <p:cNvSpPr/>
          <p:nvPr/>
        </p:nvSpPr>
        <p:spPr>
          <a:xfrm>
            <a:off x="812800" y="3309640"/>
            <a:ext cx="3937000" cy="843280"/>
          </a:xfrm>
          <a:custGeom>
            <a:avLst/>
            <a:gdLst/>
            <a:ahLst/>
            <a:cxnLst/>
            <a:rect l="l" t="t" r="r" b="b"/>
            <a:pathLst>
              <a:path w="3937000" h="843280">
                <a:moveTo>
                  <a:pt x="38100" y="843280"/>
                </a:moveTo>
                <a:lnTo>
                  <a:pt x="0" y="843280"/>
                </a:lnTo>
                <a:lnTo>
                  <a:pt x="0" y="0"/>
                </a:lnTo>
                <a:lnTo>
                  <a:pt x="38100" y="0"/>
                </a:lnTo>
                <a:lnTo>
                  <a:pt x="38100" y="843280"/>
                </a:lnTo>
                <a:close/>
              </a:path>
            </a:pathLst>
          </a:custGeom>
          <a:solidFill>
            <a:srgbClr val="D0612A"/>
          </a:solidFill>
          <a:ln/>
        </p:spPr>
      </p:sp>
      <p:sp>
        <p:nvSpPr>
          <p:cNvPr id="8" name="Shape 6"/>
          <p:cNvSpPr/>
          <p:nvPr/>
        </p:nvSpPr>
        <p:spPr>
          <a:xfrm>
            <a:off x="812800" y="4279900"/>
            <a:ext cx="3937000" cy="1346200"/>
          </a:xfrm>
          <a:custGeom>
            <a:avLst/>
            <a:gdLst/>
            <a:ahLst/>
            <a:cxnLst/>
            <a:rect l="l" t="t" r="r" b="b"/>
            <a:pathLst>
              <a:path w="3937000" h="1346200">
                <a:moveTo>
                  <a:pt x="0" y="0"/>
                </a:moveTo>
                <a:lnTo>
                  <a:pt x="3860800" y="0"/>
                </a:lnTo>
                <a:arcTo hR="76200" wR="76200" stAng="16200000" swAng="5400000"/>
                <a:lnTo>
                  <a:pt x="3937000" y="1270000"/>
                </a:lnTo>
                <a:arcTo hR="76200" wR="76200" stAng="0" swAng="5400000"/>
                <a:lnTo>
                  <a:pt x="0" y="1346200"/>
                </a:lnTo>
                <a:lnTo>
                  <a:pt x="0" y="0"/>
                </a:lnTo>
                <a:close/>
              </a:path>
            </a:pathLst>
          </a:custGeom>
          <a:solidFill>
            <a:srgbClr val="E3EFEC"/>
          </a:solidFill>
          <a:ln/>
        </p:spPr>
      </p:sp>
      <p:sp>
        <p:nvSpPr>
          <p:cNvPr id="9" name="Shape 7"/>
          <p:cNvSpPr/>
          <p:nvPr/>
        </p:nvSpPr>
        <p:spPr>
          <a:xfrm>
            <a:off x="812800" y="4279900"/>
            <a:ext cx="3937000" cy="1346200"/>
          </a:xfrm>
          <a:custGeom>
            <a:avLst/>
            <a:gdLst/>
            <a:ahLst/>
            <a:cxnLst/>
            <a:rect l="l" t="t" r="r" b="b"/>
            <a:pathLst>
              <a:path w="3937000" h="1346200">
                <a:moveTo>
                  <a:pt x="38100" y="1346200"/>
                </a:moveTo>
                <a:lnTo>
                  <a:pt x="0" y="1346200"/>
                </a:lnTo>
                <a:lnTo>
                  <a:pt x="0" y="0"/>
                </a:lnTo>
                <a:lnTo>
                  <a:pt x="38100" y="0"/>
                </a:lnTo>
                <a:lnTo>
                  <a:pt x="38100" y="1346200"/>
                </a:lnTo>
                <a:close/>
              </a:path>
            </a:pathLst>
          </a:custGeom>
          <a:solidFill>
            <a:srgbClr val="17766A"/>
          </a:solidFill>
          <a:ln/>
        </p:spPr>
      </p:sp>
      <p:sp>
        <p:nvSpPr>
          <p:cNvPr id="10" name="Text 8"/>
          <p:cNvSpPr/>
          <p:nvPr/>
        </p:nvSpPr>
        <p:spPr>
          <a:xfrm>
            <a:off x="975360" y="4381500"/>
            <a:ext cx="37568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Não usados neste port</a:t>
            </a:r>
            <a:endParaRPr lang="en-US" sz="1200" dirty="0">
              <a:latin typeface="IBM Plex Sans" charset="0"/>
              <a:ea typeface="IBM Plex Sans" charset="0"/>
              <a:cs typeface="IBM Plex Sans" charset="0"/>
            </a:endParaRPr>
          </a:p>
        </p:txBody>
      </p:sp>
      <p:sp>
        <p:nvSpPr>
          <p:cNvPr id="11" name="Text 9"/>
          <p:cNvSpPr/>
          <p:nvPr/>
        </p:nvSpPr>
        <p:spPr>
          <a:xfrm>
            <a:off x="975360" y="4632970"/>
            <a:ext cx="375686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configMAX_SYSCALL_INTERRUPT_PRIORITY</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configKERNEL_INTERRUPT_PRIORITY</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configCPU_CLOCK_HZ</a:t>
            </a:r>
            <a:endParaRPr lang="en-US" sz="1200" dirty="0">
              <a:latin typeface="JetBrains Mono" charset="0"/>
              <a:ea typeface="JetBrains Mono" charset="0"/>
              <a:cs typeface="JetBrains Mono" charset="0"/>
            </a:endParaRPr>
          </a:p>
        </p:txBody>
      </p:sp>
      <p:sp>
        <p:nvSpPr>
          <p:cNvPr id="12" name="Text 10"/>
          <p:cNvSpPr/>
          <p:nvPr/>
        </p:nvSpPr>
        <p:spPr>
          <a:xfrm>
            <a:off x="975360" y="5311130"/>
            <a:ext cx="375686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Essenciais noutras arquitecturas: ver módulo 5.</a:t>
            </a:r>
            <a:endParaRPr lang="en-US" sz="1200" dirty="0">
              <a:latin typeface="IBM Plex Sans" charset="0"/>
              <a:ea typeface="IBM Plex Sans" charset="0"/>
              <a:cs typeface="IBM Plex Sans" charset="0"/>
            </a:endParaRPr>
          </a:p>
        </p:txBody>
      </p:sp>
      <p:sp>
        <p:nvSpPr>
          <p:cNvPr id="13" name="Text 11"/>
          <p:cNvSpPr/>
          <p:nvPr/>
        </p:nvSpPr>
        <p:spPr>
          <a:xfrm>
            <a:off x="5003800" y="1899940"/>
            <a:ext cx="6375400" cy="3725545"/>
          </a:xfrm>
          <a:prstGeom prst="roundRect">
            <a:avLst>
              <a:gd name="adj" fmla="val 2045"/>
            </a:avLst>
          </a:prstGeom>
          <a:solidFill>
            <a:srgbClr val="14222E"/>
          </a:solidFill>
          <a:ln/>
        </p:spPr>
        <p:txBody>
          <a:bodyPr wrap="none" lIns="117382" tIns="28482" rIns="0" bIns="3082" rtlCol="0" anchor="t">
            <a:normAutofit/>
          </a:bodyPr>
          <a:lstStyle/>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configUSE_PREEMPTION            1</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configTICK_RATE_HZ              1000</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configMAX_PRIORITIES            8</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configMINIMAL_STACK_SIZE        512             /* words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configUSE_IDLE_HOOK             0</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configUSE_TICK_HOOK             0</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configTICK_TYPE_WIDTH_IN_BITS   TICK_TYPE_WIDTH_32_BITS</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configTOTAL_HEAP_SIZE           ( 64 * 1024 )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configUSE_MALLOC_FAILED_HOOK    1</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configCHECK_FOR_STACK_OVERFLOW  2</a:t>
            </a:r>
            <a:endParaRPr lang="en-US" sz="900" dirty="0">
              <a:latin typeface="JetBrains Mono" charset="0"/>
              <a:ea typeface="JetBrains Mono" charset="0"/>
              <a:cs typeface="JetBrains Mono" charset="0"/>
            </a:endParaRPr>
          </a:p>
          <a:p>
            <a:pPr algn="l" indent="0" marL="0">
              <a:lnSpc>
                <a:spcPts val="1098"/>
              </a:lnSpc>
              <a:buNone/>
            </a:pP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Software timers: usados a partir da sessão 3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configUSE_TIMERS                1</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configTIMER_TASK_PRIORITY       ( configMAX_PRIORITIES - 1 )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configTIMER_QUEUE_LENGTH        10</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configTIMER_TASK_STACK_DEPTH    configMINIMAL_STACK_SIZE</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INCLUDE_xTimerPendFunctionCall  1</a:t>
            </a:r>
            <a:endParaRPr lang="en-US" sz="900" dirty="0">
              <a:latin typeface="JetBrains Mono" charset="0"/>
              <a:ea typeface="JetBrains Mono" charset="0"/>
              <a:cs typeface="JetBrains Mono" charset="0"/>
            </a:endParaRPr>
          </a:p>
          <a:p>
            <a:pPr algn="l" indent="0" marL="0">
              <a:lnSpc>
                <a:spcPts val="1098"/>
              </a:lnSpc>
              <a:buNone/>
            </a:pP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Funções usadas nos exercícios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INCLUDE_vTaskDelay              1</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INCLUDE_xTaskDelayUntil         1</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INCLUDE_vTaskSuspend            1</a:t>
            </a:r>
            <a:endParaRPr lang="en-US" sz="900" dirty="0">
              <a:latin typeface="JetBrains Mono" charset="0"/>
              <a:ea typeface="JetBrains Mono" charset="0"/>
              <a:cs typeface="JetBrains Mono" charset="0"/>
            </a:endParaRPr>
          </a:p>
          <a:p>
            <a:pPr algn="l" indent="0" marL="0">
              <a:lnSpc>
                <a:spcPts val="1098"/>
              </a:lnSpc>
              <a:buNone/>
            </a:pP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configASSERT() usado no main()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#include &lt;assert.h&gt;</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#define configASSERT( x ) assert( x )</a:t>
            </a:r>
            <a:endParaRPr lang="en-US" sz="900" dirty="0">
              <a:latin typeface="JetBrains Mono" charset="0"/>
              <a:ea typeface="JetBrains Mono" charset="0"/>
              <a:cs typeface="JetBrains Mono"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2</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62</a:t>
            </a:r>
            <a:endParaRPr lang="en-US" sz="1200" dirty="0">
              <a:latin typeface="IBM Plex Sans" charset="0"/>
              <a:ea typeface="IBM Plex Sans" charset="0"/>
              <a:cs typeface="IBM Plex Sans"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A DISTRIBUIÇÃO DO FREERTOS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Tipos de dados e convenções de nomes</a:t>
            </a:r>
            <a:endParaRPr lang="en-US" sz="3200" dirty="0">
              <a:latin typeface="IBM Plex Sans" charset="0"/>
              <a:ea typeface="IBM Plex Sans" charset="0"/>
              <a:cs typeface="IBM Plex Sans" charset="0"/>
            </a:endParaRPr>
          </a:p>
        </p:txBody>
      </p:sp>
      <p:sp>
        <p:nvSpPr>
          <p:cNvPr id="4" name="Shape 2"/>
          <p:cNvSpPr/>
          <p:nvPr/>
        </p:nvSpPr>
        <p:spPr>
          <a:xfrm>
            <a:off x="815975" y="1903115"/>
            <a:ext cx="5353050" cy="999490"/>
          </a:xfrm>
          <a:prstGeom prst="roundRect">
            <a:avLst>
              <a:gd name="adj" fmla="val 9848"/>
            </a:avLst>
          </a:prstGeom>
          <a:solidFill>
            <a:srgbClr val="FCFBF8"/>
          </a:solidFill>
          <a:ln w="6350">
            <a:solidFill>
              <a:srgbClr val="DCDAD2"/>
            </a:solidFill>
            <a:prstDash val="solid"/>
          </a:ln>
        </p:spPr>
      </p:sp>
      <p:sp>
        <p:nvSpPr>
          <p:cNvPr id="5" name="Text 3"/>
          <p:cNvSpPr/>
          <p:nvPr/>
        </p:nvSpPr>
        <p:spPr>
          <a:xfrm>
            <a:off x="970280" y="2057400"/>
            <a:ext cx="51957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TickType_t</a:t>
            </a:r>
            <a:endParaRPr lang="en-US" sz="1400" dirty="0">
              <a:latin typeface="IBM Plex Sans" charset="0"/>
              <a:ea typeface="IBM Plex Sans" charset="0"/>
              <a:cs typeface="IBM Plex Sans" charset="0"/>
            </a:endParaRPr>
          </a:p>
        </p:txBody>
      </p:sp>
      <p:sp>
        <p:nvSpPr>
          <p:cNvPr id="6" name="Text 4"/>
          <p:cNvSpPr/>
          <p:nvPr/>
        </p:nvSpPr>
        <p:spPr>
          <a:xfrm>
            <a:off x="970280" y="2321570"/>
            <a:ext cx="51957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Guarda o tick count e especifica tempos. 16, 32 ou 64 bits com configTICK_TYPE_WIDTH_IN_BITS; num RISC-V de 32 bits, 32.</a:t>
            </a:r>
            <a:endParaRPr lang="en-US" sz="1200" dirty="0">
              <a:latin typeface="IBM Plex Sans" charset="0"/>
              <a:ea typeface="IBM Plex Sans" charset="0"/>
              <a:cs typeface="IBM Plex Sans" charset="0"/>
            </a:endParaRPr>
          </a:p>
        </p:txBody>
      </p:sp>
      <p:sp>
        <p:nvSpPr>
          <p:cNvPr id="7" name="Shape 5"/>
          <p:cNvSpPr/>
          <p:nvPr/>
        </p:nvSpPr>
        <p:spPr>
          <a:xfrm>
            <a:off x="815975" y="3035945"/>
            <a:ext cx="5353050" cy="999490"/>
          </a:xfrm>
          <a:prstGeom prst="roundRect">
            <a:avLst>
              <a:gd name="adj" fmla="val 9848"/>
            </a:avLst>
          </a:prstGeom>
          <a:solidFill>
            <a:srgbClr val="FCFBF8"/>
          </a:solidFill>
          <a:ln w="6350">
            <a:solidFill>
              <a:srgbClr val="DCDAD2"/>
            </a:solidFill>
            <a:prstDash val="solid"/>
          </a:ln>
        </p:spPr>
      </p:sp>
      <p:sp>
        <p:nvSpPr>
          <p:cNvPr id="8" name="Text 6"/>
          <p:cNvSpPr/>
          <p:nvPr/>
        </p:nvSpPr>
        <p:spPr>
          <a:xfrm>
            <a:off x="970280" y="3190230"/>
            <a:ext cx="51957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BaseType_t</a:t>
            </a:r>
            <a:endParaRPr lang="en-US" sz="1400" dirty="0">
              <a:latin typeface="IBM Plex Sans" charset="0"/>
              <a:ea typeface="IBM Plex Sans" charset="0"/>
              <a:cs typeface="IBM Plex Sans" charset="0"/>
            </a:endParaRPr>
          </a:p>
        </p:txBody>
      </p:sp>
      <p:sp>
        <p:nvSpPr>
          <p:cNvPr id="9" name="Text 7"/>
          <p:cNvSpPr/>
          <p:nvPr/>
        </p:nvSpPr>
        <p:spPr>
          <a:xfrm>
            <a:off x="970280" y="3454400"/>
            <a:ext cx="51957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tipo mais eficiente da arquitetura (32 bits no Hazard3). Para retornos simples e pdTRUE / pdFALSE.</a:t>
            </a:r>
            <a:endParaRPr lang="en-US" sz="1200" dirty="0">
              <a:latin typeface="IBM Plex Sans" charset="0"/>
              <a:ea typeface="IBM Plex Sans" charset="0"/>
              <a:cs typeface="IBM Plex Sans" charset="0"/>
            </a:endParaRPr>
          </a:p>
        </p:txBody>
      </p:sp>
      <p:sp>
        <p:nvSpPr>
          <p:cNvPr id="10" name="Shape 8"/>
          <p:cNvSpPr/>
          <p:nvPr/>
        </p:nvSpPr>
        <p:spPr>
          <a:xfrm>
            <a:off x="815975" y="4168775"/>
            <a:ext cx="5353050" cy="1212850"/>
          </a:xfrm>
          <a:prstGeom prst="roundRect">
            <a:avLst>
              <a:gd name="adj" fmla="val 8115"/>
            </a:avLst>
          </a:prstGeom>
          <a:solidFill>
            <a:srgbClr val="FCFBF8"/>
          </a:solidFill>
          <a:ln w="6350">
            <a:solidFill>
              <a:srgbClr val="DCDAD2"/>
            </a:solidFill>
            <a:prstDash val="solid"/>
          </a:ln>
        </p:spPr>
      </p:sp>
      <p:sp>
        <p:nvSpPr>
          <p:cNvPr id="11" name="Text 9"/>
          <p:cNvSpPr/>
          <p:nvPr/>
        </p:nvSpPr>
        <p:spPr>
          <a:xfrm>
            <a:off x="970280" y="4323110"/>
            <a:ext cx="51957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Prefixos</a:t>
            </a:r>
            <a:endParaRPr lang="en-US" sz="1400" dirty="0">
              <a:latin typeface="IBM Plex Sans" charset="0"/>
              <a:ea typeface="IBM Plex Sans" charset="0"/>
              <a:cs typeface="IBM Plex Sans" charset="0"/>
            </a:endParaRPr>
          </a:p>
        </p:txBody>
      </p:sp>
      <p:sp>
        <p:nvSpPr>
          <p:cNvPr id="12" name="Text 10"/>
          <p:cNvSpPr/>
          <p:nvPr/>
        </p:nvSpPr>
        <p:spPr>
          <a:xfrm>
            <a:off x="970280" y="4587230"/>
            <a:ext cx="519577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Variáveis: c char, s int16_t, l int32_t, x BaseType_t e outros, u unsigned, p ponteiro (uc, pc…). Funções: tipo + ficheiro: </a:t>
            </a:r>
            <a:r>
              <a:rPr lang="en-US" sz="1200" b="1" dirty="0">
                <a:solidFill>
                  <a:srgbClr val="44505C"/>
                </a:solidFill>
                <a:latin typeface="IBM Plex Sans" pitchFamily="34" charset="0"/>
                <a:ea typeface="IBM Plex Sans" pitchFamily="34" charset="-122"/>
                <a:cs typeface="IBM Plex Sans" pitchFamily="34" charset="-120"/>
              </a:rPr>
              <a:t>vTask</a:t>
            </a:r>
            <a:r>
              <a:rPr lang="en-US" sz="1200" dirty="0">
                <a:solidFill>
                  <a:srgbClr val="44505C"/>
                </a:solidFill>
                <a:latin typeface="IBM Plex Sans" pitchFamily="34" charset="0"/>
                <a:ea typeface="IBM Plex Sans" pitchFamily="34" charset="-122"/>
                <a:cs typeface="IBM Plex Sans" pitchFamily="34" charset="-120"/>
              </a:rPr>
              <a:t>PrioritySet(), </a:t>
            </a:r>
            <a:r>
              <a:rPr lang="en-US" sz="1200" b="1" dirty="0">
                <a:solidFill>
                  <a:srgbClr val="44505C"/>
                </a:solidFill>
                <a:latin typeface="IBM Plex Sans" pitchFamily="34" charset="0"/>
                <a:ea typeface="IBM Plex Sans" pitchFamily="34" charset="-122"/>
                <a:cs typeface="IBM Plex Sans" pitchFamily="34" charset="-120"/>
              </a:rPr>
              <a:t>xQueue</a:t>
            </a:r>
            <a:r>
              <a:rPr lang="en-US" sz="1200" dirty="0">
                <a:solidFill>
                  <a:srgbClr val="44505C"/>
                </a:solidFill>
                <a:latin typeface="IBM Plex Sans" pitchFamily="34" charset="0"/>
                <a:ea typeface="IBM Plex Sans" pitchFamily="34" charset="-122"/>
                <a:cs typeface="IBM Plex Sans" pitchFamily="34" charset="-120"/>
              </a:rPr>
              <a:t>Receive(), </a:t>
            </a:r>
            <a:r>
              <a:rPr lang="en-US" sz="1200" b="1" dirty="0">
                <a:solidFill>
                  <a:srgbClr val="44505C"/>
                </a:solidFill>
                <a:latin typeface="IBM Plex Sans" pitchFamily="34" charset="0"/>
                <a:ea typeface="IBM Plex Sans" pitchFamily="34" charset="-122"/>
                <a:cs typeface="IBM Plex Sans" pitchFamily="34" charset="-120"/>
              </a:rPr>
              <a:t>pvTimer</a:t>
            </a:r>
            <a:r>
              <a:rPr lang="en-US" sz="1200" dirty="0">
                <a:solidFill>
                  <a:srgbClr val="44505C"/>
                </a:solidFill>
                <a:latin typeface="IBM Plex Sans" pitchFamily="34" charset="0"/>
                <a:ea typeface="IBM Plex Sans" pitchFamily="34" charset="-122"/>
                <a:cs typeface="IBM Plex Sans" pitchFamily="34" charset="-120"/>
              </a:rPr>
              <a:t>GetTimerID(); prv = privada.</a:t>
            </a:r>
            <a:endParaRPr lang="en-US" sz="1200" dirty="0">
              <a:latin typeface="IBM Plex Sans" charset="0"/>
              <a:ea typeface="IBM Plex Sans" charset="0"/>
              <a:cs typeface="IBM Plex Sans" charset="0"/>
            </a:endParaRPr>
          </a:p>
        </p:txBody>
      </p:sp>
      <p:sp>
        <p:nvSpPr>
          <p:cNvPr id="13" name="Text 11"/>
          <p:cNvSpPr/>
          <p:nvPr/>
        </p:nvSpPr>
        <p:spPr>
          <a:xfrm>
            <a:off x="6426200" y="1899940"/>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PREFIXOS DAS MACROS</a:t>
            </a:r>
            <a:endParaRPr lang="en-US" sz="1200" dirty="0">
              <a:latin typeface="IBM Plex Sans" charset="0"/>
              <a:ea typeface="IBM Plex Sans" charset="0"/>
              <a:cs typeface="IBM Plex Sans" charset="0"/>
            </a:endParaRPr>
          </a:p>
        </p:txBody>
      </p:sp>
      <p:sp>
        <p:nvSpPr>
          <p:cNvPr id="14" name="Shape 12"/>
          <p:cNvSpPr/>
          <p:nvPr/>
        </p:nvSpPr>
        <p:spPr>
          <a:xfrm>
            <a:off x="6426200" y="2219990"/>
            <a:ext cx="4953000" cy="0"/>
          </a:xfrm>
          <a:prstGeom prst="line">
            <a:avLst/>
          </a:prstGeom>
          <a:noFill/>
          <a:ln w="10160">
            <a:solidFill>
              <a:srgbClr val="141413">
                <a:alpha val="22000"/>
              </a:srgbClr>
            </a:solidFill>
            <a:prstDash val="solid"/>
          </a:ln>
        </p:spPr>
      </p:sp>
      <p:sp>
        <p:nvSpPr>
          <p:cNvPr id="15" name="Shape 13"/>
          <p:cNvSpPr/>
          <p:nvPr/>
        </p:nvSpPr>
        <p:spPr>
          <a:xfrm>
            <a:off x="6431280" y="2214910"/>
            <a:ext cx="0" cy="2118360"/>
          </a:xfrm>
          <a:prstGeom prst="line">
            <a:avLst/>
          </a:prstGeom>
          <a:noFill/>
          <a:ln w="10160">
            <a:solidFill>
              <a:srgbClr val="141413">
                <a:alpha val="22000"/>
              </a:srgbClr>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37960" y="2288570"/>
          <a:ext cx="4739640" cy="1981200"/>
        </p:xfrm>
        <a:graphic>
          <a:graphicData uri="http://schemas.openxmlformats.org/drawingml/2006/table">
            <a:tbl>
              <a:tblPr/>
              <a:tblGrid>
                <a:gridCol w="853135"/>
                <a:gridCol w="1990649"/>
                <a:gridCol w="1895856"/>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Prefixo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Exemplo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Onde está</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port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portMAX_DELAY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portable.h / portmacro.h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task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taskENTER_CRITICAL()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task.h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pdTRUE, pdPASS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projdefs.h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config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configUSE_PREEMPTION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FreeRTOSConfig.h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err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errQUEUE_FULL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projdefs.h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7" name="Text 14"/>
          <p:cNvSpPr/>
          <p:nvPr/>
        </p:nvSpPr>
        <p:spPr>
          <a:xfrm>
            <a:off x="6426200" y="4434830"/>
            <a:ext cx="51015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pdTRUE = pdPASS = 1; pdFALSE = pdFAIL = 0.</a:t>
            </a:r>
            <a:endParaRPr lang="en-US" sz="1300" dirty="0">
              <a:latin typeface="IBM Plex Sans" charset="0"/>
              <a:ea typeface="IBM Plex Sans" charset="0"/>
              <a:cs typeface="IBM Plex Sans" charset="0"/>
            </a:endParaRPr>
          </a:p>
        </p:txBody>
      </p:sp>
      <p:sp>
        <p:nvSpPr>
          <p:cNvPr id="18" name="Text 1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2</a:t>
            </a:r>
            <a:endParaRPr lang="en-US" sz="1200" dirty="0">
              <a:latin typeface="IBM Plex Sans" charset="0"/>
              <a:ea typeface="IBM Plex Sans" charset="0"/>
              <a:cs typeface="IBM Plex Sans" charset="0"/>
            </a:endParaRPr>
          </a:p>
        </p:txBody>
      </p:sp>
      <p:sp>
        <p:nvSpPr>
          <p:cNvPr id="19"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63</a:t>
            </a:r>
            <a:endParaRPr lang="en-US" sz="1200" dirty="0">
              <a:latin typeface="IBM Plex Sans" charset="0"/>
              <a:ea typeface="IBM Plex Sans" charset="0"/>
              <a:cs typeface="IBM Plex Sans"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CRIAR UM PROJETO FREERTOS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Dois caminhos; na Pico, um híbrido</a:t>
            </a:r>
            <a:endParaRPr lang="en-US" sz="3200" dirty="0">
              <a:latin typeface="IBM Plex Sans" charset="0"/>
              <a:ea typeface="IBM Plex Sans" charset="0"/>
              <a:cs typeface="IBM Plex Sans" charset="0"/>
            </a:endParaRPr>
          </a:p>
        </p:txBody>
      </p:sp>
      <p:sp>
        <p:nvSpPr>
          <p:cNvPr id="4" name="Shape 2"/>
          <p:cNvSpPr/>
          <p:nvPr/>
        </p:nvSpPr>
        <p:spPr>
          <a:xfrm>
            <a:off x="815975" y="1801515"/>
            <a:ext cx="4438650" cy="3859530"/>
          </a:xfrm>
          <a:prstGeom prst="roundRect">
            <a:avLst>
              <a:gd name="adj" fmla="val 2550"/>
            </a:avLst>
          </a:prstGeom>
          <a:solidFill>
            <a:srgbClr val="FCFBF8"/>
          </a:solidFill>
          <a:ln w="6350">
            <a:solidFill>
              <a:srgbClr val="DCDAD2"/>
            </a:solidFill>
            <a:prstDash val="solid"/>
          </a:ln>
        </p:spPr>
      </p:sp>
      <p:sp>
        <p:nvSpPr>
          <p:cNvPr id="5" name="Text 3"/>
          <p:cNvSpPr/>
          <p:nvPr/>
        </p:nvSpPr>
        <p:spPr>
          <a:xfrm>
            <a:off x="1021080" y="2006600"/>
            <a:ext cx="414929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COMO COMEÇAR:</a:t>
            </a:r>
            <a:endParaRPr lang="en-US" sz="1200" dirty="0">
              <a:latin typeface="IBM Plex Sans" charset="0"/>
              <a:ea typeface="IBM Plex Sans" charset="0"/>
              <a:cs typeface="IBM Plex Sans" charset="0"/>
            </a:endParaRPr>
          </a:p>
        </p:txBody>
      </p:sp>
      <p:sp>
        <p:nvSpPr>
          <p:cNvPr id="6" name="Text 4"/>
          <p:cNvSpPr/>
          <p:nvPr/>
        </p:nvSpPr>
        <p:spPr>
          <a:xfrm>
            <a:off x="1021080" y="2321570"/>
            <a:ext cx="414929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Adaptar uma demo </a:t>
            </a:r>
            <a:r>
              <a:rPr lang="en-US" sz="1400" b="1" dirty="0">
                <a:solidFill>
                  <a:srgbClr val="66717C"/>
                </a:solidFill>
                <a:latin typeface="IBM Plex Sans" pitchFamily="34" charset="0"/>
                <a:ea typeface="IBM Plex Sans" pitchFamily="34" charset="-122"/>
                <a:cs typeface="IBM Plex Sans" pitchFamily="34" charset="-120"/>
              </a:rPr>
              <a:t>(recomendado)</a:t>
            </a:r>
            <a:endParaRPr lang="en-US" sz="1400" dirty="0">
              <a:latin typeface="IBM Plex Sans" charset="0"/>
              <a:ea typeface="IBM Plex Sans" charset="0"/>
              <a:cs typeface="IBM Plex Sans" charset="0"/>
            </a:endParaRPr>
          </a:p>
        </p:txBody>
      </p:sp>
      <p:sp>
        <p:nvSpPr>
          <p:cNvPr id="7" name="Text 5"/>
          <p:cNvSpPr/>
          <p:nvPr/>
        </p:nvSpPr>
        <p:spPr>
          <a:xfrm>
            <a:off x="1021080" y="2636540"/>
            <a:ext cx="414929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Compilar a demo do port, tirar as demo tasks, deixar no main() só o hardware e o vTaskStartScheduler().</a:t>
            </a:r>
            <a:endParaRPr lang="en-US" sz="1200" dirty="0">
              <a:latin typeface="IBM Plex Sans" charset="0"/>
              <a:ea typeface="IBM Plex Sans" charset="0"/>
              <a:cs typeface="IBM Plex Sans" charset="0"/>
            </a:endParaRPr>
          </a:p>
        </p:txBody>
      </p:sp>
      <p:sp>
        <p:nvSpPr>
          <p:cNvPr id="8" name="Text 6"/>
          <p:cNvSpPr/>
          <p:nvPr/>
        </p:nvSpPr>
        <p:spPr>
          <a:xfrm>
            <a:off x="1021080" y="3164830"/>
            <a:ext cx="414929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Projeto de raiz</a:t>
            </a:r>
            <a:endParaRPr lang="en-US" sz="1400" dirty="0">
              <a:latin typeface="IBM Plex Sans" charset="0"/>
              <a:ea typeface="IBM Plex Sans" charset="0"/>
              <a:cs typeface="IBM Plex Sans" charset="0"/>
            </a:endParaRPr>
          </a:p>
        </p:txBody>
      </p:sp>
      <p:sp>
        <p:nvSpPr>
          <p:cNvPr id="9" name="Text 7"/>
          <p:cNvSpPr/>
          <p:nvPr/>
        </p:nvSpPr>
        <p:spPr>
          <a:xfrm>
            <a:off x="1021080" y="3479800"/>
            <a:ext cx="414929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Projeto sem RTOS a funcionar; depois ficheiros do kernel, FreeRTOSConfig.h, include paths, opções de compilação e handlers de interrupção.</a:t>
            </a:r>
            <a:endParaRPr lang="en-US" sz="1200" dirty="0">
              <a:latin typeface="IBM Plex Sans" charset="0"/>
              <a:ea typeface="IBM Plex Sans" charset="0"/>
              <a:cs typeface="IBM Plex Sans" charset="0"/>
            </a:endParaRPr>
          </a:p>
        </p:txBody>
      </p:sp>
      <p:sp>
        <p:nvSpPr>
          <p:cNvPr id="10" name="Shape 8"/>
          <p:cNvSpPr/>
          <p:nvPr/>
        </p:nvSpPr>
        <p:spPr>
          <a:xfrm>
            <a:off x="5464175" y="1801515"/>
            <a:ext cx="5911850" cy="3859530"/>
          </a:xfrm>
          <a:prstGeom prst="roundRect">
            <a:avLst>
              <a:gd name="adj" fmla="val 2550"/>
            </a:avLst>
          </a:prstGeom>
          <a:solidFill>
            <a:srgbClr val="E3EFEC"/>
          </a:solidFill>
          <a:ln w="6350">
            <a:solidFill>
              <a:srgbClr val="DCDAD2"/>
            </a:solidFill>
            <a:prstDash val="solid"/>
          </a:ln>
        </p:spPr>
      </p:sp>
      <p:sp>
        <p:nvSpPr>
          <p:cNvPr id="11" name="Text 9"/>
          <p:cNvSpPr/>
          <p:nvPr/>
        </p:nvSpPr>
        <p:spPr>
          <a:xfrm>
            <a:off x="5669280" y="2006600"/>
            <a:ext cx="56666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 QUE FAZEMOS NA PICO 2</a:t>
            </a:r>
            <a:endParaRPr lang="en-US" sz="1200" dirty="0">
              <a:latin typeface="IBM Plex Sans" charset="0"/>
              <a:ea typeface="IBM Plex Sans" charset="0"/>
              <a:cs typeface="IBM Plex Sans" charset="0"/>
            </a:endParaRPr>
          </a:p>
        </p:txBody>
      </p:sp>
      <p:sp>
        <p:nvSpPr>
          <p:cNvPr id="12" name="Text 10"/>
          <p:cNvSpPr/>
          <p:nvPr/>
        </p:nvSpPr>
        <p:spPr>
          <a:xfrm>
            <a:off x="5669280" y="2308870"/>
            <a:ext cx="566668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De raiz, com as peças do exemplo oficial</a:t>
            </a:r>
            <a:endParaRPr lang="en-US" sz="1400" dirty="0">
              <a:latin typeface="IBM Plex Sans" charset="0"/>
              <a:ea typeface="IBM Plex Sans" charset="0"/>
              <a:cs typeface="IBM Plex Sans" charset="0"/>
            </a:endParaRPr>
          </a:p>
        </p:txBody>
      </p:sp>
      <p:sp>
        <p:nvSpPr>
          <p:cNvPr id="13" name="Text 11"/>
          <p:cNvSpPr/>
          <p:nvPr/>
        </p:nvSpPr>
        <p:spPr>
          <a:xfrm>
            <a:off x="5872480" y="2611140"/>
            <a:ext cx="5457393" cy="28702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b="1" dirty="0">
                <a:solidFill>
                  <a:srgbClr val="14222E"/>
                </a:solidFill>
                <a:latin typeface="IBM Plex Sans" pitchFamily="34" charset="0"/>
                <a:ea typeface="IBM Plex Sans" pitchFamily="34" charset="-122"/>
                <a:cs typeface="IBM Plex Sans" pitchFamily="34" charset="-120"/>
              </a:rPr>
              <a:t>Passo 1:</a:t>
            </a:r>
            <a:r>
              <a:rPr lang="en-US" sz="1600" dirty="0">
                <a:solidFill>
                  <a:srgbClr val="14222E"/>
                </a:solidFill>
                <a:latin typeface="IBM Plex Sans" pitchFamily="34" charset="0"/>
                <a:ea typeface="IBM Plex Sans" pitchFamily="34" charset="-122"/>
                <a:cs typeface="IBM Plex Sans" pitchFamily="34" charset="-120"/>
              </a:rPr>
              <a:t> a extensão Pico cria o projeto, que já compila e corre sem RTOS.</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b="1" dirty="0">
                <a:solidFill>
                  <a:srgbClr val="14222E"/>
                </a:solidFill>
                <a:latin typeface="IBM Plex Sans" pitchFamily="34" charset="0"/>
                <a:ea typeface="IBM Plex Sans" pitchFamily="34" charset="-122"/>
                <a:cs typeface="IBM Plex Sans" pitchFamily="34" charset="-120"/>
              </a:rPr>
              <a:t>Passo 2:</a:t>
            </a:r>
            <a:r>
              <a:rPr lang="en-US" sz="1600" dirty="0">
                <a:solidFill>
                  <a:srgbClr val="14222E"/>
                </a:solidFill>
                <a:latin typeface="IBM Plex Sans" pitchFamily="34" charset="0"/>
                <a:ea typeface="IBM Plex Sans" pitchFamily="34" charset="-122"/>
                <a:cs typeface="IBM Plex Sans" pitchFamily="34" charset="-120"/>
              </a:rPr>
              <a:t> juntar o kernel (o CMake inclui o FreeRTOS_Kernel_import.cmake da pasta do port) e partir do FreeRTOSConfig.h do </a:t>
            </a:r>
            <a:r>
              <a:rPr lang="en-US" sz="1600" b="1" dirty="0">
                <a:solidFill>
                  <a:srgbClr val="14222E"/>
                </a:solidFill>
                <a:latin typeface="IBM Plex Sans" pitchFamily="34" charset="0"/>
                <a:ea typeface="IBM Plex Sans" pitchFamily="34" charset="-122"/>
                <a:cs typeface="IBM Plex Sans" pitchFamily="34" charset="-120"/>
              </a:rPr>
              <a:t>pico-examples/freertos</a:t>
            </a:r>
            <a:r>
              <a:rPr lang="en-US" sz="1600" dirty="0">
                <a:solidFill>
                  <a:srgbClr val="14222E"/>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b="1" dirty="0">
                <a:solidFill>
                  <a:srgbClr val="14222E"/>
                </a:solidFill>
                <a:latin typeface="IBM Plex Sans" pitchFamily="34" charset="0"/>
                <a:ea typeface="IBM Plex Sans" pitchFamily="34" charset="-122"/>
                <a:cs typeface="IBM Plex Sans" pitchFamily="34" charset="-120"/>
              </a:rPr>
              <a:t>Passo 3:</a:t>
            </a:r>
            <a:r>
              <a:rPr lang="en-US" sz="1600" dirty="0">
                <a:solidFill>
                  <a:srgbClr val="14222E"/>
                </a:solidFill>
                <a:latin typeface="IBM Plex Sans" pitchFamily="34" charset="0"/>
                <a:ea typeface="IBM Plex Sans" pitchFamily="34" charset="-122"/>
                <a:cs typeface="IBM Plex Sans" pitchFamily="34" charset="-120"/>
              </a:rPr>
              <a:t> include paths, opções de compilação e handlers de interrupção ficam a cargo do CMake e do port. Não há nada para fazer à mão.</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b="1" dirty="0">
                <a:solidFill>
                  <a:srgbClr val="14222E"/>
                </a:solidFill>
                <a:latin typeface="IBM Plex Sans" pitchFamily="34" charset="0"/>
                <a:ea typeface="IBM Plex Sans" pitchFamily="34" charset="-122"/>
                <a:cs typeface="IBM Plex Sans" pitchFamily="34" charset="-120"/>
              </a:rPr>
              <a:t>Passo 4:</a:t>
            </a:r>
            <a:r>
              <a:rPr lang="en-US" sz="1600" dirty="0">
                <a:solidFill>
                  <a:srgbClr val="14222E"/>
                </a:solidFill>
                <a:latin typeface="IBM Plex Sans" pitchFamily="34" charset="0"/>
                <a:ea typeface="IBM Plex Sans" pitchFamily="34" charset="-122"/>
                <a:cs typeface="IBM Plex Sans" pitchFamily="34" charset="-120"/>
              </a:rPr>
              <a:t> escrever as tasks.</a:t>
            </a:r>
            <a:endParaRPr lang="en-US" sz="1600" dirty="0">
              <a:latin typeface="IBM Plex Sans" charset="0"/>
              <a:ea typeface="IBM Plex Sans" charset="0"/>
              <a:cs typeface="IBM Plex Sans"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2; documentação Raspberry Pi (pico-sdk)</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64</a:t>
            </a:r>
            <a:endParaRPr lang="en-US" sz="1200" dirty="0">
              <a:latin typeface="IBM Plex Sans" charset="0"/>
              <a:ea typeface="IBM Plex Sans" charset="0"/>
              <a:cs typeface="IBM Plex Sans"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1</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Um projeto Pico em RISC-V que já funciona</a:t>
            </a:r>
            <a:endParaRPr lang="en-US" sz="3200" dirty="0">
              <a:latin typeface="IBM Plex Sans" charset="0"/>
              <a:ea typeface="IBM Plex Sans" charset="0"/>
              <a:cs typeface="IBM Plex Sans" charset="0"/>
            </a:endParaRPr>
          </a:p>
        </p:txBody>
      </p:sp>
      <p:sp>
        <p:nvSpPr>
          <p:cNvPr id="4" name="Text 2"/>
          <p:cNvSpPr/>
          <p:nvPr/>
        </p:nvSpPr>
        <p:spPr>
          <a:xfrm>
            <a:off x="1016000" y="1899940"/>
            <a:ext cx="5049266" cy="2581037"/>
          </a:xfrm>
          <a:prstGeom prst="rect">
            <a:avLst/>
          </a:prstGeom>
          <a:noFill/>
          <a:ln/>
        </p:spPr>
        <p:txBody>
          <a:bodyPr wrap="square" lIns="0" tIns="0" rIns="0" bIns="0" rtlCol="0" anchor="t">
            <a:normAutofit/>
          </a:bodyPr>
          <a:lstStyle/>
          <a:p>
            <a:pPr algn="l" marL="240030" indent="-240030">
              <a:lnSpc>
                <a:spcPts val="2205"/>
              </a:lnSpc>
              <a:buSzPct val="100000"/>
              <a:buFontTx/>
              <a:buAutoNum type="arabicPeriod" startAt="1"/>
            </a:pPr>
            <a:r>
              <a:rPr lang="en-US" sz="1575" dirty="0">
                <a:solidFill>
                  <a:srgbClr val="14222E"/>
                </a:solidFill>
                <a:latin typeface="IBM Plex Sans" pitchFamily="34" charset="0"/>
                <a:ea typeface="IBM Plex Sans" pitchFamily="34" charset="-122"/>
                <a:cs typeface="IBM Plex Sans" pitchFamily="34" charset="-120"/>
              </a:rPr>
              <a:t>Extensão Pico (barra lateral) → </a:t>
            </a:r>
            <a:r>
              <a:rPr lang="en-US" sz="1575" b="1" dirty="0">
                <a:solidFill>
                  <a:srgbClr val="14222E"/>
                </a:solidFill>
                <a:latin typeface="IBM Plex Sans" pitchFamily="34" charset="0"/>
                <a:ea typeface="IBM Plex Sans" pitchFamily="34" charset="-122"/>
                <a:cs typeface="IBM Plex Sans" pitchFamily="34" charset="-120"/>
              </a:rPr>
              <a:t>New C/C++ Project</a:t>
            </a:r>
            <a:r>
              <a:rPr lang="en-US" sz="1575" dirty="0">
                <a:solidFill>
                  <a:srgbClr val="14222E"/>
                </a:solidFill>
                <a:latin typeface="IBM Plex Sans" pitchFamily="34" charset="0"/>
                <a:ea typeface="IBM Plex Sans" pitchFamily="34" charset="-122"/>
                <a:cs typeface="IBM Plex Sans" pitchFamily="34" charset="-120"/>
              </a:rPr>
              <a:t>.</a:t>
            </a:r>
            <a:endParaRPr lang="en-US" sz="1575" dirty="0">
              <a:latin typeface="IBM Plex Sans" charset="0"/>
              <a:ea typeface="IBM Plex Sans" charset="0"/>
              <a:cs typeface="IBM Plex Sans" charset="0"/>
            </a:endParaRPr>
          </a:p>
          <a:p>
            <a:pPr algn="l" marL="240030" indent="-240030">
              <a:lnSpc>
                <a:spcPts val="2205"/>
              </a:lnSpc>
              <a:buSzPct val="100000"/>
              <a:buFontTx/>
              <a:buAutoNum type="arabicPeriod" startAt="1"/>
            </a:pPr>
            <a:r>
              <a:rPr lang="en-US" sz="1575" dirty="0">
                <a:solidFill>
                  <a:srgbClr val="14222E"/>
                </a:solidFill>
                <a:latin typeface="IBM Plex Sans" pitchFamily="34" charset="0"/>
                <a:ea typeface="IBM Plex Sans" pitchFamily="34" charset="-122"/>
                <a:cs typeface="IBM Plex Sans" pitchFamily="34" charset="-120"/>
              </a:rPr>
              <a:t>Nome e pasta do projeto; placa </a:t>
            </a:r>
            <a:r>
              <a:rPr lang="en-US" sz="1575" b="1" dirty="0">
                <a:solidFill>
                  <a:srgbClr val="14222E"/>
                </a:solidFill>
                <a:latin typeface="IBM Plex Sans" pitchFamily="34" charset="0"/>
                <a:ea typeface="IBM Plex Sans" pitchFamily="34" charset="-122"/>
                <a:cs typeface="IBM Plex Sans" pitchFamily="34" charset="-120"/>
              </a:rPr>
              <a:t>Pico 2 W</a:t>
            </a:r>
            <a:r>
              <a:rPr lang="en-US" sz="1575" dirty="0">
                <a:solidFill>
                  <a:srgbClr val="14222E"/>
                </a:solidFill>
                <a:latin typeface="IBM Plex Sans" pitchFamily="34" charset="0"/>
                <a:ea typeface="IBM Plex Sans" pitchFamily="34" charset="-122"/>
                <a:cs typeface="IBM Plex Sans" pitchFamily="34" charset="-120"/>
              </a:rPr>
              <a:t>; em Architecture, ativar </a:t>
            </a:r>
            <a:r>
              <a:rPr lang="en-US" sz="1575" b="1" dirty="0">
                <a:solidFill>
                  <a:srgbClr val="14222E"/>
                </a:solidFill>
                <a:latin typeface="IBM Plex Sans" pitchFamily="34" charset="0"/>
                <a:ea typeface="IBM Plex Sans" pitchFamily="34" charset="-122"/>
                <a:cs typeface="IBM Plex Sans" pitchFamily="34" charset="-120"/>
              </a:rPr>
              <a:t>RISC-V</a:t>
            </a:r>
            <a:r>
              <a:rPr lang="en-US" sz="1575" dirty="0">
                <a:solidFill>
                  <a:srgbClr val="14222E"/>
                </a:solidFill>
                <a:latin typeface="IBM Plex Sans" pitchFamily="34" charset="0"/>
                <a:ea typeface="IBM Plex Sans" pitchFamily="34" charset="-122"/>
                <a:cs typeface="IBM Plex Sans" pitchFamily="34" charset="-120"/>
              </a:rPr>
              <a:t>.</a:t>
            </a:r>
            <a:endParaRPr lang="en-US" sz="1575" dirty="0">
              <a:latin typeface="IBM Plex Sans" charset="0"/>
              <a:ea typeface="IBM Plex Sans" charset="0"/>
              <a:cs typeface="IBM Plex Sans" charset="0"/>
            </a:endParaRPr>
          </a:p>
          <a:p>
            <a:pPr algn="l" marL="240030" indent="-240030">
              <a:lnSpc>
                <a:spcPts val="2205"/>
              </a:lnSpc>
              <a:buSzPct val="100000"/>
              <a:buFontTx/>
              <a:buAutoNum type="arabicPeriod" startAt="1"/>
            </a:pPr>
            <a:r>
              <a:rPr lang="en-US" sz="1575" dirty="0">
                <a:solidFill>
                  <a:srgbClr val="14222E"/>
                </a:solidFill>
                <a:latin typeface="IBM Plex Sans" pitchFamily="34" charset="0"/>
                <a:ea typeface="IBM Plex Sans" pitchFamily="34" charset="-122"/>
                <a:cs typeface="IBM Plex Sans" pitchFamily="34" charset="-120"/>
              </a:rPr>
              <a:t>Escolher a versão do SDK e </a:t>
            </a:r>
            <a:r>
              <a:rPr lang="en-US" sz="1575" b="1" dirty="0">
                <a:solidFill>
                  <a:srgbClr val="14222E"/>
                </a:solidFill>
                <a:latin typeface="IBM Plex Sans" pitchFamily="34" charset="0"/>
                <a:ea typeface="IBM Plex Sans" pitchFamily="34" charset="-122"/>
                <a:cs typeface="IBM Plex Sans" pitchFamily="34" charset="-120"/>
              </a:rPr>
              <a:t>Create</a:t>
            </a:r>
            <a:r>
              <a:rPr lang="en-US" sz="1575" dirty="0">
                <a:solidFill>
                  <a:srgbClr val="14222E"/>
                </a:solidFill>
                <a:latin typeface="IBM Plex Sans" pitchFamily="34" charset="0"/>
                <a:ea typeface="IBM Plex Sans" pitchFamily="34" charset="-122"/>
                <a:cs typeface="IBM Plex Sans" pitchFamily="34" charset="-120"/>
              </a:rPr>
              <a:t>: a extensão gera o CMakeLists.txt e um .c com o main().</a:t>
            </a:r>
            <a:endParaRPr lang="en-US" sz="1575" dirty="0">
              <a:latin typeface="IBM Plex Sans" charset="0"/>
              <a:ea typeface="IBM Plex Sans" charset="0"/>
              <a:cs typeface="IBM Plex Sans" charset="0"/>
            </a:endParaRPr>
          </a:p>
          <a:p>
            <a:pPr algn="l" marL="240030" indent="-240030">
              <a:lnSpc>
                <a:spcPts val="2205"/>
              </a:lnSpc>
              <a:buSzPct val="100000"/>
              <a:buFontTx/>
              <a:buAutoNum type="arabicPeriod" startAt="1"/>
            </a:pPr>
            <a:r>
              <a:rPr lang="en-US" sz="1575" dirty="0">
                <a:solidFill>
                  <a:srgbClr val="14222E"/>
                </a:solidFill>
                <a:latin typeface="IBM Plex Sans" pitchFamily="34" charset="0"/>
                <a:ea typeface="IBM Plex Sans" pitchFamily="34" charset="-122"/>
                <a:cs typeface="IBM Plex Sans" pitchFamily="34" charset="-120"/>
              </a:rPr>
              <a:t>Substituir esse main() pelo </a:t>
            </a:r>
            <a:r>
              <a:rPr lang="en-US" sz="1575" b="1" dirty="0">
                <a:solidFill>
                  <a:srgbClr val="14222E"/>
                </a:solidFill>
                <a:latin typeface="IBM Plex Sans" pitchFamily="34" charset="0"/>
                <a:ea typeface="IBM Plex Sans" pitchFamily="34" charset="-122"/>
                <a:cs typeface="IBM Plex Sans" pitchFamily="34" charset="-120"/>
              </a:rPr>
              <a:t>main.c</a:t>
            </a:r>
            <a:r>
              <a:rPr lang="en-US" sz="1575" dirty="0">
                <a:solidFill>
                  <a:srgbClr val="14222E"/>
                </a:solidFill>
                <a:latin typeface="IBM Plex Sans" pitchFamily="34" charset="0"/>
                <a:ea typeface="IBM Plex Sans" pitchFamily="34" charset="-122"/>
                <a:cs typeface="IBM Plex Sans" pitchFamily="34" charset="-120"/>
              </a:rPr>
              <a:t> ao lado.</a:t>
            </a:r>
            <a:endParaRPr lang="en-US" sz="1575" dirty="0">
              <a:latin typeface="IBM Plex Sans" charset="0"/>
              <a:ea typeface="IBM Plex Sans" charset="0"/>
              <a:cs typeface="IBM Plex Sans" charset="0"/>
            </a:endParaRPr>
          </a:p>
          <a:p>
            <a:pPr algn="l" marL="240030" indent="-240030">
              <a:lnSpc>
                <a:spcPts val="2205"/>
              </a:lnSpc>
              <a:buSzPct val="100000"/>
              <a:buFontTx/>
              <a:buAutoNum type="arabicPeriod" startAt="1"/>
            </a:pPr>
            <a:r>
              <a:rPr lang="en-US" sz="1575" b="1" dirty="0">
                <a:solidFill>
                  <a:srgbClr val="14222E"/>
                </a:solidFill>
                <a:latin typeface="IBM Plex Sans" pitchFamily="34" charset="0"/>
                <a:ea typeface="IBM Plex Sans" pitchFamily="34" charset="-122"/>
                <a:cs typeface="IBM Plex Sans" pitchFamily="34" charset="-120"/>
              </a:rPr>
              <a:t>Compile Project</a:t>
            </a:r>
            <a:r>
              <a:rPr lang="en-US" sz="1575" dirty="0">
                <a:solidFill>
                  <a:srgbClr val="14222E"/>
                </a:solidFill>
                <a:latin typeface="IBM Plex Sans" pitchFamily="34" charset="0"/>
                <a:ea typeface="IBM Plex Sans" pitchFamily="34" charset="-122"/>
                <a:cs typeface="IBM Plex Sans" pitchFamily="34" charset="-120"/>
              </a:rPr>
              <a:t> (botão da extensão).</a:t>
            </a:r>
            <a:endParaRPr lang="en-US" sz="1575" dirty="0">
              <a:latin typeface="IBM Plex Sans" charset="0"/>
              <a:ea typeface="IBM Plex Sans" charset="0"/>
              <a:cs typeface="IBM Plex Sans" charset="0"/>
            </a:endParaRPr>
          </a:p>
          <a:p>
            <a:pPr algn="l" marL="240030" indent="-240030">
              <a:lnSpc>
                <a:spcPts val="2205"/>
              </a:lnSpc>
              <a:buSzPct val="100000"/>
              <a:buFontTx/>
              <a:buAutoNum type="arabicPeriod" startAt="1"/>
            </a:pPr>
            <a:r>
              <a:rPr lang="en-US" sz="1575" dirty="0">
                <a:solidFill>
                  <a:srgbClr val="14222E"/>
                </a:solidFill>
                <a:latin typeface="IBM Plex Sans" pitchFamily="34" charset="0"/>
                <a:ea typeface="IBM Plex Sans" pitchFamily="34" charset="-122"/>
                <a:cs typeface="IBM Plex Sans" pitchFamily="34" charset="-120"/>
              </a:rPr>
              <a:t>Programar: pelo J-Link ou, sem debugger, arrastar o .uf2 em modo BOOTSEL.</a:t>
            </a:r>
            <a:endParaRPr lang="en-US" sz="1575" dirty="0">
              <a:latin typeface="IBM Plex Sans" charset="0"/>
              <a:ea typeface="IBM Plex Sans" charset="0"/>
              <a:cs typeface="IBM Plex Sans" charset="0"/>
            </a:endParaRPr>
          </a:p>
        </p:txBody>
      </p:sp>
      <p:sp>
        <p:nvSpPr>
          <p:cNvPr id="5" name="Text 3"/>
          <p:cNvSpPr/>
          <p:nvPr/>
        </p:nvSpPr>
        <p:spPr>
          <a:xfrm>
            <a:off x="812800" y="4582567"/>
            <a:ext cx="5105400" cy="561102"/>
          </a:xfrm>
          <a:custGeom>
            <a:avLst/>
            <a:gdLst/>
            <a:ahLst/>
            <a:cxnLst/>
            <a:rect l="l" t="t" r="r" b="b"/>
            <a:pathLst>
              <a:path w="5105400" h="561102">
                <a:moveTo>
                  <a:pt x="0" y="0"/>
                </a:moveTo>
                <a:lnTo>
                  <a:pt x="5029200" y="0"/>
                </a:lnTo>
                <a:arcTo hR="76200" wR="76200" stAng="16200000" swAng="5400000"/>
                <a:lnTo>
                  <a:pt x="5105400" y="484902"/>
                </a:lnTo>
                <a:arcTo hR="76200" wR="76200" stAng="0" swAng="5400000"/>
                <a:lnTo>
                  <a:pt x="0" y="561102"/>
                </a:lnTo>
                <a:lnTo>
                  <a:pt x="0" y="0"/>
                </a:lnTo>
                <a:close/>
              </a:path>
            </a:pathLst>
          </a:custGeom>
          <a:solidFill>
            <a:srgbClr val="FBEFE7"/>
          </a:solidFill>
          <a:ln/>
        </p:spPr>
        <p:txBody>
          <a:bodyPr wrap="square" lIns="162560" tIns="88900" rIns="0" bIns="63500" rtlCol="0" anchor="t">
            <a:normAutofit/>
          </a:bodyPr>
          <a:lstStyle/>
          <a:p>
            <a:pPr algn="l" indent="0" marL="0">
              <a:lnSpc>
                <a:spcPts val="1512"/>
              </a:lnSpc>
              <a:buNone/>
            </a:pPr>
            <a:r>
              <a:rPr lang="en-US" sz="1080" dirty="0">
                <a:solidFill>
                  <a:srgbClr val="14222E"/>
                </a:solidFill>
                <a:latin typeface="IBM Plex Sans" pitchFamily="34" charset="0"/>
                <a:ea typeface="IBM Plex Sans" pitchFamily="34" charset="-122"/>
                <a:cs typeface="IBM Plex Sans" pitchFamily="34" charset="-120"/>
              </a:rPr>
              <a:t>RISC-V = </a:t>
            </a:r>
            <a:r>
              <a:rPr lang="en-US" sz="1080" b="1" dirty="0">
                <a:solidFill>
                  <a:srgbClr val="14222E"/>
                </a:solidFill>
                <a:latin typeface="IBM Plex Sans" pitchFamily="34" charset="0"/>
                <a:ea typeface="IBM Plex Sans" pitchFamily="34" charset="-122"/>
                <a:cs typeface="IBM Plex Sans" pitchFamily="34" charset="-120"/>
              </a:rPr>
              <a:t>PICO_PLATFORM rp2350-riscv</a:t>
            </a:r>
            <a:r>
              <a:rPr lang="en-US" sz="1080" dirty="0">
                <a:solidFill>
                  <a:srgbClr val="14222E"/>
                </a:solidFill>
                <a:latin typeface="IBM Plex Sans" pitchFamily="34" charset="0"/>
                <a:ea typeface="IBM Plex Sans" pitchFamily="34" charset="-122"/>
                <a:cs typeface="IBM Plex Sans" pitchFamily="34" charset="-120"/>
              </a:rPr>
              <a:t> no CMake. O RP2350 arranca na arquitetura do binário.</a:t>
            </a:r>
            <a:endParaRPr lang="en-US" sz="1080" dirty="0">
              <a:latin typeface="IBM Plex Sans" charset="0"/>
              <a:ea typeface="IBM Plex Sans" charset="0"/>
              <a:cs typeface="IBM Plex Sans" charset="0"/>
            </a:endParaRPr>
          </a:p>
        </p:txBody>
      </p:sp>
      <p:sp>
        <p:nvSpPr>
          <p:cNvPr id="6" name="Shape 4"/>
          <p:cNvSpPr/>
          <p:nvPr/>
        </p:nvSpPr>
        <p:spPr>
          <a:xfrm>
            <a:off x="812800" y="4582567"/>
            <a:ext cx="5105400" cy="561102"/>
          </a:xfrm>
          <a:custGeom>
            <a:avLst/>
            <a:gdLst/>
            <a:ahLst/>
            <a:cxnLst/>
            <a:rect l="l" t="t" r="r" b="b"/>
            <a:pathLst>
              <a:path w="5105400" h="561102">
                <a:moveTo>
                  <a:pt x="38100" y="561102"/>
                </a:moveTo>
                <a:lnTo>
                  <a:pt x="0" y="561102"/>
                </a:lnTo>
                <a:lnTo>
                  <a:pt x="0" y="0"/>
                </a:lnTo>
                <a:lnTo>
                  <a:pt x="38100" y="0"/>
                </a:lnTo>
                <a:lnTo>
                  <a:pt x="38100" y="561102"/>
                </a:lnTo>
                <a:close/>
              </a:path>
            </a:pathLst>
          </a:custGeom>
          <a:solidFill>
            <a:srgbClr val="D0612A"/>
          </a:solidFill>
          <a:ln/>
        </p:spPr>
      </p:sp>
      <p:sp>
        <p:nvSpPr>
          <p:cNvPr id="7" name="Text 5"/>
          <p:cNvSpPr/>
          <p:nvPr/>
        </p:nvSpPr>
        <p:spPr>
          <a:xfrm>
            <a:off x="815975" y="5273824"/>
            <a:ext cx="5099050" cy="564991"/>
          </a:xfrm>
          <a:prstGeom prst="roundRect">
            <a:avLst>
              <a:gd name="adj" fmla="val 12925"/>
            </a:avLst>
          </a:prstGeom>
          <a:solidFill>
            <a:srgbClr val="FCFBF8"/>
          </a:solidFill>
          <a:ln w="6350">
            <a:solidFill>
              <a:srgbClr val="DCDAD2"/>
            </a:solidFill>
            <a:prstDash val="solid"/>
          </a:ln>
        </p:spPr>
        <p:txBody>
          <a:bodyPr wrap="square" lIns="107517" tIns="69417" rIns="0" bIns="44017" rtlCol="0" anchor="t">
            <a:normAutofit/>
          </a:bodyPr>
          <a:lstStyle/>
          <a:p>
            <a:pPr algn="l" indent="0" marL="0">
              <a:lnSpc>
                <a:spcPts val="1517"/>
              </a:lnSpc>
              <a:buNone/>
            </a:pPr>
            <a:r>
              <a:rPr lang="en-US" sz="1084" dirty="0">
                <a:solidFill>
                  <a:srgbClr val="14222E"/>
                </a:solidFill>
                <a:latin typeface="IBM Plex Sans" pitchFamily="34" charset="0"/>
                <a:ea typeface="IBM Plex Sans" pitchFamily="34" charset="-122"/>
                <a:cs typeface="IBM Plex Sans" pitchFamily="34" charset="-120"/>
              </a:rPr>
              <a:t>Na Pico 2 W o LED da placa está no chip Wi-Fi. Usamos um </a:t>
            </a:r>
            <a:r>
              <a:rPr lang="en-US" sz="1084" b="1" dirty="0">
                <a:solidFill>
                  <a:srgbClr val="14222E"/>
                </a:solidFill>
                <a:latin typeface="IBM Plex Sans" pitchFamily="34" charset="0"/>
                <a:ea typeface="IBM Plex Sans" pitchFamily="34" charset="-122"/>
                <a:cs typeface="IBM Plex Sans" pitchFamily="34" charset="-120"/>
              </a:rPr>
              <a:t>LED externo no GP1</a:t>
            </a:r>
            <a:r>
              <a:rPr lang="en-US" sz="1084" dirty="0">
                <a:solidFill>
                  <a:srgbClr val="14222E"/>
                </a:solidFill>
                <a:latin typeface="IBM Plex Sans" pitchFamily="34" charset="0"/>
                <a:ea typeface="IBM Plex Sans" pitchFamily="34" charset="-122"/>
                <a:cs typeface="IBM Plex Sans" pitchFamily="34" charset="-120"/>
              </a:rPr>
              <a:t>, com resistência de ~330 Ω para o GND.</a:t>
            </a:r>
            <a:endParaRPr lang="en-US" sz="1084" dirty="0">
              <a:latin typeface="IBM Plex Sans" charset="0"/>
              <a:ea typeface="IBM Plex Sans" charset="0"/>
              <a:cs typeface="IBM Plex Sans" charset="0"/>
            </a:endParaRPr>
          </a:p>
        </p:txBody>
      </p:sp>
      <p:sp>
        <p:nvSpPr>
          <p:cNvPr id="8" name="Text 6"/>
          <p:cNvSpPr/>
          <p:nvPr/>
        </p:nvSpPr>
        <p:spPr>
          <a:xfrm>
            <a:off x="6172200" y="1899940"/>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MAIN.C</a:t>
            </a:r>
            <a:endParaRPr lang="en-US" sz="1200" dirty="0">
              <a:latin typeface="IBM Plex Sans" charset="0"/>
              <a:ea typeface="IBM Plex Sans" charset="0"/>
              <a:cs typeface="IBM Plex Sans" charset="0"/>
            </a:endParaRPr>
          </a:p>
        </p:txBody>
      </p:sp>
      <p:sp>
        <p:nvSpPr>
          <p:cNvPr id="9" name="Text 7"/>
          <p:cNvSpPr/>
          <p:nvPr/>
        </p:nvSpPr>
        <p:spPr>
          <a:xfrm>
            <a:off x="6172200" y="2189510"/>
            <a:ext cx="5207000" cy="3002280"/>
          </a:xfrm>
          <a:prstGeom prst="roundRect">
            <a:avLst>
              <a:gd name="adj" fmla="val 2538"/>
            </a:avLst>
          </a:prstGeom>
          <a:solidFill>
            <a:srgbClr val="14222E"/>
          </a:solidFill>
          <a:ln/>
        </p:spPr>
        <p:txBody>
          <a:bodyPr wrap="none" lIns="117382" tIns="91982" rIns="0" bIns="665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"pico/stdlib.h"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LED_PIN 1 /* GP1: LED externo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int main(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gpio_init( LED_PIN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gpio_set_dir( LED_PIN, GPIO_OUT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gpio_xor_mask( 1u &lt;&lt; LED_PIN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sleep_ms( 500 );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0" name="Text 8"/>
          <p:cNvSpPr/>
          <p:nvPr/>
        </p:nvSpPr>
        <p:spPr>
          <a:xfrm>
            <a:off x="6172200" y="5267970"/>
            <a:ext cx="53632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Se o LED do GP1 pisca, o projeto compila, programa a placa e corre. Só agora entra o FreeRTOS.</a:t>
            </a:r>
            <a:endParaRPr lang="en-US" sz="1200" dirty="0">
              <a:latin typeface="IBM Plex Sans" charset="0"/>
              <a:ea typeface="IBM Plex Sans" charset="0"/>
              <a:cs typeface="IBM Plex Sans" charset="0"/>
            </a:endParaRPr>
          </a:p>
        </p:txBody>
      </p:sp>
      <p:sp>
        <p:nvSpPr>
          <p:cNvPr id="11" name="Text 9"/>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12" name="Text 10"/>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65</a:t>
            </a:r>
            <a:endParaRPr lang="en-US" sz="1200" dirty="0">
              <a:latin typeface="IBM Plex Sans" charset="0"/>
              <a:ea typeface="IBM Plex Sans" charset="0"/>
              <a:cs typeface="IBM Plex Sans"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3" name="Text 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66</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2</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Juntar o kernel ao projeto, com CMake</a:t>
            </a:r>
            <a:endParaRPr lang="en-US" sz="3200" dirty="0">
              <a:latin typeface="IBM Plex Sans" charset="0"/>
              <a:ea typeface="IBM Plex Sans" charset="0"/>
              <a:cs typeface="IBM Plex Sans" charset="0"/>
            </a:endParaRPr>
          </a:p>
        </p:txBody>
      </p:sp>
      <p:sp>
        <p:nvSpPr>
          <p:cNvPr id="6" name="Text 4"/>
          <p:cNvSpPr/>
          <p:nvPr/>
        </p:nvSpPr>
        <p:spPr>
          <a:xfrm>
            <a:off x="812800" y="1898650"/>
            <a:ext cx="4064000" cy="1747520"/>
          </a:xfrm>
          <a:prstGeom prst="roundRect">
            <a:avLst>
              <a:gd name="adj" fmla="val 4360"/>
            </a:avLst>
          </a:prstGeom>
          <a:solidFill>
            <a:srgbClr val="14222E"/>
          </a:solidFill>
          <a:ln/>
        </p:spPr>
        <p:txBody>
          <a:bodyPr wrap="none" lIns="130082" tIns="104682" rIns="17306"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Formacao/</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├─FreeRTOS-Kernel/ ← git clone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└─MeuProjeto/</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├─CMakeLists.txt ← editar aqui</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├─pico_sdk_import.cmake ← da extensão</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├─FreeRTOSConfig.h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└─main.c</a:t>
            </a:r>
            <a:endParaRPr lang="en-US" sz="1200" dirty="0">
              <a:latin typeface="JetBrains Mono" charset="0"/>
              <a:ea typeface="JetBrains Mono" charset="0"/>
              <a:cs typeface="JetBrains Mono" charset="0"/>
            </a:endParaRPr>
          </a:p>
        </p:txBody>
      </p:sp>
      <p:sp>
        <p:nvSpPr>
          <p:cNvPr id="7" name="Text 5"/>
          <p:cNvSpPr/>
          <p:nvPr/>
        </p:nvSpPr>
        <p:spPr>
          <a:xfrm>
            <a:off x="812800" y="3773190"/>
            <a:ext cx="418592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import usa o FREERTOS_KERNEL_PATH e carrega o port </a:t>
            </a:r>
            <a:r>
              <a:rPr lang="en-US" sz="1200" b="1" dirty="0">
                <a:solidFill>
                  <a:srgbClr val="44505C"/>
                </a:solidFill>
                <a:latin typeface="IBM Plex Sans" pitchFamily="34" charset="0"/>
                <a:ea typeface="IBM Plex Sans" pitchFamily="34" charset="-122"/>
                <a:cs typeface="IBM Plex Sans" pitchFamily="34" charset="-120"/>
              </a:rPr>
              <a:t>RP2350_RISC-V</a:t>
            </a:r>
            <a:r>
              <a:rPr lang="en-US" sz="1200" dirty="0">
                <a:solidFill>
                  <a:srgbClr val="44505C"/>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p:txBody>
      </p:sp>
      <p:sp>
        <p:nvSpPr>
          <p:cNvPr id="8" name="Text 6"/>
          <p:cNvSpPr/>
          <p:nvPr/>
        </p:nvSpPr>
        <p:spPr>
          <a:xfrm>
            <a:off x="812800" y="4326880"/>
            <a:ext cx="4064000" cy="817880"/>
          </a:xfrm>
          <a:prstGeom prst="roundRect">
            <a:avLst>
              <a:gd name="adj" fmla="val 9317"/>
            </a:avLst>
          </a:prstGeom>
          <a:solidFill>
            <a:srgbClr val="E3EFEC"/>
          </a:solidFill>
          <a:ln/>
        </p:spPr>
        <p:txBody>
          <a:bodyPr wrap="square" lIns="104682" tIns="66582" rIns="0" bIns="411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FreeRTOS-Kernel-Heap4</a:t>
            </a:r>
            <a:r>
              <a:rPr lang="en-US" sz="1200" dirty="0">
                <a:solidFill>
                  <a:srgbClr val="14222E"/>
                </a:solidFill>
                <a:latin typeface="IBM Plex Sans" pitchFamily="34" charset="0"/>
                <a:ea typeface="IBM Plex Sans" pitchFamily="34" charset="-122"/>
                <a:cs typeface="IBM Plex Sans" pitchFamily="34" charset="-120"/>
              </a:rPr>
              <a:t> traz o kernel, o port e o heap_4; o include path da aplicação dá o FreeRTOSConfig.h.</a:t>
            </a:r>
            <a:endParaRPr lang="en-US" sz="1200" dirty="0">
              <a:latin typeface="IBM Plex Sans" charset="0"/>
              <a:ea typeface="IBM Plex Sans" charset="0"/>
              <a:cs typeface="IBM Plex Sans" charset="0"/>
            </a:endParaRPr>
          </a:p>
        </p:txBody>
      </p:sp>
      <p:sp>
        <p:nvSpPr>
          <p:cNvPr id="9" name="Text 7"/>
          <p:cNvSpPr/>
          <p:nvPr/>
        </p:nvSpPr>
        <p:spPr>
          <a:xfrm>
            <a:off x="5130800" y="1898650"/>
            <a:ext cx="6435852" cy="228838"/>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66717C"/>
                </a:solidFill>
                <a:latin typeface="IBM Plex Sans" pitchFamily="34" charset="0"/>
                <a:ea typeface="IBM Plex Sans" pitchFamily="34" charset="-122"/>
                <a:cs typeface="IBM Plex Sans" pitchFamily="34" charset="-120"/>
              </a:rPr>
              <a:t>ACRESCENTAR AO CMAKELISTS.TXT</a:t>
            </a:r>
            <a:endParaRPr lang="en-US" sz="1159" dirty="0">
              <a:latin typeface="IBM Plex Sans" charset="0"/>
              <a:ea typeface="IBM Plex Sans" charset="0"/>
              <a:cs typeface="IBM Plex Sans" charset="0"/>
            </a:endParaRPr>
          </a:p>
        </p:txBody>
      </p:sp>
      <p:sp>
        <p:nvSpPr>
          <p:cNvPr id="10" name="Text 8"/>
          <p:cNvSpPr/>
          <p:nvPr/>
        </p:nvSpPr>
        <p:spPr>
          <a:xfrm>
            <a:off x="5130800" y="2178298"/>
            <a:ext cx="6248400" cy="2839641"/>
          </a:xfrm>
          <a:prstGeom prst="roundRect">
            <a:avLst>
              <a:gd name="adj" fmla="val 2683"/>
            </a:avLst>
          </a:prstGeom>
          <a:solidFill>
            <a:srgbClr val="14222E"/>
          </a:solidFill>
          <a:ln/>
        </p:spPr>
        <p:txBody>
          <a:bodyPr wrap="none" lIns="117382" tIns="91982" rIns="0" bIns="66582" rtlCol="0" anchor="t">
            <a:normAutofit/>
          </a:bodyPr>
          <a:lstStyle/>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CMakeLists.txt, depois de pico_sdk_init()</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set( FREERTOS_KERNEL_PATH</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${CMAKE_CURRENT_LIST_DIR}/../FreeRTOS-Kernel )</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set( FREERTOS_PORT_PATH</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${FREERTOS_KERNEL_PATH}/portable/ThirdParty/GCC/RP2350_RISC-V )</a:t>
            </a:r>
            <a:endParaRPr lang="en-US" sz="1048" dirty="0">
              <a:latin typeface="JetBrains Mono" charset="0"/>
              <a:ea typeface="JetBrains Mono" charset="0"/>
              <a:cs typeface="JetBrains Mono" charset="0"/>
            </a:endParaRPr>
          </a:p>
          <a:p>
            <a:pPr algn="l" indent="0" marL="0">
              <a:lnSpc>
                <a:spcPts val="1468"/>
              </a:lnSpc>
              <a:buNone/>
            </a:pP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include( ${FREERTOS_PORT_PATH}/FreeRTOS_Kernel_import.cmake )</a:t>
            </a:r>
            <a:endParaRPr lang="en-US" sz="1048" dirty="0">
              <a:latin typeface="JetBrains Mono" charset="0"/>
              <a:ea typeface="JetBrains Mono" charset="0"/>
              <a:cs typeface="JetBrains Mono" charset="0"/>
            </a:endParaRPr>
          </a:p>
          <a:p>
            <a:pPr algn="l" indent="0" marL="0">
              <a:lnSpc>
                <a:spcPts val="1468"/>
              </a:lnSpc>
              <a:buNone/>
            </a:pP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target_*: só depois do add_executable()</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target_include_directories( ${PROJECT_NAME}</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PRIVATE ${CMAKE_CURRENT_LIST_DIR} )</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target_link_libraries( ${PROJECT_NAME}</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pico_stdlib</a:t>
            </a:r>
            <a:endParaRPr lang="en-US" sz="1048" dirty="0">
              <a:latin typeface="JetBrains Mono" charset="0"/>
              <a:ea typeface="JetBrains Mono" charset="0"/>
              <a:cs typeface="JetBrains Mono" charset="0"/>
            </a:endParaRPr>
          </a:p>
          <a:p>
            <a:pPr algn="l" indent="0" marL="0">
              <a:lnSpc>
                <a:spcPts val="1468"/>
              </a:lnSpc>
              <a:buNone/>
            </a:pPr>
            <a:r>
              <a:rPr lang="en-US" sz="1048" dirty="0">
                <a:solidFill>
                  <a:srgbClr val="E6EAE8"/>
                </a:solidFill>
                <a:latin typeface="JetBrains Mono" pitchFamily="49" charset="0"/>
                <a:ea typeface="JetBrains Mono" pitchFamily="49" charset="-122"/>
                <a:cs typeface="JetBrains Mono" pitchFamily="49" charset="-120"/>
              </a:rPr>
              <a:t>    FreeRTOS-Kernel-Heap4 )</a:t>
            </a:r>
            <a:endParaRPr lang="en-US" sz="1048" dirty="0">
              <a:latin typeface="JetBrains Mono" charset="0"/>
              <a:ea typeface="JetBrains Mono" charset="0"/>
              <a:cs typeface="JetBrains Mono" charset="0"/>
            </a:endParaRPr>
          </a:p>
        </p:txBody>
      </p:sp>
      <p:sp>
        <p:nvSpPr>
          <p:cNvPr id="11" name="Text 9"/>
          <p:cNvSpPr/>
          <p:nvPr/>
        </p:nvSpPr>
        <p:spPr>
          <a:xfrm>
            <a:off x="5283200" y="5094139"/>
            <a:ext cx="6278880" cy="773271"/>
          </a:xfrm>
          <a:prstGeom prst="rect">
            <a:avLst/>
          </a:prstGeom>
          <a:noFill/>
          <a:ln/>
        </p:spPr>
        <p:txBody>
          <a:bodyPr wrap="square" lIns="0" tIns="0" rIns="0" bIns="0" rtlCol="0" anchor="t">
            <a:normAutofit/>
          </a:bodyPr>
          <a:lstStyle/>
          <a:p>
            <a:pPr algn="l" marL="138899" indent="-127595">
              <a:lnSpc>
                <a:spcPts val="1185"/>
              </a:lnSpc>
              <a:buSzPct val="100000"/>
              <a:buChar char="•"/>
            </a:pPr>
            <a:r>
              <a:rPr lang="en-US" sz="911" dirty="0">
                <a:solidFill>
                  <a:srgbClr val="17766A"/>
                </a:solidFill>
                <a:latin typeface="IBM Plex Sans" pitchFamily="34" charset="0"/>
                <a:ea typeface="IBM Plex Sans" pitchFamily="34" charset="-122"/>
                <a:cs typeface="IBM Plex Sans" pitchFamily="34" charset="-120"/>
              </a:rPr>
              <a:t>set KERNEL_PATH</a:t>
            </a:r>
            <a:r>
              <a:rPr lang="en-US" sz="911" dirty="0">
                <a:solidFill>
                  <a:srgbClr val="44505C"/>
                </a:solidFill>
                <a:latin typeface="IBM Plex Sans" pitchFamily="34" charset="0"/>
                <a:ea typeface="IBM Plex Sans" pitchFamily="34" charset="-122"/>
                <a:cs typeface="IBM Plex Sans" pitchFamily="34" charset="-120"/>
              </a:rPr>
              <a:t>: onde está o kernel (um nível acima)</a:t>
            </a:r>
            <a:endParaRPr lang="en-US" sz="911" dirty="0">
              <a:latin typeface="IBM Plex Sans" charset="0"/>
              <a:ea typeface="IBM Plex Sans" charset="0"/>
              <a:cs typeface="IBM Plex Sans" charset="0"/>
            </a:endParaRPr>
          </a:p>
          <a:p>
            <a:pPr algn="l" marL="138899" indent="-127595">
              <a:lnSpc>
                <a:spcPts val="1185"/>
              </a:lnSpc>
              <a:buSzPct val="100000"/>
              <a:buChar char="•"/>
            </a:pPr>
            <a:r>
              <a:rPr lang="en-US" sz="911" dirty="0">
                <a:solidFill>
                  <a:srgbClr val="17766A"/>
                </a:solidFill>
                <a:latin typeface="IBM Plex Sans" pitchFamily="34" charset="0"/>
                <a:ea typeface="IBM Plex Sans" pitchFamily="34" charset="-122"/>
                <a:cs typeface="IBM Plex Sans" pitchFamily="34" charset="-120"/>
              </a:rPr>
              <a:t>set PORT_PATH</a:t>
            </a:r>
            <a:r>
              <a:rPr lang="en-US" sz="911" dirty="0">
                <a:solidFill>
                  <a:srgbClr val="44505C"/>
                </a:solidFill>
                <a:latin typeface="IBM Plex Sans" pitchFamily="34" charset="0"/>
                <a:ea typeface="IBM Plex Sans" pitchFamily="34" charset="-122"/>
                <a:cs typeface="IBM Plex Sans" pitchFamily="34" charset="-120"/>
              </a:rPr>
              <a:t>: a pasta do port RP2350_RISC-V</a:t>
            </a:r>
            <a:endParaRPr lang="en-US" sz="911" dirty="0">
              <a:latin typeface="IBM Plex Sans" charset="0"/>
              <a:ea typeface="IBM Plex Sans" charset="0"/>
              <a:cs typeface="IBM Plex Sans" charset="0"/>
            </a:endParaRPr>
          </a:p>
          <a:p>
            <a:pPr algn="l" marL="138899" indent="-127595">
              <a:lnSpc>
                <a:spcPts val="1185"/>
              </a:lnSpc>
              <a:buSzPct val="100000"/>
              <a:buChar char="•"/>
            </a:pPr>
            <a:r>
              <a:rPr lang="en-US" sz="911" dirty="0">
                <a:solidFill>
                  <a:srgbClr val="17766A"/>
                </a:solidFill>
                <a:latin typeface="IBM Plex Sans" pitchFamily="34" charset="0"/>
                <a:ea typeface="IBM Plex Sans" pitchFamily="34" charset="-122"/>
                <a:cs typeface="IBM Plex Sans" pitchFamily="34" charset="-120"/>
              </a:rPr>
              <a:t>include</a:t>
            </a:r>
            <a:r>
              <a:rPr lang="en-US" sz="911" dirty="0">
                <a:solidFill>
                  <a:srgbClr val="44505C"/>
                </a:solidFill>
                <a:latin typeface="IBM Plex Sans" pitchFamily="34" charset="0"/>
                <a:ea typeface="IBM Plex Sans" pitchFamily="34" charset="-122"/>
                <a:cs typeface="IBM Plex Sans" pitchFamily="34" charset="-120"/>
              </a:rPr>
              <a:t>: corre o import: cria as bibliotecas FreeRTOS-Kernel-*</a:t>
            </a:r>
            <a:endParaRPr lang="en-US" sz="911" dirty="0">
              <a:latin typeface="IBM Plex Sans" charset="0"/>
              <a:ea typeface="IBM Plex Sans" charset="0"/>
              <a:cs typeface="IBM Plex Sans" charset="0"/>
            </a:endParaRPr>
          </a:p>
          <a:p>
            <a:pPr algn="l" marL="138899" indent="-127595">
              <a:lnSpc>
                <a:spcPts val="1185"/>
              </a:lnSpc>
              <a:buSzPct val="100000"/>
              <a:buChar char="•"/>
            </a:pPr>
            <a:r>
              <a:rPr lang="en-US" sz="911" dirty="0">
                <a:solidFill>
                  <a:srgbClr val="17766A"/>
                </a:solidFill>
                <a:latin typeface="IBM Plex Sans" pitchFamily="34" charset="0"/>
                <a:ea typeface="IBM Plex Sans" pitchFamily="34" charset="-122"/>
                <a:cs typeface="IBM Plex Sans" pitchFamily="34" charset="-120"/>
              </a:rPr>
              <a:t>target_include_directories</a:t>
            </a:r>
            <a:r>
              <a:rPr lang="en-US" sz="911" dirty="0">
                <a:solidFill>
                  <a:srgbClr val="44505C"/>
                </a:solidFill>
                <a:latin typeface="IBM Plex Sans" pitchFamily="34" charset="0"/>
                <a:ea typeface="IBM Plex Sans" pitchFamily="34" charset="-122"/>
                <a:cs typeface="IBM Plex Sans" pitchFamily="34" charset="-120"/>
              </a:rPr>
              <a:t>: a pasta do FreeRTOSConfig.h</a:t>
            </a:r>
            <a:endParaRPr lang="en-US" sz="911" dirty="0">
              <a:latin typeface="IBM Plex Sans" charset="0"/>
              <a:ea typeface="IBM Plex Sans" charset="0"/>
              <a:cs typeface="IBM Plex Sans" charset="0"/>
            </a:endParaRPr>
          </a:p>
          <a:p>
            <a:pPr algn="l" marL="138899" indent="-127595">
              <a:lnSpc>
                <a:spcPts val="1185"/>
              </a:lnSpc>
              <a:buSzPct val="100000"/>
              <a:buChar char="•"/>
            </a:pPr>
            <a:r>
              <a:rPr lang="en-US" sz="911" dirty="0">
                <a:solidFill>
                  <a:srgbClr val="17766A"/>
                </a:solidFill>
                <a:latin typeface="IBM Plex Sans" pitchFamily="34" charset="0"/>
                <a:ea typeface="IBM Plex Sans" pitchFamily="34" charset="-122"/>
                <a:cs typeface="IBM Plex Sans" pitchFamily="34" charset="-120"/>
              </a:rPr>
              <a:t>target_link_libraries</a:t>
            </a:r>
            <a:r>
              <a:rPr lang="en-US" sz="911" dirty="0">
                <a:solidFill>
                  <a:srgbClr val="44505C"/>
                </a:solidFill>
                <a:latin typeface="IBM Plex Sans" pitchFamily="34" charset="0"/>
                <a:ea typeface="IBM Plex Sans" pitchFamily="34" charset="-122"/>
                <a:cs typeface="IBM Plex Sans" pitchFamily="34" charset="-120"/>
              </a:rPr>
              <a:t>: junta ao build o pico-sdk, o kernel, o port e o heap_4</a:t>
            </a:r>
            <a:endParaRPr lang="en-US" sz="911" dirty="0">
              <a:latin typeface="IBM Plex Sans" charset="0"/>
              <a:ea typeface="IBM Plex Sans" charset="0"/>
              <a:cs typeface="IBM Plex Sans"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3</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que o port faz por nós: tick e interrupções</a:t>
            </a:r>
            <a:endParaRPr lang="en-US" sz="3200" dirty="0">
              <a:latin typeface="IBM Plex Sans" charset="0"/>
              <a:ea typeface="IBM Plex Sans" charset="0"/>
              <a:cs typeface="IBM Plex Sans" charset="0"/>
            </a:endParaRPr>
          </a:p>
        </p:txBody>
      </p:sp>
      <p:sp>
        <p:nvSpPr>
          <p:cNvPr id="4" name="Text 2"/>
          <p:cNvSpPr/>
          <p:nvPr/>
        </p:nvSpPr>
        <p:spPr>
          <a:xfrm>
            <a:off x="812800" y="1798340"/>
            <a:ext cx="5715000" cy="2575560"/>
          </a:xfrm>
          <a:prstGeom prst="roundRect">
            <a:avLst>
              <a:gd name="adj" fmla="val 2959"/>
            </a:avLst>
          </a:prstGeom>
          <a:solidFill>
            <a:srgbClr val="14222E"/>
          </a:solidFill>
          <a:ln/>
        </p:spPr>
        <p:txBody>
          <a:bodyPr wrap="none" lIns="117382" tIns="91982" rIns="0" bIns="665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port.c do RP2350_RISC-V (excerto)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vPortSetupTimerInterrupt(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riscv_timer_set_fullspeed( true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uxTimerIncrementsForOneTick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clock_get_hz( clk_sys ) / configTICK_RATE_HZ;</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 programa o mtimecmp do SIO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irq_set_exclusive_handler( SIO_IRQ_MTIMECMP,</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freertos_risc_v_mtimer_interrupt_handler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irq_set_enabled( SIO_IRQ_MTIMECMP, true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5" name="Shape 3"/>
          <p:cNvSpPr/>
          <p:nvPr/>
        </p:nvSpPr>
        <p:spPr>
          <a:xfrm>
            <a:off x="812800" y="4373910"/>
            <a:ext cx="5715000" cy="1346200"/>
          </a:xfrm>
          <a:custGeom>
            <a:avLst/>
            <a:gdLst/>
            <a:ahLst/>
            <a:cxnLst/>
            <a:rect l="l" t="t" r="r" b="b"/>
            <a:pathLst>
              <a:path w="5715000" h="1346200">
                <a:moveTo>
                  <a:pt x="0" y="0"/>
                </a:moveTo>
                <a:lnTo>
                  <a:pt x="5638800" y="0"/>
                </a:lnTo>
                <a:arcTo hR="76200" wR="76200" stAng="16200000" swAng="5400000"/>
                <a:lnTo>
                  <a:pt x="5715000" y="1270000"/>
                </a:lnTo>
                <a:arcTo hR="76200" wR="76200" stAng="0" swAng="5400000"/>
                <a:lnTo>
                  <a:pt x="0" y="1346200"/>
                </a:lnTo>
                <a:lnTo>
                  <a:pt x="0" y="0"/>
                </a:lnTo>
                <a:close/>
              </a:path>
            </a:pathLst>
          </a:custGeom>
          <a:solidFill>
            <a:srgbClr val="E3EFEC"/>
          </a:solidFill>
          <a:ln/>
        </p:spPr>
      </p:sp>
      <p:sp>
        <p:nvSpPr>
          <p:cNvPr id="6" name="Shape 4"/>
          <p:cNvSpPr/>
          <p:nvPr/>
        </p:nvSpPr>
        <p:spPr>
          <a:xfrm>
            <a:off x="812800" y="4373910"/>
            <a:ext cx="5715000" cy="1346200"/>
          </a:xfrm>
          <a:custGeom>
            <a:avLst/>
            <a:gdLst/>
            <a:ahLst/>
            <a:cxnLst/>
            <a:rect l="l" t="t" r="r" b="b"/>
            <a:pathLst>
              <a:path w="5715000" h="1346200">
                <a:moveTo>
                  <a:pt x="38100" y="1346200"/>
                </a:moveTo>
                <a:lnTo>
                  <a:pt x="0" y="1346200"/>
                </a:lnTo>
                <a:lnTo>
                  <a:pt x="0" y="0"/>
                </a:lnTo>
                <a:lnTo>
                  <a:pt x="38100" y="0"/>
                </a:lnTo>
                <a:lnTo>
                  <a:pt x="38100" y="1346200"/>
                </a:lnTo>
                <a:close/>
              </a:path>
            </a:pathLst>
          </a:custGeom>
          <a:solidFill>
            <a:srgbClr val="17766A"/>
          </a:solidFill>
          <a:ln/>
        </p:spPr>
      </p:sp>
      <p:sp>
        <p:nvSpPr>
          <p:cNvPr id="7" name="Text 5"/>
          <p:cNvSpPr/>
          <p:nvPr/>
        </p:nvSpPr>
        <p:spPr>
          <a:xfrm>
            <a:off x="975360" y="4475510"/>
            <a:ext cx="558820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Quem chama isto?</a:t>
            </a:r>
            <a:endParaRPr lang="en-US" sz="1200" dirty="0">
              <a:latin typeface="IBM Plex Sans" charset="0"/>
              <a:ea typeface="IBM Plex Sans" charset="0"/>
              <a:cs typeface="IBM Plex Sans" charset="0"/>
            </a:endParaRPr>
          </a:p>
        </p:txBody>
      </p:sp>
      <p:sp>
        <p:nvSpPr>
          <p:cNvPr id="8" name="Text 6"/>
          <p:cNvSpPr/>
          <p:nvPr/>
        </p:nvSpPr>
        <p:spPr>
          <a:xfrm>
            <a:off x="975360" y="4726930"/>
            <a:ext cx="558820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main() → vTaskStartScheduler()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  → xPortStartScheduler() /* port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14222E"/>
                </a:solidFill>
                <a:latin typeface="JetBrains Mono" pitchFamily="49" charset="0"/>
                <a:ea typeface="JetBrains Mono" pitchFamily="49" charset="-122"/>
                <a:cs typeface="JetBrains Mono" pitchFamily="49" charset="-120"/>
              </a:rPr>
              <a:t>    → vPortSetupTimerInterrupt()</a:t>
            </a:r>
            <a:endParaRPr lang="en-US" sz="1200" dirty="0">
              <a:latin typeface="JetBrains Mono" charset="0"/>
              <a:ea typeface="JetBrains Mono" charset="0"/>
              <a:cs typeface="JetBrains Mono" charset="0"/>
            </a:endParaRPr>
          </a:p>
        </p:txBody>
      </p:sp>
      <p:sp>
        <p:nvSpPr>
          <p:cNvPr id="9" name="Text 7"/>
          <p:cNvSpPr/>
          <p:nvPr/>
        </p:nvSpPr>
        <p:spPr>
          <a:xfrm>
            <a:off x="975360" y="5405140"/>
            <a:ext cx="55882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Nós arrancamos; o port prepara o tick e os handlers.</a:t>
            </a:r>
            <a:endParaRPr lang="en-US" sz="1200" dirty="0">
              <a:latin typeface="IBM Plex Sans" charset="0"/>
              <a:ea typeface="IBM Plex Sans" charset="0"/>
              <a:cs typeface="IBM Plex Sans" charset="0"/>
            </a:endParaRPr>
          </a:p>
        </p:txBody>
      </p:sp>
      <p:sp>
        <p:nvSpPr>
          <p:cNvPr id="10" name="Shape 8"/>
          <p:cNvSpPr/>
          <p:nvPr/>
        </p:nvSpPr>
        <p:spPr>
          <a:xfrm>
            <a:off x="6784975" y="1801515"/>
            <a:ext cx="4591050" cy="974090"/>
          </a:xfrm>
          <a:prstGeom prst="roundRect">
            <a:avLst>
              <a:gd name="adj" fmla="val 10104"/>
            </a:avLst>
          </a:prstGeom>
          <a:solidFill>
            <a:srgbClr val="FCFBF8"/>
          </a:solidFill>
          <a:ln w="6350">
            <a:solidFill>
              <a:srgbClr val="DCDAD2"/>
            </a:solidFill>
            <a:prstDash val="solid"/>
          </a:ln>
        </p:spPr>
      </p:sp>
      <p:sp>
        <p:nvSpPr>
          <p:cNvPr id="11" name="Text 9"/>
          <p:cNvSpPr/>
          <p:nvPr/>
        </p:nvSpPr>
        <p:spPr>
          <a:xfrm>
            <a:off x="6926580" y="1943100"/>
            <a:ext cx="44370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 tick</a:t>
            </a:r>
            <a:endParaRPr lang="en-US" sz="1400" dirty="0">
              <a:latin typeface="IBM Plex Sans" charset="0"/>
              <a:ea typeface="IBM Plex Sans" charset="0"/>
              <a:cs typeface="IBM Plex Sans" charset="0"/>
            </a:endParaRPr>
          </a:p>
        </p:txBody>
      </p:sp>
      <p:sp>
        <p:nvSpPr>
          <p:cNvPr id="12" name="Text 10"/>
          <p:cNvSpPr/>
          <p:nvPr/>
        </p:nvSpPr>
        <p:spPr>
          <a:xfrm>
            <a:off x="6926580" y="2207270"/>
            <a:ext cx="44370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Vem do machine timer (mtime / mtimecmp) do </a:t>
            </a:r>
            <a:r>
              <a:rPr lang="en-US" sz="1200" b="1" dirty="0">
                <a:solidFill>
                  <a:srgbClr val="44505C"/>
                </a:solidFill>
                <a:latin typeface="IBM Plex Sans" pitchFamily="34" charset="0"/>
                <a:ea typeface="IBM Plex Sans" pitchFamily="34" charset="-122"/>
                <a:cs typeface="IBM Plex Sans" pitchFamily="34" charset="-120"/>
              </a:rPr>
              <a:t>SIO</a:t>
            </a:r>
            <a:r>
              <a:rPr lang="en-US" sz="1200" dirty="0">
                <a:solidFill>
                  <a:srgbClr val="44505C"/>
                </a:solidFill>
                <a:latin typeface="IBM Plex Sans" pitchFamily="34" charset="0"/>
                <a:ea typeface="IBM Plex Sans" pitchFamily="34" charset="-122"/>
                <a:cs typeface="IBM Plex Sans" pitchFamily="34" charset="-120"/>
              </a:rPr>
              <a:t>, o bloco de I/O de ciclo único do RP2350, e não de um SysTick.</a:t>
            </a:r>
            <a:endParaRPr lang="en-US" sz="1200" dirty="0">
              <a:latin typeface="IBM Plex Sans" charset="0"/>
              <a:ea typeface="IBM Plex Sans" charset="0"/>
              <a:cs typeface="IBM Plex Sans" charset="0"/>
            </a:endParaRPr>
          </a:p>
        </p:txBody>
      </p:sp>
      <p:sp>
        <p:nvSpPr>
          <p:cNvPr id="13" name="Shape 11"/>
          <p:cNvSpPr/>
          <p:nvPr/>
        </p:nvSpPr>
        <p:spPr>
          <a:xfrm>
            <a:off x="6784975" y="2883545"/>
            <a:ext cx="4591050" cy="1400810"/>
          </a:xfrm>
          <a:prstGeom prst="roundRect">
            <a:avLst>
              <a:gd name="adj" fmla="val 7026"/>
            </a:avLst>
          </a:prstGeom>
          <a:solidFill>
            <a:srgbClr val="FCFBF8"/>
          </a:solidFill>
          <a:ln w="6350">
            <a:solidFill>
              <a:srgbClr val="DCDAD2"/>
            </a:solidFill>
            <a:prstDash val="solid"/>
          </a:ln>
        </p:spPr>
      </p:sp>
      <p:sp>
        <p:nvSpPr>
          <p:cNvPr id="14" name="Text 12"/>
          <p:cNvSpPr/>
          <p:nvPr/>
        </p:nvSpPr>
        <p:spPr>
          <a:xfrm>
            <a:off x="6926580" y="3025130"/>
            <a:ext cx="44370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Os handlers (no Cortex-M, à mão)</a:t>
            </a:r>
            <a:endParaRPr lang="en-US" sz="1400" dirty="0">
              <a:latin typeface="IBM Plex Sans" charset="0"/>
              <a:ea typeface="IBM Plex Sans" charset="0"/>
              <a:cs typeface="IBM Plex Sans" charset="0"/>
            </a:endParaRPr>
          </a:p>
        </p:txBody>
      </p:sp>
      <p:sp>
        <p:nvSpPr>
          <p:cNvPr id="15" name="Text 13"/>
          <p:cNvSpPr/>
          <p:nvPr/>
        </p:nvSpPr>
        <p:spPr>
          <a:xfrm>
            <a:off x="6926580" y="3289300"/>
            <a:ext cx="4437075" cy="87884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Tick</a:t>
            </a:r>
            <a:r>
              <a:rPr lang="en-US" sz="1200" dirty="0">
                <a:solidFill>
                  <a:srgbClr val="44505C"/>
                </a:solidFill>
                <a:latin typeface="IBM Plex Sans" pitchFamily="34" charset="0"/>
                <a:ea typeface="IBM Plex Sans" pitchFamily="34" charset="-122"/>
                <a:cs typeface="IBM Plex Sans" pitchFamily="34" charset="-120"/>
              </a:rPr>
              <a:t> (≈ SysTick): mtimer handler</a:t>
            </a:r>
            <a:endParaRPr lang="en-US" sz="1200" dirty="0">
              <a:latin typeface="IBM Plex Sans" charset="0"/>
              <a:ea typeface="IBM Plex Sans" charset="0"/>
              <a:cs typeface="IBM Plex Sans" charset="0"/>
            </a:endParaRPr>
          </a:p>
          <a:p>
            <a:pPr algn="l"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Troca de task</a:t>
            </a:r>
            <a:r>
              <a:rPr lang="en-US" sz="1200" dirty="0">
                <a:solidFill>
                  <a:srgbClr val="44505C"/>
                </a:solidFill>
                <a:latin typeface="IBM Plex Sans" pitchFamily="34" charset="0"/>
                <a:ea typeface="IBM Plex Sans" pitchFamily="34" charset="-122"/>
                <a:cs typeface="IBM Plex Sans" pitchFamily="34" charset="-120"/>
              </a:rPr>
              <a:t> (≈ PendSV/SVC): trap handler, via ecall</a:t>
            </a:r>
            <a:endParaRPr lang="en-US" sz="1200" dirty="0">
              <a:latin typeface="IBM Plex Sans" charset="0"/>
              <a:ea typeface="IBM Plex Sans" charset="0"/>
              <a:cs typeface="IBM Plex Sans" charset="0"/>
            </a:endParaRPr>
          </a:p>
          <a:p>
            <a:pPr algn="l"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IRQs do pico-sdk</a:t>
            </a:r>
            <a:r>
              <a:rPr lang="en-US" sz="1200" dirty="0">
                <a:solidFill>
                  <a:srgbClr val="44505C"/>
                </a:solidFill>
                <a:latin typeface="IBM Plex Sans" pitchFamily="34" charset="0"/>
                <a:ea typeface="IBM Plex Sans" pitchFamily="34" charset="-122"/>
                <a:cs typeface="IBM Plex Sans" pitchFamily="34" charset="-120"/>
              </a:rPr>
              <a:t>: interrupt handler, para trocar de task à saída</a:t>
            </a:r>
            <a:endParaRPr lang="en-US" sz="1200" dirty="0">
              <a:latin typeface="IBM Plex Sans" charset="0"/>
              <a:ea typeface="IBM Plex Sans" charset="0"/>
              <a:cs typeface="IBM Plex Sans" charset="0"/>
            </a:endParaRPr>
          </a:p>
        </p:txBody>
      </p:sp>
      <p:sp>
        <p:nvSpPr>
          <p:cNvPr id="16" name="Shape 14"/>
          <p:cNvSpPr/>
          <p:nvPr/>
        </p:nvSpPr>
        <p:spPr>
          <a:xfrm>
            <a:off x="6784975" y="4392315"/>
            <a:ext cx="4591050" cy="974090"/>
          </a:xfrm>
          <a:prstGeom prst="roundRect">
            <a:avLst>
              <a:gd name="adj" fmla="val 10104"/>
            </a:avLst>
          </a:prstGeom>
          <a:solidFill>
            <a:srgbClr val="FCFBF8"/>
          </a:solidFill>
          <a:ln w="6350">
            <a:solidFill>
              <a:srgbClr val="DCDAD2"/>
            </a:solidFill>
            <a:prstDash val="solid"/>
          </a:ln>
        </p:spPr>
      </p:sp>
      <p:sp>
        <p:nvSpPr>
          <p:cNvPr id="17" name="Text 15"/>
          <p:cNvSpPr/>
          <p:nvPr/>
        </p:nvSpPr>
        <p:spPr>
          <a:xfrm>
            <a:off x="6926580" y="4533900"/>
            <a:ext cx="443707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As interrupções</a:t>
            </a:r>
            <a:endParaRPr lang="en-US" sz="1400" dirty="0">
              <a:latin typeface="IBM Plex Sans" charset="0"/>
              <a:ea typeface="IBM Plex Sans" charset="0"/>
              <a:cs typeface="IBM Plex Sans" charset="0"/>
            </a:endParaRPr>
          </a:p>
        </p:txBody>
      </p:sp>
      <p:sp>
        <p:nvSpPr>
          <p:cNvPr id="18" name="Text 16"/>
          <p:cNvSpPr/>
          <p:nvPr/>
        </p:nvSpPr>
        <p:spPr>
          <a:xfrm>
            <a:off x="6926580" y="4798070"/>
            <a:ext cx="44370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Secções críticas desligam todas. Sem nesting e sem configMAX_SYSCALL_INTERRUPT_PRIORITY (módulo 5).</a:t>
            </a:r>
            <a:endParaRPr lang="en-US" sz="1200" dirty="0">
              <a:latin typeface="IBM Plex Sans" charset="0"/>
              <a:ea typeface="IBM Plex Sans" charset="0"/>
              <a:cs typeface="IBM Plex Sans" charset="0"/>
            </a:endParaRPr>
          </a:p>
        </p:txBody>
      </p:sp>
      <p:sp>
        <p:nvSpPr>
          <p:cNvPr id="19" name="Text 17"/>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20" name="Text 18"/>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67</a:t>
            </a:r>
            <a:endParaRPr lang="en-US" sz="1200" dirty="0">
              <a:latin typeface="IBM Plex Sans" charset="0"/>
              <a:ea typeface="IBM Plex Sans" charset="0"/>
              <a:cs typeface="IBM Plex Sans"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3" name="Text 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68</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4</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primeiro programa: duas tasks e uma queue</a:t>
            </a:r>
            <a:endParaRPr lang="en-US" sz="3200" dirty="0">
              <a:latin typeface="IBM Plex Sans" charset="0"/>
              <a:ea typeface="IBM Plex Sans" charset="0"/>
              <a:cs typeface="IBM Plex Sans" charset="0"/>
            </a:endParaRPr>
          </a:p>
        </p:txBody>
      </p:sp>
      <p:sp>
        <p:nvSpPr>
          <p:cNvPr id="6" name="Text 4"/>
          <p:cNvSpPr/>
          <p:nvPr/>
        </p:nvSpPr>
        <p:spPr>
          <a:xfrm>
            <a:off x="812800" y="177165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PRIORIDADE 1: ENVIA A CADA 500 MS</a:t>
            </a:r>
            <a:endParaRPr lang="en-US" sz="1200" dirty="0">
              <a:latin typeface="IBM Plex Sans" charset="0"/>
              <a:ea typeface="IBM Plex Sans" charset="0"/>
              <a:cs typeface="IBM Plex Sans" charset="0"/>
            </a:endParaRPr>
          </a:p>
        </p:txBody>
      </p:sp>
      <p:sp>
        <p:nvSpPr>
          <p:cNvPr id="7" name="Text 5"/>
          <p:cNvSpPr/>
          <p:nvPr/>
        </p:nvSpPr>
        <p:spPr>
          <a:xfrm>
            <a:off x="812800" y="2061220"/>
            <a:ext cx="5181600" cy="3190240"/>
          </a:xfrm>
          <a:prstGeom prst="roundRect">
            <a:avLst>
              <a:gd name="adj" fmla="val 2389"/>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QueueHandle_t xLedQueue;</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vSenderTask(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xLastWake = xTaskGetTickCount();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uint32_t ulCount = 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vTaskDelayUntil( &amp;xLastWake,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pdMS_TO_TICKS( 500 )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ulCount++;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 xLedQueue, &amp;ulCount,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8" name="Text 6"/>
          <p:cNvSpPr/>
          <p:nvPr/>
        </p:nvSpPr>
        <p:spPr>
          <a:xfrm>
            <a:off x="6197600" y="177165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PRIORIDADE 2: TROCA O LED</a:t>
            </a:r>
            <a:endParaRPr lang="en-US" sz="1200" dirty="0">
              <a:latin typeface="IBM Plex Sans" charset="0"/>
              <a:ea typeface="IBM Plex Sans" charset="0"/>
              <a:cs typeface="IBM Plex Sans" charset="0"/>
            </a:endParaRPr>
          </a:p>
        </p:txBody>
      </p:sp>
      <p:sp>
        <p:nvSpPr>
          <p:cNvPr id="9" name="Text 7"/>
          <p:cNvSpPr/>
          <p:nvPr/>
        </p:nvSpPr>
        <p:spPr>
          <a:xfrm>
            <a:off x="6197600" y="2061220"/>
            <a:ext cx="5181600" cy="2550160"/>
          </a:xfrm>
          <a:prstGeom prst="roundRect">
            <a:avLst>
              <a:gd name="adj" fmla="val 2988"/>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vLedTask(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uint32_t ulReceived;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portMAX_DELAY: só retorna com dados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xQueueReceive( xLedQueue, &amp;ulReceived,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gpio_xor_mask( 1u &lt;&lt; LED_PIN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0" name="Text 8"/>
          <p:cNvSpPr/>
          <p:nvPr/>
        </p:nvSpPr>
        <p:spPr>
          <a:xfrm>
            <a:off x="6197600" y="4687590"/>
            <a:ext cx="533704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O recetor tem mais prioridade, por isso a queue nunca tem mais de um item.</a:t>
            </a:r>
            <a:endParaRPr lang="en-US" sz="1200" dirty="0">
              <a:latin typeface="IBM Plex Sans" charset="0"/>
              <a:ea typeface="IBM Plex Sans" charset="0"/>
              <a:cs typeface="IBM Plex Sans"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4</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main(): criar e arrancar</a:t>
            </a:r>
            <a:endParaRPr lang="en-US" sz="3200" dirty="0">
              <a:latin typeface="IBM Plex Sans" charset="0"/>
              <a:ea typeface="IBM Plex Sans" charset="0"/>
              <a:cs typeface="IBM Plex Sans" charset="0"/>
            </a:endParaRPr>
          </a:p>
        </p:txBody>
      </p:sp>
      <p:sp>
        <p:nvSpPr>
          <p:cNvPr id="4" name="Text 2"/>
          <p:cNvSpPr/>
          <p:nvPr/>
        </p:nvSpPr>
        <p:spPr>
          <a:xfrm>
            <a:off x="812800" y="1899940"/>
            <a:ext cx="6223000" cy="3804920"/>
          </a:xfrm>
          <a:prstGeom prst="roundRect">
            <a:avLst>
              <a:gd name="adj" fmla="val 2003"/>
            </a:avLst>
          </a:prstGeom>
          <a:solidFill>
            <a:srgbClr val="14222E"/>
          </a:solidFill>
          <a:ln/>
        </p:spPr>
        <p:txBody>
          <a:bodyPr wrap="none" lIns="117382" tIns="66582" rIns="0" bIns="411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"FreeRTOS.h"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"task.h"</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"queue.h"</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int main(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stdio_init_all();</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gpio_init( LED_PIN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gpio_set_dir( LED_PIN, GPIO_OUT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xLedQueue = xQueueCreate( 4, sizeof( uint32_t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configASSERT( xLedQueue !=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xTaskCreate( vLedTask, "LED", 256, NULL, 2,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xTaskCreate( vSenderTask, "Sender", 256, NULL,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vTaskStartScheduler();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 /* só chega aqui se faltar heap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5" name="Shape 3"/>
          <p:cNvSpPr/>
          <p:nvPr/>
        </p:nvSpPr>
        <p:spPr>
          <a:xfrm>
            <a:off x="7292975" y="1903115"/>
            <a:ext cx="4083050" cy="1212850"/>
          </a:xfrm>
          <a:prstGeom prst="roundRect">
            <a:avLst>
              <a:gd name="adj" fmla="val 8115"/>
            </a:avLst>
          </a:prstGeom>
          <a:solidFill>
            <a:srgbClr val="FCFBF8"/>
          </a:solidFill>
          <a:ln w="6350">
            <a:solidFill>
              <a:srgbClr val="DCDAD2"/>
            </a:solidFill>
            <a:prstDash val="solid"/>
          </a:ln>
        </p:spPr>
      </p:sp>
      <p:sp>
        <p:nvSpPr>
          <p:cNvPr id="6" name="Text 4"/>
          <p:cNvSpPr/>
          <p:nvPr/>
        </p:nvSpPr>
        <p:spPr>
          <a:xfrm>
            <a:off x="7447280" y="2057400"/>
            <a:ext cx="38876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 estrutura</a:t>
            </a:r>
            <a:endParaRPr lang="en-US" sz="1400" dirty="0">
              <a:latin typeface="IBM Plex Sans" charset="0"/>
              <a:ea typeface="IBM Plex Sans" charset="0"/>
              <a:cs typeface="IBM Plex Sans" charset="0"/>
            </a:endParaRPr>
          </a:p>
        </p:txBody>
      </p:sp>
      <p:sp>
        <p:nvSpPr>
          <p:cNvPr id="7" name="Text 5"/>
          <p:cNvSpPr/>
          <p:nvPr/>
        </p:nvSpPr>
        <p:spPr>
          <a:xfrm>
            <a:off x="7447280" y="2321570"/>
            <a:ext cx="388767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Preparar o hardware, criar tasks e objetos, arrancar o scheduler. Aqui o hardware é preparado com o pico-sdk.</a:t>
            </a:r>
            <a:endParaRPr lang="en-US" sz="1200" dirty="0">
              <a:latin typeface="IBM Plex Sans" charset="0"/>
              <a:ea typeface="IBM Plex Sans" charset="0"/>
              <a:cs typeface="IBM Plex Sans" charset="0"/>
            </a:endParaRPr>
          </a:p>
        </p:txBody>
      </p:sp>
      <p:sp>
        <p:nvSpPr>
          <p:cNvPr id="8" name="Shape 6"/>
          <p:cNvSpPr/>
          <p:nvPr/>
        </p:nvSpPr>
        <p:spPr>
          <a:xfrm>
            <a:off x="7292975" y="3249315"/>
            <a:ext cx="4083050" cy="999490"/>
          </a:xfrm>
          <a:prstGeom prst="roundRect">
            <a:avLst>
              <a:gd name="adj" fmla="val 9848"/>
            </a:avLst>
          </a:prstGeom>
          <a:solidFill>
            <a:srgbClr val="FCFBF8"/>
          </a:solidFill>
          <a:ln w="6350">
            <a:solidFill>
              <a:srgbClr val="DCDAD2"/>
            </a:solidFill>
            <a:prstDash val="solid"/>
          </a:ln>
        </p:spPr>
      </p:sp>
      <p:sp>
        <p:nvSpPr>
          <p:cNvPr id="9" name="Text 7"/>
          <p:cNvSpPr/>
          <p:nvPr/>
        </p:nvSpPr>
        <p:spPr>
          <a:xfrm>
            <a:off x="7447280" y="3403600"/>
            <a:ext cx="38876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256 words = 1 KB por task</a:t>
            </a:r>
            <a:endParaRPr lang="en-US" sz="1400" dirty="0">
              <a:latin typeface="IBM Plex Sans" charset="0"/>
              <a:ea typeface="IBM Plex Sans" charset="0"/>
              <a:cs typeface="IBM Plex Sans" charset="0"/>
            </a:endParaRPr>
          </a:p>
        </p:txBody>
      </p:sp>
      <p:sp>
        <p:nvSpPr>
          <p:cNvPr id="10" name="Text 8"/>
          <p:cNvSpPr/>
          <p:nvPr/>
        </p:nvSpPr>
        <p:spPr>
          <a:xfrm>
            <a:off x="7447280" y="3667770"/>
            <a:ext cx="38876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Generoso para começar. Afinar depois com o high water mark.</a:t>
            </a:r>
            <a:endParaRPr lang="en-US" sz="1200" dirty="0">
              <a:latin typeface="IBM Plex Sans" charset="0"/>
              <a:ea typeface="IBM Plex Sans" charset="0"/>
              <a:cs typeface="IBM Plex Sans" charset="0"/>
            </a:endParaRPr>
          </a:p>
        </p:txBody>
      </p:sp>
      <p:sp>
        <p:nvSpPr>
          <p:cNvPr id="11" name="Shape 9"/>
          <p:cNvSpPr/>
          <p:nvPr/>
        </p:nvSpPr>
        <p:spPr>
          <a:xfrm>
            <a:off x="7292975" y="4382145"/>
            <a:ext cx="4083050" cy="999490"/>
          </a:xfrm>
          <a:prstGeom prst="roundRect">
            <a:avLst>
              <a:gd name="adj" fmla="val 9848"/>
            </a:avLst>
          </a:prstGeom>
          <a:solidFill>
            <a:srgbClr val="FCFBF8"/>
          </a:solidFill>
          <a:ln w="6350">
            <a:solidFill>
              <a:srgbClr val="DCDAD2"/>
            </a:solidFill>
            <a:prstDash val="solid"/>
          </a:ln>
        </p:spPr>
      </p:sp>
      <p:sp>
        <p:nvSpPr>
          <p:cNvPr id="12" name="Text 10"/>
          <p:cNvSpPr/>
          <p:nvPr/>
        </p:nvSpPr>
        <p:spPr>
          <a:xfrm>
            <a:off x="7447280" y="4536430"/>
            <a:ext cx="38876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Sai o ciclo do passo 1</a:t>
            </a:r>
            <a:endParaRPr lang="en-US" sz="1400" dirty="0">
              <a:latin typeface="IBM Plex Sans" charset="0"/>
              <a:ea typeface="IBM Plex Sans" charset="0"/>
              <a:cs typeface="IBM Plex Sans" charset="0"/>
            </a:endParaRPr>
          </a:p>
        </p:txBody>
      </p:sp>
      <p:sp>
        <p:nvSpPr>
          <p:cNvPr id="13" name="Text 11"/>
          <p:cNvSpPr/>
          <p:nvPr/>
        </p:nvSpPr>
        <p:spPr>
          <a:xfrm>
            <a:off x="7447280" y="4800600"/>
            <a:ext cx="38876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for( ;; ) com sleep_ms() deixa de ser preciso: o scheduler nunca devolve o controlo.</a:t>
            </a:r>
            <a:endParaRPr lang="en-US" sz="1200" dirty="0">
              <a:latin typeface="IBM Plex Sans" charset="0"/>
              <a:ea typeface="IBM Plex Sans" charset="0"/>
              <a:cs typeface="IBM Plex Sans"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69</a:t>
            </a:r>
            <a:endParaRPr lang="en-US" sz="1200" dirty="0">
              <a:latin typeface="IBM Plex Sans" charset="0"/>
              <a:ea typeface="IBM Plex Sans" charset="0"/>
              <a:cs typeface="IBM Plex Sans"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5</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Hooks e mensagens pelo J-Link (RTT)</a:t>
            </a:r>
            <a:endParaRPr lang="en-US" sz="3200" dirty="0">
              <a:latin typeface="IBM Plex Sans" charset="0"/>
              <a:ea typeface="IBM Plex Sans" charset="0"/>
              <a:cs typeface="IBM Plex Sans" charset="0"/>
            </a:endParaRPr>
          </a:p>
        </p:txBody>
      </p:sp>
      <p:sp>
        <p:nvSpPr>
          <p:cNvPr id="4" name="Text 2"/>
          <p:cNvSpPr/>
          <p:nvPr/>
        </p:nvSpPr>
        <p:spPr>
          <a:xfrm>
            <a:off x="812800" y="1899940"/>
            <a:ext cx="56248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Obrigatórios com a configuração do passo 2</a:t>
            </a:r>
            <a:endParaRPr lang="en-US" sz="1200" dirty="0">
              <a:latin typeface="IBM Plex Sans" charset="0"/>
              <a:ea typeface="IBM Plex Sans" charset="0"/>
              <a:cs typeface="IBM Plex Sans" charset="0"/>
            </a:endParaRPr>
          </a:p>
        </p:txBody>
      </p:sp>
      <p:sp>
        <p:nvSpPr>
          <p:cNvPr id="5" name="Text 3"/>
          <p:cNvSpPr/>
          <p:nvPr/>
        </p:nvSpPr>
        <p:spPr>
          <a:xfrm>
            <a:off x="812800" y="2189510"/>
            <a:ext cx="5461000" cy="3215640"/>
          </a:xfrm>
          <a:prstGeom prst="roundRect">
            <a:avLst>
              <a:gd name="adj" fmla="val 2370"/>
            </a:avLst>
          </a:prstGeom>
          <a:solidFill>
            <a:srgbClr val="14222E"/>
          </a:solidFill>
          <a:ln/>
        </p:spPr>
        <p:txBody>
          <a:bodyPr wrap="none" lIns="117382" tIns="91982" rIns="0" bIns="665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vApplicationStackOverflowHook( TaskHandle_t xTask,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char *pcTaskName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void ) xTask;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void ) pcTaskName; /* ver no debugger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taskDISABLE_INTERRUPTS();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vApplicationMallocFailedHook(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taskDISABLE_INTERRUPTS();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6" name="Text 4"/>
          <p:cNvSpPr/>
          <p:nvPr/>
        </p:nvSpPr>
        <p:spPr>
          <a:xfrm>
            <a:off x="6527800" y="1899940"/>
            <a:ext cx="499694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PRINTF PELO J-LINK: SEGGER RTT</a:t>
            </a:r>
            <a:endParaRPr lang="en-US" sz="1200" dirty="0">
              <a:latin typeface="IBM Plex Sans" charset="0"/>
              <a:ea typeface="IBM Plex Sans" charset="0"/>
              <a:cs typeface="IBM Plex Sans" charset="0"/>
            </a:endParaRPr>
          </a:p>
        </p:txBody>
      </p:sp>
      <p:sp>
        <p:nvSpPr>
          <p:cNvPr id="7" name="Text 5"/>
          <p:cNvSpPr/>
          <p:nvPr/>
        </p:nvSpPr>
        <p:spPr>
          <a:xfrm>
            <a:off x="6527800" y="2214910"/>
            <a:ext cx="4851400" cy="1056640"/>
          </a:xfrm>
          <a:prstGeom prst="roundRect">
            <a:avLst>
              <a:gd name="adj" fmla="val 7212"/>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CMakeLists.txt, depois do add_executable()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pico_enable_stdio_rtt( ${PROJECT_NAME} 1 )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pico_enable_stdio_usb( ${PROJECT_NAME}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pico_enable_stdio_uart( ${PROJECT_NAME} 0 )</a:t>
            </a:r>
            <a:endParaRPr lang="en-US" sz="1200" dirty="0">
              <a:latin typeface="JetBrains Mono" charset="0"/>
              <a:ea typeface="JetBrains Mono" charset="0"/>
              <a:cs typeface="JetBrains Mono" charset="0"/>
            </a:endParaRPr>
          </a:p>
        </p:txBody>
      </p:sp>
      <p:sp>
        <p:nvSpPr>
          <p:cNvPr id="8" name="Shape 6"/>
          <p:cNvSpPr/>
          <p:nvPr/>
        </p:nvSpPr>
        <p:spPr>
          <a:xfrm>
            <a:off x="6530975" y="3376315"/>
            <a:ext cx="4845050" cy="974090"/>
          </a:xfrm>
          <a:prstGeom prst="roundRect">
            <a:avLst>
              <a:gd name="adj" fmla="val 10104"/>
            </a:avLst>
          </a:prstGeom>
          <a:solidFill>
            <a:srgbClr val="FCFBF8"/>
          </a:solidFill>
          <a:ln w="6350">
            <a:solidFill>
              <a:srgbClr val="DCDAD2"/>
            </a:solidFill>
            <a:prstDash val="solid"/>
          </a:ln>
        </p:spPr>
      </p:sp>
      <p:sp>
        <p:nvSpPr>
          <p:cNvPr id="9" name="Text 7"/>
          <p:cNvSpPr/>
          <p:nvPr/>
        </p:nvSpPr>
        <p:spPr>
          <a:xfrm>
            <a:off x="6672580" y="3517900"/>
            <a:ext cx="46986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Ver as mensagens</a:t>
            </a:r>
            <a:endParaRPr lang="en-US" sz="1400" dirty="0">
              <a:latin typeface="IBM Plex Sans" charset="0"/>
              <a:ea typeface="IBM Plex Sans" charset="0"/>
              <a:cs typeface="IBM Plex Sans" charset="0"/>
            </a:endParaRPr>
          </a:p>
        </p:txBody>
      </p:sp>
      <p:sp>
        <p:nvSpPr>
          <p:cNvPr id="10" name="Text 8"/>
          <p:cNvSpPr/>
          <p:nvPr/>
        </p:nvSpPr>
        <p:spPr>
          <a:xfrm>
            <a:off x="6672580" y="3782070"/>
            <a:ext cx="46986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J-Link RTT Viewer (ou a consola RTT do Cortex-Debug), com o dispositivo RP2350_RV32_0.</a:t>
            </a:r>
            <a:endParaRPr lang="en-US" sz="1200" dirty="0">
              <a:latin typeface="IBM Plex Sans" charset="0"/>
              <a:ea typeface="IBM Plex Sans" charset="0"/>
              <a:cs typeface="IBM Plex Sans" charset="0"/>
            </a:endParaRPr>
          </a:p>
        </p:txBody>
      </p:sp>
      <p:sp>
        <p:nvSpPr>
          <p:cNvPr id="11" name="Shape 9"/>
          <p:cNvSpPr/>
          <p:nvPr/>
        </p:nvSpPr>
        <p:spPr>
          <a:xfrm>
            <a:off x="6530975" y="4458345"/>
            <a:ext cx="4845050" cy="974090"/>
          </a:xfrm>
          <a:prstGeom prst="roundRect">
            <a:avLst>
              <a:gd name="adj" fmla="val 10104"/>
            </a:avLst>
          </a:prstGeom>
          <a:solidFill>
            <a:srgbClr val="FCFBF8"/>
          </a:solidFill>
          <a:ln w="6350">
            <a:solidFill>
              <a:srgbClr val="DCDAD2"/>
            </a:solidFill>
            <a:prstDash val="solid"/>
          </a:ln>
        </p:spPr>
      </p:sp>
      <p:sp>
        <p:nvSpPr>
          <p:cNvPr id="12" name="Text 10"/>
          <p:cNvSpPr/>
          <p:nvPr/>
        </p:nvSpPr>
        <p:spPr>
          <a:xfrm>
            <a:off x="6672580" y="4599930"/>
            <a:ext cx="46986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Porquê RTT</a:t>
            </a:r>
            <a:endParaRPr lang="en-US" sz="1400" dirty="0">
              <a:latin typeface="IBM Plex Sans" charset="0"/>
              <a:ea typeface="IBM Plex Sans" charset="0"/>
              <a:cs typeface="IBM Plex Sans" charset="0"/>
            </a:endParaRPr>
          </a:p>
        </p:txBody>
      </p:sp>
      <p:sp>
        <p:nvSpPr>
          <p:cNvPr id="13" name="Text 11"/>
          <p:cNvSpPr/>
          <p:nvPr/>
        </p:nvSpPr>
        <p:spPr>
          <a:xfrm>
            <a:off x="6672580" y="4864100"/>
            <a:ext cx="46986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precisa de UART nem de USB: o texto passa por um buffer na RAM que o J-Link lê.</a:t>
            </a:r>
            <a:endParaRPr lang="en-US" sz="1200" dirty="0">
              <a:latin typeface="IBM Plex Sans" charset="0"/>
              <a:ea typeface="IBM Plex Sans" charset="0"/>
              <a:cs typeface="IBM Plex Sans"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4516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3" name="Text 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71</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PASSO 5</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Programar e fazer debug com o J-Link</a:t>
            </a:r>
            <a:endParaRPr lang="en-US" sz="3200" dirty="0">
              <a:latin typeface="IBM Plex Sans" charset="0"/>
              <a:ea typeface="IBM Plex Sans" charset="0"/>
              <a:cs typeface="IBM Plex Sans" charset="0"/>
            </a:endParaRPr>
          </a:p>
        </p:txBody>
      </p:sp>
      <p:sp>
        <p:nvSpPr>
          <p:cNvPr id="6" name="Text 4"/>
          <p:cNvSpPr/>
          <p:nvPr/>
        </p:nvSpPr>
        <p:spPr>
          <a:xfrm>
            <a:off x="812800" y="1898650"/>
            <a:ext cx="69329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.vscode/launch.json: uma configuração nova</a:t>
            </a:r>
            <a:endParaRPr lang="en-US" sz="1200" dirty="0">
              <a:latin typeface="IBM Plex Sans" charset="0"/>
              <a:ea typeface="IBM Plex Sans" charset="0"/>
              <a:cs typeface="IBM Plex Sans" charset="0"/>
            </a:endParaRPr>
          </a:p>
        </p:txBody>
      </p:sp>
      <p:sp>
        <p:nvSpPr>
          <p:cNvPr id="7" name="Text 5"/>
          <p:cNvSpPr/>
          <p:nvPr/>
        </p:nvSpPr>
        <p:spPr>
          <a:xfrm>
            <a:off x="812800" y="2188220"/>
            <a:ext cx="6731000" cy="3472180"/>
          </a:xfrm>
          <a:prstGeom prst="roundRect">
            <a:avLst>
              <a:gd name="adj" fmla="val 2195"/>
            </a:avLst>
          </a:prstGeom>
          <a:solidFill>
            <a:srgbClr val="14222E"/>
          </a:solidFill>
          <a:ln/>
        </p:spPr>
        <p:txBody>
          <a:bodyPr wrap="square" lIns="104682" tIns="79282" rIns="0" bIns="53882" rtlCol="0" anchor="t">
            <a:normAutofit/>
          </a:bodyPr>
          <a:lstStyle/>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"name": "Debug (J-Link)",</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"cwd": "${workspaceRoot}",</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"executable": "${command:raspberry-pi-pico.launchTargetPath}",</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"request": "launch", "type": "cortex-debug",</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"servertype": "jlink",</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"serverpath": "C:/Program Files/SEGGER/JLink_V986a/JLinkGDBServerCL.exe",</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"gdbPath": "${command:raspberry-pi-pico.getGDBPath}",</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"device": "RP2350_RV32_0", "interface": "swd",</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"rtos": "FreeRTOS", "serialNumber":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"svdFile": "${userHome}/.pico-sdk/sdk/2.3.1/src/${command:raspberry-pi-pico.getChip}/hardware_regs/${command:raspberry-pi-pico.getChipUppercase}.svd",  "runToEntryPoint": "main",</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"overrideLaunchCommands":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"monitor reset",</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"load \"${command:raspberry-pi-pico.launchTargetPath}\""</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"rttConfig":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"enabled": true, "address": "auto",</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"decoders": [ { "port": 0, "type": "console", "label": "RTT" }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a:t>
            </a:r>
            <a:endParaRPr lang="en-US" sz="900" dirty="0">
              <a:latin typeface="JetBrains Mono" charset="0"/>
              <a:ea typeface="JetBrains Mono" charset="0"/>
              <a:cs typeface="JetBrains Mono" charset="0"/>
            </a:endParaRPr>
          </a:p>
        </p:txBody>
      </p:sp>
      <p:sp>
        <p:nvSpPr>
          <p:cNvPr id="8" name="Shape 6"/>
          <p:cNvSpPr/>
          <p:nvPr/>
        </p:nvSpPr>
        <p:spPr>
          <a:xfrm>
            <a:off x="7800975" y="1901825"/>
            <a:ext cx="3575050" cy="974090"/>
          </a:xfrm>
          <a:prstGeom prst="roundRect">
            <a:avLst>
              <a:gd name="adj" fmla="val 10104"/>
            </a:avLst>
          </a:prstGeom>
          <a:solidFill>
            <a:srgbClr val="FCFBF8"/>
          </a:solidFill>
          <a:ln w="6350">
            <a:solidFill>
              <a:srgbClr val="DCDAD2"/>
            </a:solidFill>
            <a:prstDash val="solid"/>
          </a:ln>
        </p:spPr>
      </p:sp>
      <p:sp>
        <p:nvSpPr>
          <p:cNvPr id="9" name="Text 7"/>
          <p:cNvSpPr/>
          <p:nvPr/>
        </p:nvSpPr>
        <p:spPr>
          <a:xfrm>
            <a:off x="7942580" y="2043460"/>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Compilar e programar</a:t>
            </a:r>
            <a:endParaRPr lang="en-US" sz="1400" dirty="0">
              <a:latin typeface="IBM Plex Sans" charset="0"/>
              <a:ea typeface="IBM Plex Sans" charset="0"/>
              <a:cs typeface="IBM Plex Sans" charset="0"/>
            </a:endParaRPr>
          </a:p>
        </p:txBody>
      </p:sp>
      <p:sp>
        <p:nvSpPr>
          <p:cNvPr id="10" name="Text 8"/>
          <p:cNvSpPr/>
          <p:nvPr/>
        </p:nvSpPr>
        <p:spPr>
          <a:xfrm>
            <a:off x="7942580" y="2307580"/>
            <a:ext cx="339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F5 com esta configuração: o J-Link grava a flash e pára no main(). O LED deve piscar a 1 Hz.</a:t>
            </a:r>
            <a:endParaRPr lang="en-US" sz="1200" dirty="0">
              <a:latin typeface="IBM Plex Sans" charset="0"/>
              <a:ea typeface="IBM Plex Sans" charset="0"/>
              <a:cs typeface="IBM Plex Sans" charset="0"/>
            </a:endParaRPr>
          </a:p>
        </p:txBody>
      </p:sp>
      <p:sp>
        <p:nvSpPr>
          <p:cNvPr id="11" name="Shape 9"/>
          <p:cNvSpPr/>
          <p:nvPr/>
        </p:nvSpPr>
        <p:spPr>
          <a:xfrm>
            <a:off x="7800975" y="2983855"/>
            <a:ext cx="3575050" cy="974090"/>
          </a:xfrm>
          <a:prstGeom prst="roundRect">
            <a:avLst>
              <a:gd name="adj" fmla="val 10104"/>
            </a:avLst>
          </a:prstGeom>
          <a:solidFill>
            <a:srgbClr val="FCFBF8"/>
          </a:solidFill>
          <a:ln w="6350">
            <a:solidFill>
              <a:srgbClr val="DCDAD2"/>
            </a:solidFill>
            <a:prstDash val="solid"/>
          </a:ln>
        </p:spPr>
      </p:sp>
      <p:sp>
        <p:nvSpPr>
          <p:cNvPr id="12" name="Text 10"/>
          <p:cNvSpPr/>
          <p:nvPr/>
        </p:nvSpPr>
        <p:spPr>
          <a:xfrm>
            <a:off x="7942580" y="3125490"/>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Breakpoints nas tasks</a:t>
            </a:r>
            <a:endParaRPr lang="en-US" sz="1400" dirty="0">
              <a:latin typeface="IBM Plex Sans" charset="0"/>
              <a:ea typeface="IBM Plex Sans" charset="0"/>
              <a:cs typeface="IBM Plex Sans" charset="0"/>
            </a:endParaRPr>
          </a:p>
        </p:txBody>
      </p:sp>
      <p:sp>
        <p:nvSpPr>
          <p:cNvPr id="13" name="Text 11"/>
          <p:cNvSpPr/>
          <p:nvPr/>
        </p:nvSpPr>
        <p:spPr>
          <a:xfrm>
            <a:off x="7942580" y="3389660"/>
            <a:ext cx="339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Parar em vLedTask, ver a stack de chamadas, mudar o período e confirmar.</a:t>
            </a:r>
            <a:endParaRPr lang="en-US" sz="1200" dirty="0">
              <a:latin typeface="IBM Plex Sans" charset="0"/>
              <a:ea typeface="IBM Plex Sans" charset="0"/>
              <a:cs typeface="IBM Plex Sans" charset="0"/>
            </a:endParaRPr>
          </a:p>
        </p:txBody>
      </p:sp>
      <p:sp>
        <p:nvSpPr>
          <p:cNvPr id="14" name="Shape 12"/>
          <p:cNvSpPr/>
          <p:nvPr/>
        </p:nvSpPr>
        <p:spPr>
          <a:xfrm>
            <a:off x="7800975" y="4065935"/>
            <a:ext cx="3575050" cy="974090"/>
          </a:xfrm>
          <a:prstGeom prst="roundRect">
            <a:avLst>
              <a:gd name="adj" fmla="val 10104"/>
            </a:avLst>
          </a:prstGeom>
          <a:solidFill>
            <a:srgbClr val="FCFBF8"/>
          </a:solidFill>
          <a:ln w="6350">
            <a:solidFill>
              <a:srgbClr val="DCDAD2"/>
            </a:solidFill>
            <a:prstDash val="solid"/>
          </a:ln>
        </p:spPr>
      </p:sp>
      <p:sp>
        <p:nvSpPr>
          <p:cNvPr id="15" name="Text 13"/>
          <p:cNvSpPr/>
          <p:nvPr/>
        </p:nvSpPr>
        <p:spPr>
          <a:xfrm>
            <a:off x="7942580" y="4207520"/>
            <a:ext cx="339059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Vista das tasks</a:t>
            </a:r>
            <a:endParaRPr lang="en-US" sz="1400" dirty="0">
              <a:latin typeface="IBM Plex Sans" charset="0"/>
              <a:ea typeface="IBM Plex Sans" charset="0"/>
              <a:cs typeface="IBM Plex Sans" charset="0"/>
            </a:endParaRPr>
          </a:p>
        </p:txBody>
      </p:sp>
      <p:sp>
        <p:nvSpPr>
          <p:cNvPr id="16" name="Text 14"/>
          <p:cNvSpPr/>
          <p:nvPr/>
        </p:nvSpPr>
        <p:spPr>
          <a:xfrm>
            <a:off x="7942580" y="4471690"/>
            <a:ext cx="339059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Extensão RTOS Views: tasks, estados e stacks do FreeRTOS. Confirmar em RISC-V.</a:t>
            </a:r>
            <a:endParaRPr lang="en-US" sz="1200" dirty="0">
              <a:latin typeface="IBM Plex Sans" charset="0"/>
              <a:ea typeface="IBM Plex Sans" charset="0"/>
              <a:cs typeface="IBM Plex Sans"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1</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Erros típicos no primeiro build</a:t>
            </a:r>
            <a:endParaRPr lang="en-US" sz="3200" dirty="0">
              <a:latin typeface="IBM Plex Sans" charset="0"/>
              <a:ea typeface="IBM Plex Sans" charset="0"/>
              <a:cs typeface="IBM Plex Sans" charset="0"/>
            </a:endParaRPr>
          </a:p>
        </p:txBody>
      </p:sp>
      <p:sp>
        <p:nvSpPr>
          <p:cNvPr id="4" name="Shape 2"/>
          <p:cNvSpPr/>
          <p:nvPr/>
        </p:nvSpPr>
        <p:spPr>
          <a:xfrm>
            <a:off x="812800" y="1803420"/>
            <a:ext cx="10566400" cy="0"/>
          </a:xfrm>
          <a:prstGeom prst="line">
            <a:avLst/>
          </a:prstGeom>
          <a:noFill/>
          <a:ln w="10160">
            <a:solidFill>
              <a:srgbClr val="141413">
                <a:alpha val="22000"/>
              </a:srgbClr>
            </a:solidFill>
            <a:prstDash val="solid"/>
          </a:ln>
        </p:spPr>
      </p:sp>
      <p:sp>
        <p:nvSpPr>
          <p:cNvPr id="5" name="Shape 3"/>
          <p:cNvSpPr/>
          <p:nvPr/>
        </p:nvSpPr>
        <p:spPr>
          <a:xfrm>
            <a:off x="817880" y="1798340"/>
            <a:ext cx="0" cy="31089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72000"/>
          <a:ext cx="10353040" cy="2971800"/>
        </p:xfrm>
        <a:graphic>
          <a:graphicData uri="http://schemas.openxmlformats.org/drawingml/2006/table">
            <a:tbl>
              <a:tblPr/>
              <a:tblGrid>
                <a:gridCol w="4555338"/>
                <a:gridCol w="5797702"/>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Sintoma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Causa provável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FreeRTOS location was not specified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Falta a pasta FreeRTOS-Kernel no projeto, ou FREERTOS_KERNEL_PATH.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FreeRTOSConfig.h: No such file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Falta target_include_directories com a pasta do FreeRTOSConfig.h.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O build usa o port RP2350_ARM_NTZ</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PICO_PLATFORM não é rp2350-riscv: escolher RISC-V na extensão.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undefined reference to vApplication…Hook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Falta um hook ativado no FreeRTOSConfig.h (passo 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vTaskStartScheduler() retorna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Heap insuficiente para a idle task: subir configTOTAL_HEAP_SIZE.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J-Link: Could not connect to target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VTref sem 3V3, SWD mal ligado, ou dispositivo errado (RP2350_RV32_0).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O assert não pára nada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Build Release: o NDEBUG desliga o assert() do configASSERT.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O RTT Viewer não mostra nada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Falta pico_enable_stdio_rtt, ou o viewer não encontrou o bloco RTT.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8" name="Text 5"/>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72</a:t>
            </a:r>
            <a:endParaRPr lang="en-US" sz="1200" dirty="0">
              <a:latin typeface="IBM Plex Sans" charset="0"/>
              <a:ea typeface="IBM Plex Sans" charset="0"/>
              <a:cs typeface="IBM Plex Sans"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1</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Exercícios sobre o projeto base</a:t>
            </a:r>
            <a:endParaRPr lang="en-US" sz="3200" dirty="0">
              <a:latin typeface="IBM Plex Sans" charset="0"/>
              <a:ea typeface="IBM Plex Sans" charset="0"/>
              <a:cs typeface="IBM Plex Sans" charset="0"/>
            </a:endParaRPr>
          </a:p>
        </p:txBody>
      </p:sp>
      <p:sp>
        <p:nvSpPr>
          <p:cNvPr id="4" name="Text 2"/>
          <p:cNvSpPr/>
          <p:nvPr/>
        </p:nvSpPr>
        <p:spPr>
          <a:xfrm>
            <a:off x="812800" y="1925340"/>
            <a:ext cx="50754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AGORA · MÓDULOS 1 A 4</a:t>
            </a:r>
            <a:endParaRPr lang="en-US" sz="1200" dirty="0">
              <a:latin typeface="IBM Plex Sans" charset="0"/>
              <a:ea typeface="IBM Plex Sans" charset="0"/>
              <a:cs typeface="IBM Plex Sans" charset="0"/>
            </a:endParaRPr>
          </a:p>
        </p:txBody>
      </p:sp>
      <p:sp>
        <p:nvSpPr>
          <p:cNvPr id="5" name="Shape 3"/>
          <p:cNvSpPr/>
          <p:nvPr/>
        </p:nvSpPr>
        <p:spPr>
          <a:xfrm>
            <a:off x="812800" y="2205385"/>
            <a:ext cx="4927600" cy="0"/>
          </a:xfrm>
          <a:prstGeom prst="line">
            <a:avLst/>
          </a:prstGeom>
          <a:noFill/>
          <a:ln w="6350">
            <a:solidFill>
              <a:srgbClr val="DCDAD2"/>
            </a:solidFill>
            <a:prstDash val="solid"/>
          </a:ln>
        </p:spPr>
      </p:sp>
      <p:sp>
        <p:nvSpPr>
          <p:cNvPr id="6" name="Text 4"/>
          <p:cNvSpPr/>
          <p:nvPr/>
        </p:nvSpPr>
        <p:spPr>
          <a:xfrm>
            <a:off x="812800" y="2296170"/>
            <a:ext cx="381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01</a:t>
            </a:r>
            <a:endParaRPr lang="en-US" sz="1400" dirty="0">
              <a:latin typeface="JetBrains Mono" charset="0"/>
              <a:ea typeface="JetBrains Mono" charset="0"/>
              <a:cs typeface="JetBrains Mono" charset="0"/>
            </a:endParaRPr>
          </a:p>
        </p:txBody>
      </p:sp>
      <p:sp>
        <p:nvSpPr>
          <p:cNvPr id="7" name="Text 5"/>
          <p:cNvSpPr/>
          <p:nvPr/>
        </p:nvSpPr>
        <p:spPr>
          <a:xfrm>
            <a:off x="1270000" y="2308870"/>
            <a:ext cx="54673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Botão</a:t>
            </a:r>
            <a:endParaRPr lang="en-US" sz="1400" dirty="0">
              <a:latin typeface="IBM Plex Sans" charset="0"/>
              <a:ea typeface="IBM Plex Sans" charset="0"/>
              <a:cs typeface="IBM Plex Sans" charset="0"/>
            </a:endParaRPr>
          </a:p>
        </p:txBody>
      </p:sp>
      <p:sp>
        <p:nvSpPr>
          <p:cNvPr id="8" name="Text 6"/>
          <p:cNvSpPr/>
          <p:nvPr/>
        </p:nvSpPr>
        <p:spPr>
          <a:xfrm>
            <a:off x="1816735" y="2296170"/>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9" name="Text 7"/>
          <p:cNvSpPr/>
          <p:nvPr/>
        </p:nvSpPr>
        <p:spPr>
          <a:xfrm>
            <a:off x="1270000" y="2560340"/>
            <a:ext cx="460451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Uma terceira task lê o botão no GP0 e envia um novo período ao sender por outra queue.</a:t>
            </a:r>
            <a:endParaRPr lang="en-US" sz="1200" dirty="0">
              <a:latin typeface="IBM Plex Sans" charset="0"/>
              <a:ea typeface="IBM Plex Sans" charset="0"/>
              <a:cs typeface="IBM Plex Sans" charset="0"/>
            </a:endParaRPr>
          </a:p>
        </p:txBody>
      </p:sp>
      <p:sp>
        <p:nvSpPr>
          <p:cNvPr id="10" name="Shape 8"/>
          <p:cNvSpPr/>
          <p:nvPr/>
        </p:nvSpPr>
        <p:spPr>
          <a:xfrm>
            <a:off x="812800" y="3038475"/>
            <a:ext cx="4927600" cy="0"/>
          </a:xfrm>
          <a:prstGeom prst="line">
            <a:avLst/>
          </a:prstGeom>
          <a:noFill/>
          <a:ln w="6350">
            <a:solidFill>
              <a:srgbClr val="DCDAD2"/>
            </a:solidFill>
            <a:prstDash val="solid"/>
          </a:ln>
        </p:spPr>
      </p:sp>
      <p:sp>
        <p:nvSpPr>
          <p:cNvPr id="11" name="Text 9"/>
          <p:cNvSpPr/>
          <p:nvPr/>
        </p:nvSpPr>
        <p:spPr>
          <a:xfrm>
            <a:off x="812800" y="3129310"/>
            <a:ext cx="381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02</a:t>
            </a:r>
            <a:endParaRPr lang="en-US" sz="1400" dirty="0">
              <a:latin typeface="JetBrains Mono" charset="0"/>
              <a:ea typeface="JetBrains Mono" charset="0"/>
              <a:cs typeface="JetBrains Mono" charset="0"/>
            </a:endParaRPr>
          </a:p>
        </p:txBody>
      </p:sp>
      <p:sp>
        <p:nvSpPr>
          <p:cNvPr id="12" name="Text 10"/>
          <p:cNvSpPr/>
          <p:nvPr/>
        </p:nvSpPr>
        <p:spPr>
          <a:xfrm>
            <a:off x="1270000" y="3129310"/>
            <a:ext cx="5197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Heap</a:t>
            </a:r>
            <a:endParaRPr lang="en-US" sz="1400" dirty="0">
              <a:latin typeface="IBM Plex Sans" charset="0"/>
              <a:ea typeface="IBM Plex Sans" charset="0"/>
              <a:cs typeface="IBM Plex Sans" charset="0"/>
            </a:endParaRPr>
          </a:p>
        </p:txBody>
      </p:sp>
      <p:sp>
        <p:nvSpPr>
          <p:cNvPr id="13" name="Text 11"/>
          <p:cNvSpPr/>
          <p:nvPr/>
        </p:nvSpPr>
        <p:spPr>
          <a:xfrm>
            <a:off x="1270000" y="3368030"/>
            <a:ext cx="4604512"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Ver xPortGetFreeHeapSize() e xPortGetMinimumEverFreeHeapSize() antes e depois de criar as tasks.</a:t>
            </a:r>
            <a:endParaRPr lang="en-US" sz="1200" dirty="0">
              <a:latin typeface="IBM Plex Sans" charset="0"/>
              <a:ea typeface="IBM Plex Sans" charset="0"/>
              <a:cs typeface="IBM Plex Sans" charset="0"/>
            </a:endParaRPr>
          </a:p>
        </p:txBody>
      </p:sp>
      <p:sp>
        <p:nvSpPr>
          <p:cNvPr id="14" name="Shape 12"/>
          <p:cNvSpPr/>
          <p:nvPr/>
        </p:nvSpPr>
        <p:spPr>
          <a:xfrm>
            <a:off x="812800" y="4051945"/>
            <a:ext cx="4927600" cy="0"/>
          </a:xfrm>
          <a:prstGeom prst="line">
            <a:avLst/>
          </a:prstGeom>
          <a:noFill/>
          <a:ln w="6350">
            <a:solidFill>
              <a:srgbClr val="DCDAD2"/>
            </a:solidFill>
            <a:prstDash val="solid"/>
          </a:ln>
        </p:spPr>
      </p:sp>
      <p:sp>
        <p:nvSpPr>
          <p:cNvPr id="15" name="Text 13"/>
          <p:cNvSpPr/>
          <p:nvPr/>
        </p:nvSpPr>
        <p:spPr>
          <a:xfrm>
            <a:off x="812800" y="4142730"/>
            <a:ext cx="381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7766A"/>
                </a:solidFill>
                <a:latin typeface="JetBrains Mono" pitchFamily="49" charset="0"/>
                <a:ea typeface="JetBrains Mono" pitchFamily="49" charset="-122"/>
                <a:cs typeface="JetBrains Mono" pitchFamily="49" charset="-120"/>
              </a:rPr>
              <a:t>03</a:t>
            </a:r>
            <a:endParaRPr lang="en-US" sz="1400" dirty="0">
              <a:latin typeface="JetBrains Mono" charset="0"/>
              <a:ea typeface="JetBrains Mono" charset="0"/>
              <a:cs typeface="JetBrains Mono" charset="0"/>
            </a:endParaRPr>
          </a:p>
        </p:txBody>
      </p:sp>
      <p:sp>
        <p:nvSpPr>
          <p:cNvPr id="16" name="Text 14"/>
          <p:cNvSpPr/>
          <p:nvPr/>
        </p:nvSpPr>
        <p:spPr>
          <a:xfrm>
            <a:off x="1270000" y="4142730"/>
            <a:ext cx="114071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Prioridades</a:t>
            </a:r>
            <a:endParaRPr lang="en-US" sz="1400" dirty="0">
              <a:latin typeface="IBM Plex Sans" charset="0"/>
              <a:ea typeface="IBM Plex Sans" charset="0"/>
              <a:cs typeface="IBM Plex Sans" charset="0"/>
            </a:endParaRPr>
          </a:p>
        </p:txBody>
      </p:sp>
      <p:sp>
        <p:nvSpPr>
          <p:cNvPr id="17" name="Text 15"/>
          <p:cNvSpPr/>
          <p:nvPr/>
        </p:nvSpPr>
        <p:spPr>
          <a:xfrm>
            <a:off x="1270000" y="4381500"/>
            <a:ext cx="460451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Pôr as duas tasks na mesma prioridade e depois inverter. O que muda na queue?</a:t>
            </a:r>
            <a:endParaRPr lang="en-US" sz="1200" dirty="0">
              <a:latin typeface="IBM Plex Sans" charset="0"/>
              <a:ea typeface="IBM Plex Sans" charset="0"/>
              <a:cs typeface="IBM Plex Sans" charset="0"/>
            </a:endParaRPr>
          </a:p>
        </p:txBody>
      </p:sp>
      <p:sp>
        <p:nvSpPr>
          <p:cNvPr id="18" name="Shape 16"/>
          <p:cNvSpPr/>
          <p:nvPr/>
        </p:nvSpPr>
        <p:spPr>
          <a:xfrm>
            <a:off x="6146800" y="1798340"/>
            <a:ext cx="5232400" cy="3121660"/>
          </a:xfrm>
          <a:prstGeom prst="roundRect">
            <a:avLst>
              <a:gd name="adj" fmla="val 3255"/>
            </a:avLst>
          </a:prstGeom>
          <a:solidFill>
            <a:srgbClr val="EEEDE7"/>
          </a:solidFill>
          <a:ln/>
        </p:spPr>
      </p:sp>
      <p:sp>
        <p:nvSpPr>
          <p:cNvPr id="19" name="Text 17"/>
          <p:cNvSpPr/>
          <p:nvPr/>
        </p:nvSpPr>
        <p:spPr>
          <a:xfrm>
            <a:off x="6299200" y="1925340"/>
            <a:ext cx="50754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TRABALHO FUTURO</a:t>
            </a:r>
            <a:endParaRPr lang="en-US" sz="1200" dirty="0">
              <a:latin typeface="IBM Plex Sans" charset="0"/>
              <a:ea typeface="IBM Plex Sans" charset="0"/>
              <a:cs typeface="IBM Plex Sans" charset="0"/>
            </a:endParaRPr>
          </a:p>
        </p:txBody>
      </p:sp>
      <p:sp>
        <p:nvSpPr>
          <p:cNvPr id="20" name="Shape 18"/>
          <p:cNvSpPr/>
          <p:nvPr/>
        </p:nvSpPr>
        <p:spPr>
          <a:xfrm>
            <a:off x="6299200" y="2205385"/>
            <a:ext cx="4927600" cy="0"/>
          </a:xfrm>
          <a:prstGeom prst="line">
            <a:avLst/>
          </a:prstGeom>
          <a:noFill/>
          <a:ln w="6350">
            <a:solidFill>
              <a:srgbClr val="DCDAD2"/>
            </a:solidFill>
            <a:prstDash val="solid"/>
          </a:ln>
        </p:spPr>
      </p:sp>
      <p:sp>
        <p:nvSpPr>
          <p:cNvPr id="21" name="Text 19"/>
          <p:cNvSpPr/>
          <p:nvPr/>
        </p:nvSpPr>
        <p:spPr>
          <a:xfrm>
            <a:off x="6299200" y="2296170"/>
            <a:ext cx="381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6717C"/>
                </a:solidFill>
                <a:latin typeface="JetBrains Mono" pitchFamily="49" charset="0"/>
                <a:ea typeface="JetBrains Mono" pitchFamily="49" charset="-122"/>
                <a:cs typeface="JetBrains Mono" pitchFamily="49" charset="-120"/>
              </a:rPr>
              <a:t>04</a:t>
            </a:r>
            <a:endParaRPr lang="en-US" sz="1400" dirty="0">
              <a:latin typeface="JetBrains Mono" charset="0"/>
              <a:ea typeface="JetBrains Mono" charset="0"/>
              <a:cs typeface="JetBrains Mono" charset="0"/>
            </a:endParaRPr>
          </a:p>
        </p:txBody>
      </p:sp>
      <p:sp>
        <p:nvSpPr>
          <p:cNvPr id="22" name="Text 20"/>
          <p:cNvSpPr/>
          <p:nvPr/>
        </p:nvSpPr>
        <p:spPr>
          <a:xfrm>
            <a:off x="6756400" y="2308870"/>
            <a:ext cx="36233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4505C"/>
                </a:solidFill>
                <a:latin typeface="IBM Plex Sans" pitchFamily="34" charset="0"/>
                <a:ea typeface="IBM Plex Sans" pitchFamily="34" charset="-122"/>
                <a:cs typeface="IBM Plex Sans" pitchFamily="34" charset="-120"/>
              </a:rPr>
              <a:t>ISR</a:t>
            </a:r>
            <a:endParaRPr lang="en-US" sz="1400" dirty="0">
              <a:latin typeface="IBM Plex Sans" charset="0"/>
              <a:ea typeface="IBM Plex Sans" charset="0"/>
              <a:cs typeface="IBM Plex Sans" charset="0"/>
            </a:endParaRPr>
          </a:p>
        </p:txBody>
      </p:sp>
      <p:sp>
        <p:nvSpPr>
          <p:cNvPr id="23" name="Text 21"/>
          <p:cNvSpPr/>
          <p:nvPr/>
        </p:nvSpPr>
        <p:spPr>
          <a:xfrm>
            <a:off x="7121843" y="2296170"/>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24" name="Text 22"/>
          <p:cNvSpPr/>
          <p:nvPr/>
        </p:nvSpPr>
        <p:spPr>
          <a:xfrm>
            <a:off x="8906669" y="2296170"/>
            <a:ext cx="812641" cy="238760"/>
          </a:xfrm>
          <a:custGeom>
            <a:avLst/>
            <a:gdLst/>
            <a:ahLst/>
            <a:cxnLst/>
            <a:rect l="l" t="t" r="r" b="b"/>
            <a:pathLst>
              <a:path w="812641" h="238760">
                <a:moveTo>
                  <a:pt x="119380" y="0"/>
                </a:moveTo>
                <a:lnTo>
                  <a:pt x="693261" y="0"/>
                </a:lnTo>
                <a:arcTo hR="119380" wR="119380" stAng="16200000" swAng="5400000"/>
                <a:lnTo>
                  <a:pt x="812641" y="119380"/>
                </a:lnTo>
                <a:arcTo hR="119380" wR="119380" stAng="0" swAng="5400000"/>
                <a:lnTo>
                  <a:pt x="119380" y="238760"/>
                </a:lnTo>
                <a:arcTo hR="119380" wR="119380" stAng="5400000" swAng="5400000"/>
                <a:lnTo>
                  <a:pt x="0" y="119380"/>
                </a:lnTo>
                <a:arcTo hR="119380" wR="119380" stAng="10800000" swAng="5400000"/>
                <a:close/>
              </a:path>
            </a:pathLst>
          </a:custGeom>
          <a:solidFill>
            <a:srgbClr val="DDE1E4"/>
          </a:solidFill>
          <a:ln/>
        </p:spPr>
        <p:txBody>
          <a:bodyPr wrap="none" lIns="0" tIns="0" rIns="0" bIns="0" rtlCol="0" anchor="ctr">
            <a:normAutofit/>
          </a:bodyPr>
          <a:lstStyle/>
          <a:p>
            <a:pPr algn="ct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módulo 5</a:t>
            </a:r>
            <a:endParaRPr lang="en-US" sz="1200" dirty="0">
              <a:latin typeface="IBM Plex Sans" charset="0"/>
              <a:ea typeface="IBM Plex Sans" charset="0"/>
              <a:cs typeface="IBM Plex Sans" charset="0"/>
            </a:endParaRPr>
          </a:p>
        </p:txBody>
      </p:sp>
      <p:sp>
        <p:nvSpPr>
          <p:cNvPr id="25" name="Text 23"/>
          <p:cNvSpPr/>
          <p:nvPr/>
        </p:nvSpPr>
        <p:spPr>
          <a:xfrm>
            <a:off x="6756400" y="2560340"/>
            <a:ext cx="460451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Interrupção no GP0 com gpio_set_irq_enabled_with_callback() e xQueueSendFromISR().</a:t>
            </a:r>
            <a:endParaRPr lang="en-US" sz="1200" dirty="0">
              <a:latin typeface="IBM Plex Sans" charset="0"/>
              <a:ea typeface="IBM Plex Sans" charset="0"/>
              <a:cs typeface="IBM Plex Sans" charset="0"/>
            </a:endParaRPr>
          </a:p>
        </p:txBody>
      </p:sp>
      <p:sp>
        <p:nvSpPr>
          <p:cNvPr id="26" name="Shape 24"/>
          <p:cNvSpPr/>
          <p:nvPr/>
        </p:nvSpPr>
        <p:spPr>
          <a:xfrm>
            <a:off x="6299200" y="3038475"/>
            <a:ext cx="4927600" cy="0"/>
          </a:xfrm>
          <a:prstGeom prst="line">
            <a:avLst/>
          </a:prstGeom>
          <a:noFill/>
          <a:ln w="6350">
            <a:solidFill>
              <a:srgbClr val="DCDAD2"/>
            </a:solidFill>
            <a:prstDash val="solid"/>
          </a:ln>
        </p:spPr>
      </p:sp>
      <p:sp>
        <p:nvSpPr>
          <p:cNvPr id="27" name="Text 25"/>
          <p:cNvSpPr/>
          <p:nvPr/>
        </p:nvSpPr>
        <p:spPr>
          <a:xfrm>
            <a:off x="6299200" y="3129310"/>
            <a:ext cx="381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6717C"/>
                </a:solidFill>
                <a:latin typeface="JetBrains Mono" pitchFamily="49" charset="0"/>
                <a:ea typeface="JetBrains Mono" pitchFamily="49" charset="-122"/>
                <a:cs typeface="JetBrains Mono" pitchFamily="49" charset="-120"/>
              </a:rPr>
              <a:t>05</a:t>
            </a:r>
            <a:endParaRPr lang="en-US" sz="1400" dirty="0">
              <a:latin typeface="JetBrains Mono" charset="0"/>
              <a:ea typeface="JetBrains Mono" charset="0"/>
              <a:cs typeface="JetBrains Mono" charset="0"/>
            </a:endParaRPr>
          </a:p>
        </p:txBody>
      </p:sp>
      <p:sp>
        <p:nvSpPr>
          <p:cNvPr id="28" name="Text 26"/>
          <p:cNvSpPr/>
          <p:nvPr/>
        </p:nvSpPr>
        <p:spPr>
          <a:xfrm>
            <a:off x="6756400" y="3142010"/>
            <a:ext cx="129524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4505C"/>
                </a:solidFill>
                <a:latin typeface="IBM Plex Sans" pitchFamily="34" charset="0"/>
                <a:ea typeface="IBM Plex Sans" pitchFamily="34" charset="-122"/>
                <a:cs typeface="IBM Plex Sans" pitchFamily="34" charset="-120"/>
              </a:rPr>
              <a:t>Software timer</a:t>
            </a:r>
            <a:endParaRPr lang="en-US" sz="1400" dirty="0">
              <a:latin typeface="IBM Plex Sans" charset="0"/>
              <a:ea typeface="IBM Plex Sans" charset="0"/>
              <a:cs typeface="IBM Plex Sans" charset="0"/>
            </a:endParaRPr>
          </a:p>
        </p:txBody>
      </p:sp>
      <p:sp>
        <p:nvSpPr>
          <p:cNvPr id="29" name="Text 27"/>
          <p:cNvSpPr/>
          <p:nvPr/>
        </p:nvSpPr>
        <p:spPr>
          <a:xfrm>
            <a:off x="8051641" y="3129310"/>
            <a:ext cx="812641" cy="238760"/>
          </a:xfrm>
          <a:custGeom>
            <a:avLst/>
            <a:gdLst/>
            <a:ahLst/>
            <a:cxnLst/>
            <a:rect l="l" t="t" r="r" b="b"/>
            <a:pathLst>
              <a:path w="812641" h="238760">
                <a:moveTo>
                  <a:pt x="119380" y="0"/>
                </a:moveTo>
                <a:lnTo>
                  <a:pt x="693261" y="0"/>
                </a:lnTo>
                <a:arcTo hR="119380" wR="119380" stAng="16200000" swAng="5400000"/>
                <a:lnTo>
                  <a:pt x="812641" y="119380"/>
                </a:lnTo>
                <a:arcTo hR="119380" wR="119380" stAng="0" swAng="5400000"/>
                <a:lnTo>
                  <a:pt x="119380" y="238760"/>
                </a:lnTo>
                <a:arcTo hR="119380" wR="119380" stAng="5400000" swAng="5400000"/>
                <a:lnTo>
                  <a:pt x="0" y="119380"/>
                </a:lnTo>
                <a:arcTo hR="119380" wR="119380" stAng="10800000" swAng="5400000"/>
                <a:close/>
              </a:path>
            </a:pathLst>
          </a:custGeom>
          <a:solidFill>
            <a:srgbClr val="DDE1E4"/>
          </a:solidFill>
          <a:ln/>
        </p:spPr>
        <p:txBody>
          <a:bodyPr wrap="none" lIns="0" tIns="0" rIns="0" bIns="0" rtlCol="0" anchor="ctr">
            <a:normAutofit/>
          </a:bodyPr>
          <a:lstStyle/>
          <a:p>
            <a:pPr algn="ct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módulo 7</a:t>
            </a:r>
            <a:endParaRPr lang="en-US" sz="1200" dirty="0">
              <a:latin typeface="IBM Plex Sans" charset="0"/>
              <a:ea typeface="IBM Plex Sans" charset="0"/>
              <a:cs typeface="IBM Plex Sans" charset="0"/>
            </a:endParaRPr>
          </a:p>
        </p:txBody>
      </p:sp>
      <p:sp>
        <p:nvSpPr>
          <p:cNvPr id="30" name="Text 28"/>
          <p:cNvSpPr/>
          <p:nvPr/>
        </p:nvSpPr>
        <p:spPr>
          <a:xfrm>
            <a:off x="6756400" y="3393430"/>
            <a:ext cx="460451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Com configUSE_TIMERS = 1, trocar a sender task por um timer auto-reload.</a:t>
            </a:r>
            <a:endParaRPr lang="en-US" sz="1200" dirty="0">
              <a:latin typeface="IBM Plex Sans" charset="0"/>
              <a:ea typeface="IBM Plex Sans" charset="0"/>
              <a:cs typeface="IBM Plex Sans" charset="0"/>
            </a:endParaRPr>
          </a:p>
        </p:txBody>
      </p:sp>
      <p:sp>
        <p:nvSpPr>
          <p:cNvPr id="31" name="Shape 29"/>
          <p:cNvSpPr/>
          <p:nvPr/>
        </p:nvSpPr>
        <p:spPr>
          <a:xfrm>
            <a:off x="6299200" y="3871615"/>
            <a:ext cx="4927600" cy="0"/>
          </a:xfrm>
          <a:prstGeom prst="line">
            <a:avLst/>
          </a:prstGeom>
          <a:noFill/>
          <a:ln w="6350">
            <a:solidFill>
              <a:srgbClr val="DCDAD2"/>
            </a:solidFill>
            <a:prstDash val="solid"/>
          </a:ln>
        </p:spPr>
      </p:sp>
      <p:sp>
        <p:nvSpPr>
          <p:cNvPr id="32" name="Text 30"/>
          <p:cNvSpPr/>
          <p:nvPr/>
        </p:nvSpPr>
        <p:spPr>
          <a:xfrm>
            <a:off x="6299200" y="3962400"/>
            <a:ext cx="3810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6717C"/>
                </a:solidFill>
                <a:latin typeface="JetBrains Mono" pitchFamily="49" charset="0"/>
                <a:ea typeface="JetBrains Mono" pitchFamily="49" charset="-122"/>
                <a:cs typeface="JetBrains Mono" pitchFamily="49" charset="-120"/>
              </a:rPr>
              <a:t>06</a:t>
            </a:r>
            <a:endParaRPr lang="en-US" sz="1400" dirty="0">
              <a:latin typeface="JetBrains Mono" charset="0"/>
              <a:ea typeface="JetBrains Mono" charset="0"/>
              <a:cs typeface="JetBrains Mono" charset="0"/>
            </a:endParaRPr>
          </a:p>
        </p:txBody>
      </p:sp>
      <p:sp>
        <p:nvSpPr>
          <p:cNvPr id="33" name="Text 31"/>
          <p:cNvSpPr/>
          <p:nvPr/>
        </p:nvSpPr>
        <p:spPr>
          <a:xfrm>
            <a:off x="6756400" y="3975100"/>
            <a:ext cx="528558"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44505C"/>
                </a:solidFill>
                <a:latin typeface="IBM Plex Sans" pitchFamily="34" charset="0"/>
                <a:ea typeface="IBM Plex Sans" pitchFamily="34" charset="-122"/>
                <a:cs typeface="IBM Plex Sans" pitchFamily="34" charset="-120"/>
              </a:rPr>
              <a:t>Stack</a:t>
            </a:r>
            <a:endParaRPr lang="en-US" sz="1400" dirty="0">
              <a:latin typeface="IBM Plex Sans" charset="0"/>
              <a:ea typeface="IBM Plex Sans" charset="0"/>
              <a:cs typeface="IBM Plex Sans" charset="0"/>
            </a:endParaRPr>
          </a:p>
        </p:txBody>
      </p:sp>
      <p:sp>
        <p:nvSpPr>
          <p:cNvPr id="34" name="Text 32"/>
          <p:cNvSpPr/>
          <p:nvPr/>
        </p:nvSpPr>
        <p:spPr>
          <a:xfrm>
            <a:off x="7284958" y="3962400"/>
            <a:ext cx="812641" cy="238760"/>
          </a:xfrm>
          <a:custGeom>
            <a:avLst/>
            <a:gdLst/>
            <a:ahLst/>
            <a:cxnLst/>
            <a:rect l="l" t="t" r="r" b="b"/>
            <a:pathLst>
              <a:path w="812641" h="238760">
                <a:moveTo>
                  <a:pt x="119380" y="0"/>
                </a:moveTo>
                <a:lnTo>
                  <a:pt x="693261" y="0"/>
                </a:lnTo>
                <a:arcTo hR="119380" wR="119380" stAng="16200000" swAng="5400000"/>
                <a:lnTo>
                  <a:pt x="812641" y="119380"/>
                </a:lnTo>
                <a:arcTo hR="119380" wR="119380" stAng="0" swAng="5400000"/>
                <a:lnTo>
                  <a:pt x="119380" y="238760"/>
                </a:lnTo>
                <a:arcTo hR="119380" wR="119380" stAng="5400000" swAng="5400000"/>
                <a:lnTo>
                  <a:pt x="0" y="119380"/>
                </a:lnTo>
                <a:arcTo hR="119380" wR="119380" stAng="10800000" swAng="5400000"/>
                <a:close/>
              </a:path>
            </a:pathLst>
          </a:custGeom>
          <a:solidFill>
            <a:srgbClr val="DDE1E4"/>
          </a:solidFill>
          <a:ln/>
        </p:spPr>
        <p:txBody>
          <a:bodyPr wrap="none" lIns="0" tIns="0" rIns="0" bIns="0" rtlCol="0" anchor="ctr">
            <a:normAutofit/>
          </a:bodyPr>
          <a:lstStyle/>
          <a:p>
            <a:pPr algn="ct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módulo 8</a:t>
            </a:r>
            <a:endParaRPr lang="en-US" sz="1200" dirty="0">
              <a:latin typeface="IBM Plex Sans" charset="0"/>
              <a:ea typeface="IBM Plex Sans" charset="0"/>
              <a:cs typeface="IBM Plex Sans" charset="0"/>
            </a:endParaRPr>
          </a:p>
        </p:txBody>
      </p:sp>
      <p:sp>
        <p:nvSpPr>
          <p:cNvPr id="35" name="Text 33"/>
          <p:cNvSpPr/>
          <p:nvPr/>
        </p:nvSpPr>
        <p:spPr>
          <a:xfrm>
            <a:off x="6756400" y="4226570"/>
            <a:ext cx="4604512"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Ver uxTaskGetStackHighWaterMark() de cada task (RTT ou debugger) e reduzir as stacks.</a:t>
            </a:r>
            <a:endParaRPr lang="en-US" sz="1200" dirty="0">
              <a:latin typeface="IBM Plex Sans" charset="0"/>
              <a:ea typeface="IBM Plex Sans" charset="0"/>
              <a:cs typeface="IBM Plex Sans" charset="0"/>
            </a:endParaRPr>
          </a:p>
        </p:txBody>
      </p:sp>
      <p:sp>
        <p:nvSpPr>
          <p:cNvPr id="36" name="Text 34"/>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documentação Raspberry Pi (pico-sdk, FreeRTOS-Kernel) e SEGGER (J-Link)</a:t>
            </a:r>
            <a:endParaRPr lang="en-US" sz="1200" dirty="0">
              <a:latin typeface="IBM Plex Sans" charset="0"/>
              <a:ea typeface="IBM Plex Sans" charset="0"/>
              <a:cs typeface="IBM Plex Sans" charset="0"/>
            </a:endParaRPr>
          </a:p>
        </p:txBody>
      </p:sp>
      <p:sp>
        <p:nvSpPr>
          <p:cNvPr id="37" name="Text 35"/>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73</a:t>
            </a:r>
            <a:endParaRPr lang="en-US" sz="1200" dirty="0">
              <a:latin typeface="IBM Plex Sans" charset="0"/>
              <a:ea typeface="IBM Plex Sans" charset="0"/>
              <a:cs typeface="IBM Plex Sans"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SESSÃO PRÁTICA 1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7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Primeiro um projeto que corre sem RTOS; depois o kernel, um passo de cada vez.</a:t>
            </a:r>
            <a:endParaRPr lang="en-US" sz="3200" dirty="0">
              <a:latin typeface="IBM Plex Sans" charset="0"/>
              <a:ea typeface="IBM Plex Sans" charset="0"/>
              <a:cs typeface="IBM Plex Sans" charset="0"/>
            </a:endParaRPr>
          </a:p>
        </p:txBody>
      </p:sp>
      <p:sp>
        <p:nvSpPr>
          <p:cNvPr id="4" name="Text 2"/>
          <p:cNvSpPr/>
          <p:nvPr/>
        </p:nvSpPr>
        <p:spPr>
          <a:xfrm>
            <a:off x="819150" y="2475260"/>
            <a:ext cx="232402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Port = compilador + CPU</a:t>
            </a:r>
            <a:endParaRPr lang="en-US" sz="1400" dirty="0">
              <a:latin typeface="IBM Plex Sans" charset="0"/>
              <a:ea typeface="IBM Plex Sans" charset="0"/>
              <a:cs typeface="IBM Plex Sans" charset="0"/>
            </a:endParaRPr>
          </a:p>
        </p:txBody>
      </p:sp>
      <p:sp>
        <p:nvSpPr>
          <p:cNvPr id="5" name="Text 3"/>
          <p:cNvSpPr/>
          <p:nvPr/>
        </p:nvSpPr>
        <p:spPr>
          <a:xfrm>
            <a:off x="3257471" y="2475260"/>
            <a:ext cx="166481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RP2350_RISC-V</a:t>
            </a:r>
            <a:endParaRPr lang="en-US" sz="1400" dirty="0">
              <a:latin typeface="IBM Plex Sans" charset="0"/>
              <a:ea typeface="IBM Plex Sans" charset="0"/>
              <a:cs typeface="IBM Plex Sans" charset="0"/>
            </a:endParaRPr>
          </a:p>
        </p:txBody>
      </p:sp>
      <p:sp>
        <p:nvSpPr>
          <p:cNvPr id="6" name="Text 4"/>
          <p:cNvSpPr/>
          <p:nvPr/>
        </p:nvSpPr>
        <p:spPr>
          <a:xfrm>
            <a:off x="5036582" y="2475260"/>
            <a:ext cx="3004185"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FreeRTOS_Kernel_import.cmake</a:t>
            </a:r>
            <a:endParaRPr lang="en-US" sz="1400" dirty="0">
              <a:latin typeface="IBM Plex Sans" charset="0"/>
              <a:ea typeface="IBM Plex Sans" charset="0"/>
              <a:cs typeface="IBM Plex Sans" charset="0"/>
            </a:endParaRPr>
          </a:p>
        </p:txBody>
      </p:sp>
      <p:sp>
        <p:nvSpPr>
          <p:cNvPr id="7" name="Text 5"/>
          <p:cNvSpPr/>
          <p:nvPr/>
        </p:nvSpPr>
        <p:spPr>
          <a:xfrm>
            <a:off x="8155067" y="2475260"/>
            <a:ext cx="234973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FreeRTOS-Kernel-Heap4</a:t>
            </a:r>
            <a:endParaRPr lang="en-US" sz="1400" dirty="0">
              <a:latin typeface="IBM Plex Sans" charset="0"/>
              <a:ea typeface="IBM Plex Sans" charset="0"/>
              <a:cs typeface="IBM Plex Sans" charset="0"/>
            </a:endParaRPr>
          </a:p>
        </p:txBody>
      </p:sp>
      <p:sp>
        <p:nvSpPr>
          <p:cNvPr id="8" name="Text 6"/>
          <p:cNvSpPr/>
          <p:nvPr/>
        </p:nvSpPr>
        <p:spPr>
          <a:xfrm>
            <a:off x="819150" y="2973090"/>
            <a:ext cx="288710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FreeRTOSConfig.h na aplicação</a:t>
            </a:r>
            <a:endParaRPr lang="en-US" sz="1400" dirty="0">
              <a:latin typeface="IBM Plex Sans" charset="0"/>
              <a:ea typeface="IBM Plex Sans" charset="0"/>
              <a:cs typeface="IBM Plex Sans" charset="0"/>
            </a:endParaRPr>
          </a:p>
        </p:txBody>
      </p:sp>
      <p:sp>
        <p:nvSpPr>
          <p:cNvPr id="9" name="Text 7"/>
          <p:cNvSpPr/>
          <p:nvPr/>
        </p:nvSpPr>
        <p:spPr>
          <a:xfrm>
            <a:off x="3820557" y="2973090"/>
            <a:ext cx="279249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configNUMBER_OF_CORES = 1</a:t>
            </a:r>
            <a:endParaRPr lang="en-US" sz="1400" dirty="0">
              <a:latin typeface="IBM Plex Sans" charset="0"/>
              <a:ea typeface="IBM Plex Sans" charset="0"/>
              <a:cs typeface="IBM Plex Sans" charset="0"/>
            </a:endParaRPr>
          </a:p>
        </p:txBody>
      </p:sp>
      <p:sp>
        <p:nvSpPr>
          <p:cNvPr id="10" name="Text 8"/>
          <p:cNvSpPr/>
          <p:nvPr/>
        </p:nvSpPr>
        <p:spPr>
          <a:xfrm>
            <a:off x="6727349" y="2973090"/>
            <a:ext cx="137660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Tick = mtime</a:t>
            </a:r>
            <a:endParaRPr lang="en-US" sz="1400" dirty="0">
              <a:latin typeface="IBM Plex Sans" charset="0"/>
              <a:ea typeface="IBM Plex Sans" charset="0"/>
              <a:cs typeface="IBM Plex Sans" charset="0"/>
            </a:endParaRPr>
          </a:p>
        </p:txBody>
      </p:sp>
      <p:sp>
        <p:nvSpPr>
          <p:cNvPr id="11" name="Text 9"/>
          <p:cNvSpPr/>
          <p:nvPr/>
        </p:nvSpPr>
        <p:spPr>
          <a:xfrm>
            <a:off x="8218250" y="2973090"/>
            <a:ext cx="134056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J-Link + RTT</a:t>
            </a:r>
            <a:endParaRPr lang="en-US" sz="1400" dirty="0">
              <a:latin typeface="IBM Plex Sans" charset="0"/>
              <a:ea typeface="IBM Plex Sans" charset="0"/>
              <a:cs typeface="IBM Plex Sans" charset="0"/>
            </a:endParaRPr>
          </a:p>
        </p:txBody>
      </p:sp>
      <p:sp>
        <p:nvSpPr>
          <p:cNvPr id="12" name="Text 10"/>
          <p:cNvSpPr/>
          <p:nvPr/>
        </p:nvSpPr>
        <p:spPr>
          <a:xfrm>
            <a:off x="9673114" y="2973090"/>
            <a:ext cx="827405"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Hooks</a:t>
            </a:r>
            <a:endParaRPr lang="en-US" sz="1400" dirty="0">
              <a:latin typeface="IBM Plex Sans" charset="0"/>
              <a:ea typeface="IBM Plex Sans" charset="0"/>
              <a:cs typeface="IBM Plex Sans" charset="0"/>
            </a:endParaRPr>
          </a:p>
        </p:txBody>
      </p:sp>
      <p:sp>
        <p:nvSpPr>
          <p:cNvPr id="13" name="Text 11"/>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Este projeto é a base das outras sessões práticas.</a:t>
            </a:r>
            <a:endParaRPr lang="en-US" sz="1600" dirty="0">
              <a:latin typeface="IBM Plex Sans" charset="0"/>
              <a:ea typeface="IBM Plex Sans" charset="0"/>
              <a:cs typeface="IBM Plex Sans"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3528775"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SESSÃO PRÁTICA 2</a:t>
            </a:r>
            <a:endParaRPr lang="en-US" sz="1400" dirty="0">
              <a:latin typeface="IBM Plex Sans" charset="0"/>
              <a:ea typeface="IBM Plex Sans" charset="0"/>
              <a:cs typeface="IBM Plex Sans" charset="0"/>
            </a:endParaRPr>
          </a:p>
        </p:txBody>
      </p:sp>
      <p:sp>
        <p:nvSpPr>
          <p:cNvPr id="3" name="Text 1"/>
          <p:cNvSpPr/>
          <p:nvPr/>
        </p:nvSpPr>
        <p:spPr>
          <a:xfrm>
            <a:off x="4341575" y="835670"/>
            <a:ext cx="646351" cy="203200"/>
          </a:xfrm>
          <a:prstGeom prst="roundRect">
            <a:avLst>
              <a:gd name="adj" fmla="val 18750"/>
            </a:avLst>
          </a:prstGeom>
          <a:solidFill>
            <a:srgbClr val="D0612A"/>
          </a:solidFill>
          <a:ln/>
        </p:spPr>
        <p:txBody>
          <a:bodyPr wrap="none" lIns="0" tIns="0" rIns="0" bIns="0" rtlCol="0" anchor="ctr">
            <a:normAutofit/>
          </a:bodyPr>
          <a:lstStyle/>
          <a:p>
            <a:pPr algn="ctr" indent="0" marL="0">
              <a:lnSpc>
                <a:spcPts val="1400"/>
              </a:lnSpc>
              <a:buNone/>
            </a:pPr>
            <a:r>
              <a:rPr lang="en-US" sz="1000" b="1" spc="100" kern="0" dirty="0">
                <a:solidFill>
                  <a:srgbClr val="F5F4EF"/>
                </a:solidFill>
                <a:latin typeface="Arial" pitchFamily="34" charset="0"/>
                <a:ea typeface="Arial" pitchFamily="34" charset="-122"/>
                <a:cs typeface="Arial" pitchFamily="34" charset="-120"/>
              </a:rPr>
              <a:t>EXTRA</a:t>
            </a:r>
            <a:endParaRPr lang="en-US" sz="1000" dirty="0">
              <a:latin typeface="Arial" charset="0"/>
              <a:ea typeface="Arial" charset="0"/>
              <a:cs typeface="Arial" charset="0"/>
            </a:endParaRPr>
          </a:p>
        </p:txBody>
      </p:sp>
      <p:sp>
        <p:nvSpPr>
          <p:cNvPr id="4" name="Text 2"/>
          <p:cNvSpPr/>
          <p:nvPr>
            <p:ph type="title"/>
          </p:nvPr>
        </p:nvSpPr>
        <p:spPr>
          <a:xfrm>
            <a:off x="812800" y="121414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Preempção e prioridades</a:t>
            </a:r>
            <a:endParaRPr lang="en-US" sz="6000" dirty="0">
              <a:latin typeface="IBM Plex Sans" charset="0"/>
              <a:ea typeface="IBM Plex Sans" charset="0"/>
              <a:cs typeface="IBM Plex Sans" charset="0"/>
            </a:endParaRPr>
          </a:p>
        </p:txBody>
      </p:sp>
      <p:sp>
        <p:nvSpPr>
          <p:cNvPr id="5" name="Text 3"/>
          <p:cNvSpPr/>
          <p:nvPr/>
        </p:nvSpPr>
        <p:spPr>
          <a:xfrm>
            <a:off x="812800" y="2128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Os exemplos do capítulo 4, numa placa real</a:t>
            </a:r>
            <a:endParaRPr lang="en-US" sz="2000" dirty="0">
              <a:latin typeface="IBM Plex Sans" charset="0"/>
              <a:ea typeface="IBM Plex Sans" charset="0"/>
              <a:cs typeface="IBM Plex Sans" charset="0"/>
            </a:endParaRPr>
          </a:p>
        </p:txBody>
      </p:sp>
      <p:sp>
        <p:nvSpPr>
          <p:cNvPr id="6" name="Shape 4"/>
          <p:cNvSpPr/>
          <p:nvPr/>
        </p:nvSpPr>
        <p:spPr>
          <a:xfrm>
            <a:off x="812800" y="4730750"/>
            <a:ext cx="3386614" cy="0"/>
          </a:xfrm>
          <a:prstGeom prst="line">
            <a:avLst/>
          </a:prstGeom>
          <a:noFill/>
          <a:ln w="12700">
            <a:solidFill>
              <a:srgbClr val="3C5566"/>
            </a:solidFill>
            <a:prstDash val="solid"/>
          </a:ln>
        </p:spPr>
      </p:sp>
      <p:sp>
        <p:nvSpPr>
          <p:cNvPr id="7" name="Text 5"/>
          <p:cNvSpPr/>
          <p:nvPr/>
        </p:nvSpPr>
        <p:spPr>
          <a:xfrm>
            <a:off x="812800" y="488697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VER O SCHEDULER</a:t>
            </a:r>
            <a:endParaRPr lang="en-US" sz="1200" dirty="0">
              <a:latin typeface="IBM Plex Sans" charset="0"/>
              <a:ea typeface="IBM Plex Sans" charset="0"/>
              <a:cs typeface="IBM Plex Sans" charset="0"/>
            </a:endParaRPr>
          </a:p>
        </p:txBody>
      </p:sp>
      <p:sp>
        <p:nvSpPr>
          <p:cNvPr id="8" name="Text 6"/>
          <p:cNvSpPr/>
          <p:nvPr/>
        </p:nvSpPr>
        <p:spPr>
          <a:xfrm>
            <a:off x="812800" y="515114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Contadores no debugger e um pino por task, com trace hooks</a:t>
            </a:r>
            <a:endParaRPr lang="en-US" sz="1200" dirty="0">
              <a:latin typeface="IBM Plex Sans" charset="0"/>
              <a:ea typeface="IBM Plex Sans" charset="0"/>
              <a:cs typeface="IBM Plex Sans" charset="0"/>
            </a:endParaRPr>
          </a:p>
        </p:txBody>
      </p:sp>
      <p:sp>
        <p:nvSpPr>
          <p:cNvPr id="9" name="Shape 7"/>
          <p:cNvSpPr/>
          <p:nvPr/>
        </p:nvSpPr>
        <p:spPr>
          <a:xfrm>
            <a:off x="4402614" y="4730750"/>
            <a:ext cx="3386693" cy="0"/>
          </a:xfrm>
          <a:prstGeom prst="line">
            <a:avLst/>
          </a:prstGeom>
          <a:noFill/>
          <a:ln w="12700">
            <a:solidFill>
              <a:srgbClr val="3C5566"/>
            </a:solidFill>
            <a:prstDash val="solid"/>
          </a:ln>
        </p:spPr>
      </p:sp>
      <p:sp>
        <p:nvSpPr>
          <p:cNvPr id="10" name="Text 8"/>
          <p:cNvSpPr/>
          <p:nvPr/>
        </p:nvSpPr>
        <p:spPr>
          <a:xfrm>
            <a:off x="4402614"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OS EXEMPLOS OFICIAIS</a:t>
            </a:r>
            <a:endParaRPr lang="en-US" sz="1200" dirty="0">
              <a:latin typeface="IBM Plex Sans" charset="0"/>
              <a:ea typeface="IBM Plex Sans" charset="0"/>
              <a:cs typeface="IBM Plex Sans" charset="0"/>
            </a:endParaRPr>
          </a:p>
        </p:txBody>
      </p:sp>
      <p:sp>
        <p:nvSpPr>
          <p:cNvPr id="11" name="Text 9"/>
          <p:cNvSpPr/>
          <p:nvPr/>
        </p:nvSpPr>
        <p:spPr>
          <a:xfrm>
            <a:off x="4402614" y="515114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Time slicing, starvation, bloqueio, preempção, mudar prioridades</a:t>
            </a:r>
            <a:endParaRPr lang="en-US" sz="1200" dirty="0">
              <a:latin typeface="IBM Plex Sans" charset="0"/>
              <a:ea typeface="IBM Plex Sans" charset="0"/>
              <a:cs typeface="IBM Plex Sans" charset="0"/>
            </a:endParaRPr>
          </a:p>
        </p:txBody>
      </p:sp>
      <p:sp>
        <p:nvSpPr>
          <p:cNvPr id="12" name="Shape 10"/>
          <p:cNvSpPr/>
          <p:nvPr/>
        </p:nvSpPr>
        <p:spPr>
          <a:xfrm>
            <a:off x="7992507" y="4730750"/>
            <a:ext cx="3386693" cy="0"/>
          </a:xfrm>
          <a:prstGeom prst="line">
            <a:avLst/>
          </a:prstGeom>
          <a:noFill/>
          <a:ln w="12700">
            <a:solidFill>
              <a:srgbClr val="3C5566"/>
            </a:solidFill>
            <a:prstDash val="solid"/>
          </a:ln>
        </p:spPr>
      </p:sp>
      <p:sp>
        <p:nvSpPr>
          <p:cNvPr id="13" name="Text 11"/>
          <p:cNvSpPr/>
          <p:nvPr/>
        </p:nvSpPr>
        <p:spPr>
          <a:xfrm>
            <a:off x="7992507"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MEXER NA CONFIGURAÇÃO</a:t>
            </a:r>
            <a:endParaRPr lang="en-US" sz="1200" dirty="0">
              <a:latin typeface="IBM Plex Sans" charset="0"/>
              <a:ea typeface="IBM Plex Sans" charset="0"/>
              <a:cs typeface="IBM Plex Sans" charset="0"/>
            </a:endParaRPr>
          </a:p>
        </p:txBody>
      </p:sp>
      <p:sp>
        <p:nvSpPr>
          <p:cNvPr id="14" name="Text 12"/>
          <p:cNvSpPr/>
          <p:nvPr/>
        </p:nvSpPr>
        <p:spPr>
          <a:xfrm>
            <a:off x="7992507"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Sem time slicing e em modo cooperativo</a:t>
            </a:r>
            <a:endParaRPr lang="en-US" sz="1200" dirty="0">
              <a:latin typeface="IBM Plex Sans" charset="0"/>
              <a:ea typeface="IBM Plex Sans" charset="0"/>
              <a:cs typeface="IBM Plex Sans" charset="0"/>
            </a:endParaRPr>
          </a:p>
        </p:txBody>
      </p:sp>
      <p:sp>
        <p:nvSpPr>
          <p:cNvPr id="15" name="Text 13"/>
          <p:cNvSpPr/>
          <p:nvPr/>
        </p:nvSpPr>
        <p:spPr>
          <a:xfrm>
            <a:off x="812800" y="58318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4, e exemplos do repositório FreeRTOS-Kernel-Book</a:t>
            </a:r>
            <a:endParaRPr lang="en-US" sz="1200" dirty="0">
              <a:latin typeface="IBM Plex Sans" charset="0"/>
              <a:ea typeface="IBM Plex Sans" charset="0"/>
              <a:cs typeface="IBM Plex Sans"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2</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Os exemplos oficiais que vamos usar</a:t>
            </a:r>
            <a:endParaRPr lang="en-US" sz="3200" dirty="0">
              <a:latin typeface="IBM Plex Sans" charset="0"/>
              <a:ea typeface="IBM Plex Sans" charset="0"/>
              <a:cs typeface="IBM Plex Sans" charset="0"/>
            </a:endParaRPr>
          </a:p>
        </p:txBody>
      </p:sp>
      <p:sp>
        <p:nvSpPr>
          <p:cNvPr id="4" name="Text 2"/>
          <p:cNvSpPr/>
          <p:nvPr/>
        </p:nvSpPr>
        <p:spPr>
          <a:xfrm>
            <a:off x="812800" y="16967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Livro: </a:t>
            </a:r>
            <a:r>
              <a:rPr lang="en-US" sz="1200" i="1" dirty="0">
                <a:solidFill>
                  <a:srgbClr val="44505C"/>
                </a:solidFill>
                <a:latin typeface="IBM Plex Sans" pitchFamily="34" charset="0"/>
                <a:ea typeface="IBM Plex Sans" pitchFamily="34" charset="-122"/>
                <a:cs typeface="IBM Plex Sans" pitchFamily="34" charset="-120"/>
              </a:rPr>
              <a:t>Mastering the FreeRTOS Real Time Kernel</a:t>
            </a:r>
            <a:r>
              <a:rPr lang="en-US" sz="1200" dirty="0">
                <a:solidFill>
                  <a:srgbClr val="44505C"/>
                </a:solidFill>
                <a:latin typeface="IBM Plex Sans" pitchFamily="34" charset="0"/>
                <a:ea typeface="IBM Plex Sans" pitchFamily="34" charset="-122"/>
                <a:cs typeface="IBM Plex Sans" pitchFamily="34" charset="-120"/>
              </a:rPr>
              <a:t> (V1.1.0) · </a:t>
            </a:r>
            <a:r>
              <a:rPr lang="en-US" sz="1200" u="sng" dirty="0">
                <a:solidFill>
                  <a:srgbClr val="17766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github.com/FreeRTOS/FreeRTOS-Kernel-Book</a:t>
            </a:r>
            <a:endParaRPr lang="en-US" sz="1200" dirty="0">
              <a:latin typeface="IBM Plex Sans" charset="0"/>
              <a:ea typeface="IBM Plex Sans" charset="0"/>
              <a:cs typeface="IBM Plex Sans" charset="0"/>
            </a:endParaRPr>
          </a:p>
        </p:txBody>
      </p:sp>
      <p:sp>
        <p:nvSpPr>
          <p:cNvPr id="5" name="Shape 3"/>
          <p:cNvSpPr/>
          <p:nvPr/>
        </p:nvSpPr>
        <p:spPr>
          <a:xfrm>
            <a:off x="812800" y="2219990"/>
            <a:ext cx="6350000" cy="0"/>
          </a:xfrm>
          <a:prstGeom prst="line">
            <a:avLst/>
          </a:prstGeom>
          <a:noFill/>
          <a:ln w="10160">
            <a:solidFill>
              <a:srgbClr val="141413">
                <a:alpha val="22000"/>
              </a:srgbClr>
            </a:solidFill>
            <a:prstDash val="solid"/>
          </a:ln>
        </p:spPr>
      </p:sp>
      <p:sp>
        <p:nvSpPr>
          <p:cNvPr id="6" name="Shape 4"/>
          <p:cNvSpPr/>
          <p:nvPr/>
        </p:nvSpPr>
        <p:spPr>
          <a:xfrm>
            <a:off x="817880" y="2214910"/>
            <a:ext cx="0" cy="3627120"/>
          </a:xfrm>
          <a:prstGeom prst="line">
            <a:avLst/>
          </a:prstGeom>
          <a:noFill/>
          <a:ln w="1016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4560" y="2288570"/>
          <a:ext cx="6136640" cy="3489960"/>
        </p:xfrm>
        <a:graphic>
          <a:graphicData uri="http://schemas.openxmlformats.org/drawingml/2006/table">
            <a:tbl>
              <a:tblPr/>
              <a:tblGrid>
                <a:gridCol w="1043229"/>
                <a:gridCol w="2209190"/>
                <a:gridCol w="1902358"/>
                <a:gridCol w="981862"/>
              </a:tblGrid>
              <a:tr h="466566">
                <a:tc>
                  <a:txBody>
                    <a:bodyPr/>
                    <a:lstStyle/>
                    <a:p>
                      <a:pPr indent="0" marL="0">
                        <a:lnSpc>
                          <a:spcPts val="1439"/>
                        </a:lnSpc>
                        <a:buNone/>
                      </a:pPr>
                      <a:r>
                        <a:rPr lang="en-US" sz="1028" b="1" dirty="0">
                          <a:solidFill>
                            <a:srgbClr val="44505C"/>
                          </a:solidFill>
                          <a:latin typeface="IBM Plex Sans" pitchFamily="34" charset="0"/>
                          <a:ea typeface="IBM Plex Sans" pitchFamily="34" charset="-122"/>
                          <a:cs typeface="IBM Plex Sans" pitchFamily="34" charset="-120"/>
                        </a:rPr>
                        <a:t>Exemplo do livro</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439"/>
                        </a:lnSpc>
                        <a:buNone/>
                      </a:pPr>
                      <a:r>
                        <a:rPr lang="en-US" sz="1028" b="1" dirty="0">
                          <a:solidFill>
                            <a:srgbClr val="44505C"/>
                          </a:solidFill>
                          <a:latin typeface="IBM Plex Sans" pitchFamily="34" charset="0"/>
                          <a:ea typeface="IBM Plex Sans" pitchFamily="34" charset="-122"/>
                          <a:cs typeface="IBM Plex Sans" pitchFamily="34" charset="-120"/>
                        </a:rPr>
                        <a:t>O que faz</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439"/>
                        </a:lnSpc>
                        <a:buNone/>
                      </a:pPr>
                      <a:r>
                        <a:rPr lang="en-US" sz="1028" b="1" dirty="0">
                          <a:solidFill>
                            <a:srgbClr val="44505C"/>
                          </a:solidFill>
                          <a:latin typeface="IBM Plex Sans" pitchFamily="34" charset="0"/>
                          <a:ea typeface="IBM Plex Sans" pitchFamily="34" charset="-122"/>
                          <a:cs typeface="IBM Plex Sans" pitchFamily="34" charset="-120"/>
                        </a:rPr>
                        <a:t>O que mostra</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439"/>
                        </a:lnSpc>
                        <a:buNone/>
                      </a:pPr>
                      <a:r>
                        <a:rPr lang="en-US" sz="1028" b="1" dirty="0">
                          <a:solidFill>
                            <a:srgbClr val="44505C"/>
                          </a:solidFill>
                          <a:latin typeface="IBM Plex Sans" pitchFamily="34" charset="0"/>
                          <a:ea typeface="IBM Plex Sans" pitchFamily="34" charset="-122"/>
                          <a:cs typeface="IBM Plex Sans" pitchFamily="34" charset="-120"/>
                        </a:rPr>
                        <a:t>Exercício</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466646">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4.1</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Criar duas tasks, mesma prioridade</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Time slicing</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1</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4.2</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Parâmetro da task</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Uma função, duas instâncias</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Código base</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4.3</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Prioridades diferentes, null loop</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Starvation</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2</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4.4</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vTaskDelay()</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Blocked; a idle task aparece</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3</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4.5</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vTaskDelayUntil()</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Período fixo</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3</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4.6</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Contínuas + periódica</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Preempção</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4</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4.7</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Idle hook</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Medir o CPU livre</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3</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4.8</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vTaskPrioritySet()</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Prioridades em run time</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5</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4.9</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vTaskDelete()</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A idle task liberta a memória</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Leitura</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284083">
                <a:tc>
                  <a:txBody>
                    <a:bodyPr/>
                    <a:lstStyle/>
                    <a:p>
                      <a:pPr indent="0" marL="0">
                        <a:lnSpc>
                          <a:spcPts val="1439"/>
                        </a:lnSpc>
                        <a:buNone/>
                      </a:pPr>
                      <a:r>
                        <a:rPr lang="en-US" sz="1028" dirty="0">
                          <a:solidFill>
                            <a:srgbClr val="17766A"/>
                          </a:solidFill>
                          <a:latin typeface="IBM Plex Sans" pitchFamily="34" charset="0"/>
                          <a:ea typeface="IBM Plex Sans" pitchFamily="34" charset="-122"/>
                          <a:cs typeface="IBM Plex Sans" pitchFamily="34" charset="-120"/>
                        </a:rPr>
                        <a:t>Secção 4.12</a:t>
                      </a:r>
                      <a:endParaRPr lang="en-US" sz="1028" dirty="0">
                        <a:latin typeface="IBM Plex Sans" charset="0"/>
                        <a:ea typeface="IBM Plex Sans" charset="0"/>
                        <a:cs typeface="IBM Plex Sans" charset="0"/>
                      </a:endParaRPr>
                    </a:p>
                  </a:txBody>
                  <a:tcPr marL="45672" marR="45672" marT="45672" marB="45672"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Sem time slicing; cooperativo</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Figuras 4.21 e 4.22</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439"/>
                        </a:lnSpc>
                        <a:buNone/>
                      </a:pPr>
                      <a:r>
                        <a:rPr lang="en-US" sz="1028" dirty="0">
                          <a:solidFill>
                            <a:srgbClr val="44505C"/>
                          </a:solidFill>
                          <a:latin typeface="IBM Plex Sans" pitchFamily="34" charset="0"/>
                          <a:ea typeface="IBM Plex Sans" pitchFamily="34" charset="-122"/>
                          <a:cs typeface="IBM Plex Sans" pitchFamily="34" charset="-120"/>
                        </a:rPr>
                        <a:t>6</a:t>
                      </a:r>
                      <a:endParaRPr lang="en-US" sz="1028" dirty="0">
                        <a:latin typeface="IBM Plex Sans" charset="0"/>
                        <a:ea typeface="IBM Plex Sans" charset="0"/>
                        <a:cs typeface="IBM Plex Sans" charset="0"/>
                      </a:endParaRPr>
                    </a:p>
                  </a:txBody>
                  <a:tcPr marL="45672" marR="45672" marT="45672" marB="45672"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Shape 5"/>
          <p:cNvSpPr/>
          <p:nvPr/>
        </p:nvSpPr>
        <p:spPr>
          <a:xfrm>
            <a:off x="7419975" y="2218085"/>
            <a:ext cx="3956050" cy="1427480"/>
          </a:xfrm>
          <a:prstGeom prst="roundRect">
            <a:avLst>
              <a:gd name="adj" fmla="val 6895"/>
            </a:avLst>
          </a:prstGeom>
          <a:solidFill>
            <a:srgbClr val="FCFBF8"/>
          </a:solidFill>
          <a:ln w="6350">
            <a:solidFill>
              <a:srgbClr val="DCDAD2"/>
            </a:solidFill>
            <a:prstDash val="solid"/>
          </a:ln>
        </p:spPr>
      </p:sp>
      <p:sp>
        <p:nvSpPr>
          <p:cNvPr id="9" name="Text 6"/>
          <p:cNvSpPr/>
          <p:nvPr/>
        </p:nvSpPr>
        <p:spPr>
          <a:xfrm>
            <a:off x="7574280" y="2372370"/>
            <a:ext cx="37568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Os exemplos do livro</a:t>
            </a:r>
            <a:endParaRPr lang="en-US" sz="1400" dirty="0">
              <a:latin typeface="IBM Plex Sans" charset="0"/>
              <a:ea typeface="IBM Plex Sans" charset="0"/>
              <a:cs typeface="IBM Plex Sans" charset="0"/>
            </a:endParaRPr>
          </a:p>
        </p:txBody>
      </p:sp>
      <p:sp>
        <p:nvSpPr>
          <p:cNvPr id="10" name="Text 7"/>
          <p:cNvSpPr/>
          <p:nvPr/>
        </p:nvSpPr>
        <p:spPr>
          <a:xfrm>
            <a:off x="7574280" y="2636540"/>
            <a:ext cx="37568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Example001 a 026 (001 = 4.1 … 009 = 4.9). Correm no simulador Windows e escrevem com printf.</a:t>
            </a:r>
            <a:endParaRPr lang="en-US" sz="1200" dirty="0">
              <a:latin typeface="IBM Plex Sans" charset="0"/>
              <a:ea typeface="IBM Plex Sans" charset="0"/>
              <a:cs typeface="IBM Plex Sans" charset="0"/>
            </a:endParaRPr>
          </a:p>
        </p:txBody>
      </p:sp>
      <p:sp>
        <p:nvSpPr>
          <p:cNvPr id="11" name="Text 8"/>
          <p:cNvSpPr/>
          <p:nvPr/>
        </p:nvSpPr>
        <p:spPr>
          <a:xfrm>
            <a:off x="7574280" y="3114030"/>
            <a:ext cx="3756863" cy="402590"/>
          </a:xfrm>
          <a:prstGeom prst="rect">
            <a:avLst/>
          </a:prstGeom>
          <a:noFill/>
          <a:ln/>
        </p:spPr>
        <p:txBody>
          <a:bodyPr wrap="square" lIns="0" tIns="0" rIns="0" bIns="0" rtlCol="0" anchor="t">
            <a:normAutofit/>
          </a:bodyPr>
          <a:lstStyle/>
          <a:p>
            <a:pPr algn="l" indent="0" marL="0">
              <a:lnSpc>
                <a:spcPts val="1485"/>
              </a:lnSpc>
              <a:buNone/>
            </a:pPr>
            <a:r>
              <a:rPr lang="en-US" sz="1100" u="sng" dirty="0">
                <a:solidFill>
                  <a:srgbClr val="17766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github.com/FreeRTOS/FreeRTOS-Kernel-Book/</a:t>
            </a:r>
            <a:endParaRPr lang="en-US" sz="1100" dirty="0">
              <a:latin typeface="IBM Plex Sans" charset="0"/>
              <a:ea typeface="IBM Plex Sans" charset="0"/>
              <a:cs typeface="IBM Plex Sans" charset="0"/>
            </a:endParaRPr>
          </a:p>
          <a:p>
            <a:pPr algn="l" indent="0" marL="0">
              <a:lnSpc>
                <a:spcPts val="1485"/>
              </a:lnSpc>
              <a:buNone/>
            </a:pPr>
            <a:r>
              <a:rPr lang="en-US" sz="1100" u="sng" dirty="0">
                <a:solidFill>
                  <a:srgbClr val="17766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tree/main/examples/Win32-simulator-MSVC</a:t>
            </a:r>
            <a:endParaRPr lang="en-US" sz="1100" dirty="0">
              <a:latin typeface="IBM Plex Sans" charset="0"/>
              <a:ea typeface="IBM Plex Sans" charset="0"/>
              <a:cs typeface="IBM Plex Sans" charset="0"/>
            </a:endParaRPr>
          </a:p>
        </p:txBody>
      </p:sp>
      <p:sp>
        <p:nvSpPr>
          <p:cNvPr id="12" name="Shape 9"/>
          <p:cNvSpPr/>
          <p:nvPr/>
        </p:nvSpPr>
        <p:spPr>
          <a:xfrm>
            <a:off x="7419975" y="3778895"/>
            <a:ext cx="3956050" cy="999490"/>
          </a:xfrm>
          <a:prstGeom prst="roundRect">
            <a:avLst>
              <a:gd name="adj" fmla="val 9848"/>
            </a:avLst>
          </a:prstGeom>
          <a:solidFill>
            <a:srgbClr val="FCFBF8"/>
          </a:solidFill>
          <a:ln w="6350">
            <a:solidFill>
              <a:srgbClr val="DCDAD2"/>
            </a:solidFill>
            <a:prstDash val="solid"/>
          </a:ln>
        </p:spPr>
      </p:sp>
      <p:sp>
        <p:nvSpPr>
          <p:cNvPr id="13" name="Text 10"/>
          <p:cNvSpPr/>
          <p:nvPr/>
        </p:nvSpPr>
        <p:spPr>
          <a:xfrm>
            <a:off x="7574280" y="3933180"/>
            <a:ext cx="37568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 essencial</a:t>
            </a:r>
            <a:endParaRPr lang="en-US" sz="1400" dirty="0">
              <a:latin typeface="IBM Plex Sans" charset="0"/>
              <a:ea typeface="IBM Plex Sans" charset="0"/>
              <a:cs typeface="IBM Plex Sans" charset="0"/>
            </a:endParaRPr>
          </a:p>
        </p:txBody>
      </p:sp>
      <p:sp>
        <p:nvSpPr>
          <p:cNvPr id="14" name="Text 11"/>
          <p:cNvSpPr/>
          <p:nvPr/>
        </p:nvSpPr>
        <p:spPr>
          <a:xfrm>
            <a:off x="7574280" y="4197350"/>
            <a:ext cx="37568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mínimo para criar tasks, escolher prioridades e perceber quando cada uma corre.</a:t>
            </a:r>
            <a:endParaRPr lang="en-US" sz="1200" dirty="0">
              <a:latin typeface="IBM Plex Sans" charset="0"/>
              <a:ea typeface="IBM Plex Sans" charset="0"/>
              <a:cs typeface="IBM Plex Sans" charset="0"/>
            </a:endParaRPr>
          </a:p>
        </p:txBody>
      </p:sp>
      <p:sp>
        <p:nvSpPr>
          <p:cNvPr id="15" name="Text 12"/>
          <p:cNvSpPr/>
          <p:nvPr/>
        </p:nvSpPr>
        <p:spPr>
          <a:xfrm>
            <a:off x="7416800" y="4908550"/>
            <a:ext cx="40812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Hoje: exemplos 4.1 a 4.8 e secção 4.12, na Pico 2. O 4.9 (vTaskDelete) fica como leitura.</a:t>
            </a:r>
            <a:endParaRPr lang="en-US" sz="1300" dirty="0">
              <a:latin typeface="IBM Plex Sans" charset="0"/>
              <a:ea typeface="IBM Plex Sans" charset="0"/>
              <a:cs typeface="IBM Plex Sans" charset="0"/>
            </a:endParaRPr>
          </a:p>
        </p:txBody>
      </p:sp>
      <p:sp>
        <p:nvSpPr>
          <p:cNvPr id="16" name="Text 13"/>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4 (exemplos 4.1–4.9 e secção 4.12)</a:t>
            </a:r>
            <a:endParaRPr lang="en-US" sz="1200" dirty="0">
              <a:latin typeface="IBM Plex Sans" charset="0"/>
              <a:ea typeface="IBM Plex Sans" charset="0"/>
              <a:cs typeface="IBM Plex Sans" charset="0"/>
            </a:endParaRPr>
          </a:p>
        </p:txBody>
      </p:sp>
      <p:sp>
        <p:nvSpPr>
          <p:cNvPr id="17" name="Text 14"/>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76</a:t>
            </a:r>
            <a:endParaRPr lang="en-US" sz="1200" dirty="0">
              <a:latin typeface="IBM Plex Sans" charset="0"/>
              <a:ea typeface="IBM Plex Sans" charset="0"/>
              <a:cs typeface="IBM Plex Sans"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2</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Como ver o scheduler a trabalhar</a:t>
            </a:r>
            <a:endParaRPr lang="en-US" sz="3200" dirty="0">
              <a:latin typeface="IBM Plex Sans" charset="0"/>
              <a:ea typeface="IBM Plex Sans" charset="0"/>
              <a:cs typeface="IBM Plex Sans" charset="0"/>
            </a:endParaRPr>
          </a:p>
        </p:txBody>
      </p:sp>
      <p:sp>
        <p:nvSpPr>
          <p:cNvPr id="4" name="Shape 2"/>
          <p:cNvSpPr/>
          <p:nvPr/>
        </p:nvSpPr>
        <p:spPr>
          <a:xfrm>
            <a:off x="815975" y="1801515"/>
            <a:ext cx="3414157" cy="1807210"/>
          </a:xfrm>
          <a:prstGeom prst="roundRect">
            <a:avLst>
              <a:gd name="adj" fmla="val 5446"/>
            </a:avLst>
          </a:prstGeom>
          <a:solidFill>
            <a:srgbClr val="FCFBF8"/>
          </a:solidFill>
          <a:ln w="6350">
            <a:solidFill>
              <a:srgbClr val="DCDAD2"/>
            </a:solidFill>
            <a:prstDash val="solid"/>
          </a:ln>
        </p:spPr>
      </p:sp>
      <p:sp>
        <p:nvSpPr>
          <p:cNvPr id="5" name="Text 3"/>
          <p:cNvSpPr/>
          <p:nvPr/>
        </p:nvSpPr>
        <p:spPr>
          <a:xfrm>
            <a:off x="995680" y="1981200"/>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SEM HARDWARE EXTRA</a:t>
            </a:r>
            <a:endParaRPr lang="en-US" sz="1200" dirty="0">
              <a:latin typeface="IBM Plex Sans" charset="0"/>
              <a:ea typeface="IBM Plex Sans" charset="0"/>
              <a:cs typeface="IBM Plex Sans" charset="0"/>
            </a:endParaRPr>
          </a:p>
        </p:txBody>
      </p:sp>
      <p:sp>
        <p:nvSpPr>
          <p:cNvPr id="6" name="Text 4"/>
          <p:cNvSpPr/>
          <p:nvPr/>
        </p:nvSpPr>
        <p:spPr>
          <a:xfrm>
            <a:off x="995680" y="2270770"/>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Contadores no debugger</a:t>
            </a:r>
            <a:endParaRPr lang="en-US" sz="1500" dirty="0">
              <a:latin typeface="IBM Plex Sans" charset="0"/>
              <a:ea typeface="IBM Plex Sans" charset="0"/>
              <a:cs typeface="IBM Plex Sans" charset="0"/>
            </a:endParaRPr>
          </a:p>
        </p:txBody>
      </p:sp>
      <p:sp>
        <p:nvSpPr>
          <p:cNvPr id="7" name="Text 5"/>
          <p:cNvSpPr/>
          <p:nvPr/>
        </p:nvSpPr>
        <p:spPr>
          <a:xfrm>
            <a:off x="995680" y="2575570"/>
            <a:ext cx="31463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Cada task incrementa o seu contador. Com as live expressions / watch do debugger vê-se quem corre e quanto. Uma task em starvation fica em 0.</a:t>
            </a:r>
            <a:endParaRPr lang="en-US" sz="1200" dirty="0">
              <a:latin typeface="IBM Plex Sans" charset="0"/>
              <a:ea typeface="IBM Plex Sans" charset="0"/>
              <a:cs typeface="IBM Plex Sans" charset="0"/>
            </a:endParaRPr>
          </a:p>
        </p:txBody>
      </p:sp>
      <p:sp>
        <p:nvSpPr>
          <p:cNvPr id="8" name="Shape 6"/>
          <p:cNvSpPr/>
          <p:nvPr/>
        </p:nvSpPr>
        <p:spPr>
          <a:xfrm>
            <a:off x="4388882" y="1801515"/>
            <a:ext cx="3414236" cy="1807210"/>
          </a:xfrm>
          <a:prstGeom prst="roundRect">
            <a:avLst>
              <a:gd name="adj" fmla="val 5446"/>
            </a:avLst>
          </a:prstGeom>
          <a:solidFill>
            <a:srgbClr val="E3EFEC"/>
          </a:solidFill>
          <a:ln w="6350">
            <a:solidFill>
              <a:srgbClr val="DCDAD2"/>
            </a:solidFill>
            <a:prstDash val="solid"/>
          </a:ln>
        </p:spPr>
      </p:sp>
      <p:sp>
        <p:nvSpPr>
          <p:cNvPr id="9" name="Text 7"/>
          <p:cNvSpPr/>
          <p:nvPr/>
        </p:nvSpPr>
        <p:spPr>
          <a:xfrm>
            <a:off x="4568587" y="1981200"/>
            <a:ext cx="314647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 MELHOR PARA VER PREEMPÇÃO</a:t>
            </a:r>
            <a:endParaRPr lang="en-US" sz="1200" dirty="0">
              <a:latin typeface="IBM Plex Sans" charset="0"/>
              <a:ea typeface="IBM Plex Sans" charset="0"/>
              <a:cs typeface="IBM Plex Sans" charset="0"/>
            </a:endParaRPr>
          </a:p>
        </p:txBody>
      </p:sp>
      <p:sp>
        <p:nvSpPr>
          <p:cNvPr id="10" name="Text 8"/>
          <p:cNvSpPr/>
          <p:nvPr/>
        </p:nvSpPr>
        <p:spPr>
          <a:xfrm>
            <a:off x="4568587" y="2270770"/>
            <a:ext cx="31464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Um pino por task</a:t>
            </a:r>
            <a:endParaRPr lang="en-US" sz="1500" dirty="0">
              <a:latin typeface="IBM Plex Sans" charset="0"/>
              <a:ea typeface="IBM Plex Sans" charset="0"/>
              <a:cs typeface="IBM Plex Sans" charset="0"/>
            </a:endParaRPr>
          </a:p>
        </p:txBody>
      </p:sp>
      <p:sp>
        <p:nvSpPr>
          <p:cNvPr id="11" name="Text 9"/>
          <p:cNvSpPr/>
          <p:nvPr/>
        </p:nvSpPr>
        <p:spPr>
          <a:xfrm>
            <a:off x="4568587" y="2575570"/>
            <a:ext cx="3146471"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Os trace hooks põem o pino da task a 1 quando entra em Running e a 0 quando sai. Com um analisador lógico barato vê-se a timeline real, ao microssegundo.</a:t>
            </a:r>
            <a:endParaRPr lang="en-US" sz="1200" dirty="0">
              <a:latin typeface="IBM Plex Sans" charset="0"/>
              <a:ea typeface="IBM Plex Sans" charset="0"/>
              <a:cs typeface="IBM Plex Sans" charset="0"/>
            </a:endParaRPr>
          </a:p>
        </p:txBody>
      </p:sp>
      <p:sp>
        <p:nvSpPr>
          <p:cNvPr id="12" name="Shape 10"/>
          <p:cNvSpPr/>
          <p:nvPr/>
        </p:nvSpPr>
        <p:spPr>
          <a:xfrm>
            <a:off x="7961868" y="1801515"/>
            <a:ext cx="3414157" cy="1807210"/>
          </a:xfrm>
          <a:prstGeom prst="roundRect">
            <a:avLst>
              <a:gd name="adj" fmla="val 5446"/>
            </a:avLst>
          </a:prstGeom>
          <a:solidFill>
            <a:srgbClr val="FCFBF8"/>
          </a:solidFill>
          <a:ln w="6350">
            <a:solidFill>
              <a:srgbClr val="DCDAD2"/>
            </a:solidFill>
            <a:prstDash val="solid"/>
          </a:ln>
        </p:spPr>
      </p:sp>
      <p:sp>
        <p:nvSpPr>
          <p:cNvPr id="13" name="Text 11"/>
          <p:cNvSpPr/>
          <p:nvPr/>
        </p:nvSpPr>
        <p:spPr>
          <a:xfrm>
            <a:off x="8141574" y="1981200"/>
            <a:ext cx="31463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RESUMO EM NÚMEROS</a:t>
            </a:r>
            <a:endParaRPr lang="en-US" sz="1200" dirty="0">
              <a:latin typeface="IBM Plex Sans" charset="0"/>
              <a:ea typeface="IBM Plex Sans" charset="0"/>
              <a:cs typeface="IBM Plex Sans" charset="0"/>
            </a:endParaRPr>
          </a:p>
        </p:txBody>
      </p:sp>
      <p:sp>
        <p:nvSpPr>
          <p:cNvPr id="14" name="Text 12"/>
          <p:cNvSpPr/>
          <p:nvPr/>
        </p:nvSpPr>
        <p:spPr>
          <a:xfrm>
            <a:off x="8141574" y="2270770"/>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Run-time stats</a:t>
            </a:r>
            <a:endParaRPr lang="en-US" sz="1500" dirty="0">
              <a:latin typeface="IBM Plex Sans" charset="0"/>
              <a:ea typeface="IBM Plex Sans" charset="0"/>
              <a:cs typeface="IBM Plex Sans" charset="0"/>
            </a:endParaRPr>
          </a:p>
        </p:txBody>
      </p:sp>
      <p:sp>
        <p:nvSpPr>
          <p:cNvPr id="15" name="Text 13"/>
          <p:cNvSpPr/>
          <p:nvPr/>
        </p:nvSpPr>
        <p:spPr>
          <a:xfrm>
            <a:off x="8141574" y="2575570"/>
            <a:ext cx="31463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vTaskGetRunTimeStatistics() dá a percentagem de CPU de cada task (módulo 8). Bom para confirmar starvation e CPU livre.</a:t>
            </a:r>
            <a:endParaRPr lang="en-US" sz="1200" dirty="0">
              <a:latin typeface="IBM Plex Sans" charset="0"/>
              <a:ea typeface="IBM Plex Sans" charset="0"/>
              <a:cs typeface="IBM Plex Sans" charset="0"/>
            </a:endParaRPr>
          </a:p>
        </p:txBody>
      </p:sp>
      <p:sp>
        <p:nvSpPr>
          <p:cNvPr id="16" name="Text 14"/>
          <p:cNvSpPr/>
          <p:nvPr/>
        </p:nvSpPr>
        <p:spPr>
          <a:xfrm>
            <a:off x="812800" y="3815110"/>
            <a:ext cx="10566400" cy="459740"/>
          </a:xfrm>
          <a:custGeom>
            <a:avLst/>
            <a:gdLst/>
            <a:ahLst/>
            <a:cxnLst/>
            <a:rect l="l" t="t" r="r" b="b"/>
            <a:pathLst>
              <a:path w="10566400" h="459740">
                <a:moveTo>
                  <a:pt x="0" y="0"/>
                </a:moveTo>
                <a:lnTo>
                  <a:pt x="10490200" y="0"/>
                </a:lnTo>
                <a:arcTo hR="76200" wR="76200" stAng="16200000" swAng="5400000"/>
                <a:lnTo>
                  <a:pt x="10566400" y="383540"/>
                </a:lnTo>
                <a:arcTo hR="76200" wR="76200" stAng="0" swAng="5400000"/>
                <a:lnTo>
                  <a:pt x="0" y="459740"/>
                </a:lnTo>
                <a:lnTo>
                  <a:pt x="0" y="0"/>
                </a:lnTo>
                <a:close/>
              </a:path>
            </a:pathLst>
          </a:custGeom>
          <a:solidFill>
            <a:srgbClr val="FBEFE7"/>
          </a:solidFill>
          <a:ln/>
        </p:spPr>
        <p:txBody>
          <a:bodyPr wrap="square" lIns="187960" tIns="114300" rIns="0" bIns="8890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Evitar printf() para isto: é lento, muda o próprio timing que queremos ver e pode nem ser thread-safe (módulo 8).</a:t>
            </a:r>
            <a:endParaRPr lang="en-US" sz="1300" dirty="0">
              <a:latin typeface="IBM Plex Sans" charset="0"/>
              <a:ea typeface="IBM Plex Sans" charset="0"/>
              <a:cs typeface="IBM Plex Sans" charset="0"/>
            </a:endParaRPr>
          </a:p>
        </p:txBody>
      </p:sp>
      <p:sp>
        <p:nvSpPr>
          <p:cNvPr id="17" name="Shape 15"/>
          <p:cNvSpPr/>
          <p:nvPr/>
        </p:nvSpPr>
        <p:spPr>
          <a:xfrm>
            <a:off x="812800" y="3815110"/>
            <a:ext cx="10566400" cy="459740"/>
          </a:xfrm>
          <a:custGeom>
            <a:avLst/>
            <a:gdLst/>
            <a:ahLst/>
            <a:cxnLst/>
            <a:rect l="l" t="t" r="r" b="b"/>
            <a:pathLst>
              <a:path w="10566400" h="459740">
                <a:moveTo>
                  <a:pt x="38100" y="459740"/>
                </a:moveTo>
                <a:lnTo>
                  <a:pt x="0" y="459740"/>
                </a:lnTo>
                <a:lnTo>
                  <a:pt x="0" y="0"/>
                </a:lnTo>
                <a:lnTo>
                  <a:pt x="38100" y="0"/>
                </a:lnTo>
                <a:lnTo>
                  <a:pt x="38100" y="459740"/>
                </a:lnTo>
                <a:close/>
              </a:path>
            </a:pathLst>
          </a:custGeom>
          <a:solidFill>
            <a:srgbClr val="D0612A"/>
          </a:solidFill>
          <a:ln/>
        </p:spPr>
      </p:sp>
      <p:sp>
        <p:nvSpPr>
          <p:cNvPr id="18"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77</a:t>
            </a:r>
            <a:endParaRPr lang="en-US" sz="1200" dirty="0">
              <a:latin typeface="IBM Plex Sans" charset="0"/>
              <a:ea typeface="IBM Plex Sans" charset="0"/>
              <a:cs typeface="IBM Plex Sans"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cap. 12 (trace hook macros), adaptados à Pico 2</a:t>
            </a:r>
            <a:endParaRPr lang="en-US" sz="1200" dirty="0">
              <a:latin typeface="IBM Plex Sans" charset="0"/>
              <a:ea typeface="IBM Plex Sans" charset="0"/>
              <a:cs typeface="IBM Plex Sans" charset="0"/>
            </a:endParaRPr>
          </a:p>
        </p:txBody>
      </p:sp>
      <p:sp>
        <p:nvSpPr>
          <p:cNvPr id="3" name="Text 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78</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2</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Um pino por task, com trace hooks</a:t>
            </a:r>
            <a:endParaRPr lang="en-US" sz="3200" dirty="0">
              <a:latin typeface="IBM Plex Sans" charset="0"/>
              <a:ea typeface="IBM Plex Sans" charset="0"/>
              <a:cs typeface="IBM Plex Sans" charset="0"/>
            </a:endParaRPr>
          </a:p>
        </p:txBody>
      </p:sp>
      <p:sp>
        <p:nvSpPr>
          <p:cNvPr id="6" name="Text 4"/>
          <p:cNvSpPr/>
          <p:nvPr/>
        </p:nvSpPr>
        <p:spPr>
          <a:xfrm>
            <a:off x="812800" y="1720850"/>
            <a:ext cx="10566400" cy="1635760"/>
          </a:xfrm>
          <a:prstGeom prst="roundRect">
            <a:avLst>
              <a:gd name="adj" fmla="val 4658"/>
            </a:avLst>
          </a:prstGeom>
          <a:solidFill>
            <a:srgbClr val="14222E"/>
          </a:solidFill>
          <a:ln/>
        </p:spPr>
        <p:txBody>
          <a:bodyPr wrap="none" lIns="104682" tIns="41182" rIns="0" bIns="15782" rtlCol="0" anchor="t">
            <a:normAutofit/>
          </a:bodyPr>
          <a:lstStyle/>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FreeRTOSConfig.h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#define configUSE_APPLICATION_TASK_TAG 1</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#define INCLUDE_xTaskGetIdleTaskHandle 1</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void vTraceIn( void *pvTag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void vTraceOut( void *pvTag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pxCurrentTCB só existe dentro de tasks.c, onde os macros são expandidos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#define traceTASK_SWITCHED_IN() vTraceIn( ( void * ) pxCurrentTCB-&gt;pxTaskTag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#define traceTASK_SWITCHED_OUT() vTraceOut( ( void * ) pxCurrentTCB-&gt;pxTaskTag )</a:t>
            </a:r>
            <a:endParaRPr lang="en-US" sz="1100" dirty="0">
              <a:latin typeface="JetBrains Mono" charset="0"/>
              <a:ea typeface="JetBrains Mono" charset="0"/>
              <a:cs typeface="JetBrains Mono" charset="0"/>
            </a:endParaRPr>
          </a:p>
        </p:txBody>
      </p:sp>
      <p:sp>
        <p:nvSpPr>
          <p:cNvPr id="7" name="Text 5"/>
          <p:cNvSpPr/>
          <p:nvPr/>
        </p:nvSpPr>
        <p:spPr>
          <a:xfrm>
            <a:off x="812800" y="3486150"/>
            <a:ext cx="10566400" cy="1447165"/>
          </a:xfrm>
          <a:prstGeom prst="roundRect">
            <a:avLst>
              <a:gd name="adj" fmla="val 5265"/>
            </a:avLst>
          </a:prstGeom>
          <a:solidFill>
            <a:srgbClr val="14222E"/>
          </a:solidFill>
          <a:ln/>
        </p:spPr>
        <p:txBody>
          <a:bodyPr wrap="none" lIns="104682" tIns="41182" rIns="0" bIns="15782" rtlCol="0" anchor="t">
            <a:normAutofit/>
          </a:bodyPr>
          <a:lstStyle/>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main.c: a tag de cada task é a máscara do seu pino (registos SIO)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void vTraceIn( void *pvTag ) { if( pvTag != NULL ) sio_hw-&gt;gpio_set = ( uint32_t ) pvTag;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void vTraceOut( void *pvTag ) { if( pvTag != NULL ) sio_hw-&gt;gpio_clr = ( uint32_t ) pvTag;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no início de cada task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vTaskSetApplicationTaskTag( NULL, ( TaskHookFunction_t ) ( 1u &lt;&lt; 2 ) ); /* GP2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idle: a partir de outra task, já com o scheduler a correr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vTaskSetApplicationTaskTag( xTaskGetIdleTaskHandle(), ( TaskHookFunction_t ) ( 1u &lt;&lt; 6 ) ); /* GP6 */</a:t>
            </a:r>
            <a:endParaRPr lang="en-US" sz="1100" dirty="0">
              <a:latin typeface="JetBrains Mono" charset="0"/>
              <a:ea typeface="JetBrains Mono" charset="0"/>
              <a:cs typeface="JetBrains Mono" charset="0"/>
            </a:endParaRPr>
          </a:p>
        </p:txBody>
      </p:sp>
      <p:sp>
        <p:nvSpPr>
          <p:cNvPr id="8" name="Text 6"/>
          <p:cNvSpPr/>
          <p:nvPr/>
        </p:nvSpPr>
        <p:spPr>
          <a:xfrm>
            <a:off x="812800" y="5060950"/>
            <a:ext cx="3437414" cy="584200"/>
          </a:xfrm>
          <a:prstGeom prst="roundRect">
            <a:avLst>
              <a:gd name="adj" fmla="val 13043"/>
            </a:avLst>
          </a:prstGeom>
          <a:solidFill>
            <a:srgbClr val="E3EFEC"/>
          </a:solidFill>
          <a:ln/>
        </p:spPr>
        <p:txBody>
          <a:bodyPr wrap="square" lIns="104682" tIns="53882" rIns="9179" bIns="284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Pinos livres como saídas: ex. GP2 a GP5, e GP6 para a idle.</a:t>
            </a:r>
            <a:endParaRPr lang="en-US" sz="1200" dirty="0">
              <a:latin typeface="IBM Plex Sans" charset="0"/>
              <a:ea typeface="IBM Plex Sans" charset="0"/>
              <a:cs typeface="IBM Plex Sans" charset="0"/>
            </a:endParaRPr>
          </a:p>
        </p:txBody>
      </p:sp>
      <p:sp>
        <p:nvSpPr>
          <p:cNvPr id="9" name="Text 7"/>
          <p:cNvSpPr/>
          <p:nvPr/>
        </p:nvSpPr>
        <p:spPr>
          <a:xfrm>
            <a:off x="4377214" y="5060950"/>
            <a:ext cx="3437493" cy="584200"/>
          </a:xfrm>
          <a:prstGeom prst="roundRect">
            <a:avLst>
              <a:gd name="adj" fmla="val 13043"/>
            </a:avLst>
          </a:prstGeom>
          <a:solidFill>
            <a:srgbClr val="FBEFE7"/>
          </a:solidFill>
          <a:ln/>
        </p:spPr>
        <p:txBody>
          <a:bodyPr wrap="square" lIns="104682" tIns="53882" rIns="9177" bIns="284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Evitar o GP1 (LED) e o GP0 (botão das sessões 3 e 4).</a:t>
            </a:r>
            <a:endParaRPr lang="en-US" sz="1200" dirty="0">
              <a:latin typeface="IBM Plex Sans" charset="0"/>
              <a:ea typeface="IBM Plex Sans" charset="0"/>
              <a:cs typeface="IBM Plex Sans" charset="0"/>
            </a:endParaRPr>
          </a:p>
        </p:txBody>
      </p:sp>
      <p:sp>
        <p:nvSpPr>
          <p:cNvPr id="10" name="Text 8"/>
          <p:cNvSpPr/>
          <p:nvPr/>
        </p:nvSpPr>
        <p:spPr>
          <a:xfrm>
            <a:off x="7941707" y="5060950"/>
            <a:ext cx="3437493" cy="584200"/>
          </a:xfrm>
          <a:prstGeom prst="roundRect">
            <a:avLst>
              <a:gd name="adj" fmla="val 13043"/>
            </a:avLst>
          </a:prstGeom>
          <a:solidFill>
            <a:srgbClr val="E3EFEC"/>
          </a:solidFill>
          <a:ln/>
        </p:spPr>
        <p:txBody>
          <a:bodyPr wrap="square" lIns="104682" tIns="53882" rIns="9177" bIns="284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A idle não corre código nosso: a tag dela é posta por outra task.</a:t>
            </a:r>
            <a:endParaRPr lang="en-US" sz="1200" dirty="0">
              <a:latin typeface="IBM Plex Sans" charset="0"/>
              <a:ea typeface="IBM Plex Sans" charset="0"/>
              <a:cs typeface="IBM Plex Sans"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CÓDIGO BASE · EXEMPLOS 4.1 E 4.2</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task de trabalho contínuo</a:t>
            </a:r>
            <a:endParaRPr lang="en-US" sz="3200" dirty="0">
              <a:latin typeface="IBM Plex Sans" charset="0"/>
              <a:ea typeface="IBM Plex Sans" charset="0"/>
              <a:cs typeface="IBM Plex Sans" charset="0"/>
            </a:endParaRPr>
          </a:p>
        </p:txBody>
      </p:sp>
      <p:sp>
        <p:nvSpPr>
          <p:cNvPr id="4" name="Text 2"/>
          <p:cNvSpPr/>
          <p:nvPr/>
        </p:nvSpPr>
        <p:spPr>
          <a:xfrm>
            <a:off x="812800" y="1899940"/>
            <a:ext cx="5715000" cy="3830320"/>
          </a:xfrm>
          <a:prstGeom prst="roundRect">
            <a:avLst>
              <a:gd name="adj" fmla="val 1989"/>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typedef struct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volatile uint32_t ulCount; /* ver no debugger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uint32_t ulPin; /* máscara do pino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TaskInfo_t;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TaskInfo_t xT1 = { 0, 1u &lt;&lt; 2 }; /* GP2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TaskInfo_t xT2 = { 0, 1u &lt;&lt; 3 }; /* GP3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vContinuousTask(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TaskInfo_t *pxInfo = ( TaskInfo_t * ) pvParameters;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vTaskSetApplicationTaskTag( NULL,</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TaskHookFunction_t ) pxInfo-&gt;ulPin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pxInfo-&gt;ulCount++; /* trabalho contínuo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5" name="Text 3"/>
          <p:cNvSpPr/>
          <p:nvPr/>
        </p:nvSpPr>
        <p:spPr>
          <a:xfrm>
            <a:off x="6781800" y="1899940"/>
            <a:ext cx="47353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Uma task que nunca bloqueia: em vez de imprimir e esperar num null loop, só conta.</a:t>
            </a:r>
            <a:endParaRPr lang="en-US" sz="1300" dirty="0">
              <a:latin typeface="IBM Plex Sans" charset="0"/>
              <a:ea typeface="IBM Plex Sans" charset="0"/>
              <a:cs typeface="IBM Plex Sans" charset="0"/>
            </a:endParaRPr>
          </a:p>
        </p:txBody>
      </p:sp>
      <p:sp>
        <p:nvSpPr>
          <p:cNvPr id="6" name="Text 4"/>
          <p:cNvSpPr/>
          <p:nvPr/>
        </p:nvSpPr>
        <p:spPr>
          <a:xfrm>
            <a:off x="6781800" y="2489200"/>
            <a:ext cx="473532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Uma função, várias instâncias: o parâmetro diz a cada uma o seu contador e o seu pino.</a:t>
            </a:r>
            <a:endParaRPr lang="en-US" sz="1300" dirty="0">
              <a:latin typeface="IBM Plex Sans" charset="0"/>
              <a:ea typeface="IBM Plex Sans" charset="0"/>
              <a:cs typeface="IBM Plex Sans" charset="0"/>
            </a:endParaRPr>
          </a:p>
        </p:txBody>
      </p:sp>
      <p:sp>
        <p:nvSpPr>
          <p:cNvPr id="7" name="Shape 5"/>
          <p:cNvSpPr/>
          <p:nvPr/>
        </p:nvSpPr>
        <p:spPr>
          <a:xfrm>
            <a:off x="6784975" y="3081685"/>
            <a:ext cx="4591050" cy="1868170"/>
          </a:xfrm>
          <a:prstGeom prst="roundRect">
            <a:avLst>
              <a:gd name="adj" fmla="val 5269"/>
            </a:avLst>
          </a:prstGeom>
          <a:solidFill>
            <a:srgbClr val="FCFBF8"/>
          </a:solidFill>
          <a:ln w="6350">
            <a:solidFill>
              <a:srgbClr val="DCDAD2"/>
            </a:solidFill>
            <a:prstDash val="solid"/>
          </a:ln>
        </p:spPr>
      </p:sp>
      <p:sp>
        <p:nvSpPr>
          <p:cNvPr id="8" name="Text 6"/>
          <p:cNvSpPr/>
          <p:nvPr/>
        </p:nvSpPr>
        <p:spPr>
          <a:xfrm>
            <a:off x="6939280" y="3235970"/>
            <a:ext cx="44109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No main()</a:t>
            </a:r>
            <a:endParaRPr lang="en-US" sz="1400" dirty="0">
              <a:latin typeface="IBM Plex Sans" charset="0"/>
              <a:ea typeface="IBM Plex Sans" charset="0"/>
              <a:cs typeface="IBM Plex Sans" charset="0"/>
            </a:endParaRPr>
          </a:p>
        </p:txBody>
      </p:sp>
      <p:sp>
        <p:nvSpPr>
          <p:cNvPr id="9" name="Text 7"/>
          <p:cNvSpPr/>
          <p:nvPr/>
        </p:nvSpPr>
        <p:spPr>
          <a:xfrm>
            <a:off x="6939280" y="3525540"/>
            <a:ext cx="4282440" cy="1270000"/>
          </a:xfrm>
          <a:prstGeom prst="roundRect">
            <a:avLst>
              <a:gd name="adj" fmla="val 6000"/>
            </a:avLst>
          </a:prstGeom>
          <a:solidFill>
            <a:srgbClr val="14222E"/>
          </a:solidFill>
          <a:ln/>
        </p:spPr>
        <p:txBody>
          <a:bodyPr wrap="none" lIns="919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xTaskCreate( vContinuousTask, "T1",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256, &amp;xT1, 1,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xTaskCreate( vContinuousTask, "T2",</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256, &amp;xT2, 1,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vTaskStartScheduler();</a:t>
            </a:r>
            <a:endParaRPr lang="en-US" sz="1200" dirty="0">
              <a:latin typeface="JetBrains Mono" charset="0"/>
              <a:ea typeface="JetBrains Mono" charset="0"/>
              <a:cs typeface="JetBrains Mono" charset="0"/>
            </a:endParaRPr>
          </a:p>
        </p:txBody>
      </p:sp>
      <p:sp>
        <p:nvSpPr>
          <p:cNvPr id="10" name="Text 8"/>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11" name="Text 9"/>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79</a:t>
            </a:r>
            <a:endParaRPr lang="en-US" sz="1200" dirty="0">
              <a:latin typeface="IBM Plex Sans" charset="0"/>
              <a:ea typeface="IBM Plex Sans" charset="0"/>
              <a:cs typeface="IBM Plex Sans"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1 · EXEMPLO 4.1</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Duas tasks, a mesma prioridade</a:t>
            </a:r>
            <a:endParaRPr lang="en-US" sz="3200" dirty="0">
              <a:latin typeface="IBM Plex Sans" charset="0"/>
              <a:ea typeface="IBM Plex Sans" charset="0"/>
              <a:cs typeface="IBM Plex Sans" charset="0"/>
            </a:endParaRPr>
          </a:p>
        </p:txBody>
      </p:sp>
      <p:sp>
        <p:nvSpPr>
          <p:cNvPr id="4" name="Shape 2"/>
          <p:cNvSpPr/>
          <p:nvPr/>
        </p:nvSpPr>
        <p:spPr>
          <a:xfrm>
            <a:off x="815975" y="1801515"/>
            <a:ext cx="6038850" cy="2472690"/>
          </a:xfrm>
          <a:prstGeom prst="roundRect">
            <a:avLst>
              <a:gd name="adj" fmla="val 3980"/>
            </a:avLst>
          </a:prstGeom>
          <a:solidFill>
            <a:srgbClr val="FCFBF8"/>
          </a:solidFill>
          <a:ln w="6350">
            <a:solidFill>
              <a:srgbClr val="DCDAD2"/>
            </a:solidFill>
            <a:prstDash val="solid"/>
          </a:ln>
        </p:spPr>
      </p:sp>
      <p:sp>
        <p:nvSpPr>
          <p:cNvPr id="5" name="Text 3"/>
          <p:cNvSpPr/>
          <p:nvPr/>
        </p:nvSpPr>
        <p:spPr>
          <a:xfrm>
            <a:off x="995680" y="1981200"/>
            <a:ext cx="584982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98880" y="2283470"/>
            <a:ext cx="5640527" cy="116332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T1 e T2 com prioridade 1, como no main() do slide anterior.</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Correr alguns segundos e parar.</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Ver os contadores e os pinos.</a:t>
            </a:r>
            <a:endParaRPr lang="en-US" sz="1600" dirty="0">
              <a:latin typeface="IBM Plex Sans" charset="0"/>
              <a:ea typeface="IBM Plex Sans" charset="0"/>
              <a:cs typeface="IBM Plex Sans" charset="0"/>
            </a:endParaRPr>
          </a:p>
        </p:txBody>
      </p:sp>
      <p:sp>
        <p:nvSpPr>
          <p:cNvPr id="7" name="Shape 5"/>
          <p:cNvSpPr/>
          <p:nvPr/>
        </p:nvSpPr>
        <p:spPr>
          <a:xfrm>
            <a:off x="7064375" y="1801515"/>
            <a:ext cx="4311650" cy="849630"/>
          </a:xfrm>
          <a:prstGeom prst="roundRect">
            <a:avLst>
              <a:gd name="adj" fmla="val 11584"/>
            </a:avLst>
          </a:prstGeom>
          <a:solidFill>
            <a:srgbClr val="FBEFE7"/>
          </a:solidFill>
          <a:ln w="6350">
            <a:solidFill>
              <a:srgbClr val="DCDAD2"/>
            </a:solidFill>
            <a:prstDash val="solid"/>
          </a:ln>
        </p:spPr>
      </p:sp>
      <p:sp>
        <p:nvSpPr>
          <p:cNvPr id="8" name="Text 6"/>
          <p:cNvSpPr/>
          <p:nvPr/>
        </p:nvSpPr>
        <p:spPr>
          <a:xfrm>
            <a:off x="7244080" y="1981200"/>
            <a:ext cx="40708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7244080" y="2258070"/>
            <a:ext cx="407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Quem corre? As duas partilham o CPU de forma igual?</a:t>
            </a:r>
            <a:endParaRPr lang="en-US" sz="1200" dirty="0">
              <a:latin typeface="IBM Plex Sans" charset="0"/>
              <a:ea typeface="IBM Plex Sans" charset="0"/>
              <a:cs typeface="IBM Plex Sans" charset="0"/>
            </a:endParaRPr>
          </a:p>
        </p:txBody>
      </p:sp>
      <p:sp>
        <p:nvSpPr>
          <p:cNvPr id="10" name="Shape 8"/>
          <p:cNvSpPr/>
          <p:nvPr/>
        </p:nvSpPr>
        <p:spPr>
          <a:xfrm>
            <a:off x="7064375" y="2784475"/>
            <a:ext cx="4311650" cy="1489710"/>
          </a:xfrm>
          <a:prstGeom prst="roundRect">
            <a:avLst>
              <a:gd name="adj" fmla="val 6607"/>
            </a:avLst>
          </a:prstGeom>
          <a:solidFill>
            <a:srgbClr val="FCFBF8"/>
          </a:solidFill>
          <a:ln w="6350">
            <a:solidFill>
              <a:srgbClr val="DCDAD2"/>
            </a:solidFill>
            <a:prstDash val="solid"/>
          </a:ln>
        </p:spPr>
      </p:sp>
      <p:sp>
        <p:nvSpPr>
          <p:cNvPr id="11" name="Text 9"/>
          <p:cNvSpPr/>
          <p:nvPr/>
        </p:nvSpPr>
        <p:spPr>
          <a:xfrm>
            <a:off x="7244080" y="2964210"/>
            <a:ext cx="40708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7244080" y="3241030"/>
            <a:ext cx="40708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Os pinos alternam a cada tick (1 ms com configTICK_RATE_HZ = 1000): é o time slicing. Os contadores ficam parecidos, mas não iguais: round robin não garante tempo igual. O pino da idle nunca sobe.</a:t>
            </a:r>
            <a:endParaRPr lang="en-US" sz="1200" dirty="0">
              <a:latin typeface="IBM Plex Sans" charset="0"/>
              <a:ea typeface="IBM Plex Sans" charset="0"/>
              <a:cs typeface="IBM Plex Sans" charset="0"/>
            </a:endParaRPr>
          </a:p>
        </p:txBody>
      </p:sp>
      <p:sp>
        <p:nvSpPr>
          <p:cNvPr id="13" name="Text 11"/>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14" name="Text 12"/>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80</a:t>
            </a:r>
            <a:endParaRPr lang="en-US" sz="1200" dirty="0">
              <a:latin typeface="IBM Plex Sans" charset="0"/>
              <a:ea typeface="IBM Plex Sans" charset="0"/>
              <a:cs typeface="IBM Plex Sans"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2 · EXEMPLO 4.3</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Prioridades diferentes: starvation</a:t>
            </a:r>
            <a:endParaRPr lang="en-US" sz="3200" dirty="0">
              <a:latin typeface="IBM Plex Sans" charset="0"/>
              <a:ea typeface="IBM Plex Sans" charset="0"/>
              <a:cs typeface="IBM Plex Sans" charset="0"/>
            </a:endParaRPr>
          </a:p>
        </p:txBody>
      </p:sp>
      <p:sp>
        <p:nvSpPr>
          <p:cNvPr id="4" name="Shape 2"/>
          <p:cNvSpPr/>
          <p:nvPr/>
        </p:nvSpPr>
        <p:spPr>
          <a:xfrm>
            <a:off x="815975" y="1801515"/>
            <a:ext cx="6038850" cy="2259330"/>
          </a:xfrm>
          <a:prstGeom prst="roundRect">
            <a:avLst>
              <a:gd name="adj" fmla="val 4356"/>
            </a:avLst>
          </a:prstGeom>
          <a:solidFill>
            <a:srgbClr val="FCFBF8"/>
          </a:solidFill>
          <a:ln w="6350">
            <a:solidFill>
              <a:srgbClr val="DCDAD2"/>
            </a:solidFill>
            <a:prstDash val="solid"/>
          </a:ln>
        </p:spPr>
      </p:sp>
      <p:sp>
        <p:nvSpPr>
          <p:cNvPr id="5" name="Text 3"/>
          <p:cNvSpPr/>
          <p:nvPr/>
        </p:nvSpPr>
        <p:spPr>
          <a:xfrm>
            <a:off x="995680" y="1981200"/>
            <a:ext cx="584982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98880" y="2283470"/>
            <a:ext cx="5640527" cy="87884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Mudar T2 para prioridade 2.</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Correr e comparar os contadores.</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Olhar para o pino de T1.</a:t>
            </a:r>
            <a:endParaRPr lang="en-US" sz="1600" dirty="0">
              <a:latin typeface="IBM Plex Sans" charset="0"/>
              <a:ea typeface="IBM Plex Sans" charset="0"/>
              <a:cs typeface="IBM Plex Sans" charset="0"/>
            </a:endParaRPr>
          </a:p>
        </p:txBody>
      </p:sp>
      <p:sp>
        <p:nvSpPr>
          <p:cNvPr id="7" name="Shape 5"/>
          <p:cNvSpPr/>
          <p:nvPr/>
        </p:nvSpPr>
        <p:spPr>
          <a:xfrm>
            <a:off x="7064375" y="1801515"/>
            <a:ext cx="4311650" cy="849630"/>
          </a:xfrm>
          <a:prstGeom prst="roundRect">
            <a:avLst>
              <a:gd name="adj" fmla="val 11584"/>
            </a:avLst>
          </a:prstGeom>
          <a:solidFill>
            <a:srgbClr val="FBEFE7"/>
          </a:solidFill>
          <a:ln w="6350">
            <a:solidFill>
              <a:srgbClr val="DCDAD2"/>
            </a:solidFill>
            <a:prstDash val="solid"/>
          </a:ln>
        </p:spPr>
      </p:sp>
      <p:sp>
        <p:nvSpPr>
          <p:cNvPr id="8" name="Text 6"/>
          <p:cNvSpPr/>
          <p:nvPr/>
        </p:nvSpPr>
        <p:spPr>
          <a:xfrm>
            <a:off x="7244080" y="1981200"/>
            <a:ext cx="40708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7244080" y="2258070"/>
            <a:ext cx="407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T1 alguma vez corre?</a:t>
            </a:r>
            <a:endParaRPr lang="en-US" sz="1200" dirty="0">
              <a:latin typeface="IBM Plex Sans" charset="0"/>
              <a:ea typeface="IBM Plex Sans" charset="0"/>
              <a:cs typeface="IBM Plex Sans" charset="0"/>
            </a:endParaRPr>
          </a:p>
        </p:txBody>
      </p:sp>
      <p:sp>
        <p:nvSpPr>
          <p:cNvPr id="10" name="Shape 8"/>
          <p:cNvSpPr/>
          <p:nvPr/>
        </p:nvSpPr>
        <p:spPr>
          <a:xfrm>
            <a:off x="7064375" y="2784475"/>
            <a:ext cx="4311650" cy="1276350"/>
          </a:xfrm>
          <a:prstGeom prst="roundRect">
            <a:avLst>
              <a:gd name="adj" fmla="val 7711"/>
            </a:avLst>
          </a:prstGeom>
          <a:solidFill>
            <a:srgbClr val="FCFBF8"/>
          </a:solidFill>
          <a:ln w="6350">
            <a:solidFill>
              <a:srgbClr val="DCDAD2"/>
            </a:solidFill>
            <a:prstDash val="solid"/>
          </a:ln>
        </p:spPr>
      </p:sp>
      <p:sp>
        <p:nvSpPr>
          <p:cNvPr id="11" name="Text 9"/>
          <p:cNvSpPr/>
          <p:nvPr/>
        </p:nvSpPr>
        <p:spPr>
          <a:xfrm>
            <a:off x="7244080" y="2964210"/>
            <a:ext cx="40708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7244080" y="3241030"/>
            <a:ext cx="407080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contador de T1 fica em 0 e o seu pino nunca sobe. T2 está sempre pronta e é a mais prioritária: T1 sofre starvation. Nem a idle task corre.</a:t>
            </a:r>
            <a:endParaRPr lang="en-US" sz="1200" dirty="0">
              <a:latin typeface="IBM Plex Sans" charset="0"/>
              <a:ea typeface="IBM Plex Sans" charset="0"/>
              <a:cs typeface="IBM Plex Sans" charset="0"/>
            </a:endParaRPr>
          </a:p>
        </p:txBody>
      </p:sp>
      <p:sp>
        <p:nvSpPr>
          <p:cNvPr id="13" name="Text 11"/>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14" name="Text 12"/>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81</a:t>
            </a:r>
            <a:endParaRPr lang="en-US" sz="1200" dirty="0">
              <a:latin typeface="IBM Plex Sans" charset="0"/>
              <a:ea typeface="IBM Plex Sans" charset="0"/>
              <a:cs typeface="IBM Plex Sans"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093"/>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EXERCÍCIO 3 · EXEMPLOS 4.4 E 4.7</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6083"/>
            <a:ext cx="10883392" cy="489109"/>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Bloquear em vez de ocupar o CPU</a:t>
            </a:r>
            <a:endParaRPr lang="en-US" sz="3190" dirty="0">
              <a:latin typeface="IBM Plex Sans" charset="0"/>
              <a:ea typeface="IBM Plex Sans" charset="0"/>
              <a:cs typeface="IBM Plex Sans" charset="0"/>
            </a:endParaRPr>
          </a:p>
        </p:txBody>
      </p:sp>
      <p:sp>
        <p:nvSpPr>
          <p:cNvPr id="4" name="Shape 2"/>
          <p:cNvSpPr/>
          <p:nvPr/>
        </p:nvSpPr>
        <p:spPr>
          <a:xfrm>
            <a:off x="815975" y="1796207"/>
            <a:ext cx="5200650" cy="1957070"/>
          </a:xfrm>
          <a:prstGeom prst="roundRect">
            <a:avLst>
              <a:gd name="adj" fmla="val 5029"/>
            </a:avLst>
          </a:prstGeom>
          <a:solidFill>
            <a:srgbClr val="FCFBF8"/>
          </a:solidFill>
          <a:ln w="6350">
            <a:solidFill>
              <a:srgbClr val="DCDAD2"/>
            </a:solidFill>
            <a:prstDash val="solid"/>
          </a:ln>
        </p:spPr>
      </p:sp>
      <p:sp>
        <p:nvSpPr>
          <p:cNvPr id="5" name="Text 3"/>
          <p:cNvSpPr/>
          <p:nvPr/>
        </p:nvSpPr>
        <p:spPr>
          <a:xfrm>
            <a:off x="944880" y="1925092"/>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1962"/>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Manter T1 = 1 e T2 = 2, mas com vTaskDelay() no loop.</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Ativar o idle hook (configUSE_IDLE_HOOK = 1) com um contador.</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Comparar os três contadores.</a:t>
            </a:r>
            <a:endParaRPr lang="en-US" sz="1600" dirty="0">
              <a:latin typeface="IBM Plex Sans" charset="0"/>
              <a:ea typeface="IBM Plex Sans" charset="0"/>
              <a:cs typeface="IBM Plex Sans" charset="0"/>
            </a:endParaRPr>
          </a:p>
        </p:txBody>
      </p:sp>
      <p:sp>
        <p:nvSpPr>
          <p:cNvPr id="7" name="Shape 5"/>
          <p:cNvSpPr/>
          <p:nvPr/>
        </p:nvSpPr>
        <p:spPr>
          <a:xfrm>
            <a:off x="815975" y="3861197"/>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990132"/>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254252"/>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T1 volta a correr? Quanto tempo sobra para a idle task?</a:t>
            </a:r>
            <a:endParaRPr lang="en-US" sz="1200" dirty="0">
              <a:latin typeface="IBM Plex Sans" charset="0"/>
              <a:ea typeface="IBM Plex Sans" charset="0"/>
              <a:cs typeface="IBM Plex Sans" charset="0"/>
            </a:endParaRPr>
          </a:p>
        </p:txBody>
      </p:sp>
      <p:sp>
        <p:nvSpPr>
          <p:cNvPr id="10" name="Shape 8"/>
          <p:cNvSpPr/>
          <p:nvPr/>
        </p:nvSpPr>
        <p:spPr>
          <a:xfrm>
            <a:off x="815975" y="4704507"/>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4833392"/>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097562"/>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As duas correm, cada uma durante microssegundos a cada 10 ms. O pino da idle está alto quase sempre: o contador da idle mede o CPU livre.</a:t>
            </a:r>
            <a:endParaRPr lang="en-US" sz="1200" dirty="0">
              <a:latin typeface="IBM Plex Sans" charset="0"/>
              <a:ea typeface="IBM Plex Sans" charset="0"/>
              <a:cs typeface="IBM Plex Sans" charset="0"/>
            </a:endParaRPr>
          </a:p>
        </p:txBody>
      </p:sp>
      <p:sp>
        <p:nvSpPr>
          <p:cNvPr id="13" name="Text 11"/>
          <p:cNvSpPr/>
          <p:nvPr/>
        </p:nvSpPr>
        <p:spPr>
          <a:xfrm>
            <a:off x="6223000" y="1793032"/>
            <a:ext cx="5156200" cy="2336800"/>
          </a:xfrm>
          <a:prstGeom prst="roundRect">
            <a:avLst>
              <a:gd name="adj" fmla="val 3261"/>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pxInfo-&gt;ulCount++;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 pdMS_TO_TICKS( 10 )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vApplicationIdleHook(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ulIdleCycleCount++;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82</a:t>
            </a:r>
            <a:endParaRPr lang="en-US" sz="1200" dirty="0">
              <a:latin typeface="IBM Plex Sans" charset="0"/>
              <a:ea typeface="IBM Plex Sans" charset="0"/>
              <a:cs typeface="IBM Plex Sans"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4 · EXEMPLO 4.6</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Contínuas e periódica: preempção</a:t>
            </a:r>
            <a:endParaRPr lang="en-US" sz="3200" dirty="0">
              <a:latin typeface="IBM Plex Sans" charset="0"/>
              <a:ea typeface="IBM Plex Sans" charset="0"/>
              <a:cs typeface="IBM Plex Sans" charset="0"/>
            </a:endParaRPr>
          </a:p>
        </p:txBody>
      </p:sp>
      <p:sp>
        <p:nvSpPr>
          <p:cNvPr id="4" name="Shape 2"/>
          <p:cNvSpPr/>
          <p:nvPr/>
        </p:nvSpPr>
        <p:spPr>
          <a:xfrm>
            <a:off x="815975" y="1801515"/>
            <a:ext cx="5200650" cy="1672590"/>
          </a:xfrm>
          <a:prstGeom prst="roundRect">
            <a:avLst>
              <a:gd name="adj" fmla="val 5885"/>
            </a:avLst>
          </a:prstGeom>
          <a:solidFill>
            <a:srgbClr val="FCFBF8"/>
          </a:solidFill>
          <a:ln w="6350">
            <a:solidFill>
              <a:srgbClr val="DCDAD2"/>
            </a:solidFill>
            <a:prstDash val="solid"/>
          </a:ln>
        </p:spPr>
      </p:sp>
      <p:sp>
        <p:nvSpPr>
          <p:cNvPr id="5" name="Text 3"/>
          <p:cNvSpPr/>
          <p:nvPr/>
        </p:nvSpPr>
        <p:spPr>
          <a:xfrm>
            <a:off x="944880" y="19304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7270"/>
            <a:ext cx="4881829" cy="116332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T1 e T2 contínuas, prioridade 1 (como no exercício 1).</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T3 periódica, prioridade 2, a cada 3 ms.</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Medir no analisador lógico.</a:t>
            </a:r>
            <a:endParaRPr lang="en-US" sz="1600" dirty="0">
              <a:latin typeface="IBM Plex Sans" charset="0"/>
              <a:ea typeface="IBM Plex Sans" charset="0"/>
              <a:cs typeface="IBM Plex Sans" charset="0"/>
            </a:endParaRPr>
          </a:p>
        </p:txBody>
      </p:sp>
      <p:sp>
        <p:nvSpPr>
          <p:cNvPr id="7" name="Shape 5"/>
          <p:cNvSpPr/>
          <p:nvPr/>
        </p:nvSpPr>
        <p:spPr>
          <a:xfrm>
            <a:off x="815975" y="3582045"/>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71093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39751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que acontece a T1 e T2 de 3 em 3 ms?</a:t>
            </a:r>
            <a:endParaRPr lang="en-US" sz="1200" dirty="0">
              <a:latin typeface="IBM Plex Sans" charset="0"/>
              <a:ea typeface="IBM Plex Sans" charset="0"/>
              <a:cs typeface="IBM Plex Sans" charset="0"/>
            </a:endParaRPr>
          </a:p>
        </p:txBody>
      </p:sp>
      <p:sp>
        <p:nvSpPr>
          <p:cNvPr id="10" name="Shape 8"/>
          <p:cNvSpPr/>
          <p:nvPr/>
        </p:nvSpPr>
        <p:spPr>
          <a:xfrm>
            <a:off x="815975" y="4425305"/>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455424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4818410"/>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T1 e T2 alternam a cada tick; de 3 em 3 ms T3 preempta a que estiver a correr, faz o seu trabalho curto e bloqueia. Medir o atraso entre o tick e o início de T3.</a:t>
            </a:r>
            <a:endParaRPr lang="en-US" sz="1200" dirty="0">
              <a:latin typeface="IBM Plex Sans" charset="0"/>
              <a:ea typeface="IBM Plex Sans" charset="0"/>
              <a:cs typeface="IBM Plex Sans" charset="0"/>
            </a:endParaRPr>
          </a:p>
        </p:txBody>
      </p:sp>
      <p:sp>
        <p:nvSpPr>
          <p:cNvPr id="13" name="Text 11"/>
          <p:cNvSpPr/>
          <p:nvPr/>
        </p:nvSpPr>
        <p:spPr>
          <a:xfrm>
            <a:off x="6223000" y="1798340"/>
            <a:ext cx="5156200" cy="2336800"/>
          </a:xfrm>
          <a:prstGeom prst="roundRect">
            <a:avLst>
              <a:gd name="adj" fmla="val 3261"/>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vPeriodicTask(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xLastWake = xTaskGetTickCount();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ulPeriodicCount++;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vTaskDelayUntil( &amp;xLastWake,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pdMS_TO_TICKS( 3 )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83</a:t>
            </a:r>
            <a:endParaRPr lang="en-US" sz="1200" dirty="0">
              <a:latin typeface="IBM Plex Sans" charset="0"/>
              <a:ea typeface="IBM Plex Sans" charset="0"/>
              <a:cs typeface="IBM Plex Sans"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5 · EXEMPLO 4.8</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Mudar prioridades em run time</a:t>
            </a:r>
            <a:endParaRPr lang="en-US" sz="3200" dirty="0">
              <a:latin typeface="IBM Plex Sans" charset="0"/>
              <a:ea typeface="IBM Plex Sans" charset="0"/>
              <a:cs typeface="IBM Plex Sans" charset="0"/>
            </a:endParaRPr>
          </a:p>
        </p:txBody>
      </p:sp>
      <p:sp>
        <p:nvSpPr>
          <p:cNvPr id="4" name="Shape 2"/>
          <p:cNvSpPr/>
          <p:nvPr/>
        </p:nvSpPr>
        <p:spPr>
          <a:xfrm>
            <a:off x="815975" y="1801515"/>
            <a:ext cx="5200650" cy="1957070"/>
          </a:xfrm>
          <a:prstGeom prst="roundRect">
            <a:avLst>
              <a:gd name="adj" fmla="val 5029"/>
            </a:avLst>
          </a:prstGeom>
          <a:solidFill>
            <a:srgbClr val="FCFBF8"/>
          </a:solidFill>
          <a:ln w="6350">
            <a:solidFill>
              <a:srgbClr val="DCDAD2"/>
            </a:solidFill>
            <a:prstDash val="solid"/>
          </a:ln>
        </p:spPr>
      </p:sp>
      <p:sp>
        <p:nvSpPr>
          <p:cNvPr id="5" name="Text 3"/>
          <p:cNvSpPr/>
          <p:nvPr/>
        </p:nvSpPr>
        <p:spPr>
          <a:xfrm>
            <a:off x="944880" y="19304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7270"/>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T1 começa com prioridade 2 e T2 com 1 (guardar o handle de T2).</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T1 sobe T2 acima de si; T2 baixa-se abaixo de T1.</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Ver a sequência nos pinos.</a:t>
            </a:r>
            <a:endParaRPr lang="en-US" sz="1600" dirty="0">
              <a:latin typeface="IBM Plex Sans" charset="0"/>
              <a:ea typeface="IBM Plex Sans" charset="0"/>
              <a:cs typeface="IBM Plex Sans" charset="0"/>
            </a:endParaRPr>
          </a:p>
        </p:txBody>
      </p:sp>
      <p:sp>
        <p:nvSpPr>
          <p:cNvPr id="7" name="Shape 5"/>
          <p:cNvSpPr/>
          <p:nvPr/>
        </p:nvSpPr>
        <p:spPr>
          <a:xfrm>
            <a:off x="815975" y="3866505"/>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99544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25961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Alguma delas bloqueia? Como é que alternam?</a:t>
            </a:r>
            <a:endParaRPr lang="en-US" sz="1200" dirty="0">
              <a:latin typeface="IBM Plex Sans" charset="0"/>
              <a:ea typeface="IBM Plex Sans" charset="0"/>
              <a:cs typeface="IBM Plex Sans" charset="0"/>
            </a:endParaRPr>
          </a:p>
        </p:txBody>
      </p:sp>
      <p:sp>
        <p:nvSpPr>
          <p:cNvPr id="10" name="Shape 8"/>
          <p:cNvSpPr/>
          <p:nvPr/>
        </p:nvSpPr>
        <p:spPr>
          <a:xfrm>
            <a:off x="815975" y="4709815"/>
            <a:ext cx="5200650" cy="948690"/>
          </a:xfrm>
          <a:prstGeom prst="roundRect">
            <a:avLst>
              <a:gd name="adj" fmla="val 10375"/>
            </a:avLst>
          </a:prstGeom>
          <a:solidFill>
            <a:srgbClr val="FCFBF8"/>
          </a:solidFill>
          <a:ln w="6350">
            <a:solidFill>
              <a:srgbClr val="DCDAD2"/>
            </a:solidFill>
            <a:prstDash val="solid"/>
          </a:ln>
        </p:spPr>
      </p:sp>
      <p:sp>
        <p:nvSpPr>
          <p:cNvPr id="11" name="Text 9"/>
          <p:cNvSpPr/>
          <p:nvPr/>
        </p:nvSpPr>
        <p:spPr>
          <a:xfrm>
            <a:off x="944880" y="48387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102870"/>
            <a:ext cx="50911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Nenhuma bloqueia, mas alternam a cada 200 ms: cada vTaskPrioritySet() provoca uma troca imediata, sem esperar pelo tick.</a:t>
            </a:r>
            <a:endParaRPr lang="en-US" sz="1200" dirty="0">
              <a:latin typeface="IBM Plex Sans" charset="0"/>
              <a:ea typeface="IBM Plex Sans" charset="0"/>
              <a:cs typeface="IBM Plex Sans" charset="0"/>
            </a:endParaRPr>
          </a:p>
        </p:txBody>
      </p:sp>
      <p:sp>
        <p:nvSpPr>
          <p:cNvPr id="13" name="Text 11"/>
          <p:cNvSpPr/>
          <p:nvPr/>
        </p:nvSpPr>
        <p:spPr>
          <a:xfrm>
            <a:off x="6223000" y="1798340"/>
            <a:ext cx="5156200" cy="3623628"/>
          </a:xfrm>
          <a:prstGeom prst="roundRect">
            <a:avLst>
              <a:gd name="adj" fmla="val 2103"/>
            </a:avLst>
          </a:prstGeom>
          <a:solidFill>
            <a:srgbClr val="14222E"/>
          </a:solidFill>
          <a:ln/>
        </p:spPr>
        <p:txBody>
          <a:bodyPr wrap="none" lIns="104682" tIns="79282" rIns="0" bIns="53882" rtlCol="0" anchor="t">
            <a:normAutofit/>
          </a:bodyPr>
          <a:lstStyle/>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FreeRTOSConfig.h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#define INCLUDE_vTaskPrioritySet  1</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#define INCLUDE_uxTaskPriorityGet 1</a:t>
            </a:r>
            <a:endParaRPr lang="en-US" sz="1050" dirty="0">
              <a:latin typeface="JetBrains Mono" charset="0"/>
              <a:ea typeface="JetBrains Mono" charset="0"/>
              <a:cs typeface="JetBrains Mono" charset="0"/>
            </a:endParaRPr>
          </a:p>
          <a:p>
            <a:pPr algn="l" indent="0" marL="0">
              <a:lnSpc>
                <a:spcPts val="1418"/>
              </a:lnSpc>
              <a:buNone/>
            </a:pP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for( ;; ) /* T1, prioridade 2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ulT1Count++;</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busy_wait_ms( 200 ); /* ocupada, sem bloquear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vTaskPrioritySet( xT2Handle,</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uxTaskPriorityGet( NULL ) + 1 );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a:t>
            </a:r>
            <a:endParaRPr lang="en-US" sz="1050" dirty="0">
              <a:latin typeface="JetBrains Mono" charset="0"/>
              <a:ea typeface="JetBrains Mono" charset="0"/>
              <a:cs typeface="JetBrains Mono" charset="0"/>
            </a:endParaRPr>
          </a:p>
          <a:p>
            <a:pPr algn="l" indent="0" marL="0">
              <a:lnSpc>
                <a:spcPts val="1418"/>
              </a:lnSpc>
              <a:buNone/>
            </a:pP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for( ;; ) /* T2, prioridade 1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ulT2Count++;</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busy_wait_ms( 200 ); /* ocupada, sem bloquear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vTaskPrioritySet( NULL,</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        uxTaskPriorityGet( NULL ) - 2 );</a:t>
            </a:r>
            <a:endParaRPr lang="en-US" sz="1050" dirty="0">
              <a:latin typeface="JetBrains Mono" charset="0"/>
              <a:ea typeface="JetBrains Mono" charset="0"/>
              <a:cs typeface="JetBrains Mono" charset="0"/>
            </a:endParaRPr>
          </a:p>
          <a:p>
            <a:pPr algn="l" indent="0" marL="0">
              <a:lnSpc>
                <a:spcPts val="1418"/>
              </a:lnSpc>
              <a:buNone/>
            </a:pPr>
            <a:r>
              <a:rPr lang="en-US" sz="1050" dirty="0">
                <a:solidFill>
                  <a:srgbClr val="E6EAE8"/>
                </a:solidFill>
                <a:latin typeface="JetBrains Mono" pitchFamily="49" charset="0"/>
                <a:ea typeface="JetBrains Mono" pitchFamily="49" charset="-122"/>
                <a:cs typeface="JetBrains Mono" pitchFamily="49" charset="-120"/>
              </a:rPr>
              <a:t>}</a:t>
            </a:r>
            <a:endParaRPr lang="en-US" sz="1050" dirty="0">
              <a:latin typeface="JetBrains Mono" charset="0"/>
              <a:ea typeface="JetBrains Mono" charset="0"/>
              <a:cs typeface="JetBrains Mono"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84</a:t>
            </a:r>
            <a:endParaRPr lang="en-US" sz="1200" dirty="0">
              <a:latin typeface="IBM Plex Sans" charset="0"/>
              <a:ea typeface="IBM Plex Sans" charset="0"/>
              <a:cs typeface="IBM Plex Sans"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6 · SECÇÃO 4.12</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Mudar o algoritmo de scheduling</a:t>
            </a:r>
            <a:endParaRPr lang="en-US" sz="3200" dirty="0">
              <a:latin typeface="IBM Plex Sans" charset="0"/>
              <a:ea typeface="IBM Plex Sans" charset="0"/>
              <a:cs typeface="IBM Plex Sans" charset="0"/>
            </a:endParaRPr>
          </a:p>
        </p:txBody>
      </p:sp>
      <p:sp>
        <p:nvSpPr>
          <p:cNvPr id="4" name="Text 2"/>
          <p:cNvSpPr/>
          <p:nvPr/>
        </p:nvSpPr>
        <p:spPr>
          <a:xfrm>
            <a:off x="812800" y="177294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Repetir os exercícios 1 e 4 com outra configuração. </a:t>
            </a:r>
            <a:r>
              <a:rPr lang="en-US" sz="1400" b="1" dirty="0">
                <a:solidFill>
                  <a:srgbClr val="44505C"/>
                </a:solidFill>
                <a:latin typeface="IBM Plex Sans" pitchFamily="34" charset="0"/>
                <a:ea typeface="IBM Plex Sans" pitchFamily="34" charset="-122"/>
                <a:cs typeface="IBM Plex Sans" pitchFamily="34" charset="-120"/>
              </a:rPr>
              <a:t>Escrever a previsão antes de correr.</a:t>
            </a:r>
            <a:endParaRPr lang="en-US" sz="1400" dirty="0">
              <a:latin typeface="IBM Plex Sans" charset="0"/>
              <a:ea typeface="IBM Plex Sans" charset="0"/>
              <a:cs typeface="IBM Plex Sans" charset="0"/>
            </a:endParaRPr>
          </a:p>
        </p:txBody>
      </p:sp>
      <p:sp>
        <p:nvSpPr>
          <p:cNvPr id="5" name="Shape 3"/>
          <p:cNvSpPr/>
          <p:nvPr/>
        </p:nvSpPr>
        <p:spPr>
          <a:xfrm>
            <a:off x="812800" y="2204710"/>
            <a:ext cx="10566400" cy="0"/>
          </a:xfrm>
          <a:prstGeom prst="line">
            <a:avLst/>
          </a:prstGeom>
          <a:noFill/>
          <a:ln w="10160">
            <a:solidFill>
              <a:srgbClr val="141413">
                <a:alpha val="22000"/>
              </a:srgbClr>
            </a:solidFill>
            <a:prstDash val="solid"/>
          </a:ln>
        </p:spPr>
      </p:sp>
      <p:sp>
        <p:nvSpPr>
          <p:cNvPr id="6" name="Shape 4"/>
          <p:cNvSpPr/>
          <p:nvPr/>
        </p:nvSpPr>
        <p:spPr>
          <a:xfrm>
            <a:off x="817880" y="2199630"/>
            <a:ext cx="0" cy="2214880"/>
          </a:xfrm>
          <a:prstGeom prst="line">
            <a:avLst/>
          </a:prstGeom>
          <a:noFill/>
          <a:ln w="1016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4560" y="2273290"/>
          <a:ext cx="10353040" cy="2077720"/>
        </p:xfrm>
        <a:graphic>
          <a:graphicData uri="http://schemas.openxmlformats.org/drawingml/2006/table">
            <a:tbl>
              <a:tblPr/>
              <a:tblGrid>
                <a:gridCol w="2691790"/>
                <a:gridCol w="1035304"/>
                <a:gridCol w="6625946"/>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configUSE_…</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Sobre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O que se deve 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TIME_SLICING = 0</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Quem entra em Running fica até bloquear ou ser preemptada: uma das duas pode nunca largar o CPU.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TIME_SLICING = 0</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T3 continua a preemptar; entre pulsos, T1 e T2 já não alternam a cada tick.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PREEMPTION = 0</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T3 fica Ready de 3 em 3 ms, mas só corre quando a task em Running bloqueia ou cede. Com contínuas, nunca.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PREEMPTION = 0 + taskYIELD()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Ex. 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 taskYIELD() no loop de T1 e T2, T3 volta a correr, mas com atraso. Medir o atraso.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Text 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9" name="Text 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85</a:t>
            </a:r>
            <a:endParaRPr lang="en-US" sz="1200" dirty="0">
              <a:latin typeface="IBM Plex Sans" charset="0"/>
              <a:ea typeface="IBM Plex Sans" charset="0"/>
              <a:cs typeface="IBM Plex Sans"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2</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Perguntas para fechar</a:t>
            </a:r>
            <a:endParaRPr lang="en-US" sz="3200" dirty="0">
              <a:latin typeface="IBM Plex Sans" charset="0"/>
              <a:ea typeface="IBM Plex Sans" charset="0"/>
              <a:cs typeface="IBM Plex Sans" charset="0"/>
            </a:endParaRPr>
          </a:p>
        </p:txBody>
      </p:sp>
      <p:sp>
        <p:nvSpPr>
          <p:cNvPr id="4" name="Shape 2"/>
          <p:cNvSpPr/>
          <p:nvPr/>
        </p:nvSpPr>
        <p:spPr>
          <a:xfrm>
            <a:off x="812800" y="1801515"/>
            <a:ext cx="10566400" cy="0"/>
          </a:xfrm>
          <a:prstGeom prst="line">
            <a:avLst/>
          </a:prstGeom>
          <a:noFill/>
          <a:ln w="6350">
            <a:solidFill>
              <a:srgbClr val="DCDAD2"/>
            </a:solidFill>
            <a:prstDash val="solid"/>
          </a:ln>
        </p:spPr>
      </p:sp>
      <p:pic>
        <p:nvPicPr>
          <p:cNvPr id="5" name="Image 0" descr="Chat">    </p:cNvPr>
          <p:cNvPicPr>
            <a:picLocks noChangeAspect="1"/>
          </p:cNvPicPr>
          <p:nvPr/>
        </p:nvPicPr>
        <p:blipFill>
          <a:blip r:embed="rId1"/>
          <a:srcRect l="0" r="0" t="0" b="0"/>
          <a:stretch/>
        </p:blipFill>
        <p:spPr>
          <a:xfrm>
            <a:off x="812800" y="1905000"/>
            <a:ext cx="254000" cy="254000"/>
          </a:xfrm>
          <a:prstGeom prst="rect">
            <a:avLst/>
          </a:prstGeom>
        </p:spPr>
      </p:pic>
      <p:sp>
        <p:nvSpPr>
          <p:cNvPr id="6" name="Text 3"/>
          <p:cNvSpPr/>
          <p:nvPr/>
        </p:nvSpPr>
        <p:spPr>
          <a:xfrm>
            <a:off x="1193800" y="1911995"/>
            <a:ext cx="95752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Porque é que uma task contínua só faz sentido na prioridade mais baixa?</a:t>
            </a:r>
            <a:endParaRPr lang="en-US" sz="1400" dirty="0">
              <a:latin typeface="IBM Plex Sans" charset="0"/>
              <a:ea typeface="IBM Plex Sans" charset="0"/>
              <a:cs typeface="IBM Plex Sans" charset="0"/>
            </a:endParaRPr>
          </a:p>
        </p:txBody>
      </p:sp>
      <p:sp>
        <p:nvSpPr>
          <p:cNvPr id="7" name="Text 4"/>
          <p:cNvSpPr/>
          <p:nvPr/>
        </p:nvSpPr>
        <p:spPr>
          <a:xfrm>
            <a:off x="10566400" y="192534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2</a:t>
            </a:r>
            <a:endParaRPr lang="en-US" sz="1200" dirty="0">
              <a:latin typeface="IBM Plex Sans" charset="0"/>
              <a:ea typeface="IBM Plex Sans" charset="0"/>
              <a:cs typeface="IBM Plex Sans" charset="0"/>
            </a:endParaRPr>
          </a:p>
        </p:txBody>
      </p:sp>
      <p:sp>
        <p:nvSpPr>
          <p:cNvPr id="8" name="Shape 5"/>
          <p:cNvSpPr/>
          <p:nvPr/>
        </p:nvSpPr>
        <p:spPr>
          <a:xfrm>
            <a:off x="812800" y="2238375"/>
            <a:ext cx="10566400" cy="0"/>
          </a:xfrm>
          <a:prstGeom prst="line">
            <a:avLst/>
          </a:prstGeom>
          <a:noFill/>
          <a:ln w="6350">
            <a:solidFill>
              <a:srgbClr val="DCDAD2"/>
            </a:solidFill>
            <a:prstDash val="solid"/>
          </a:ln>
        </p:spPr>
      </p:sp>
      <p:pic>
        <p:nvPicPr>
          <p:cNvPr id="9" name="Image 1" descr="Chat">    </p:cNvPr>
          <p:cNvPicPr>
            <a:picLocks noChangeAspect="1"/>
          </p:cNvPicPr>
          <p:nvPr/>
        </p:nvPicPr>
        <p:blipFill>
          <a:blip r:embed="rId2"/>
          <a:srcRect l="0" r="0" t="0" b="0"/>
          <a:stretch/>
        </p:blipFill>
        <p:spPr>
          <a:xfrm>
            <a:off x="812800" y="2341910"/>
            <a:ext cx="254000" cy="254000"/>
          </a:xfrm>
          <a:prstGeom prst="rect">
            <a:avLst/>
          </a:prstGeom>
        </p:spPr>
      </p:pic>
      <p:sp>
        <p:nvSpPr>
          <p:cNvPr id="10" name="Text 6"/>
          <p:cNvSpPr/>
          <p:nvPr/>
        </p:nvSpPr>
        <p:spPr>
          <a:xfrm>
            <a:off x="1193800" y="2348855"/>
            <a:ext cx="95752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Porque é que T1 e T2 não recebem exatamente o mesmo tempo com time slicing?</a:t>
            </a:r>
            <a:endParaRPr lang="en-US" sz="1400" dirty="0">
              <a:latin typeface="IBM Plex Sans" charset="0"/>
              <a:ea typeface="IBM Plex Sans" charset="0"/>
              <a:cs typeface="IBM Plex Sans" charset="0"/>
            </a:endParaRPr>
          </a:p>
        </p:txBody>
      </p:sp>
      <p:sp>
        <p:nvSpPr>
          <p:cNvPr id="11" name="Text 7"/>
          <p:cNvSpPr/>
          <p:nvPr/>
        </p:nvSpPr>
        <p:spPr>
          <a:xfrm>
            <a:off x="10566400" y="236220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1</a:t>
            </a:r>
            <a:endParaRPr lang="en-US" sz="1200" dirty="0">
              <a:latin typeface="IBM Plex Sans" charset="0"/>
              <a:ea typeface="IBM Plex Sans" charset="0"/>
              <a:cs typeface="IBM Plex Sans" charset="0"/>
            </a:endParaRPr>
          </a:p>
        </p:txBody>
      </p:sp>
      <p:sp>
        <p:nvSpPr>
          <p:cNvPr id="12" name="Shape 8"/>
          <p:cNvSpPr/>
          <p:nvPr/>
        </p:nvSpPr>
        <p:spPr>
          <a:xfrm>
            <a:off x="812800" y="2675285"/>
            <a:ext cx="10566400" cy="0"/>
          </a:xfrm>
          <a:prstGeom prst="line">
            <a:avLst/>
          </a:prstGeom>
          <a:noFill/>
          <a:ln w="6350">
            <a:solidFill>
              <a:srgbClr val="DCDAD2"/>
            </a:solidFill>
            <a:prstDash val="solid"/>
          </a:ln>
        </p:spPr>
      </p:sp>
      <p:pic>
        <p:nvPicPr>
          <p:cNvPr id="13" name="Image 2" descr="Chat">    </p:cNvPr>
          <p:cNvPicPr>
            <a:picLocks noChangeAspect="1"/>
          </p:cNvPicPr>
          <p:nvPr/>
        </p:nvPicPr>
        <p:blipFill>
          <a:blip r:embed="rId3"/>
          <a:srcRect l="0" r="0" t="0" b="0"/>
          <a:stretch/>
        </p:blipFill>
        <p:spPr>
          <a:xfrm>
            <a:off x="812800" y="2778770"/>
            <a:ext cx="254000" cy="254000"/>
          </a:xfrm>
          <a:prstGeom prst="rect">
            <a:avLst/>
          </a:prstGeom>
        </p:spPr>
      </p:pic>
      <p:sp>
        <p:nvSpPr>
          <p:cNvPr id="14" name="Text 9"/>
          <p:cNvSpPr/>
          <p:nvPr/>
        </p:nvSpPr>
        <p:spPr>
          <a:xfrm>
            <a:off x="1193800" y="2785765"/>
            <a:ext cx="95752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O que mede o contador do idle hook, e porque interessa num produto?</a:t>
            </a:r>
            <a:endParaRPr lang="en-US" sz="1400" dirty="0">
              <a:latin typeface="IBM Plex Sans" charset="0"/>
              <a:ea typeface="IBM Plex Sans" charset="0"/>
              <a:cs typeface="IBM Plex Sans" charset="0"/>
            </a:endParaRPr>
          </a:p>
        </p:txBody>
      </p:sp>
      <p:sp>
        <p:nvSpPr>
          <p:cNvPr id="15" name="Text 10"/>
          <p:cNvSpPr/>
          <p:nvPr/>
        </p:nvSpPr>
        <p:spPr>
          <a:xfrm>
            <a:off x="10566400" y="279911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3</a:t>
            </a:r>
            <a:endParaRPr lang="en-US" sz="1200" dirty="0">
              <a:latin typeface="IBM Plex Sans" charset="0"/>
              <a:ea typeface="IBM Plex Sans" charset="0"/>
              <a:cs typeface="IBM Plex Sans" charset="0"/>
            </a:endParaRPr>
          </a:p>
        </p:txBody>
      </p:sp>
      <p:sp>
        <p:nvSpPr>
          <p:cNvPr id="16" name="Shape 11"/>
          <p:cNvSpPr/>
          <p:nvPr/>
        </p:nvSpPr>
        <p:spPr>
          <a:xfrm>
            <a:off x="812800" y="3112145"/>
            <a:ext cx="10566400" cy="0"/>
          </a:xfrm>
          <a:prstGeom prst="line">
            <a:avLst/>
          </a:prstGeom>
          <a:noFill/>
          <a:ln w="6350">
            <a:solidFill>
              <a:srgbClr val="DCDAD2"/>
            </a:solidFill>
            <a:prstDash val="solid"/>
          </a:ln>
        </p:spPr>
      </p:sp>
      <p:pic>
        <p:nvPicPr>
          <p:cNvPr id="17" name="Image 3" descr="Chat">    </p:cNvPr>
          <p:cNvPicPr>
            <a:picLocks noChangeAspect="1"/>
          </p:cNvPicPr>
          <p:nvPr/>
        </p:nvPicPr>
        <p:blipFill>
          <a:blip r:embed="rId4"/>
          <a:srcRect l="0" r="0" t="0" b="0"/>
          <a:stretch/>
        </p:blipFill>
        <p:spPr>
          <a:xfrm>
            <a:off x="812800" y="3215630"/>
            <a:ext cx="254000" cy="254000"/>
          </a:xfrm>
          <a:prstGeom prst="rect">
            <a:avLst/>
          </a:prstGeom>
        </p:spPr>
      </p:pic>
      <p:sp>
        <p:nvSpPr>
          <p:cNvPr id="18" name="Text 12"/>
          <p:cNvSpPr/>
          <p:nvPr/>
        </p:nvSpPr>
        <p:spPr>
          <a:xfrm>
            <a:off x="1193800" y="3222625"/>
            <a:ext cx="95752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A preempção só acontece no tick?</a:t>
            </a:r>
            <a:endParaRPr lang="en-US" sz="1400" dirty="0">
              <a:latin typeface="IBM Plex Sans" charset="0"/>
              <a:ea typeface="IBM Plex Sans" charset="0"/>
              <a:cs typeface="IBM Plex Sans" charset="0"/>
            </a:endParaRPr>
          </a:p>
        </p:txBody>
      </p:sp>
      <p:sp>
        <p:nvSpPr>
          <p:cNvPr id="19" name="Text 13"/>
          <p:cNvSpPr/>
          <p:nvPr/>
        </p:nvSpPr>
        <p:spPr>
          <a:xfrm>
            <a:off x="10566400" y="323597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4, 5</a:t>
            </a:r>
            <a:endParaRPr lang="en-US" sz="1200" dirty="0">
              <a:latin typeface="IBM Plex Sans" charset="0"/>
              <a:ea typeface="IBM Plex Sans" charset="0"/>
              <a:cs typeface="IBM Plex Sans" charset="0"/>
            </a:endParaRPr>
          </a:p>
        </p:txBody>
      </p:sp>
      <p:sp>
        <p:nvSpPr>
          <p:cNvPr id="20" name="Shape 14"/>
          <p:cNvSpPr/>
          <p:nvPr/>
        </p:nvSpPr>
        <p:spPr>
          <a:xfrm>
            <a:off x="812800" y="3549005"/>
            <a:ext cx="10566400" cy="0"/>
          </a:xfrm>
          <a:prstGeom prst="line">
            <a:avLst/>
          </a:prstGeom>
          <a:noFill/>
          <a:ln w="6350">
            <a:solidFill>
              <a:srgbClr val="DCDAD2"/>
            </a:solidFill>
            <a:prstDash val="solid"/>
          </a:ln>
        </p:spPr>
      </p:sp>
      <p:pic>
        <p:nvPicPr>
          <p:cNvPr id="21" name="Image 4" descr="Chat">    </p:cNvPr>
          <p:cNvPicPr>
            <a:picLocks noChangeAspect="1"/>
          </p:cNvPicPr>
          <p:nvPr/>
        </p:nvPicPr>
        <p:blipFill>
          <a:blip r:embed="rId5"/>
          <a:srcRect l="0" r="0" t="0" b="0"/>
          <a:stretch/>
        </p:blipFill>
        <p:spPr>
          <a:xfrm>
            <a:off x="812800" y="3652540"/>
            <a:ext cx="254000" cy="254000"/>
          </a:xfrm>
          <a:prstGeom prst="rect">
            <a:avLst/>
          </a:prstGeom>
        </p:spPr>
      </p:pic>
      <p:sp>
        <p:nvSpPr>
          <p:cNvPr id="22" name="Text 15"/>
          <p:cNvSpPr/>
          <p:nvPr/>
        </p:nvSpPr>
        <p:spPr>
          <a:xfrm>
            <a:off x="1193800" y="3659535"/>
            <a:ext cx="9575292"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Que custo tem desligar o time slicing? E a preempção?</a:t>
            </a:r>
            <a:endParaRPr lang="en-US" sz="1400" dirty="0">
              <a:latin typeface="IBM Plex Sans" charset="0"/>
              <a:ea typeface="IBM Plex Sans" charset="0"/>
              <a:cs typeface="IBM Plex Sans" charset="0"/>
            </a:endParaRPr>
          </a:p>
        </p:txBody>
      </p:sp>
      <p:sp>
        <p:nvSpPr>
          <p:cNvPr id="23" name="Text 16"/>
          <p:cNvSpPr/>
          <p:nvPr/>
        </p:nvSpPr>
        <p:spPr>
          <a:xfrm>
            <a:off x="10566400" y="3672830"/>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6</a:t>
            </a:r>
            <a:endParaRPr lang="en-US" sz="1200" dirty="0">
              <a:latin typeface="IBM Plex Sans" charset="0"/>
              <a:ea typeface="IBM Plex Sans" charset="0"/>
              <a:cs typeface="IBM Plex Sans" charset="0"/>
            </a:endParaRPr>
          </a:p>
        </p:txBody>
      </p:sp>
      <p:sp>
        <p:nvSpPr>
          <p:cNvPr id="24" name="Text 17"/>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4 e exemplos Win32 001–009, adaptados à Pico 2</a:t>
            </a:r>
            <a:endParaRPr lang="en-US" sz="1200" dirty="0">
              <a:latin typeface="IBM Plex Sans" charset="0"/>
              <a:ea typeface="IBM Plex Sans" charset="0"/>
              <a:cs typeface="IBM Plex Sans" charset="0"/>
            </a:endParaRPr>
          </a:p>
        </p:txBody>
      </p:sp>
      <p:sp>
        <p:nvSpPr>
          <p:cNvPr id="25" name="Text 18"/>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86</a:t>
            </a:r>
            <a:endParaRPr lang="en-US" sz="1200" dirty="0">
              <a:latin typeface="IBM Plex Sans" charset="0"/>
              <a:ea typeface="IBM Plex Sans" charset="0"/>
              <a:cs typeface="IBM Plex Sans"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SESSÃO PRÁTICA 2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7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Corre sempre a task pronta de maior prioridade. Tudo o resto decorre disto e de quando as tasks bloqueiam.</a:t>
            </a:r>
            <a:endParaRPr lang="en-US" sz="3200" dirty="0">
              <a:latin typeface="IBM Plex Sans" charset="0"/>
              <a:ea typeface="IBM Plex Sans" charset="0"/>
              <a:cs typeface="IBM Plex Sans" charset="0"/>
            </a:endParaRPr>
          </a:p>
        </p:txBody>
      </p:sp>
      <p:sp>
        <p:nvSpPr>
          <p:cNvPr id="4" name="Text 2"/>
          <p:cNvSpPr/>
          <p:nvPr/>
        </p:nvSpPr>
        <p:spPr>
          <a:xfrm>
            <a:off x="819150" y="2475260"/>
            <a:ext cx="129500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Time slicing</a:t>
            </a:r>
            <a:endParaRPr lang="en-US" sz="1400" dirty="0">
              <a:latin typeface="IBM Plex Sans" charset="0"/>
              <a:ea typeface="IBM Plex Sans" charset="0"/>
              <a:cs typeface="IBM Plex Sans" charset="0"/>
            </a:endParaRPr>
          </a:p>
        </p:txBody>
      </p:sp>
      <p:sp>
        <p:nvSpPr>
          <p:cNvPr id="5" name="Text 3"/>
          <p:cNvSpPr/>
          <p:nvPr/>
        </p:nvSpPr>
        <p:spPr>
          <a:xfrm>
            <a:off x="2228453" y="2475260"/>
            <a:ext cx="116784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Starvation</a:t>
            </a:r>
            <a:endParaRPr lang="en-US" sz="1400" dirty="0">
              <a:latin typeface="IBM Plex Sans" charset="0"/>
              <a:ea typeface="IBM Plex Sans" charset="0"/>
              <a:cs typeface="IBM Plex Sans" charset="0"/>
            </a:endParaRPr>
          </a:p>
        </p:txBody>
      </p:sp>
      <p:sp>
        <p:nvSpPr>
          <p:cNvPr id="6" name="Text 4"/>
          <p:cNvSpPr/>
          <p:nvPr/>
        </p:nvSpPr>
        <p:spPr>
          <a:xfrm>
            <a:off x="3510598" y="2475260"/>
            <a:ext cx="2095579"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Blocked liberta o CPU</a:t>
            </a:r>
            <a:endParaRPr lang="en-US" sz="1400" dirty="0">
              <a:latin typeface="IBM Plex Sans" charset="0"/>
              <a:ea typeface="IBM Plex Sans" charset="0"/>
              <a:cs typeface="IBM Plex Sans" charset="0"/>
            </a:endParaRPr>
          </a:p>
        </p:txBody>
      </p:sp>
      <p:sp>
        <p:nvSpPr>
          <p:cNvPr id="7" name="Text 5"/>
          <p:cNvSpPr/>
          <p:nvPr/>
        </p:nvSpPr>
        <p:spPr>
          <a:xfrm>
            <a:off x="5720477" y="2475260"/>
            <a:ext cx="1590675"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Idle = CPU livre</a:t>
            </a:r>
            <a:endParaRPr lang="en-US" sz="1400" dirty="0">
              <a:latin typeface="IBM Plex Sans" charset="0"/>
              <a:ea typeface="IBM Plex Sans" charset="0"/>
              <a:cs typeface="IBM Plex Sans" charset="0"/>
            </a:endParaRPr>
          </a:p>
        </p:txBody>
      </p:sp>
      <p:sp>
        <p:nvSpPr>
          <p:cNvPr id="8" name="Text 6"/>
          <p:cNvSpPr/>
          <p:nvPr/>
        </p:nvSpPr>
        <p:spPr>
          <a:xfrm>
            <a:off x="7425452" y="2475260"/>
            <a:ext cx="221543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Preempção fora do tick</a:t>
            </a:r>
            <a:endParaRPr lang="en-US" sz="1400" dirty="0">
              <a:latin typeface="IBM Plex Sans" charset="0"/>
              <a:ea typeface="IBM Plex Sans" charset="0"/>
              <a:cs typeface="IBM Plex Sans" charset="0"/>
            </a:endParaRPr>
          </a:p>
        </p:txBody>
      </p:sp>
      <p:sp>
        <p:nvSpPr>
          <p:cNvPr id="9" name="Text 7"/>
          <p:cNvSpPr/>
          <p:nvPr/>
        </p:nvSpPr>
        <p:spPr>
          <a:xfrm>
            <a:off x="819150" y="2973090"/>
            <a:ext cx="238879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configUSE_PREEMPTION</a:t>
            </a:r>
            <a:endParaRPr lang="en-US" sz="1400" dirty="0">
              <a:latin typeface="IBM Plex Sans" charset="0"/>
              <a:ea typeface="IBM Plex Sans" charset="0"/>
              <a:cs typeface="IBM Plex Sans" charset="0"/>
            </a:endParaRPr>
          </a:p>
        </p:txBody>
      </p:sp>
      <p:sp>
        <p:nvSpPr>
          <p:cNvPr id="10" name="Text 8"/>
          <p:cNvSpPr/>
          <p:nvPr/>
        </p:nvSpPr>
        <p:spPr>
          <a:xfrm>
            <a:off x="3322241" y="2973090"/>
            <a:ext cx="247745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configUSE_TIME_SLICING</a:t>
            </a:r>
            <a:endParaRPr lang="en-US" sz="1400" dirty="0">
              <a:latin typeface="IBM Plex Sans" charset="0"/>
              <a:ea typeface="IBM Plex Sans" charset="0"/>
              <a:cs typeface="IBM Plex Sans" charset="0"/>
            </a:endParaRPr>
          </a:p>
        </p:txBody>
      </p:sp>
      <p:sp>
        <p:nvSpPr>
          <p:cNvPr id="11" name="Text 9"/>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Guardar o projeto com os exemplos: é a base da sessão prática 3.</a:t>
            </a:r>
            <a:endParaRPr lang="en-US" sz="1600" dirty="0">
              <a:latin typeface="IBM Plex Sans" charset="0"/>
              <a:ea typeface="IBM Plex Sans" charset="0"/>
              <a:cs typeface="IBM Plex Sans"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2807"/>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PLANO DA FORMAÇÃO · DIA 2</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1817"/>
            <a:ext cx="10883392" cy="479663"/>
          </a:xfrm>
          <a:prstGeom prst="rect">
            <a:avLst/>
          </a:prstGeom>
          <a:noFill/>
          <a:ln/>
        </p:spPr>
        <p:txBody>
          <a:bodyPr wrap="square" lIns="0" tIns="0" rIns="0" bIns="0" rtlCol="0" anchor="t">
            <a:normAutofit/>
          </a:bodyPr>
          <a:lstStyle/>
          <a:p>
            <a:pPr algn="l" indent="0" marL="0">
              <a:lnSpc>
                <a:spcPts val="3622"/>
              </a:lnSpc>
              <a:buNone/>
            </a:pPr>
            <a:r>
              <a:rPr lang="en-US" sz="3150" b="1" i="0" dirty="0">
                <a:solidFill>
                  <a:srgbClr val="14222E"/>
                </a:solidFill>
                <a:latin typeface="IBM Plex Sans" pitchFamily="34" charset="0"/>
                <a:ea typeface="IBM Plex Sans" pitchFamily="34" charset="-122"/>
                <a:cs typeface="IBM Plex Sans" pitchFamily="34" charset="-120"/>
              </a:rPr>
              <a:t>Módulos e sessões práticas, pela ordem da formação</a:t>
            </a:r>
            <a:endParaRPr lang="en-US" sz="3150" dirty="0">
              <a:latin typeface="IBM Plex Sans" charset="0"/>
              <a:ea typeface="IBM Plex Sans" charset="0"/>
              <a:cs typeface="IBM Plex Sans" charset="0"/>
            </a:endParaRPr>
          </a:p>
        </p:txBody>
      </p:sp>
      <p:sp>
        <p:nvSpPr>
          <p:cNvPr id="4" name="Shape 2"/>
          <p:cNvSpPr/>
          <p:nvPr/>
        </p:nvSpPr>
        <p:spPr>
          <a:xfrm>
            <a:off x="812800" y="1830090"/>
            <a:ext cx="10566400" cy="316389"/>
          </a:xfrm>
          <a:prstGeom prst="roundRect">
            <a:avLst>
              <a:gd name="adj" fmla="val 24084"/>
            </a:avLst>
          </a:prstGeom>
          <a:solidFill>
            <a:srgbClr val="E3EFEC">
              <a:alpha val="40000"/>
            </a:srgbClr>
          </a:solidFill>
          <a:ln/>
        </p:spPr>
      </p:sp>
      <p:sp>
        <p:nvSpPr>
          <p:cNvPr id="5" name="Text 3"/>
          <p:cNvSpPr/>
          <p:nvPr/>
        </p:nvSpPr>
        <p:spPr>
          <a:xfrm>
            <a:off x="965200" y="1872704"/>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01</a:t>
            </a:r>
            <a:endParaRPr lang="en-US" sz="1300" dirty="0">
              <a:latin typeface="JetBrains Mono" charset="0"/>
              <a:ea typeface="JetBrains Mono" charset="0"/>
              <a:cs typeface="JetBrains Mono" charset="0"/>
            </a:endParaRPr>
          </a:p>
        </p:txBody>
      </p:sp>
      <p:sp>
        <p:nvSpPr>
          <p:cNvPr id="6" name="Text 4"/>
          <p:cNvSpPr/>
          <p:nvPr/>
        </p:nvSpPr>
        <p:spPr>
          <a:xfrm>
            <a:off x="1473200" y="1863824"/>
            <a:ext cx="618086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1 · Fundamentos de sistemas operativos de tempo real</a:t>
            </a:r>
            <a:endParaRPr lang="en-US" sz="1400" dirty="0">
              <a:latin typeface="IBM Plex Sans" charset="0"/>
              <a:ea typeface="IBM Plex Sans" charset="0"/>
              <a:cs typeface="IBM Plex Sans" charset="0"/>
            </a:endParaRPr>
          </a:p>
        </p:txBody>
      </p:sp>
      <p:sp>
        <p:nvSpPr>
          <p:cNvPr id="7" name="Text 5"/>
          <p:cNvSpPr/>
          <p:nvPr/>
        </p:nvSpPr>
        <p:spPr>
          <a:xfrm>
            <a:off x="9697800" y="1877764"/>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8" name="Text 6"/>
          <p:cNvSpPr/>
          <p:nvPr/>
        </p:nvSpPr>
        <p:spPr>
          <a:xfrm>
            <a:off x="10703005" y="1868884"/>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9" name="Shape 7"/>
          <p:cNvSpPr/>
          <p:nvPr/>
        </p:nvSpPr>
        <p:spPr>
          <a:xfrm>
            <a:off x="812800" y="2184549"/>
            <a:ext cx="10566400" cy="316309"/>
          </a:xfrm>
          <a:prstGeom prst="roundRect">
            <a:avLst>
              <a:gd name="adj" fmla="val 24090"/>
            </a:avLst>
          </a:prstGeom>
          <a:solidFill>
            <a:srgbClr val="E3EFEC">
              <a:alpha val="40000"/>
            </a:srgbClr>
          </a:solidFill>
          <a:ln/>
        </p:spPr>
      </p:sp>
      <p:sp>
        <p:nvSpPr>
          <p:cNvPr id="10" name="Text 8"/>
          <p:cNvSpPr/>
          <p:nvPr/>
        </p:nvSpPr>
        <p:spPr>
          <a:xfrm>
            <a:off x="965200" y="2227114"/>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02</a:t>
            </a:r>
            <a:endParaRPr lang="en-US" sz="1300" dirty="0">
              <a:latin typeface="JetBrains Mono" charset="0"/>
              <a:ea typeface="JetBrains Mono" charset="0"/>
              <a:cs typeface="JetBrains Mono" charset="0"/>
            </a:endParaRPr>
          </a:p>
        </p:txBody>
      </p:sp>
      <p:sp>
        <p:nvSpPr>
          <p:cNvPr id="11" name="Text 9"/>
          <p:cNvSpPr/>
          <p:nvPr/>
        </p:nvSpPr>
        <p:spPr>
          <a:xfrm>
            <a:off x="1473200" y="2218283"/>
            <a:ext cx="300694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2 · Gestão de memória</a:t>
            </a:r>
            <a:endParaRPr lang="en-US" sz="1400" dirty="0">
              <a:latin typeface="IBM Plex Sans" charset="0"/>
              <a:ea typeface="IBM Plex Sans" charset="0"/>
              <a:cs typeface="IBM Plex Sans" charset="0"/>
            </a:endParaRPr>
          </a:p>
        </p:txBody>
      </p:sp>
      <p:sp>
        <p:nvSpPr>
          <p:cNvPr id="12" name="Text 10"/>
          <p:cNvSpPr/>
          <p:nvPr/>
        </p:nvSpPr>
        <p:spPr>
          <a:xfrm>
            <a:off x="9697800" y="2232174"/>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13" name="Text 11"/>
          <p:cNvSpPr/>
          <p:nvPr/>
        </p:nvSpPr>
        <p:spPr>
          <a:xfrm>
            <a:off x="10703005" y="2223294"/>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14" name="Shape 12"/>
          <p:cNvSpPr/>
          <p:nvPr/>
        </p:nvSpPr>
        <p:spPr>
          <a:xfrm>
            <a:off x="812800" y="2538958"/>
            <a:ext cx="10566400" cy="316389"/>
          </a:xfrm>
          <a:prstGeom prst="roundRect">
            <a:avLst>
              <a:gd name="adj" fmla="val 24084"/>
            </a:avLst>
          </a:prstGeom>
          <a:solidFill>
            <a:srgbClr val="E3EFEC">
              <a:alpha val="40000"/>
            </a:srgbClr>
          </a:solidFill>
          <a:ln/>
        </p:spPr>
      </p:sp>
      <p:sp>
        <p:nvSpPr>
          <p:cNvPr id="15" name="Text 13"/>
          <p:cNvSpPr/>
          <p:nvPr/>
        </p:nvSpPr>
        <p:spPr>
          <a:xfrm>
            <a:off x="965200" y="2581622"/>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03</a:t>
            </a:r>
            <a:endParaRPr lang="en-US" sz="1300" dirty="0">
              <a:latin typeface="JetBrains Mono" charset="0"/>
              <a:ea typeface="JetBrains Mono" charset="0"/>
              <a:cs typeface="JetBrains Mono" charset="0"/>
            </a:endParaRPr>
          </a:p>
        </p:txBody>
      </p:sp>
      <p:sp>
        <p:nvSpPr>
          <p:cNvPr id="16" name="Text 14"/>
          <p:cNvSpPr/>
          <p:nvPr/>
        </p:nvSpPr>
        <p:spPr>
          <a:xfrm>
            <a:off x="1473200" y="2572693"/>
            <a:ext cx="265690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3 · Gestão de tasks</a:t>
            </a:r>
            <a:endParaRPr lang="en-US" sz="1400" dirty="0">
              <a:latin typeface="IBM Plex Sans" charset="0"/>
              <a:ea typeface="IBM Plex Sans" charset="0"/>
              <a:cs typeface="IBM Plex Sans" charset="0"/>
            </a:endParaRPr>
          </a:p>
        </p:txBody>
      </p:sp>
      <p:sp>
        <p:nvSpPr>
          <p:cNvPr id="17" name="Text 15"/>
          <p:cNvSpPr/>
          <p:nvPr/>
        </p:nvSpPr>
        <p:spPr>
          <a:xfrm>
            <a:off x="9697800" y="2586682"/>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18" name="Text 16"/>
          <p:cNvSpPr/>
          <p:nvPr/>
        </p:nvSpPr>
        <p:spPr>
          <a:xfrm>
            <a:off x="10703005" y="2577802"/>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19" name="Shape 17"/>
          <p:cNvSpPr/>
          <p:nvPr/>
        </p:nvSpPr>
        <p:spPr>
          <a:xfrm>
            <a:off x="812800" y="2893467"/>
            <a:ext cx="10566400" cy="316309"/>
          </a:xfrm>
          <a:prstGeom prst="roundRect">
            <a:avLst>
              <a:gd name="adj" fmla="val 24090"/>
            </a:avLst>
          </a:prstGeom>
          <a:solidFill>
            <a:srgbClr val="E3EFEC">
              <a:alpha val="40000"/>
            </a:srgbClr>
          </a:solidFill>
          <a:ln/>
        </p:spPr>
      </p:sp>
      <p:sp>
        <p:nvSpPr>
          <p:cNvPr id="20" name="Text 18"/>
          <p:cNvSpPr/>
          <p:nvPr/>
        </p:nvSpPr>
        <p:spPr>
          <a:xfrm>
            <a:off x="965200" y="2936032"/>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alpha val="40000"/>
                  </a:srgbClr>
                </a:solidFill>
                <a:latin typeface="JetBrains Mono" pitchFamily="49" charset="0"/>
                <a:ea typeface="JetBrains Mono" pitchFamily="49" charset="-122"/>
                <a:cs typeface="JetBrains Mono" pitchFamily="49" charset="-120"/>
              </a:rPr>
              <a:t>04</a:t>
            </a:r>
            <a:endParaRPr lang="en-US" sz="1300" dirty="0">
              <a:latin typeface="JetBrains Mono" charset="0"/>
              <a:ea typeface="JetBrains Mono" charset="0"/>
              <a:cs typeface="JetBrains Mono" charset="0"/>
            </a:endParaRPr>
          </a:p>
        </p:txBody>
      </p:sp>
      <p:sp>
        <p:nvSpPr>
          <p:cNvPr id="21" name="Text 19"/>
          <p:cNvSpPr/>
          <p:nvPr/>
        </p:nvSpPr>
        <p:spPr>
          <a:xfrm>
            <a:off x="1473200" y="2927201"/>
            <a:ext cx="247221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Módulo 4 · Filas (queues)</a:t>
            </a:r>
            <a:endParaRPr lang="en-US" sz="1400" dirty="0">
              <a:latin typeface="IBM Plex Sans" charset="0"/>
              <a:ea typeface="IBM Plex Sans" charset="0"/>
              <a:cs typeface="IBM Plex Sans" charset="0"/>
            </a:endParaRPr>
          </a:p>
        </p:txBody>
      </p:sp>
      <p:sp>
        <p:nvSpPr>
          <p:cNvPr id="22" name="Text 20"/>
          <p:cNvSpPr/>
          <p:nvPr/>
        </p:nvSpPr>
        <p:spPr>
          <a:xfrm>
            <a:off x="9697800" y="2941092"/>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17766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17766A">
                    <a:alpha val="40000"/>
                  </a:srgbClr>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23" name="Text 21"/>
          <p:cNvSpPr/>
          <p:nvPr/>
        </p:nvSpPr>
        <p:spPr>
          <a:xfrm>
            <a:off x="10703005" y="2932212"/>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24" name="Shape 22"/>
          <p:cNvSpPr/>
          <p:nvPr/>
        </p:nvSpPr>
        <p:spPr>
          <a:xfrm>
            <a:off x="812800" y="3247876"/>
            <a:ext cx="10566400" cy="316389"/>
          </a:xfrm>
          <a:prstGeom prst="roundRect">
            <a:avLst>
              <a:gd name="adj" fmla="val 24084"/>
            </a:avLst>
          </a:prstGeom>
          <a:solidFill>
            <a:srgbClr val="FBEFE7">
              <a:alpha val="40000"/>
            </a:srgbClr>
          </a:solidFill>
          <a:ln/>
        </p:spPr>
      </p:sp>
      <p:sp>
        <p:nvSpPr>
          <p:cNvPr id="25" name="Text 23"/>
          <p:cNvSpPr/>
          <p:nvPr/>
        </p:nvSpPr>
        <p:spPr>
          <a:xfrm>
            <a:off x="965200" y="3290491"/>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alpha val="40000"/>
                  </a:srgbClr>
                </a:solidFill>
                <a:latin typeface="JetBrains Mono" pitchFamily="49" charset="0"/>
                <a:ea typeface="JetBrains Mono" pitchFamily="49" charset="-122"/>
                <a:cs typeface="JetBrains Mono" pitchFamily="49" charset="-120"/>
              </a:rPr>
              <a:t>P1</a:t>
            </a:r>
            <a:endParaRPr lang="en-US" sz="1300" dirty="0">
              <a:latin typeface="JetBrains Mono" charset="0"/>
              <a:ea typeface="JetBrains Mono" charset="0"/>
              <a:cs typeface="JetBrains Mono" charset="0"/>
            </a:endParaRPr>
          </a:p>
        </p:txBody>
      </p:sp>
      <p:sp>
        <p:nvSpPr>
          <p:cNvPr id="26" name="Text 24"/>
          <p:cNvSpPr/>
          <p:nvPr/>
        </p:nvSpPr>
        <p:spPr>
          <a:xfrm>
            <a:off x="1473200" y="3281611"/>
            <a:ext cx="383581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Prática 1 · Ambiente e primeiro projeto</a:t>
            </a:r>
            <a:endParaRPr lang="en-US" sz="1400" dirty="0">
              <a:latin typeface="IBM Plex Sans" charset="0"/>
              <a:ea typeface="IBM Plex Sans" charset="0"/>
              <a:cs typeface="IBM Plex Sans" charset="0"/>
            </a:endParaRPr>
          </a:p>
        </p:txBody>
      </p:sp>
      <p:sp>
        <p:nvSpPr>
          <p:cNvPr id="27" name="Text 25"/>
          <p:cNvSpPr/>
          <p:nvPr/>
        </p:nvSpPr>
        <p:spPr>
          <a:xfrm>
            <a:off x="9751299" y="3295600"/>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D0612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A8491A">
                    <a:alpha val="40000"/>
                  </a:srgbClr>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28" name="Text 26"/>
          <p:cNvSpPr/>
          <p:nvPr/>
        </p:nvSpPr>
        <p:spPr>
          <a:xfrm>
            <a:off x="10703005" y="3286671"/>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29" name="Shape 27"/>
          <p:cNvSpPr/>
          <p:nvPr/>
        </p:nvSpPr>
        <p:spPr>
          <a:xfrm>
            <a:off x="812800" y="3602385"/>
            <a:ext cx="10566400" cy="316309"/>
          </a:xfrm>
          <a:prstGeom prst="roundRect">
            <a:avLst>
              <a:gd name="adj" fmla="val 24090"/>
            </a:avLst>
          </a:prstGeom>
          <a:solidFill>
            <a:srgbClr val="FBEFE7">
              <a:alpha val="40000"/>
            </a:srgbClr>
          </a:solidFill>
          <a:ln/>
        </p:spPr>
      </p:sp>
      <p:sp>
        <p:nvSpPr>
          <p:cNvPr id="30" name="Text 28"/>
          <p:cNvSpPr/>
          <p:nvPr/>
        </p:nvSpPr>
        <p:spPr>
          <a:xfrm>
            <a:off x="965200" y="3644900"/>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alpha val="40000"/>
                  </a:srgbClr>
                </a:solidFill>
                <a:latin typeface="JetBrains Mono" pitchFamily="49" charset="0"/>
                <a:ea typeface="JetBrains Mono" pitchFamily="49" charset="-122"/>
                <a:cs typeface="JetBrains Mono" pitchFamily="49" charset="-120"/>
              </a:rPr>
              <a:t>P2</a:t>
            </a:r>
            <a:endParaRPr lang="en-US" sz="1300" dirty="0">
              <a:latin typeface="JetBrains Mono" charset="0"/>
              <a:ea typeface="JetBrains Mono" charset="0"/>
              <a:cs typeface="JetBrains Mono" charset="0"/>
            </a:endParaRPr>
          </a:p>
        </p:txBody>
      </p:sp>
      <p:sp>
        <p:nvSpPr>
          <p:cNvPr id="31" name="Text 29"/>
          <p:cNvSpPr/>
          <p:nvPr/>
        </p:nvSpPr>
        <p:spPr>
          <a:xfrm>
            <a:off x="1473200" y="3636119"/>
            <a:ext cx="304403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alpha val="40000"/>
                  </a:srgbClr>
                </a:solidFill>
                <a:latin typeface="IBM Plex Sans" pitchFamily="34" charset="0"/>
                <a:ea typeface="IBM Plex Sans" pitchFamily="34" charset="-122"/>
                <a:cs typeface="IBM Plex Sans" pitchFamily="34" charset="-120"/>
              </a:rPr>
              <a:t>Prática 2 · Preempção e prioridades</a:t>
            </a:r>
            <a:endParaRPr lang="en-US" sz="1400" dirty="0">
              <a:latin typeface="IBM Plex Sans" charset="0"/>
              <a:ea typeface="IBM Plex Sans" charset="0"/>
              <a:cs typeface="IBM Plex Sans" charset="0"/>
            </a:endParaRPr>
          </a:p>
        </p:txBody>
      </p:sp>
      <p:sp>
        <p:nvSpPr>
          <p:cNvPr id="32" name="Text 30"/>
          <p:cNvSpPr/>
          <p:nvPr/>
        </p:nvSpPr>
        <p:spPr>
          <a:xfrm>
            <a:off x="4517231" y="3658939"/>
            <a:ext cx="625237" cy="203200"/>
          </a:xfrm>
          <a:prstGeom prst="roundRect">
            <a:avLst>
              <a:gd name="adj" fmla="val 18750"/>
            </a:avLst>
          </a:prstGeom>
          <a:solidFill>
            <a:srgbClr val="D0612A">
              <a:alpha val="40000"/>
            </a:srgbClr>
          </a:solidFill>
          <a:ln/>
        </p:spPr>
        <p:txBody>
          <a:bodyPr wrap="none" lIns="0" tIns="0" rIns="0" bIns="0" rtlCol="0" anchor="ctr">
            <a:normAutofit/>
          </a:bodyPr>
          <a:lstStyle/>
          <a:p>
            <a:pPr algn="ctr" indent="0" marL="0">
              <a:lnSpc>
                <a:spcPts val="1400"/>
              </a:lnSpc>
              <a:buNone/>
            </a:pPr>
            <a:r>
              <a:rPr lang="en-US" sz="1000" b="1" spc="100" kern="0" dirty="0">
                <a:solidFill>
                  <a:srgbClr val="F5F4EF">
                    <a:alpha val="40000"/>
                  </a:srgbClr>
                </a:solidFill>
                <a:latin typeface="IBM Plex Sans" pitchFamily="34" charset="0"/>
                <a:ea typeface="IBM Plex Sans" pitchFamily="34" charset="-122"/>
                <a:cs typeface="IBM Plex Sans" pitchFamily="34" charset="-120"/>
              </a:rPr>
              <a:t>EXTRA</a:t>
            </a:r>
            <a:endParaRPr lang="en-US" sz="1000" dirty="0">
              <a:latin typeface="IBM Plex Sans" charset="0"/>
              <a:ea typeface="IBM Plex Sans" charset="0"/>
              <a:cs typeface="IBM Plex Sans" charset="0"/>
            </a:endParaRPr>
          </a:p>
        </p:txBody>
      </p:sp>
      <p:sp>
        <p:nvSpPr>
          <p:cNvPr id="33" name="Text 31"/>
          <p:cNvSpPr/>
          <p:nvPr/>
        </p:nvSpPr>
        <p:spPr>
          <a:xfrm>
            <a:off x="9751299" y="3650010"/>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alpha val="40000"/>
            </a:srgbClr>
          </a:solidFill>
          <a:ln w="12700">
            <a:solidFill>
              <a:srgbClr val="D0612A">
                <a:alpha val="40000"/>
              </a:srgbClr>
            </a:solidFill>
            <a:prstDash val="solid"/>
          </a:ln>
        </p:spPr>
        <p:txBody>
          <a:bodyPr wrap="none" lIns="0" tIns="0" rIns="0" bIns="0" rtlCol="0" anchor="ctr">
            <a:normAutofit/>
          </a:bodyPr>
          <a:lstStyle/>
          <a:p>
            <a:pPr algn="ctr" indent="0" marL="0">
              <a:lnSpc>
                <a:spcPts val="1680"/>
              </a:lnSpc>
              <a:buNone/>
            </a:pPr>
            <a:r>
              <a:rPr lang="en-US" sz="1200" b="1" dirty="0">
                <a:solidFill>
                  <a:srgbClr val="A8491A">
                    <a:alpha val="40000"/>
                  </a:srgbClr>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34" name="Text 32"/>
          <p:cNvSpPr/>
          <p:nvPr/>
        </p:nvSpPr>
        <p:spPr>
          <a:xfrm>
            <a:off x="10703005" y="3641080"/>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alpha val="40000"/>
            </a:srgbClr>
          </a:solidFill>
          <a:ln/>
        </p:spPr>
        <p:txBody>
          <a:bodyPr wrap="none" lIns="0" tIns="0" rIns="0" bIns="0" rtlCol="0" anchor="ctr">
            <a:normAutofit/>
          </a:bodyPr>
          <a:lstStyle/>
          <a:p>
            <a:pPr algn="ctr" indent="0" marL="0">
              <a:lnSpc>
                <a:spcPts val="1680"/>
              </a:lnSpc>
              <a:buNone/>
            </a:pPr>
            <a:r>
              <a:rPr lang="en-US" sz="1200" b="1" dirty="0">
                <a:solidFill>
                  <a:srgbClr val="F5F4EF">
                    <a:alpha val="40000"/>
                  </a:srgbClr>
                </a:solidFill>
                <a:latin typeface="IBM Plex Sans" pitchFamily="34" charset="0"/>
                <a:ea typeface="IBM Plex Sans" pitchFamily="34" charset="-122"/>
                <a:cs typeface="IBM Plex Sans" pitchFamily="34" charset="-120"/>
              </a:rPr>
              <a:t>dia 1</a:t>
            </a:r>
            <a:endParaRPr lang="en-US" sz="1200" dirty="0">
              <a:latin typeface="IBM Plex Sans" charset="0"/>
              <a:ea typeface="IBM Plex Sans" charset="0"/>
              <a:cs typeface="IBM Plex Sans" charset="0"/>
            </a:endParaRPr>
          </a:p>
        </p:txBody>
      </p:sp>
      <p:sp>
        <p:nvSpPr>
          <p:cNvPr id="35" name="Shape 33"/>
          <p:cNvSpPr/>
          <p:nvPr/>
        </p:nvSpPr>
        <p:spPr>
          <a:xfrm>
            <a:off x="812800" y="3956794"/>
            <a:ext cx="10566400" cy="316389"/>
          </a:xfrm>
          <a:prstGeom prst="roundRect">
            <a:avLst>
              <a:gd name="adj" fmla="val 24084"/>
            </a:avLst>
          </a:prstGeom>
          <a:solidFill>
            <a:srgbClr val="E3EFEC"/>
          </a:solidFill>
          <a:ln/>
        </p:spPr>
      </p:sp>
      <p:sp>
        <p:nvSpPr>
          <p:cNvPr id="36" name="Text 34"/>
          <p:cNvSpPr/>
          <p:nvPr/>
        </p:nvSpPr>
        <p:spPr>
          <a:xfrm>
            <a:off x="965200" y="3999409"/>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05</a:t>
            </a:r>
            <a:endParaRPr lang="en-US" sz="1300" dirty="0">
              <a:latin typeface="JetBrains Mono" charset="0"/>
              <a:ea typeface="JetBrains Mono" charset="0"/>
              <a:cs typeface="JetBrains Mono" charset="0"/>
            </a:endParaRPr>
          </a:p>
        </p:txBody>
      </p:sp>
      <p:sp>
        <p:nvSpPr>
          <p:cNvPr id="37" name="Text 35"/>
          <p:cNvSpPr/>
          <p:nvPr/>
        </p:nvSpPr>
        <p:spPr>
          <a:xfrm>
            <a:off x="1473200" y="3990529"/>
            <a:ext cx="338432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5 · Gestão de interrupções</a:t>
            </a:r>
            <a:endParaRPr lang="en-US" sz="1400" dirty="0">
              <a:latin typeface="IBM Plex Sans" charset="0"/>
              <a:ea typeface="IBM Plex Sans" charset="0"/>
              <a:cs typeface="IBM Plex Sans" charset="0"/>
            </a:endParaRPr>
          </a:p>
        </p:txBody>
      </p:sp>
      <p:sp>
        <p:nvSpPr>
          <p:cNvPr id="38" name="Text 36"/>
          <p:cNvSpPr/>
          <p:nvPr/>
        </p:nvSpPr>
        <p:spPr>
          <a:xfrm>
            <a:off x="9697800" y="4004469"/>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39" name="Text 37"/>
          <p:cNvSpPr/>
          <p:nvPr/>
        </p:nvSpPr>
        <p:spPr>
          <a:xfrm>
            <a:off x="10703005" y="3995589"/>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40" name="Shape 38"/>
          <p:cNvSpPr/>
          <p:nvPr/>
        </p:nvSpPr>
        <p:spPr>
          <a:xfrm>
            <a:off x="812800" y="4311253"/>
            <a:ext cx="10566400" cy="316309"/>
          </a:xfrm>
          <a:prstGeom prst="roundRect">
            <a:avLst>
              <a:gd name="adj" fmla="val 24090"/>
            </a:avLst>
          </a:prstGeom>
          <a:solidFill>
            <a:srgbClr val="E3EFEC"/>
          </a:solidFill>
          <a:ln/>
        </p:spPr>
      </p:sp>
      <p:sp>
        <p:nvSpPr>
          <p:cNvPr id="41" name="Text 39"/>
          <p:cNvSpPr/>
          <p:nvPr/>
        </p:nvSpPr>
        <p:spPr>
          <a:xfrm>
            <a:off x="965200" y="4353818"/>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06</a:t>
            </a:r>
            <a:endParaRPr lang="en-US" sz="1300" dirty="0">
              <a:latin typeface="JetBrains Mono" charset="0"/>
              <a:ea typeface="JetBrains Mono" charset="0"/>
              <a:cs typeface="JetBrains Mono" charset="0"/>
            </a:endParaRPr>
          </a:p>
        </p:txBody>
      </p:sp>
      <p:sp>
        <p:nvSpPr>
          <p:cNvPr id="42" name="Text 40"/>
          <p:cNvSpPr/>
          <p:nvPr/>
        </p:nvSpPr>
        <p:spPr>
          <a:xfrm>
            <a:off x="1473200" y="4344988"/>
            <a:ext cx="29807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6 · Gestão de recursos</a:t>
            </a:r>
            <a:endParaRPr lang="en-US" sz="1400" dirty="0">
              <a:latin typeface="IBM Plex Sans" charset="0"/>
              <a:ea typeface="IBM Plex Sans" charset="0"/>
              <a:cs typeface="IBM Plex Sans" charset="0"/>
            </a:endParaRPr>
          </a:p>
        </p:txBody>
      </p:sp>
      <p:sp>
        <p:nvSpPr>
          <p:cNvPr id="43" name="Text 41"/>
          <p:cNvSpPr/>
          <p:nvPr/>
        </p:nvSpPr>
        <p:spPr>
          <a:xfrm>
            <a:off x="9697800" y="4358878"/>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44" name="Text 42"/>
          <p:cNvSpPr/>
          <p:nvPr/>
        </p:nvSpPr>
        <p:spPr>
          <a:xfrm>
            <a:off x="10703005" y="4349998"/>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45" name="Shape 43"/>
          <p:cNvSpPr/>
          <p:nvPr/>
        </p:nvSpPr>
        <p:spPr>
          <a:xfrm>
            <a:off x="812800" y="4665663"/>
            <a:ext cx="10566400" cy="316309"/>
          </a:xfrm>
          <a:prstGeom prst="roundRect">
            <a:avLst>
              <a:gd name="adj" fmla="val 24090"/>
            </a:avLst>
          </a:prstGeom>
          <a:solidFill>
            <a:srgbClr val="E3EFEC"/>
          </a:solidFill>
          <a:ln/>
        </p:spPr>
      </p:sp>
      <p:sp>
        <p:nvSpPr>
          <p:cNvPr id="46" name="Text 44"/>
          <p:cNvSpPr/>
          <p:nvPr/>
        </p:nvSpPr>
        <p:spPr>
          <a:xfrm>
            <a:off x="965200" y="4708227"/>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07</a:t>
            </a:r>
            <a:endParaRPr lang="en-US" sz="1300" dirty="0">
              <a:latin typeface="JetBrains Mono" charset="0"/>
              <a:ea typeface="JetBrains Mono" charset="0"/>
              <a:cs typeface="JetBrains Mono" charset="0"/>
            </a:endParaRPr>
          </a:p>
        </p:txBody>
      </p:sp>
      <p:sp>
        <p:nvSpPr>
          <p:cNvPr id="47" name="Text 45"/>
          <p:cNvSpPr/>
          <p:nvPr/>
        </p:nvSpPr>
        <p:spPr>
          <a:xfrm>
            <a:off x="1473200" y="4699397"/>
            <a:ext cx="266881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7 · Software timers</a:t>
            </a:r>
            <a:endParaRPr lang="en-US" sz="1400" dirty="0">
              <a:latin typeface="IBM Plex Sans" charset="0"/>
              <a:ea typeface="IBM Plex Sans" charset="0"/>
              <a:cs typeface="IBM Plex Sans" charset="0"/>
            </a:endParaRPr>
          </a:p>
        </p:txBody>
      </p:sp>
      <p:sp>
        <p:nvSpPr>
          <p:cNvPr id="48" name="Text 46"/>
          <p:cNvSpPr/>
          <p:nvPr/>
        </p:nvSpPr>
        <p:spPr>
          <a:xfrm>
            <a:off x="9697800" y="4713288"/>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49" name="Text 47"/>
          <p:cNvSpPr/>
          <p:nvPr/>
        </p:nvSpPr>
        <p:spPr>
          <a:xfrm>
            <a:off x="10703005" y="4704407"/>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50" name="Shape 48"/>
          <p:cNvSpPr/>
          <p:nvPr/>
        </p:nvSpPr>
        <p:spPr>
          <a:xfrm>
            <a:off x="812800" y="5020072"/>
            <a:ext cx="10566400" cy="316309"/>
          </a:xfrm>
          <a:prstGeom prst="roundRect">
            <a:avLst>
              <a:gd name="adj" fmla="val 24090"/>
            </a:avLst>
          </a:prstGeom>
          <a:solidFill>
            <a:srgbClr val="E3EFEC"/>
          </a:solidFill>
          <a:ln/>
        </p:spPr>
      </p:sp>
      <p:sp>
        <p:nvSpPr>
          <p:cNvPr id="51" name="Text 49"/>
          <p:cNvSpPr/>
          <p:nvPr/>
        </p:nvSpPr>
        <p:spPr>
          <a:xfrm>
            <a:off x="965200" y="5062637"/>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766A"/>
                </a:solidFill>
                <a:latin typeface="JetBrains Mono" pitchFamily="49" charset="0"/>
                <a:ea typeface="JetBrains Mono" pitchFamily="49" charset="-122"/>
                <a:cs typeface="JetBrains Mono" pitchFamily="49" charset="-120"/>
              </a:rPr>
              <a:t>08</a:t>
            </a:r>
            <a:endParaRPr lang="en-US" sz="1300" dirty="0">
              <a:latin typeface="JetBrains Mono" charset="0"/>
              <a:ea typeface="JetBrains Mono" charset="0"/>
              <a:cs typeface="JetBrains Mono" charset="0"/>
            </a:endParaRPr>
          </a:p>
        </p:txBody>
      </p:sp>
      <p:sp>
        <p:nvSpPr>
          <p:cNvPr id="52" name="Text 50"/>
          <p:cNvSpPr/>
          <p:nvPr/>
        </p:nvSpPr>
        <p:spPr>
          <a:xfrm>
            <a:off x="1473200" y="5053806"/>
            <a:ext cx="3524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Módulo 8 · Troubleshooting e debug</a:t>
            </a:r>
            <a:endParaRPr lang="en-US" sz="1400" dirty="0">
              <a:latin typeface="IBM Plex Sans" charset="0"/>
              <a:ea typeface="IBM Plex Sans" charset="0"/>
              <a:cs typeface="IBM Plex Sans" charset="0"/>
            </a:endParaRPr>
          </a:p>
        </p:txBody>
      </p:sp>
      <p:sp>
        <p:nvSpPr>
          <p:cNvPr id="53" name="Text 51"/>
          <p:cNvSpPr/>
          <p:nvPr/>
        </p:nvSpPr>
        <p:spPr>
          <a:xfrm>
            <a:off x="9697800" y="5067697"/>
            <a:ext cx="670401" cy="220980"/>
          </a:xfrm>
          <a:custGeom>
            <a:avLst/>
            <a:gdLst/>
            <a:ahLst/>
            <a:cxnLst/>
            <a:rect l="l" t="t" r="r" b="b"/>
            <a:pathLst>
              <a:path w="670401" h="220980">
                <a:moveTo>
                  <a:pt x="110490" y="0"/>
                </a:moveTo>
                <a:lnTo>
                  <a:pt x="559911" y="0"/>
                </a:lnTo>
                <a:arcTo hR="110490" wR="110490" stAng="16200000" swAng="5400000"/>
                <a:lnTo>
                  <a:pt x="670401"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17766A"/>
            </a:solidFill>
            <a:prstDash val="solid"/>
          </a:ln>
        </p:spPr>
        <p:txBody>
          <a:bodyPr wrap="none" lIns="0" tIns="0" rIns="0" bIns="0" rtlCol="0" anchor="ctr">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manhã</a:t>
            </a:r>
            <a:endParaRPr lang="en-US" sz="1200" dirty="0">
              <a:latin typeface="IBM Plex Sans" charset="0"/>
              <a:ea typeface="IBM Plex Sans" charset="0"/>
              <a:cs typeface="IBM Plex Sans" charset="0"/>
            </a:endParaRPr>
          </a:p>
        </p:txBody>
      </p:sp>
      <p:sp>
        <p:nvSpPr>
          <p:cNvPr id="54" name="Text 52"/>
          <p:cNvSpPr/>
          <p:nvPr/>
        </p:nvSpPr>
        <p:spPr>
          <a:xfrm>
            <a:off x="10703005" y="5058817"/>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55" name="Shape 53"/>
          <p:cNvSpPr/>
          <p:nvPr/>
        </p:nvSpPr>
        <p:spPr>
          <a:xfrm>
            <a:off x="812800" y="5374481"/>
            <a:ext cx="10566400" cy="316309"/>
          </a:xfrm>
          <a:prstGeom prst="roundRect">
            <a:avLst>
              <a:gd name="adj" fmla="val 24090"/>
            </a:avLst>
          </a:prstGeom>
          <a:solidFill>
            <a:srgbClr val="FBEFE7"/>
          </a:solidFill>
          <a:ln/>
        </p:spPr>
      </p:sp>
      <p:sp>
        <p:nvSpPr>
          <p:cNvPr id="56" name="Text 54"/>
          <p:cNvSpPr/>
          <p:nvPr/>
        </p:nvSpPr>
        <p:spPr>
          <a:xfrm>
            <a:off x="965200" y="5417046"/>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solidFill>
                <a:latin typeface="JetBrains Mono" pitchFamily="49" charset="0"/>
                <a:ea typeface="JetBrains Mono" pitchFamily="49" charset="-122"/>
                <a:cs typeface="JetBrains Mono" pitchFamily="49" charset="-120"/>
              </a:rPr>
              <a:t>P3</a:t>
            </a:r>
            <a:endParaRPr lang="en-US" sz="1300" dirty="0">
              <a:latin typeface="JetBrains Mono" charset="0"/>
              <a:ea typeface="JetBrains Mono" charset="0"/>
              <a:cs typeface="JetBrains Mono" charset="0"/>
            </a:endParaRPr>
          </a:p>
        </p:txBody>
      </p:sp>
      <p:sp>
        <p:nvSpPr>
          <p:cNvPr id="57" name="Text 55"/>
          <p:cNvSpPr/>
          <p:nvPr/>
        </p:nvSpPr>
        <p:spPr>
          <a:xfrm>
            <a:off x="1473200" y="5408216"/>
            <a:ext cx="489689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Prática 3 · Interrupções, recursos, timers e debug</a:t>
            </a:r>
            <a:endParaRPr lang="en-US" sz="1400" dirty="0">
              <a:latin typeface="IBM Plex Sans" charset="0"/>
              <a:ea typeface="IBM Plex Sans" charset="0"/>
              <a:cs typeface="IBM Plex Sans" charset="0"/>
            </a:endParaRPr>
          </a:p>
        </p:txBody>
      </p:sp>
      <p:sp>
        <p:nvSpPr>
          <p:cNvPr id="58" name="Text 56"/>
          <p:cNvSpPr/>
          <p:nvPr/>
        </p:nvSpPr>
        <p:spPr>
          <a:xfrm>
            <a:off x="9751299" y="5422106"/>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D0612A"/>
            </a:solidFill>
            <a:prstDash val="solid"/>
          </a:ln>
        </p:spPr>
        <p:txBody>
          <a:bodyPr wrap="none" lIns="0" tIns="0" rIns="0" bIns="0" rtlCol="0" anchor="ctr">
            <a:normAutofit/>
          </a:bodyPr>
          <a:lstStyle/>
          <a:p>
            <a:pPr algn="ctr" indent="0" marL="0">
              <a:lnSpc>
                <a:spcPts val="1680"/>
              </a:lnSpc>
              <a:buNone/>
            </a:pPr>
            <a:r>
              <a:rPr lang="en-US" sz="1200" b="1" dirty="0">
                <a:solidFill>
                  <a:srgbClr val="A8491A"/>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59" name="Text 57"/>
          <p:cNvSpPr/>
          <p:nvPr/>
        </p:nvSpPr>
        <p:spPr>
          <a:xfrm>
            <a:off x="10703005" y="5413226"/>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
        <p:nvSpPr>
          <p:cNvPr id="60" name="Shape 58"/>
          <p:cNvSpPr/>
          <p:nvPr/>
        </p:nvSpPr>
        <p:spPr>
          <a:xfrm>
            <a:off x="812800" y="5728891"/>
            <a:ext cx="10566400" cy="316309"/>
          </a:xfrm>
          <a:prstGeom prst="roundRect">
            <a:avLst>
              <a:gd name="adj" fmla="val 24090"/>
            </a:avLst>
          </a:prstGeom>
          <a:solidFill>
            <a:srgbClr val="FBEFE7"/>
          </a:solidFill>
          <a:ln/>
        </p:spPr>
      </p:sp>
      <p:sp>
        <p:nvSpPr>
          <p:cNvPr id="61" name="Text 59"/>
          <p:cNvSpPr/>
          <p:nvPr/>
        </p:nvSpPr>
        <p:spPr>
          <a:xfrm>
            <a:off x="965200" y="5771455"/>
            <a:ext cx="3810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91A"/>
                </a:solidFill>
                <a:latin typeface="JetBrains Mono" pitchFamily="49" charset="0"/>
                <a:ea typeface="JetBrains Mono" pitchFamily="49" charset="-122"/>
                <a:cs typeface="JetBrains Mono" pitchFamily="49" charset="-120"/>
              </a:rPr>
              <a:t>P4</a:t>
            </a:r>
            <a:endParaRPr lang="en-US" sz="1300" dirty="0">
              <a:latin typeface="JetBrains Mono" charset="0"/>
              <a:ea typeface="JetBrains Mono" charset="0"/>
              <a:cs typeface="JetBrains Mono" charset="0"/>
            </a:endParaRPr>
          </a:p>
        </p:txBody>
      </p:sp>
      <p:sp>
        <p:nvSpPr>
          <p:cNvPr id="62" name="Text 60"/>
          <p:cNvSpPr/>
          <p:nvPr/>
        </p:nvSpPr>
        <p:spPr>
          <a:xfrm>
            <a:off x="1473200" y="5762625"/>
            <a:ext cx="457058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Prática 4 · Aprofundar: ISRs, recursos, timers e debug</a:t>
            </a:r>
            <a:endParaRPr lang="en-US" sz="1400" dirty="0">
              <a:latin typeface="IBM Plex Sans" charset="0"/>
              <a:ea typeface="IBM Plex Sans" charset="0"/>
              <a:cs typeface="IBM Plex Sans" charset="0"/>
            </a:endParaRPr>
          </a:p>
        </p:txBody>
      </p:sp>
      <p:sp>
        <p:nvSpPr>
          <p:cNvPr id="63" name="Text 61"/>
          <p:cNvSpPr/>
          <p:nvPr/>
        </p:nvSpPr>
        <p:spPr>
          <a:xfrm>
            <a:off x="6012259" y="5785495"/>
            <a:ext cx="625237" cy="203200"/>
          </a:xfrm>
          <a:prstGeom prst="roundRect">
            <a:avLst>
              <a:gd name="adj" fmla="val 18750"/>
            </a:avLst>
          </a:prstGeom>
          <a:solidFill>
            <a:srgbClr val="D0612A"/>
          </a:solidFill>
          <a:ln/>
        </p:spPr>
        <p:txBody>
          <a:bodyPr wrap="none" lIns="0" tIns="0" rIns="0" bIns="0" rtlCol="0" anchor="ctr">
            <a:normAutofit/>
          </a:bodyPr>
          <a:lstStyle/>
          <a:p>
            <a:pPr algn="ctr" indent="0" marL="0">
              <a:lnSpc>
                <a:spcPts val="1400"/>
              </a:lnSpc>
              <a:buNone/>
            </a:pPr>
            <a:r>
              <a:rPr lang="en-US" sz="1000" b="1" spc="100" kern="0" dirty="0">
                <a:solidFill>
                  <a:srgbClr val="F5F4EF"/>
                </a:solidFill>
                <a:latin typeface="IBM Plex Sans" pitchFamily="34" charset="0"/>
                <a:ea typeface="IBM Plex Sans" pitchFamily="34" charset="-122"/>
                <a:cs typeface="IBM Plex Sans" pitchFamily="34" charset="-120"/>
              </a:rPr>
              <a:t>EXTRA</a:t>
            </a:r>
            <a:endParaRPr lang="en-US" sz="1000" dirty="0">
              <a:latin typeface="IBM Plex Sans" charset="0"/>
              <a:ea typeface="IBM Plex Sans" charset="0"/>
              <a:cs typeface="IBM Plex Sans" charset="0"/>
            </a:endParaRPr>
          </a:p>
        </p:txBody>
      </p:sp>
      <p:sp>
        <p:nvSpPr>
          <p:cNvPr id="64" name="Text 62"/>
          <p:cNvSpPr/>
          <p:nvPr/>
        </p:nvSpPr>
        <p:spPr>
          <a:xfrm>
            <a:off x="9751299" y="5776516"/>
            <a:ext cx="563324" cy="220980"/>
          </a:xfrm>
          <a:custGeom>
            <a:avLst/>
            <a:gdLst/>
            <a:ahLst/>
            <a:cxnLst/>
            <a:rect l="l" t="t" r="r" b="b"/>
            <a:pathLst>
              <a:path w="563324" h="220980">
                <a:moveTo>
                  <a:pt x="110490" y="0"/>
                </a:moveTo>
                <a:lnTo>
                  <a:pt x="452834" y="0"/>
                </a:lnTo>
                <a:arcTo hR="110490" wR="110490" stAng="16200000" swAng="5400000"/>
                <a:lnTo>
                  <a:pt x="563324" y="110490"/>
                </a:lnTo>
                <a:arcTo hR="110490" wR="110490" stAng="0" swAng="5400000"/>
                <a:lnTo>
                  <a:pt x="110490" y="220980"/>
                </a:lnTo>
                <a:arcTo hR="110490" wR="110490" stAng="5400000" swAng="5400000"/>
                <a:lnTo>
                  <a:pt x="0" y="110490"/>
                </a:lnTo>
                <a:arcTo hR="110490" wR="110490" stAng="10800000" swAng="5400000"/>
                <a:close/>
              </a:path>
            </a:pathLst>
          </a:custGeom>
          <a:solidFill>
            <a:srgbClr val="F5F4EF"/>
          </a:solidFill>
          <a:ln w="12700">
            <a:solidFill>
              <a:srgbClr val="D0612A"/>
            </a:solidFill>
            <a:prstDash val="solid"/>
          </a:ln>
        </p:spPr>
        <p:txBody>
          <a:bodyPr wrap="none" lIns="0" tIns="0" rIns="0" bIns="0" rtlCol="0" anchor="ctr">
            <a:normAutofit/>
          </a:bodyPr>
          <a:lstStyle/>
          <a:p>
            <a:pPr algn="ctr" indent="0" marL="0">
              <a:lnSpc>
                <a:spcPts val="1680"/>
              </a:lnSpc>
              <a:buNone/>
            </a:pPr>
            <a:r>
              <a:rPr lang="en-US" sz="1200" b="1" dirty="0">
                <a:solidFill>
                  <a:srgbClr val="A8491A"/>
                </a:solidFill>
                <a:latin typeface="IBM Plex Sans" pitchFamily="34" charset="0"/>
                <a:ea typeface="IBM Plex Sans" pitchFamily="34" charset="-122"/>
                <a:cs typeface="IBM Plex Sans" pitchFamily="34" charset="-120"/>
              </a:rPr>
              <a:t>tarde</a:t>
            </a:r>
            <a:endParaRPr lang="en-US" sz="1200" dirty="0">
              <a:latin typeface="IBM Plex Sans" charset="0"/>
              <a:ea typeface="IBM Plex Sans" charset="0"/>
              <a:cs typeface="IBM Plex Sans" charset="0"/>
            </a:endParaRPr>
          </a:p>
        </p:txBody>
      </p:sp>
      <p:sp>
        <p:nvSpPr>
          <p:cNvPr id="65" name="Text 63"/>
          <p:cNvSpPr/>
          <p:nvPr/>
        </p:nvSpPr>
        <p:spPr>
          <a:xfrm>
            <a:off x="10703005" y="5767636"/>
            <a:ext cx="523796" cy="238760"/>
          </a:xfrm>
          <a:custGeom>
            <a:avLst/>
            <a:gdLst/>
            <a:ahLst/>
            <a:cxnLst/>
            <a:rect l="l" t="t" r="r" b="b"/>
            <a:pathLst>
              <a:path w="523796" h="238760">
                <a:moveTo>
                  <a:pt x="119380" y="0"/>
                </a:moveTo>
                <a:lnTo>
                  <a:pt x="404416" y="0"/>
                </a:lnTo>
                <a:arcTo hR="119380" wR="119380" stAng="16200000" swAng="5400000"/>
                <a:lnTo>
                  <a:pt x="523796" y="119380"/>
                </a:lnTo>
                <a:arcTo hR="119380" wR="119380" stAng="0" swAng="5400000"/>
                <a:lnTo>
                  <a:pt x="119380" y="238760"/>
                </a:lnTo>
                <a:arcTo hR="119380" wR="119380" stAng="5400000" swAng="5400000"/>
                <a:lnTo>
                  <a:pt x="0" y="119380"/>
                </a:lnTo>
                <a:arcTo hR="119380" wR="119380" stAng="10800000" swAng="5400000"/>
                <a:close/>
              </a:path>
            </a:pathLst>
          </a:custGeom>
          <a:solidFill>
            <a:srgbClr val="17766A"/>
          </a:solidFill>
          <a:ln/>
        </p:spPr>
        <p:txBody>
          <a:bodyPr wrap="none" lIns="0" tIns="0" rIns="0" bIns="0" rtlCol="0" anchor="ctr">
            <a:normAutofit/>
          </a:bodyPr>
          <a:lstStyle/>
          <a:p>
            <a:pPr algn="ctr" indent="0" marL="0">
              <a:lnSpc>
                <a:spcPts val="1680"/>
              </a:lnSpc>
              <a:buNone/>
            </a:pPr>
            <a:r>
              <a:rPr lang="en-US" sz="1200" b="1" dirty="0">
                <a:solidFill>
                  <a:srgbClr val="F5F4EF"/>
                </a:solidFill>
                <a:latin typeface="IBM Plex Sans" pitchFamily="34" charset="0"/>
                <a:ea typeface="IBM Plex Sans" pitchFamily="34" charset="-122"/>
                <a:cs typeface="IBM Plex Sans" pitchFamily="34" charset="-120"/>
              </a:rPr>
              <a:t>dia 2</a:t>
            </a:r>
            <a:endParaRPr lang="en-US" sz="1200" dirty="0">
              <a:latin typeface="IBM Plex Sans" charset="0"/>
              <a:ea typeface="IBM Plex Sans" charset="0"/>
              <a:cs typeface="IBM Plex Sans"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5</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4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Gestão de interrupções</a:t>
            </a:r>
            <a:endParaRPr lang="en-US" sz="6000" dirty="0">
              <a:latin typeface="IBM Plex Sans" charset="0"/>
              <a:ea typeface="IBM Plex Sans" charset="0"/>
              <a:cs typeface="IBM Plex Sans" charset="0"/>
            </a:endParaRPr>
          </a:p>
        </p:txBody>
      </p:sp>
      <p:sp>
        <p:nvSpPr>
          <p:cNvPr id="4" name="Text 2"/>
          <p:cNvSpPr/>
          <p:nvPr/>
        </p:nvSpPr>
        <p:spPr>
          <a:xfrm>
            <a:off x="812800" y="2128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Sincronizar interrupções com tasks</a:t>
            </a:r>
            <a:endParaRPr lang="en-US" sz="2000" dirty="0">
              <a:latin typeface="IBM Plex Sans" charset="0"/>
              <a:ea typeface="IBM Plex Sans" charset="0"/>
              <a:cs typeface="IBM Plex Sans" charset="0"/>
            </a:endParaRPr>
          </a:p>
        </p:txBody>
      </p:sp>
      <p:sp>
        <p:nvSpPr>
          <p:cNvPr id="5" name="Shape 3"/>
          <p:cNvSpPr/>
          <p:nvPr/>
        </p:nvSpPr>
        <p:spPr>
          <a:xfrm>
            <a:off x="812800" y="4517380"/>
            <a:ext cx="3386614" cy="0"/>
          </a:xfrm>
          <a:prstGeom prst="line">
            <a:avLst/>
          </a:prstGeom>
          <a:noFill/>
          <a:ln w="12700">
            <a:solidFill>
              <a:srgbClr val="3C5566"/>
            </a:solidFill>
            <a:prstDash val="solid"/>
          </a:ln>
        </p:spPr>
      </p:sp>
      <p:sp>
        <p:nvSpPr>
          <p:cNvPr id="6" name="Text 4"/>
          <p:cNvSpPr/>
          <p:nvPr/>
        </p:nvSpPr>
        <p:spPr>
          <a:xfrm>
            <a:off x="812800" y="467360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A API NAS ISRs</a:t>
            </a:r>
            <a:endParaRPr lang="en-US" sz="1200" dirty="0">
              <a:latin typeface="IBM Plex Sans" charset="0"/>
              <a:ea typeface="IBM Plex Sans" charset="0"/>
              <a:cs typeface="IBM Plex Sans" charset="0"/>
            </a:endParaRPr>
          </a:p>
        </p:txBody>
      </p:sp>
      <p:sp>
        <p:nvSpPr>
          <p:cNvPr id="7" name="Text 5"/>
          <p:cNvSpPr/>
          <p:nvPr/>
        </p:nvSpPr>
        <p:spPr>
          <a:xfrm>
            <a:off x="812800" y="493777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Funções FromISR, xHigherPriorityTaskWoken, portYIELD_FROM_ISR</a:t>
            </a:r>
            <a:endParaRPr lang="en-US" sz="1200" dirty="0">
              <a:latin typeface="IBM Plex Sans" charset="0"/>
              <a:ea typeface="IBM Plex Sans" charset="0"/>
              <a:cs typeface="IBM Plex Sans" charset="0"/>
            </a:endParaRPr>
          </a:p>
        </p:txBody>
      </p:sp>
      <p:sp>
        <p:nvSpPr>
          <p:cNvPr id="8" name="Shape 6"/>
          <p:cNvSpPr/>
          <p:nvPr/>
        </p:nvSpPr>
        <p:spPr>
          <a:xfrm>
            <a:off x="4402614" y="4517380"/>
            <a:ext cx="3386693" cy="0"/>
          </a:xfrm>
          <a:prstGeom prst="line">
            <a:avLst/>
          </a:prstGeom>
          <a:noFill/>
          <a:ln w="12700">
            <a:solidFill>
              <a:srgbClr val="3C5566"/>
            </a:solidFill>
            <a:prstDash val="solid"/>
          </a:ln>
        </p:spPr>
      </p:sp>
      <p:sp>
        <p:nvSpPr>
          <p:cNvPr id="9" name="Text 7"/>
          <p:cNvSpPr/>
          <p:nvPr/>
        </p:nvSpPr>
        <p:spPr>
          <a:xfrm>
            <a:off x="4402614" y="467360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DEFERRED PROCESSING</a:t>
            </a:r>
            <a:endParaRPr lang="en-US" sz="1200" dirty="0">
              <a:latin typeface="IBM Plex Sans" charset="0"/>
              <a:ea typeface="IBM Plex Sans" charset="0"/>
              <a:cs typeface="IBM Plex Sans" charset="0"/>
            </a:endParaRPr>
          </a:p>
        </p:txBody>
      </p:sp>
      <p:sp>
        <p:nvSpPr>
          <p:cNvPr id="10" name="Text 8"/>
          <p:cNvSpPr/>
          <p:nvPr/>
        </p:nvSpPr>
        <p:spPr>
          <a:xfrm>
            <a:off x="4402614" y="493777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Semáforos binários e de contagem, daemon task, queues</a:t>
            </a:r>
            <a:endParaRPr lang="en-US" sz="1200" dirty="0">
              <a:latin typeface="IBM Plex Sans" charset="0"/>
              <a:ea typeface="IBM Plex Sans" charset="0"/>
              <a:cs typeface="IBM Plex Sans" charset="0"/>
            </a:endParaRPr>
          </a:p>
        </p:txBody>
      </p:sp>
      <p:sp>
        <p:nvSpPr>
          <p:cNvPr id="11" name="Shape 9"/>
          <p:cNvSpPr/>
          <p:nvPr/>
        </p:nvSpPr>
        <p:spPr>
          <a:xfrm>
            <a:off x="7992507" y="4517380"/>
            <a:ext cx="3386693" cy="0"/>
          </a:xfrm>
          <a:prstGeom prst="line">
            <a:avLst/>
          </a:prstGeom>
          <a:noFill/>
          <a:ln w="12700">
            <a:solidFill>
              <a:srgbClr val="3C5566"/>
            </a:solidFill>
            <a:prstDash val="solid"/>
          </a:ln>
        </p:spPr>
      </p:sp>
      <p:sp>
        <p:nvSpPr>
          <p:cNvPr id="12" name="Text 10"/>
          <p:cNvSpPr/>
          <p:nvPr/>
        </p:nvSpPr>
        <p:spPr>
          <a:xfrm>
            <a:off x="7992507" y="467360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PRIORIDADES</a:t>
            </a:r>
            <a:endParaRPr lang="en-US" sz="1200" dirty="0">
              <a:latin typeface="IBM Plex Sans" charset="0"/>
              <a:ea typeface="IBM Plex Sans" charset="0"/>
              <a:cs typeface="IBM Plex Sans" charset="0"/>
            </a:endParaRPr>
          </a:p>
        </p:txBody>
      </p:sp>
      <p:sp>
        <p:nvSpPr>
          <p:cNvPr id="13" name="Text 11"/>
          <p:cNvSpPr/>
          <p:nvPr/>
        </p:nvSpPr>
        <p:spPr>
          <a:xfrm>
            <a:off x="7992507" y="4937770"/>
            <a:ext cx="348829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Nesting, configMAX_SYSCALL_INTERRUPT_PRIORITY, notas Cortex-M e RISC-V</a:t>
            </a:r>
            <a:endParaRPr lang="en-US" sz="1200" dirty="0">
              <a:latin typeface="IBM Plex Sans" charset="0"/>
              <a:ea typeface="IBM Plex Sans" charset="0"/>
              <a:cs typeface="IBM Plex Sans" charset="0"/>
            </a:endParaRPr>
          </a:p>
        </p:txBody>
      </p:sp>
      <p:sp>
        <p:nvSpPr>
          <p:cNvPr id="14" name="Text 12"/>
          <p:cNvSpPr/>
          <p:nvPr/>
        </p:nvSpPr>
        <p:spPr>
          <a:xfrm>
            <a:off x="812800" y="58318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7</a:t>
            </a:r>
            <a:endParaRPr lang="en-US" sz="1200" dirty="0">
              <a:latin typeface="IBM Plex Sans" charset="0"/>
              <a:ea typeface="IBM Plex Sans" charset="0"/>
              <a:cs typeface="IBM Plex Sans"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Eventos, ISRs e tasks</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 sistema embebido reage a eventos do ambiente: um pacote chega à Ethernet (evento) e tem de ir para a stack TCP/IP (ação). Para cada evento há três decisões:</a:t>
            </a:r>
            <a:endParaRPr lang="en-US" sz="1500" dirty="0">
              <a:latin typeface="IBM Plex Sans" charset="0"/>
              <a:ea typeface="IBM Plex Sans" charset="0"/>
              <a:cs typeface="IBM Plex Sans" charset="0"/>
            </a:endParaRPr>
          </a:p>
        </p:txBody>
      </p:sp>
      <p:sp>
        <p:nvSpPr>
          <p:cNvPr id="5" name="Shape 3"/>
          <p:cNvSpPr/>
          <p:nvPr/>
        </p:nvSpPr>
        <p:spPr>
          <a:xfrm>
            <a:off x="815975" y="2538115"/>
            <a:ext cx="3414157" cy="1461770"/>
          </a:xfrm>
          <a:prstGeom prst="roundRect">
            <a:avLst>
              <a:gd name="adj" fmla="val 6733"/>
            </a:avLst>
          </a:prstGeom>
          <a:solidFill>
            <a:srgbClr val="FCFBF8"/>
          </a:solidFill>
          <a:ln w="6350">
            <a:solidFill>
              <a:srgbClr val="DCDAD2"/>
            </a:solidFill>
            <a:prstDash val="solid"/>
          </a:ln>
        </p:spPr>
      </p:sp>
      <p:sp>
        <p:nvSpPr>
          <p:cNvPr id="6" name="Text 4"/>
          <p:cNvSpPr/>
          <p:nvPr/>
        </p:nvSpPr>
        <p:spPr>
          <a:xfrm>
            <a:off x="995680" y="2717800"/>
            <a:ext cx="314638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01</a:t>
            </a:r>
            <a:endParaRPr lang="en-US" sz="1600" dirty="0">
              <a:latin typeface="JetBrains Mono" charset="0"/>
              <a:ea typeface="JetBrains Mono" charset="0"/>
              <a:cs typeface="JetBrains Mono" charset="0"/>
            </a:endParaRPr>
          </a:p>
        </p:txBody>
      </p:sp>
      <p:sp>
        <p:nvSpPr>
          <p:cNvPr id="7" name="Text 5"/>
          <p:cNvSpPr/>
          <p:nvPr/>
        </p:nvSpPr>
        <p:spPr>
          <a:xfrm>
            <a:off x="995680" y="3065810"/>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Como detetar?</a:t>
            </a:r>
            <a:endParaRPr lang="en-US" sz="1500" dirty="0">
              <a:latin typeface="IBM Plex Sans" charset="0"/>
              <a:ea typeface="IBM Plex Sans" charset="0"/>
              <a:cs typeface="IBM Plex Sans" charset="0"/>
            </a:endParaRPr>
          </a:p>
        </p:txBody>
      </p:sp>
      <p:sp>
        <p:nvSpPr>
          <p:cNvPr id="8" name="Text 6"/>
          <p:cNvSpPr/>
          <p:nvPr/>
        </p:nvSpPr>
        <p:spPr>
          <a:xfrm>
            <a:off x="995680" y="3357910"/>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Normalmente com interrupções; também se pode fazer polling.</a:t>
            </a:r>
            <a:endParaRPr lang="en-US" sz="1300" dirty="0">
              <a:latin typeface="IBM Plex Sans" charset="0"/>
              <a:ea typeface="IBM Plex Sans" charset="0"/>
              <a:cs typeface="IBM Plex Sans" charset="0"/>
            </a:endParaRPr>
          </a:p>
        </p:txBody>
      </p:sp>
      <p:sp>
        <p:nvSpPr>
          <p:cNvPr id="9" name="Shape 7"/>
          <p:cNvSpPr/>
          <p:nvPr/>
        </p:nvSpPr>
        <p:spPr>
          <a:xfrm>
            <a:off x="4388882" y="2538115"/>
            <a:ext cx="3414236" cy="1461770"/>
          </a:xfrm>
          <a:prstGeom prst="roundRect">
            <a:avLst>
              <a:gd name="adj" fmla="val 6733"/>
            </a:avLst>
          </a:prstGeom>
          <a:solidFill>
            <a:srgbClr val="FCFBF8"/>
          </a:solidFill>
          <a:ln w="6350">
            <a:solidFill>
              <a:srgbClr val="DCDAD2"/>
            </a:solidFill>
            <a:prstDash val="solid"/>
          </a:ln>
        </p:spPr>
      </p:sp>
      <p:sp>
        <p:nvSpPr>
          <p:cNvPr id="10" name="Text 8"/>
          <p:cNvSpPr/>
          <p:nvPr/>
        </p:nvSpPr>
        <p:spPr>
          <a:xfrm>
            <a:off x="4568587" y="2717800"/>
            <a:ext cx="314647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02</a:t>
            </a:r>
            <a:endParaRPr lang="en-US" sz="1600" dirty="0">
              <a:latin typeface="JetBrains Mono" charset="0"/>
              <a:ea typeface="JetBrains Mono" charset="0"/>
              <a:cs typeface="JetBrains Mono" charset="0"/>
            </a:endParaRPr>
          </a:p>
        </p:txBody>
      </p:sp>
      <p:sp>
        <p:nvSpPr>
          <p:cNvPr id="11" name="Text 9"/>
          <p:cNvSpPr/>
          <p:nvPr/>
        </p:nvSpPr>
        <p:spPr>
          <a:xfrm>
            <a:off x="4568587" y="3065810"/>
            <a:ext cx="314647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Quanto fazer na ISR?</a:t>
            </a:r>
            <a:endParaRPr lang="en-US" sz="1500" dirty="0">
              <a:latin typeface="IBM Plex Sans" charset="0"/>
              <a:ea typeface="IBM Plex Sans" charset="0"/>
              <a:cs typeface="IBM Plex Sans" charset="0"/>
            </a:endParaRPr>
          </a:p>
        </p:txBody>
      </p:sp>
      <p:sp>
        <p:nvSpPr>
          <p:cNvPr id="12" name="Text 10"/>
          <p:cNvSpPr/>
          <p:nvPr/>
        </p:nvSpPr>
        <p:spPr>
          <a:xfrm>
            <a:off x="4568587" y="3357910"/>
            <a:ext cx="314647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Em geral, a ISR deve ser o mais curta possível.</a:t>
            </a:r>
            <a:endParaRPr lang="en-US" sz="1300" dirty="0">
              <a:latin typeface="IBM Plex Sans" charset="0"/>
              <a:ea typeface="IBM Plex Sans" charset="0"/>
              <a:cs typeface="IBM Plex Sans" charset="0"/>
            </a:endParaRPr>
          </a:p>
        </p:txBody>
      </p:sp>
      <p:sp>
        <p:nvSpPr>
          <p:cNvPr id="13" name="Shape 11"/>
          <p:cNvSpPr/>
          <p:nvPr/>
        </p:nvSpPr>
        <p:spPr>
          <a:xfrm>
            <a:off x="7961868" y="2538115"/>
            <a:ext cx="3414157" cy="1461770"/>
          </a:xfrm>
          <a:prstGeom prst="roundRect">
            <a:avLst>
              <a:gd name="adj" fmla="val 6733"/>
            </a:avLst>
          </a:prstGeom>
          <a:solidFill>
            <a:srgbClr val="FCFBF8"/>
          </a:solidFill>
          <a:ln w="6350">
            <a:solidFill>
              <a:srgbClr val="DCDAD2"/>
            </a:solidFill>
            <a:prstDash val="solid"/>
          </a:ln>
        </p:spPr>
      </p:sp>
      <p:sp>
        <p:nvSpPr>
          <p:cNvPr id="14" name="Text 12"/>
          <p:cNvSpPr/>
          <p:nvPr/>
        </p:nvSpPr>
        <p:spPr>
          <a:xfrm>
            <a:off x="8141574" y="2717800"/>
            <a:ext cx="3146389"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7766A"/>
                </a:solidFill>
                <a:latin typeface="JetBrains Mono" pitchFamily="49" charset="0"/>
                <a:ea typeface="JetBrains Mono" pitchFamily="49" charset="-122"/>
                <a:cs typeface="JetBrains Mono" pitchFamily="49" charset="-120"/>
              </a:rPr>
              <a:t>03</a:t>
            </a:r>
            <a:endParaRPr lang="en-US" sz="1600" dirty="0">
              <a:latin typeface="JetBrains Mono" charset="0"/>
              <a:ea typeface="JetBrains Mono" charset="0"/>
              <a:cs typeface="JetBrains Mono" charset="0"/>
            </a:endParaRPr>
          </a:p>
        </p:txBody>
      </p:sp>
      <p:sp>
        <p:nvSpPr>
          <p:cNvPr id="15" name="Text 13"/>
          <p:cNvSpPr/>
          <p:nvPr/>
        </p:nvSpPr>
        <p:spPr>
          <a:xfrm>
            <a:off x="8141574" y="3065810"/>
            <a:ext cx="314638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Como passar à task?</a:t>
            </a:r>
            <a:endParaRPr lang="en-US" sz="1500" dirty="0">
              <a:latin typeface="IBM Plex Sans" charset="0"/>
              <a:ea typeface="IBM Plex Sans" charset="0"/>
              <a:cs typeface="IBM Plex Sans" charset="0"/>
            </a:endParaRPr>
          </a:p>
        </p:txBody>
      </p:sp>
      <p:sp>
        <p:nvSpPr>
          <p:cNvPr id="16" name="Text 14"/>
          <p:cNvSpPr/>
          <p:nvPr/>
        </p:nvSpPr>
        <p:spPr>
          <a:xfrm>
            <a:off x="8141574" y="3357910"/>
            <a:ext cx="314638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E como estruturar o código para eventos assíncronos.</a:t>
            </a:r>
            <a:endParaRPr lang="en-US" sz="1300" dirty="0">
              <a:latin typeface="IBM Plex Sans" charset="0"/>
              <a:ea typeface="IBM Plex Sans" charset="0"/>
              <a:cs typeface="IBM Plex Sans" charset="0"/>
            </a:endParaRPr>
          </a:p>
        </p:txBody>
      </p:sp>
      <p:sp>
        <p:nvSpPr>
          <p:cNvPr id="17" name="Shape 15"/>
          <p:cNvSpPr/>
          <p:nvPr/>
        </p:nvSpPr>
        <p:spPr>
          <a:xfrm>
            <a:off x="812800" y="4206230"/>
            <a:ext cx="10566400" cy="802640"/>
          </a:xfrm>
          <a:custGeom>
            <a:avLst/>
            <a:gdLst/>
            <a:ahLst/>
            <a:cxnLst/>
            <a:rect l="l" t="t" r="r" b="b"/>
            <a:pathLst>
              <a:path w="10566400" h="802640">
                <a:moveTo>
                  <a:pt x="0" y="0"/>
                </a:moveTo>
                <a:lnTo>
                  <a:pt x="10490200" y="0"/>
                </a:lnTo>
                <a:arcTo hR="76200" wR="76200" stAng="16200000" swAng="5400000"/>
                <a:lnTo>
                  <a:pt x="10566400" y="726440"/>
                </a:lnTo>
                <a:arcTo hR="76200" wR="76200" stAng="0" swAng="5400000"/>
                <a:lnTo>
                  <a:pt x="0" y="802640"/>
                </a:lnTo>
                <a:lnTo>
                  <a:pt x="0" y="0"/>
                </a:lnTo>
                <a:close/>
              </a:path>
            </a:pathLst>
          </a:custGeom>
          <a:solidFill>
            <a:srgbClr val="FBEFE7"/>
          </a:solidFill>
          <a:ln/>
        </p:spPr>
      </p:sp>
      <p:sp>
        <p:nvSpPr>
          <p:cNvPr id="18" name="Shape 16"/>
          <p:cNvSpPr/>
          <p:nvPr/>
        </p:nvSpPr>
        <p:spPr>
          <a:xfrm>
            <a:off x="812800" y="4206230"/>
            <a:ext cx="10566400" cy="802640"/>
          </a:xfrm>
          <a:custGeom>
            <a:avLst/>
            <a:gdLst/>
            <a:ahLst/>
            <a:cxnLst/>
            <a:rect l="l" t="t" r="r" b="b"/>
            <a:pathLst>
              <a:path w="10566400" h="802640">
                <a:moveTo>
                  <a:pt x="38100" y="802640"/>
                </a:moveTo>
                <a:lnTo>
                  <a:pt x="0" y="802640"/>
                </a:lnTo>
                <a:lnTo>
                  <a:pt x="0" y="0"/>
                </a:lnTo>
                <a:lnTo>
                  <a:pt x="38100" y="0"/>
                </a:lnTo>
                <a:lnTo>
                  <a:pt x="38100" y="802640"/>
                </a:lnTo>
                <a:close/>
              </a:path>
            </a:pathLst>
          </a:custGeom>
          <a:solidFill>
            <a:srgbClr val="D0612A"/>
          </a:solidFill>
          <a:ln/>
        </p:spPr>
      </p:sp>
      <p:pic>
        <p:nvPicPr>
          <p:cNvPr id="19" name="Image 0" descr="Warning">    </p:cNvPr>
          <p:cNvPicPr>
            <a:picLocks noChangeAspect="1"/>
          </p:cNvPicPr>
          <p:nvPr/>
        </p:nvPicPr>
        <p:blipFill>
          <a:blip r:embed="rId1"/>
          <a:srcRect l="0" r="0" t="0" b="0"/>
          <a:stretch/>
        </p:blipFill>
        <p:spPr>
          <a:xfrm>
            <a:off x="1051560" y="4455170"/>
            <a:ext cx="304800" cy="304800"/>
          </a:xfrm>
          <a:prstGeom prst="rect">
            <a:avLst/>
          </a:prstGeom>
        </p:spPr>
      </p:pic>
      <p:sp>
        <p:nvSpPr>
          <p:cNvPr id="20" name="Text 17"/>
          <p:cNvSpPr/>
          <p:nvPr/>
        </p:nvSpPr>
        <p:spPr>
          <a:xfrm>
            <a:off x="1508760" y="4358630"/>
            <a:ext cx="995725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Prioridade de task ≠ prioridade de interrupção. As tasks são software; a ISR é decidida pelo hardware. </a:t>
            </a:r>
            <a:r>
              <a:rPr lang="en-US" sz="1400" b="1" dirty="0">
                <a:solidFill>
                  <a:srgbClr val="14222E"/>
                </a:solidFill>
                <a:latin typeface="IBM Plex Sans" pitchFamily="34" charset="0"/>
                <a:ea typeface="IBM Plex Sans" pitchFamily="34" charset="-122"/>
                <a:cs typeface="IBM Plex Sans" pitchFamily="34" charset="-120"/>
              </a:rPr>
              <a:t>A interrupção de prioridade mais baixa interrompe a task de prioridade mais alta</a:t>
            </a:r>
            <a:r>
              <a:rPr lang="en-US" sz="1400" dirty="0">
                <a:solidFill>
                  <a:srgbClr val="14222E"/>
                </a:solidFill>
                <a:latin typeface="IBM Plex Sans" pitchFamily="34" charset="0"/>
                <a:ea typeface="IBM Plex Sans" pitchFamily="34" charset="-122"/>
                <a:cs typeface="IBM Plex Sans" pitchFamily="34" charset="-120"/>
              </a:rPr>
              <a:t>, e nenhuma task preempta uma ISR.</a:t>
            </a:r>
            <a:endParaRPr lang="en-US" sz="1400" dirty="0">
              <a:latin typeface="IBM Plex Sans" charset="0"/>
              <a:ea typeface="IBM Plex Sans" charset="0"/>
              <a:cs typeface="IBM Plex Sans" charset="0"/>
            </a:endParaRPr>
          </a:p>
        </p:txBody>
      </p:sp>
      <p:sp>
        <p:nvSpPr>
          <p:cNvPr id="21" name="Text 18"/>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22" name="Text 19"/>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90</a:t>
            </a:r>
            <a:endParaRPr lang="en-US" sz="1200" dirty="0">
              <a:latin typeface="IBM Plex Sans" charset="0"/>
              <a:ea typeface="IBM Plex Sans" charset="0"/>
              <a:cs typeface="IBM Plex Sans"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API …FromISR()</a:t>
            </a:r>
            <a:endParaRPr lang="en-US" sz="3200" dirty="0">
              <a:latin typeface="IBM Plex Sans" charset="0"/>
              <a:ea typeface="IBM Plex Sans" charset="0"/>
              <a:cs typeface="IBM Plex Sans" charset="0"/>
            </a:endParaRPr>
          </a:p>
        </p:txBody>
      </p:sp>
      <p:sp>
        <p:nvSpPr>
          <p:cNvPr id="4" name="Text 2"/>
          <p:cNvSpPr/>
          <p:nvPr/>
        </p:nvSpPr>
        <p:spPr>
          <a:xfrm>
            <a:off x="812800" y="1899940"/>
            <a:ext cx="5991098"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Muitas funções da API fazem coisas inválidas numa ISR. A mais óbvia: pôr a task que chamou em </a:t>
            </a:r>
            <a:r>
              <a:rPr lang="en-US" sz="1500" b="1" dirty="0">
                <a:solidFill>
                  <a:srgbClr val="44505C"/>
                </a:solidFill>
                <a:latin typeface="IBM Plex Sans" pitchFamily="34" charset="0"/>
                <a:ea typeface="IBM Plex Sans" pitchFamily="34" charset="-122"/>
                <a:cs typeface="IBM Plex Sans" pitchFamily="34" charset="-120"/>
              </a:rPr>
              <a:t>Blocked</a:t>
            </a:r>
            <a:r>
              <a:rPr lang="en-US" sz="1500" dirty="0">
                <a:solidFill>
                  <a:srgbClr val="44505C"/>
                </a:solidFill>
                <a:latin typeface="IBM Plex Sans" pitchFamily="34" charset="0"/>
                <a:ea typeface="IBM Plex Sans" pitchFamily="34" charset="-122"/>
                <a:cs typeface="IBM Plex Sans" pitchFamily="34" charset="-120"/>
              </a:rPr>
              <a:t>. Numa ISR não há task que chamou.</a:t>
            </a:r>
            <a:endParaRPr lang="en-US" sz="1500" dirty="0">
              <a:latin typeface="IBM Plex Sans" charset="0"/>
              <a:ea typeface="IBM Plex Sans" charset="0"/>
              <a:cs typeface="IBM Plex Sans" charset="0"/>
            </a:endParaRPr>
          </a:p>
        </p:txBody>
      </p:sp>
      <p:sp>
        <p:nvSpPr>
          <p:cNvPr id="5" name="Text 3"/>
          <p:cNvSpPr/>
          <p:nvPr/>
        </p:nvSpPr>
        <p:spPr>
          <a:xfrm>
            <a:off x="812800" y="2852440"/>
            <a:ext cx="59910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Por isso algumas funções existem em duas versões: uma para tasks e outra, terminada em </a:t>
            </a:r>
            <a:r>
              <a:rPr lang="en-US" sz="1500" b="1" dirty="0">
                <a:solidFill>
                  <a:srgbClr val="14222E"/>
                </a:solidFill>
                <a:latin typeface="IBM Plex Sans" pitchFamily="34" charset="0"/>
                <a:ea typeface="IBM Plex Sans" pitchFamily="34" charset="-122"/>
                <a:cs typeface="IBM Plex Sans" pitchFamily="34" charset="-120"/>
              </a:rPr>
              <a:t>FromISR</a:t>
            </a:r>
            <a:r>
              <a:rPr lang="en-US" sz="1500" dirty="0">
                <a:solidFill>
                  <a:srgbClr val="44505C"/>
                </a:solidFill>
                <a:latin typeface="IBM Plex Sans" pitchFamily="34" charset="0"/>
                <a:ea typeface="IBM Plex Sans" pitchFamily="34" charset="-122"/>
                <a:cs typeface="IBM Plex Sans" pitchFamily="34" charset="-120"/>
              </a:rPr>
              <a:t>, para ISRs.</a:t>
            </a:r>
            <a:endParaRPr lang="en-US" sz="1500" dirty="0">
              <a:latin typeface="IBM Plex Sans" charset="0"/>
              <a:ea typeface="IBM Plex Sans" charset="0"/>
              <a:cs typeface="IBM Plex Sans" charset="0"/>
            </a:endParaRPr>
          </a:p>
        </p:txBody>
      </p:sp>
      <p:sp>
        <p:nvSpPr>
          <p:cNvPr id="6" name="Text 4"/>
          <p:cNvSpPr/>
          <p:nvPr/>
        </p:nvSpPr>
        <p:spPr>
          <a:xfrm>
            <a:off x="812800" y="3538240"/>
            <a:ext cx="5816600" cy="787400"/>
          </a:xfrm>
          <a:prstGeom prst="roundRect">
            <a:avLst>
              <a:gd name="adj" fmla="val 9677"/>
            </a:avLst>
          </a:prstGeom>
          <a:solidFill>
            <a:srgbClr val="FBEFE7"/>
          </a:solidFill>
          <a:ln/>
        </p:spPr>
        <p:txBody>
          <a:bodyPr wrap="square" lIns="155482" tIns="104682" rIns="0" bIns="79282" rtlCol="0" anchor="t">
            <a:normAutofit/>
          </a:bodyPr>
          <a:lstStyle/>
          <a:p>
            <a:pPr algn="l" indent="0" marL="0">
              <a:lnSpc>
                <a:spcPts val="2100"/>
              </a:lnSpc>
              <a:buNone/>
            </a:pPr>
            <a:r>
              <a:rPr lang="en-US" sz="1500" b="1" dirty="0">
                <a:solidFill>
                  <a:srgbClr val="A8491A"/>
                </a:solidFill>
                <a:latin typeface="IBM Plex Sans" pitchFamily="34" charset="0"/>
                <a:ea typeface="IBM Plex Sans" pitchFamily="34" charset="-122"/>
                <a:cs typeface="IBM Plex Sans" pitchFamily="34" charset="-120"/>
              </a:rPr>
              <a:t>Nunca chamar numa ISR uma função da API sem “FromISR” no nome.</a:t>
            </a:r>
            <a:endParaRPr lang="en-US" sz="1500" dirty="0">
              <a:latin typeface="IBM Plex Sans" charset="0"/>
              <a:ea typeface="IBM Plex Sans" charset="0"/>
              <a:cs typeface="IBM Plex Sans" charset="0"/>
            </a:endParaRPr>
          </a:p>
        </p:txBody>
      </p:sp>
      <p:sp>
        <p:nvSpPr>
          <p:cNvPr id="7" name="Shape 5"/>
          <p:cNvSpPr/>
          <p:nvPr/>
        </p:nvSpPr>
        <p:spPr>
          <a:xfrm>
            <a:off x="6937375" y="1903115"/>
            <a:ext cx="4438650" cy="1329690"/>
          </a:xfrm>
          <a:prstGeom prst="roundRect">
            <a:avLst>
              <a:gd name="adj" fmla="val 7402"/>
            </a:avLst>
          </a:prstGeom>
          <a:solidFill>
            <a:srgbClr val="FCFBF8"/>
          </a:solidFill>
          <a:ln w="6350">
            <a:solidFill>
              <a:srgbClr val="DCDAD2"/>
            </a:solidFill>
            <a:prstDash val="solid"/>
          </a:ln>
        </p:spPr>
      </p:sp>
      <p:sp>
        <p:nvSpPr>
          <p:cNvPr id="8" name="Text 6"/>
          <p:cNvSpPr/>
          <p:nvPr/>
        </p:nvSpPr>
        <p:spPr>
          <a:xfrm>
            <a:off x="7117080" y="2082800"/>
            <a:ext cx="420161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VANTAGEM</a:t>
            </a:r>
            <a:endParaRPr lang="en-US" sz="1200" dirty="0">
              <a:latin typeface="IBM Plex Sans" charset="0"/>
              <a:ea typeface="IBM Plex Sans" charset="0"/>
              <a:cs typeface="IBM Plex Sans" charset="0"/>
            </a:endParaRPr>
          </a:p>
        </p:txBody>
      </p:sp>
      <p:sp>
        <p:nvSpPr>
          <p:cNvPr id="9" name="Text 7"/>
          <p:cNvSpPr/>
          <p:nvPr/>
        </p:nvSpPr>
        <p:spPr>
          <a:xfrm>
            <a:off x="7117080" y="2359670"/>
            <a:ext cx="420161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Código de task e de ISR mais eficiente, e entrada nas interrupções mais simples. Sem ela, cada função teria de descobrir o contexto em que corre.</a:t>
            </a:r>
            <a:endParaRPr lang="en-US" sz="1300" dirty="0">
              <a:latin typeface="IBM Plex Sans" charset="0"/>
              <a:ea typeface="IBM Plex Sans" charset="0"/>
              <a:cs typeface="IBM Plex Sans" charset="0"/>
            </a:endParaRPr>
          </a:p>
        </p:txBody>
      </p:sp>
      <p:sp>
        <p:nvSpPr>
          <p:cNvPr id="10" name="Shape 8"/>
          <p:cNvSpPr/>
          <p:nvPr/>
        </p:nvSpPr>
        <p:spPr>
          <a:xfrm>
            <a:off x="6937375" y="3366145"/>
            <a:ext cx="4438650" cy="2010410"/>
          </a:xfrm>
          <a:prstGeom prst="roundRect">
            <a:avLst>
              <a:gd name="adj" fmla="val 4896"/>
            </a:avLst>
          </a:prstGeom>
          <a:solidFill>
            <a:srgbClr val="FCFBF8"/>
          </a:solidFill>
          <a:ln w="6350">
            <a:solidFill>
              <a:srgbClr val="DCDAD2"/>
            </a:solidFill>
            <a:prstDash val="solid"/>
          </a:ln>
        </p:spPr>
      </p:sp>
      <p:sp>
        <p:nvSpPr>
          <p:cNvPr id="11" name="Text 9"/>
          <p:cNvSpPr/>
          <p:nvPr/>
        </p:nvSpPr>
        <p:spPr>
          <a:xfrm>
            <a:off x="7117080" y="3545830"/>
            <a:ext cx="420161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DESVANTAGEM</a:t>
            </a:r>
            <a:endParaRPr lang="en-US" sz="1200" dirty="0">
              <a:latin typeface="IBM Plex Sans" charset="0"/>
              <a:ea typeface="IBM Plex Sans" charset="0"/>
              <a:cs typeface="IBM Plex Sans" charset="0"/>
            </a:endParaRPr>
          </a:p>
        </p:txBody>
      </p:sp>
      <p:sp>
        <p:nvSpPr>
          <p:cNvPr id="12" name="Text 10"/>
          <p:cNvSpPr/>
          <p:nvPr/>
        </p:nvSpPr>
        <p:spPr>
          <a:xfrm>
            <a:off x="7117080" y="3822700"/>
            <a:ext cx="420161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O código tem de saber em que contexto corre. Um driver de terceiros chamado da ISR e de uma task não sabe qual das versões usar. Soluções:</a:t>
            </a:r>
            <a:endParaRPr lang="en-US" sz="1300" dirty="0">
              <a:latin typeface="IBM Plex Sans" charset="0"/>
              <a:ea typeface="IBM Plex Sans" charset="0"/>
              <a:cs typeface="IBM Plex Sans" charset="0"/>
            </a:endParaRPr>
          </a:p>
        </p:txBody>
      </p:sp>
      <p:sp>
        <p:nvSpPr>
          <p:cNvPr id="13" name="Text 11"/>
          <p:cNvSpPr/>
          <p:nvPr/>
        </p:nvSpPr>
        <p:spPr>
          <a:xfrm>
            <a:off x="7294880" y="4579640"/>
            <a:ext cx="4018483" cy="642620"/>
          </a:xfrm>
          <a:prstGeom prst="rect">
            <a:avLst/>
          </a:prstGeom>
          <a:noFill/>
          <a:ln/>
        </p:spPr>
        <p:txBody>
          <a:bodyPr wrap="square" lIns="0" tIns="0" rIns="0" bIns="0" rtlCol="0" anchor="t">
            <a:normAutofit/>
          </a:bodyPr>
          <a:lstStyle/>
          <a:p>
            <a:pPr algn="l" marL="182880" indent="-155194">
              <a:lnSpc>
                <a:spcPts val="1620"/>
              </a:lnSpc>
              <a:buSzPct val="100000"/>
              <a:buChar char="•"/>
            </a:pPr>
            <a:r>
              <a:rPr lang="en-US" sz="1200" dirty="0">
                <a:solidFill>
                  <a:srgbClr val="44505C"/>
                </a:solidFill>
                <a:latin typeface="IBM Plex Sans" pitchFamily="34" charset="0"/>
                <a:ea typeface="IBM Plex Sans" pitchFamily="34" charset="-122"/>
                <a:cs typeface="IBM Plex Sans" pitchFamily="34" charset="-120"/>
              </a:rPr>
              <a:t>Adiar o processamento para uma task</a:t>
            </a:r>
            <a:endParaRPr lang="en-US" sz="1200" dirty="0">
              <a:latin typeface="IBM Plex Sans" charset="0"/>
              <a:ea typeface="IBM Plex Sans" charset="0"/>
              <a:cs typeface="IBM Plex Sans" charset="0"/>
            </a:endParaRPr>
          </a:p>
          <a:p>
            <a:pPr algn="l" marL="182880" indent="-155194">
              <a:lnSpc>
                <a:spcPts val="1620"/>
              </a:lnSpc>
              <a:buSzPct val="100000"/>
              <a:buChar char="•"/>
            </a:pPr>
            <a:r>
              <a:rPr lang="en-US" sz="1200" dirty="0">
                <a:solidFill>
                  <a:srgbClr val="44505C"/>
                </a:solidFill>
                <a:latin typeface="IBM Plex Sans" pitchFamily="34" charset="0"/>
                <a:ea typeface="IBM Plex Sans" pitchFamily="34" charset="-122"/>
                <a:cs typeface="IBM Plex Sans" pitchFamily="34" charset="-120"/>
              </a:rPr>
              <a:t>Com nesting, usar sempre a FromISR </a:t>
            </a:r>
            <a:r>
              <a:rPr lang="en-US" sz="1200" dirty="0">
                <a:solidFill>
                  <a:srgbClr val="A8491A"/>
                </a:solidFill>
                <a:latin typeface="IBM Plex Sans" pitchFamily="34" charset="0"/>
                <a:ea typeface="IBM Plex Sans" pitchFamily="34" charset="-122"/>
                <a:cs typeface="IBM Plex Sans" pitchFamily="34" charset="-120"/>
              </a:rPr>
              <a:t>(não na Pico 2)</a:t>
            </a:r>
            <a:endParaRPr lang="en-US" sz="1200" dirty="0">
              <a:latin typeface="IBM Plex Sans" charset="0"/>
              <a:ea typeface="IBM Plex Sans" charset="0"/>
              <a:cs typeface="IBM Plex Sans" charset="0"/>
            </a:endParaRPr>
          </a:p>
          <a:p>
            <a:pPr algn="l" marL="182880" indent="-155194">
              <a:lnSpc>
                <a:spcPts val="1620"/>
              </a:lnSpc>
              <a:buSzPct val="100000"/>
              <a:buChar char="•"/>
            </a:pPr>
            <a:r>
              <a:rPr lang="en-US" sz="1200" dirty="0">
                <a:solidFill>
                  <a:srgbClr val="44505C"/>
                </a:solidFill>
                <a:latin typeface="IBM Plex Sans" pitchFamily="34" charset="0"/>
                <a:ea typeface="IBM Plex Sans" pitchFamily="34" charset="-122"/>
                <a:cs typeface="IBM Plex Sans" pitchFamily="34" charset="-120"/>
              </a:rPr>
              <a:t>Camada de abstração que testa o contexto</a:t>
            </a:r>
            <a:endParaRPr lang="en-US" sz="1200" dirty="0">
              <a:latin typeface="IBM Plex Sans" charset="0"/>
              <a:ea typeface="IBM Plex Sans" charset="0"/>
              <a:cs typeface="IBM Plex Sans"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91</a:t>
            </a:r>
            <a:endParaRPr lang="en-US" sz="1200" dirty="0">
              <a:latin typeface="IBM Plex Sans" charset="0"/>
              <a:ea typeface="IBM Plex Sans" charset="0"/>
              <a:cs typeface="IBM Plex Sans"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xHigherPriorityTaskWoken e portYIELD_FROM_ISR()</a:t>
            </a:r>
            <a:endParaRPr lang="en-US" sz="3200" dirty="0">
              <a:latin typeface="IBM Plex Sans" charset="0"/>
              <a:ea typeface="IBM Plex Sans" charset="0"/>
              <a:cs typeface="IBM Plex Sans" charset="0"/>
            </a:endParaRPr>
          </a:p>
        </p:txBody>
      </p:sp>
      <p:sp>
        <p:nvSpPr>
          <p:cNvPr id="4" name="Text 2"/>
          <p:cNvSpPr/>
          <p:nvPr/>
        </p:nvSpPr>
        <p:spPr>
          <a:xfrm>
            <a:off x="812800" y="1899940"/>
            <a:ext cx="5461000" cy="3027680"/>
          </a:xfrm>
          <a:prstGeom prst="roundRect">
            <a:avLst>
              <a:gd name="adj" fmla="val 2517"/>
            </a:avLst>
          </a:prstGeom>
          <a:solidFill>
            <a:srgbClr val="14222E"/>
          </a:solidFill>
          <a:ln/>
        </p:spPr>
        <p:txBody>
          <a:bodyPr wrap="none" lIns="1046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vExampleISR(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BaseType_t xHigherPriorityTaskWoken = pdFALSE;</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uint32_t ulValor = LER_REGISTO_DO_PERIFERICO();</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Pode pôr em Ready uma task mais prioritária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xQueueSendToBackFromISR( xQueue, &amp;ulValor,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&amp;xHigherPriorityTaskWoken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Se sim, pedir a troca de contexto à saída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portYIELD_FROM_ISR( xHigherPriorityTaskWoken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5" name="Text 3"/>
          <p:cNvSpPr/>
          <p:nvPr/>
        </p:nvSpPr>
        <p:spPr>
          <a:xfrm>
            <a:off x="812800" y="5054600"/>
            <a:ext cx="56248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Protótipo da ISR e macro de yield dependem do port: ver a documentação do port usado.</a:t>
            </a:r>
            <a:endParaRPr lang="en-US" sz="1200" dirty="0">
              <a:latin typeface="IBM Plex Sans" charset="0"/>
              <a:ea typeface="IBM Plex Sans" charset="0"/>
              <a:cs typeface="IBM Plex Sans" charset="0"/>
            </a:endParaRPr>
          </a:p>
        </p:txBody>
      </p:sp>
      <p:sp>
        <p:nvSpPr>
          <p:cNvPr id="6" name="Shape 4"/>
          <p:cNvSpPr/>
          <p:nvPr/>
        </p:nvSpPr>
        <p:spPr>
          <a:xfrm>
            <a:off x="6530975" y="1903115"/>
            <a:ext cx="4845050" cy="1101090"/>
          </a:xfrm>
          <a:prstGeom prst="roundRect">
            <a:avLst>
              <a:gd name="adj" fmla="val 8939"/>
            </a:avLst>
          </a:prstGeom>
          <a:solidFill>
            <a:srgbClr val="FCFBF8"/>
          </a:solidFill>
          <a:ln w="6350">
            <a:solidFill>
              <a:srgbClr val="DCDAD2"/>
            </a:solidFill>
            <a:prstDash val="solid"/>
          </a:ln>
        </p:spPr>
      </p:sp>
      <p:sp>
        <p:nvSpPr>
          <p:cNvPr id="7" name="Text 5"/>
          <p:cNvSpPr/>
          <p:nvPr/>
        </p:nvSpPr>
        <p:spPr>
          <a:xfrm>
            <a:off x="6710680" y="2082800"/>
            <a:ext cx="46202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Chamada numa task</a:t>
            </a:r>
            <a:endParaRPr lang="en-US" sz="1500" dirty="0">
              <a:latin typeface="IBM Plex Sans" charset="0"/>
              <a:ea typeface="IBM Plex Sans" charset="0"/>
              <a:cs typeface="IBM Plex Sans" charset="0"/>
            </a:endParaRPr>
          </a:p>
        </p:txBody>
      </p:sp>
      <p:sp>
        <p:nvSpPr>
          <p:cNvPr id="8" name="Text 6"/>
          <p:cNvSpPr/>
          <p:nvPr/>
        </p:nvSpPr>
        <p:spPr>
          <a:xfrm>
            <a:off x="6710680" y="2362200"/>
            <a:ext cx="462020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Com preempção, a troca para a task mais prioritária acontece </a:t>
            </a:r>
            <a:r>
              <a:rPr lang="en-US" sz="1300" b="1" dirty="0">
                <a:solidFill>
                  <a:srgbClr val="44505C"/>
                </a:solidFill>
                <a:latin typeface="IBM Plex Sans" pitchFamily="34" charset="0"/>
                <a:ea typeface="IBM Plex Sans" pitchFamily="34" charset="-122"/>
                <a:cs typeface="IBM Plex Sans" pitchFamily="34" charset="-120"/>
              </a:rPr>
              <a:t>dentro</a:t>
            </a:r>
            <a:r>
              <a:rPr lang="en-US" sz="1300" dirty="0">
                <a:solidFill>
                  <a:srgbClr val="44505C"/>
                </a:solidFill>
                <a:latin typeface="IBM Plex Sans" pitchFamily="34" charset="0"/>
                <a:ea typeface="IBM Plex Sans" pitchFamily="34" charset="-122"/>
                <a:cs typeface="IBM Plex Sans" pitchFamily="34" charset="-120"/>
              </a:rPr>
              <a:t> da função da API.</a:t>
            </a:r>
            <a:endParaRPr lang="en-US" sz="1300" dirty="0">
              <a:latin typeface="IBM Plex Sans" charset="0"/>
              <a:ea typeface="IBM Plex Sans" charset="0"/>
              <a:cs typeface="IBM Plex Sans" charset="0"/>
            </a:endParaRPr>
          </a:p>
        </p:txBody>
      </p:sp>
      <p:sp>
        <p:nvSpPr>
          <p:cNvPr id="9" name="Shape 7"/>
          <p:cNvSpPr/>
          <p:nvPr/>
        </p:nvSpPr>
        <p:spPr>
          <a:xfrm>
            <a:off x="6530975" y="3137545"/>
            <a:ext cx="4845050" cy="1332230"/>
          </a:xfrm>
          <a:prstGeom prst="roundRect">
            <a:avLst>
              <a:gd name="adj" fmla="val 7388"/>
            </a:avLst>
          </a:prstGeom>
          <a:solidFill>
            <a:srgbClr val="FCFBF8"/>
          </a:solidFill>
          <a:ln w="6350">
            <a:solidFill>
              <a:srgbClr val="DCDAD2"/>
            </a:solidFill>
            <a:prstDash val="solid"/>
          </a:ln>
        </p:spPr>
      </p:sp>
      <p:sp>
        <p:nvSpPr>
          <p:cNvPr id="10" name="Text 8"/>
          <p:cNvSpPr/>
          <p:nvPr/>
        </p:nvSpPr>
        <p:spPr>
          <a:xfrm>
            <a:off x="6710680" y="3317230"/>
            <a:ext cx="4620209"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Chamada numa ISR</a:t>
            </a:r>
            <a:endParaRPr lang="en-US" sz="1500" dirty="0">
              <a:latin typeface="IBM Plex Sans" charset="0"/>
              <a:ea typeface="IBM Plex Sans" charset="0"/>
              <a:cs typeface="IBM Plex Sans" charset="0"/>
            </a:endParaRPr>
          </a:p>
        </p:txBody>
      </p:sp>
      <p:sp>
        <p:nvSpPr>
          <p:cNvPr id="11" name="Text 9"/>
          <p:cNvSpPr/>
          <p:nvPr/>
        </p:nvSpPr>
        <p:spPr>
          <a:xfrm>
            <a:off x="6710680" y="3596630"/>
            <a:ext cx="462020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troca </a:t>
            </a:r>
            <a:r>
              <a:rPr lang="en-US" sz="1300" b="1" dirty="0">
                <a:solidFill>
                  <a:srgbClr val="44505C"/>
                </a:solidFill>
                <a:latin typeface="IBM Plex Sans" pitchFamily="34" charset="0"/>
                <a:ea typeface="IBM Plex Sans" pitchFamily="34" charset="-122"/>
                <a:cs typeface="IBM Plex Sans" pitchFamily="34" charset="-120"/>
              </a:rPr>
              <a:t>não</a:t>
            </a:r>
            <a:r>
              <a:rPr lang="en-US" sz="1300" dirty="0">
                <a:solidFill>
                  <a:srgbClr val="44505C"/>
                </a:solidFill>
                <a:latin typeface="IBM Plex Sans" pitchFamily="34" charset="0"/>
                <a:ea typeface="IBM Plex Sans" pitchFamily="34" charset="-122"/>
                <a:cs typeface="IBM Plex Sans" pitchFamily="34" charset="-120"/>
              </a:rPr>
              <a:t> é automática. A função põe *pxHigherPriorityTaskWoken a pdTRUE; a ISR decide pedir a troca. Se não pedir, no pior caso espera pelo próximo tick.</a:t>
            </a:r>
            <a:endParaRPr lang="en-US" sz="1300" dirty="0">
              <a:latin typeface="IBM Plex Sans" charset="0"/>
              <a:ea typeface="IBM Plex Sans" charset="0"/>
              <a:cs typeface="IBM Plex Sans" charset="0"/>
            </a:endParaRPr>
          </a:p>
        </p:txBody>
      </p:sp>
      <p:sp>
        <p:nvSpPr>
          <p:cNvPr id="12" name="Text 10"/>
          <p:cNvSpPr/>
          <p:nvPr/>
        </p:nvSpPr>
        <p:spPr>
          <a:xfrm>
            <a:off x="6527800" y="4599930"/>
            <a:ext cx="499694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Inicializar a pdFALSE; a mesma variável serve para várias chamadas. Pode ser NULL se não for usada.</a:t>
            </a:r>
            <a:endParaRPr lang="en-US" sz="1200" dirty="0">
              <a:latin typeface="IBM Plex Sans" charset="0"/>
              <a:ea typeface="IBM Plex Sans" charset="0"/>
              <a:cs typeface="IBM Plex Sans" charset="0"/>
            </a:endParaRPr>
          </a:p>
        </p:txBody>
      </p:sp>
      <p:sp>
        <p:nvSpPr>
          <p:cNvPr id="13" name="Text 11"/>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 exemplo adaptado</a:t>
            </a:r>
            <a:endParaRPr lang="en-US" sz="1200" dirty="0">
              <a:latin typeface="IBM Plex Sans" charset="0"/>
              <a:ea typeface="IBM Plex Sans" charset="0"/>
              <a:cs typeface="IBM Plex Sans" charset="0"/>
            </a:endParaRPr>
          </a:p>
        </p:txBody>
      </p:sp>
      <p:sp>
        <p:nvSpPr>
          <p:cNvPr id="14" name="Text 12"/>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92</a:t>
            </a:r>
            <a:endParaRPr lang="en-US" sz="1200" dirty="0">
              <a:latin typeface="IBM Plex Sans" charset="0"/>
              <a:ea typeface="IBM Plex Sans" charset="0"/>
              <a:cs typeface="IBM Plex Sans"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Deferred interrupt processing</a:t>
            </a:r>
            <a:endParaRPr lang="en-US" sz="3200" dirty="0">
              <a:latin typeface="IBM Plex Sans" charset="0"/>
              <a:ea typeface="IBM Plex Sans" charset="0"/>
              <a:cs typeface="IBM Plex Sans" charset="0"/>
            </a:endParaRPr>
          </a:p>
        </p:txBody>
      </p:sp>
      <p:sp>
        <p:nvSpPr>
          <p:cNvPr id="4" name="Text 2"/>
          <p:cNvSpPr/>
          <p:nvPr/>
        </p:nvSpPr>
        <p:spPr>
          <a:xfrm>
            <a:off x="812800" y="17729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ISR regista a causa e limpa a interrupção; o resto é </a:t>
            </a:r>
            <a:r>
              <a:rPr lang="en-US" sz="1500" b="1" dirty="0">
                <a:solidFill>
                  <a:srgbClr val="44505C"/>
                </a:solidFill>
                <a:latin typeface="IBM Plex Sans" pitchFamily="34" charset="0"/>
                <a:ea typeface="IBM Plex Sans" pitchFamily="34" charset="-122"/>
                <a:cs typeface="IBM Plex Sans" pitchFamily="34" charset="-120"/>
              </a:rPr>
              <a:t>adiado</a:t>
            </a:r>
            <a:r>
              <a:rPr lang="en-US" sz="1500" dirty="0">
                <a:solidFill>
                  <a:srgbClr val="44505C"/>
                </a:solidFill>
                <a:latin typeface="IBM Plex Sans" pitchFamily="34" charset="0"/>
                <a:ea typeface="IBM Plex Sans" pitchFamily="34" charset="-122"/>
                <a:cs typeface="IBM Plex Sans" pitchFamily="34" charset="-120"/>
              </a:rPr>
              <a:t> para uma task. Se essa task tiver a prioridade mais alta, o processamento acontece logo a seguir, como se fosse na ISR.</a:t>
            </a:r>
            <a:endParaRPr lang="en-US" sz="1500" dirty="0">
              <a:latin typeface="IBM Plex Sans" charset="0"/>
              <a:ea typeface="IBM Plex Sans" charset="0"/>
              <a:cs typeface="IBM Plex Sans" charset="0"/>
            </a:endParaRPr>
          </a:p>
        </p:txBody>
      </p:sp>
      <p:pic>
        <p:nvPicPr>
          <p:cNvPr id="5" name="Image 0" descr="Linha temporal: a Task 1 corre; em t2 ocorre a interrupção e a ISR corre até t3; de t3 a t4 corre a Task 2, que faz o processamento adiado; depois a Task 1 retoma.">    </p:cNvPr>
          <p:cNvPicPr>
            <a:picLocks noChangeAspect="1"/>
          </p:cNvPicPr>
          <p:nvPr/>
        </p:nvPicPr>
        <p:blipFill>
          <a:blip r:embed="rId1"/>
          <a:srcRect l="0" r="0" t="-55" b="-55"/>
          <a:stretch/>
        </p:blipFill>
        <p:spPr>
          <a:xfrm>
            <a:off x="812800" y="2484140"/>
            <a:ext cx="10566400" cy="2159000"/>
          </a:xfrm>
          <a:prstGeom prst="rect">
            <a:avLst/>
          </a:prstGeom>
        </p:spPr>
      </p:pic>
      <p:sp>
        <p:nvSpPr>
          <p:cNvPr id="6" name="Text 3"/>
          <p:cNvSpPr/>
          <p:nvPr/>
        </p:nvSpPr>
        <p:spPr>
          <a:xfrm>
            <a:off x="812800" y="2680990"/>
            <a:ext cx="1896745"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7A3FA0"/>
                </a:solidFill>
                <a:latin typeface="IBM Plex Sans" pitchFamily="34" charset="0"/>
                <a:ea typeface="IBM Plex Sans" pitchFamily="34" charset="-122"/>
                <a:cs typeface="IBM Plex Sans" pitchFamily="34" charset="-120"/>
              </a:rPr>
              <a:t>ISR</a:t>
            </a:r>
            <a:endParaRPr lang="en-US" sz="1200" dirty="0">
              <a:latin typeface="IBM Plex Sans" charset="0"/>
              <a:ea typeface="IBM Plex Sans" charset="0"/>
              <a:cs typeface="IBM Plex Sans" charset="0"/>
            </a:endParaRPr>
          </a:p>
        </p:txBody>
      </p:sp>
      <p:sp>
        <p:nvSpPr>
          <p:cNvPr id="7" name="Text 4"/>
          <p:cNvSpPr/>
          <p:nvPr/>
        </p:nvSpPr>
        <p:spPr>
          <a:xfrm>
            <a:off x="812800" y="3252490"/>
            <a:ext cx="1896745"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D0612A"/>
                </a:solidFill>
                <a:latin typeface="IBM Plex Sans" pitchFamily="34" charset="0"/>
                <a:ea typeface="IBM Plex Sans" pitchFamily="34" charset="-122"/>
                <a:cs typeface="IBM Plex Sans" pitchFamily="34" charset="-120"/>
              </a:rPr>
              <a:t>Task 2 (handler)</a:t>
            </a:r>
            <a:endParaRPr lang="en-US" sz="1200" dirty="0">
              <a:latin typeface="IBM Plex Sans" charset="0"/>
              <a:ea typeface="IBM Plex Sans" charset="0"/>
              <a:cs typeface="IBM Plex Sans" charset="0"/>
            </a:endParaRPr>
          </a:p>
        </p:txBody>
      </p:sp>
      <p:sp>
        <p:nvSpPr>
          <p:cNvPr id="8" name="Text 5"/>
          <p:cNvSpPr/>
          <p:nvPr/>
        </p:nvSpPr>
        <p:spPr>
          <a:xfrm>
            <a:off x="812800" y="3823990"/>
            <a:ext cx="1896745"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Task 1</a:t>
            </a:r>
            <a:endParaRPr lang="en-US" sz="1200" dirty="0">
              <a:latin typeface="IBM Plex Sans" charset="0"/>
              <a:ea typeface="IBM Plex Sans" charset="0"/>
              <a:cs typeface="IBM Plex Sans" charset="0"/>
            </a:endParaRPr>
          </a:p>
        </p:txBody>
      </p:sp>
      <p:sp>
        <p:nvSpPr>
          <p:cNvPr id="9" name="Text 6"/>
          <p:cNvSpPr/>
          <p:nvPr/>
        </p:nvSpPr>
        <p:spPr>
          <a:xfrm>
            <a:off x="5054600" y="43891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p:txBody>
      </p:sp>
      <p:sp>
        <p:nvSpPr>
          <p:cNvPr id="10" name="Text 7"/>
          <p:cNvSpPr/>
          <p:nvPr/>
        </p:nvSpPr>
        <p:spPr>
          <a:xfrm>
            <a:off x="6070600" y="43891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p:txBody>
      </p:sp>
      <p:sp>
        <p:nvSpPr>
          <p:cNvPr id="11" name="Text 8"/>
          <p:cNvSpPr/>
          <p:nvPr/>
        </p:nvSpPr>
        <p:spPr>
          <a:xfrm>
            <a:off x="8623300" y="43891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b="1" dirty="0">
                <a:solidFill>
                  <a:srgbClr val="14222E"/>
                </a:solidFill>
                <a:latin typeface="IBM Plex Sans" pitchFamily="34" charset="0"/>
                <a:ea typeface="IBM Plex Sans" pitchFamily="34" charset="-122"/>
                <a:cs typeface="IBM Plex Sans" pitchFamily="34" charset="-120"/>
              </a:rPr>
              <a:t>t4</a:t>
            </a:r>
            <a:endParaRPr lang="en-US" sz="1200" dirty="0">
              <a:latin typeface="IBM Plex Sans" charset="0"/>
              <a:ea typeface="IBM Plex Sans" charset="0"/>
              <a:cs typeface="IBM Plex Sans" charset="0"/>
            </a:endParaRPr>
          </a:p>
        </p:txBody>
      </p:sp>
      <p:sp>
        <p:nvSpPr>
          <p:cNvPr id="12" name="Text 9"/>
          <p:cNvSpPr/>
          <p:nvPr/>
        </p:nvSpPr>
        <p:spPr>
          <a:xfrm>
            <a:off x="812800" y="4820940"/>
            <a:ext cx="5219700" cy="843280"/>
          </a:xfrm>
          <a:prstGeom prst="roundRect">
            <a:avLst>
              <a:gd name="adj" fmla="val 9036"/>
            </a:avLst>
          </a:prstGeom>
          <a:solidFill>
            <a:srgbClr val="E3EFEC"/>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Porquê ISRs curtas:</a:t>
            </a:r>
            <a:r>
              <a:rPr lang="en-US" sz="1200" dirty="0">
                <a:solidFill>
                  <a:srgbClr val="14222E"/>
                </a:solidFill>
                <a:latin typeface="IBM Plex Sans" pitchFamily="34" charset="0"/>
                <a:ea typeface="IBM Plex Sans" pitchFamily="34" charset="-122"/>
                <a:cs typeface="IBM Plex Sans" pitchFamily="34" charset="-120"/>
              </a:rPr>
              <a:t> tasks só correm sem ISRs ativas; ISRs criam jitter; podem bloquear outras interrupções; nesting fica mais provável.</a:t>
            </a:r>
            <a:endParaRPr lang="en-US" sz="1200" dirty="0">
              <a:latin typeface="IBM Plex Sans" charset="0"/>
              <a:ea typeface="IBM Plex Sans" charset="0"/>
              <a:cs typeface="IBM Plex Sans" charset="0"/>
            </a:endParaRPr>
          </a:p>
        </p:txBody>
      </p:sp>
      <p:sp>
        <p:nvSpPr>
          <p:cNvPr id="13" name="Text 10"/>
          <p:cNvSpPr/>
          <p:nvPr/>
        </p:nvSpPr>
        <p:spPr>
          <a:xfrm>
            <a:off x="6159500" y="4820940"/>
            <a:ext cx="5219700" cy="843280"/>
          </a:xfrm>
          <a:prstGeom prst="roundRect">
            <a:avLst>
              <a:gd name="adj" fmla="val 9036"/>
            </a:avLst>
          </a:prstGeom>
          <a:solidFill>
            <a:srgbClr val="E3EFEC"/>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Quando adiar:</a:t>
            </a:r>
            <a:r>
              <a:rPr lang="en-US" sz="1200" dirty="0">
                <a:solidFill>
                  <a:srgbClr val="14222E"/>
                </a:solidFill>
                <a:latin typeface="IBM Plex Sans" pitchFamily="34" charset="0"/>
                <a:ea typeface="IBM Plex Sans" pitchFamily="34" charset="-122"/>
                <a:cs typeface="IBM Plex Sans" pitchFamily="34" charset="-120"/>
              </a:rPr>
              <a:t> processamento não trivial (ex.: filtrar uma leitura ADC), ações proibidas numa ISR (consola, alocar memória), duração imprevisível.</a:t>
            </a:r>
            <a:endParaRPr lang="en-US" sz="1200" dirty="0">
              <a:latin typeface="IBM Plex Sans" charset="0"/>
              <a:ea typeface="IBM Plex Sans" charset="0"/>
              <a:cs typeface="IBM Plex Sans" charset="0"/>
            </a:endParaRPr>
          </a:p>
        </p:txBody>
      </p:sp>
      <p:sp>
        <p:nvSpPr>
          <p:cNvPr id="14" name="Text 11"/>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5" name="Text 12"/>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93</a:t>
            </a:r>
            <a:endParaRPr lang="en-US" sz="1200" dirty="0">
              <a:latin typeface="IBM Plex Sans" charset="0"/>
              <a:ea typeface="IBM Plex Sans" charset="0"/>
              <a:cs typeface="IBM Plex Sans"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Sincronizar uma task com uma interrupção</a:t>
            </a:r>
            <a:endParaRPr lang="en-US" sz="3200" dirty="0">
              <a:latin typeface="IBM Plex Sans" charset="0"/>
              <a:ea typeface="IBM Plex Sans" charset="0"/>
              <a:cs typeface="IBM Plex Sans" charset="0"/>
            </a:endParaRPr>
          </a:p>
        </p:txBody>
      </p:sp>
      <p:sp>
        <p:nvSpPr>
          <p:cNvPr id="4" name="Text 2"/>
          <p:cNvSpPr/>
          <p:nvPr/>
        </p:nvSpPr>
        <p:spPr>
          <a:xfrm>
            <a:off x="812800" y="18491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 </a:t>
            </a:r>
            <a:r>
              <a:rPr lang="en-US" sz="1500" b="1" dirty="0">
                <a:solidFill>
                  <a:srgbClr val="44505C"/>
                </a:solidFill>
                <a:latin typeface="IBM Plex Sans" pitchFamily="34" charset="0"/>
                <a:ea typeface="IBM Plex Sans" pitchFamily="34" charset="-122"/>
                <a:cs typeface="IBM Plex Sans" pitchFamily="34" charset="-120"/>
              </a:rPr>
              <a:t>semáforo binário</a:t>
            </a:r>
            <a:r>
              <a:rPr lang="en-US" sz="1500" dirty="0">
                <a:solidFill>
                  <a:srgbClr val="44505C"/>
                </a:solidFill>
                <a:latin typeface="IBM Plex Sans" pitchFamily="34" charset="0"/>
                <a:ea typeface="IBM Plex Sans" pitchFamily="34" charset="-122"/>
                <a:cs typeface="IBM Plex Sans" pitchFamily="34" charset="-120"/>
              </a:rPr>
              <a:t> é, conceptualmente, uma queue de comprimento 1: está sempre vazio ou cheio. A task bloqueia a tentar tirá-lo; a ISR dá-o e desbloqueia a task.</a:t>
            </a:r>
            <a:endParaRPr lang="en-US" sz="1500" dirty="0">
              <a:latin typeface="IBM Plex Sans" charset="0"/>
              <a:ea typeface="IBM Plex Sans" charset="0"/>
              <a:cs typeface="IBM Plex Sans" charset="0"/>
            </a:endParaRPr>
          </a:p>
        </p:txBody>
      </p:sp>
      <p:sp>
        <p:nvSpPr>
          <p:cNvPr id="5" name="Shape 3"/>
          <p:cNvSpPr/>
          <p:nvPr/>
        </p:nvSpPr>
        <p:spPr>
          <a:xfrm>
            <a:off x="2016125" y="2654945"/>
            <a:ext cx="2266950" cy="852170"/>
          </a:xfrm>
          <a:prstGeom prst="roundRect">
            <a:avLst>
              <a:gd name="adj" fmla="val 10805"/>
            </a:avLst>
          </a:prstGeom>
          <a:solidFill>
            <a:srgbClr val="FCFBF8"/>
          </a:solidFill>
          <a:ln w="19050">
            <a:solidFill>
              <a:srgbClr val="7A3FA0"/>
            </a:solidFill>
            <a:prstDash val="solid"/>
          </a:ln>
        </p:spPr>
      </p:sp>
      <p:sp>
        <p:nvSpPr>
          <p:cNvPr id="6" name="Text 4"/>
          <p:cNvSpPr/>
          <p:nvPr/>
        </p:nvSpPr>
        <p:spPr>
          <a:xfrm>
            <a:off x="2942535" y="2813050"/>
            <a:ext cx="414052"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7A3FA0"/>
                </a:solidFill>
                <a:latin typeface="IBM Plex Sans" pitchFamily="34" charset="0"/>
                <a:ea typeface="IBM Plex Sans" pitchFamily="34" charset="-122"/>
                <a:cs typeface="IBM Plex Sans" pitchFamily="34" charset="-120"/>
              </a:rPr>
              <a:t>ISR</a:t>
            </a:r>
            <a:endParaRPr lang="en-US" sz="1600" dirty="0">
              <a:latin typeface="IBM Plex Sans" charset="0"/>
              <a:ea typeface="IBM Plex Sans" charset="0"/>
              <a:cs typeface="IBM Plex Sans" charset="0"/>
            </a:endParaRPr>
          </a:p>
        </p:txBody>
      </p:sp>
      <p:sp>
        <p:nvSpPr>
          <p:cNvPr id="7" name="Text 5"/>
          <p:cNvSpPr/>
          <p:nvPr/>
        </p:nvSpPr>
        <p:spPr>
          <a:xfrm>
            <a:off x="2027944" y="3135660"/>
            <a:ext cx="224323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xSemaphoreGiveFromISR()</a:t>
            </a:r>
            <a:endParaRPr lang="en-US" sz="1200" dirty="0">
              <a:latin typeface="IBM Plex Sans" charset="0"/>
              <a:ea typeface="IBM Plex Sans" charset="0"/>
              <a:cs typeface="IBM Plex Sans" charset="0"/>
            </a:endParaRPr>
          </a:p>
        </p:txBody>
      </p:sp>
      <p:sp>
        <p:nvSpPr>
          <p:cNvPr id="8" name="Text 6"/>
          <p:cNvSpPr/>
          <p:nvPr/>
        </p:nvSpPr>
        <p:spPr>
          <a:xfrm>
            <a:off x="4703548" y="2771130"/>
            <a:ext cx="34642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give</a:t>
            </a:r>
            <a:endParaRPr lang="en-US" sz="1200" dirty="0">
              <a:latin typeface="IBM Plex Sans" charset="0"/>
              <a:ea typeface="IBM Plex Sans" charset="0"/>
              <a:cs typeface="IBM Plex Sans" charset="0"/>
            </a:endParaRPr>
          </a:p>
        </p:txBody>
      </p:sp>
      <p:pic>
        <p:nvPicPr>
          <p:cNvPr id="9" name="Image 0" descr="arrow-right">    </p:cNvPr>
          <p:cNvPicPr>
            <a:picLocks noChangeAspect="1"/>
          </p:cNvPicPr>
          <p:nvPr/>
        </p:nvPicPr>
        <p:blipFill>
          <a:blip r:embed="rId1"/>
          <a:srcRect l="0" r="0" t="0" b="0"/>
          <a:stretch/>
        </p:blipFill>
        <p:spPr>
          <a:xfrm>
            <a:off x="4495800" y="3035300"/>
            <a:ext cx="762000" cy="355600"/>
          </a:xfrm>
          <a:prstGeom prst="rect">
            <a:avLst/>
          </a:prstGeom>
        </p:spPr>
      </p:pic>
      <p:sp>
        <p:nvSpPr>
          <p:cNvPr id="10" name="Shape 7"/>
          <p:cNvSpPr/>
          <p:nvPr/>
        </p:nvSpPr>
        <p:spPr>
          <a:xfrm>
            <a:off x="5467350" y="2642890"/>
            <a:ext cx="1257300" cy="876300"/>
          </a:xfrm>
          <a:prstGeom prst="roundRect">
            <a:avLst>
              <a:gd name="adj" fmla="val 10870"/>
            </a:avLst>
          </a:prstGeom>
          <a:solidFill>
            <a:srgbClr val="E3EFEC"/>
          </a:solidFill>
          <a:ln w="12700">
            <a:solidFill>
              <a:srgbClr val="17766A"/>
            </a:solidFill>
            <a:prstDash val="solid"/>
          </a:ln>
        </p:spPr>
      </p:sp>
      <p:pic>
        <p:nvPicPr>
          <p:cNvPr id="11" name="Image 1" descr="Key">    </p:cNvPr>
          <p:cNvPicPr>
            <a:picLocks noChangeAspect="1"/>
          </p:cNvPicPr>
          <p:nvPr/>
        </p:nvPicPr>
        <p:blipFill>
          <a:blip r:embed="rId2"/>
          <a:srcRect l="0" r="0" t="0" b="0"/>
          <a:stretch/>
        </p:blipFill>
        <p:spPr>
          <a:xfrm>
            <a:off x="5943600" y="2796530"/>
            <a:ext cx="304800" cy="304800"/>
          </a:xfrm>
          <a:prstGeom prst="rect">
            <a:avLst/>
          </a:prstGeom>
        </p:spPr>
      </p:pic>
      <p:sp>
        <p:nvSpPr>
          <p:cNvPr id="12" name="Text 8"/>
          <p:cNvSpPr/>
          <p:nvPr/>
        </p:nvSpPr>
        <p:spPr>
          <a:xfrm>
            <a:off x="5707769" y="3152130"/>
            <a:ext cx="776383"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semáforo</a:t>
            </a:r>
            <a:endParaRPr lang="en-US" sz="1200" dirty="0">
              <a:latin typeface="IBM Plex Sans" charset="0"/>
              <a:ea typeface="IBM Plex Sans" charset="0"/>
              <a:cs typeface="IBM Plex Sans" charset="0"/>
            </a:endParaRPr>
          </a:p>
        </p:txBody>
      </p:sp>
      <p:sp>
        <p:nvSpPr>
          <p:cNvPr id="13" name="Text 9"/>
          <p:cNvSpPr/>
          <p:nvPr/>
        </p:nvSpPr>
        <p:spPr>
          <a:xfrm>
            <a:off x="7129653" y="2771130"/>
            <a:ext cx="37109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take</a:t>
            </a:r>
            <a:endParaRPr lang="en-US" sz="1200" dirty="0">
              <a:latin typeface="IBM Plex Sans" charset="0"/>
              <a:ea typeface="IBM Plex Sans" charset="0"/>
              <a:cs typeface="IBM Plex Sans" charset="0"/>
            </a:endParaRPr>
          </a:p>
        </p:txBody>
      </p:sp>
      <p:pic>
        <p:nvPicPr>
          <p:cNvPr id="14" name="Image 2" descr="arrow-right">    </p:cNvPr>
          <p:cNvPicPr>
            <a:picLocks noChangeAspect="1"/>
          </p:cNvPicPr>
          <p:nvPr/>
        </p:nvPicPr>
        <p:blipFill>
          <a:blip r:embed="rId3"/>
          <a:srcRect l="0" r="0" t="0" b="0"/>
          <a:stretch/>
        </p:blipFill>
        <p:spPr>
          <a:xfrm>
            <a:off x="6934200" y="3035300"/>
            <a:ext cx="762000" cy="355600"/>
          </a:xfrm>
          <a:prstGeom prst="rect">
            <a:avLst/>
          </a:prstGeom>
        </p:spPr>
      </p:pic>
      <p:sp>
        <p:nvSpPr>
          <p:cNvPr id="15" name="Shape 10"/>
          <p:cNvSpPr/>
          <p:nvPr/>
        </p:nvSpPr>
        <p:spPr>
          <a:xfrm>
            <a:off x="7908925" y="2654945"/>
            <a:ext cx="2266950" cy="852170"/>
          </a:xfrm>
          <a:prstGeom prst="roundRect">
            <a:avLst>
              <a:gd name="adj" fmla="val 10805"/>
            </a:avLst>
          </a:prstGeom>
          <a:solidFill>
            <a:srgbClr val="FCFBF8"/>
          </a:solidFill>
          <a:ln w="19050">
            <a:solidFill>
              <a:srgbClr val="D0612A"/>
            </a:solidFill>
            <a:prstDash val="solid"/>
          </a:ln>
        </p:spPr>
      </p:sp>
      <p:sp>
        <p:nvSpPr>
          <p:cNvPr id="16" name="Text 11"/>
          <p:cNvSpPr/>
          <p:nvPr/>
        </p:nvSpPr>
        <p:spPr>
          <a:xfrm>
            <a:off x="8318032" y="2813050"/>
            <a:ext cx="1448657"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D0612A"/>
                </a:solidFill>
                <a:latin typeface="IBM Plex Sans" pitchFamily="34" charset="0"/>
                <a:ea typeface="IBM Plex Sans" pitchFamily="34" charset="-122"/>
                <a:cs typeface="IBM Plex Sans" pitchFamily="34" charset="-120"/>
              </a:rPr>
              <a:t>Handler task</a:t>
            </a:r>
            <a:endParaRPr lang="en-US" sz="1600" dirty="0">
              <a:latin typeface="IBM Plex Sans" charset="0"/>
              <a:ea typeface="IBM Plex Sans" charset="0"/>
              <a:cs typeface="IBM Plex Sans" charset="0"/>
            </a:endParaRPr>
          </a:p>
        </p:txBody>
      </p:sp>
      <p:sp>
        <p:nvSpPr>
          <p:cNvPr id="17" name="Text 12"/>
          <p:cNvSpPr/>
          <p:nvPr/>
        </p:nvSpPr>
        <p:spPr>
          <a:xfrm>
            <a:off x="8278114" y="3135660"/>
            <a:ext cx="152857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xSemaphoreTake()</a:t>
            </a:r>
            <a:endParaRPr lang="en-US" sz="1200" dirty="0">
              <a:latin typeface="IBM Plex Sans" charset="0"/>
              <a:ea typeface="IBM Plex Sans" charset="0"/>
              <a:cs typeface="IBM Plex Sans" charset="0"/>
            </a:endParaRPr>
          </a:p>
        </p:txBody>
      </p:sp>
      <p:sp>
        <p:nvSpPr>
          <p:cNvPr id="18" name="Text 13"/>
          <p:cNvSpPr/>
          <p:nvPr/>
        </p:nvSpPr>
        <p:spPr>
          <a:xfrm>
            <a:off x="812800" y="377954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Aqui a ISR dá sem ter tirado, e a task tira sem devolver: </a:t>
            </a:r>
            <a:r>
              <a:rPr lang="en-US" sz="1200" b="1" dirty="0">
                <a:solidFill>
                  <a:srgbClr val="14222E"/>
                </a:solidFill>
                <a:latin typeface="IBM Plex Sans" pitchFamily="34" charset="0"/>
                <a:ea typeface="IBM Plex Sans" pitchFamily="34" charset="-122"/>
                <a:cs typeface="IBM Plex Sans" pitchFamily="34" charset="-120"/>
              </a:rPr>
              <a:t>não é</a:t>
            </a:r>
            <a:r>
              <a:rPr lang="en-US" sz="1200" dirty="0">
                <a:solidFill>
                  <a:srgbClr val="14222E"/>
                </a:solidFill>
                <a:latin typeface="IBM Plex Sans" pitchFamily="34" charset="0"/>
                <a:ea typeface="IBM Plex Sans" pitchFamily="34" charset="-122"/>
                <a:cs typeface="IBM Plex Sans" pitchFamily="34" charset="-120"/>
              </a:rPr>
              <a:t> o uso do semáforo para proteger recursos (módulo seguinte).</a:t>
            </a:r>
            <a:endParaRPr lang="en-US" sz="1200" dirty="0">
              <a:latin typeface="IBM Plex Sans" charset="0"/>
              <a:ea typeface="IBM Plex Sans" charset="0"/>
              <a:cs typeface="IBM Plex Sans" charset="0"/>
            </a:endParaRPr>
          </a:p>
        </p:txBody>
      </p:sp>
      <p:sp>
        <p:nvSpPr>
          <p:cNvPr id="19" name="Text 14"/>
          <p:cNvSpPr/>
          <p:nvPr/>
        </p:nvSpPr>
        <p:spPr>
          <a:xfrm>
            <a:off x="6159500" y="377954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As task notifications fazem o mesmo de forma mais eficiente.</a:t>
            </a:r>
            <a:endParaRPr lang="en-US" sz="1200" dirty="0">
              <a:latin typeface="IBM Plex Sans" charset="0"/>
              <a:ea typeface="IBM Plex Sans" charset="0"/>
              <a:cs typeface="IBM Plex Sans" charset="0"/>
            </a:endParaRPr>
          </a:p>
        </p:txBody>
      </p:sp>
      <p:sp>
        <p:nvSpPr>
          <p:cNvPr id="20" name="Text 1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21"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94</a:t>
            </a:r>
            <a:endParaRPr lang="en-US" sz="1200" dirty="0">
              <a:latin typeface="IBM Plex Sans" charset="0"/>
              <a:ea typeface="IBM Plex Sans" charset="0"/>
              <a:cs typeface="IBM Plex Sans"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Exemplo: a task e a ISR</a:t>
            </a:r>
            <a:endParaRPr lang="en-US" sz="3200" dirty="0">
              <a:latin typeface="IBM Plex Sans" charset="0"/>
              <a:ea typeface="IBM Plex Sans" charset="0"/>
              <a:cs typeface="IBM Plex Sans" charset="0"/>
            </a:endParaRPr>
          </a:p>
        </p:txBody>
      </p:sp>
      <p:sp>
        <p:nvSpPr>
          <p:cNvPr id="4" name="Shape 2"/>
          <p:cNvSpPr/>
          <p:nvPr/>
        </p:nvSpPr>
        <p:spPr>
          <a:xfrm>
            <a:off x="812800" y="1778020"/>
            <a:ext cx="10566400" cy="0"/>
          </a:xfrm>
          <a:prstGeom prst="line">
            <a:avLst/>
          </a:prstGeom>
          <a:noFill/>
          <a:ln w="10160">
            <a:solidFill>
              <a:srgbClr val="141413">
                <a:alpha val="22000"/>
              </a:srgbClr>
            </a:solidFill>
            <a:prstDash val="solid"/>
          </a:ln>
        </p:spPr>
      </p:sp>
      <p:sp>
        <p:nvSpPr>
          <p:cNvPr id="5" name="Shape 3"/>
          <p:cNvSpPr/>
          <p:nvPr/>
        </p:nvSpPr>
        <p:spPr>
          <a:xfrm>
            <a:off x="817880" y="1772940"/>
            <a:ext cx="0" cy="11277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46600"/>
          <a:ext cx="10353040" cy="990600"/>
        </p:xfrm>
        <a:graphic>
          <a:graphicData uri="http://schemas.openxmlformats.org/drawingml/2006/table">
            <a:tbl>
              <a:tblPr/>
              <a:tblGrid>
                <a:gridCol w="4348277"/>
                <a:gridCol w="6004763"/>
              </a:tblGrid>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xSemaphoreCreateBinary()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Devolve SemaphoreHandle_t, ou NULL sem heap. Há versão Static.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xSemaphoreTake( xSem, xTicksToWait )</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Nunca numa ISR. pdPASS se obteve; pdFALSE se o tempo expirou.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xSemaphoreGiveFromISR( xSem, &amp;woken )</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pdFAIL se o semáforo já estava disponível.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307851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HANDLER TASK, PRIORIDADE 3</a:t>
            </a:r>
            <a:endParaRPr lang="en-US" sz="1200" dirty="0">
              <a:latin typeface="IBM Plex Sans" charset="0"/>
              <a:ea typeface="IBM Plex Sans" charset="0"/>
              <a:cs typeface="IBM Plex Sans" charset="0"/>
            </a:endParaRPr>
          </a:p>
        </p:txBody>
      </p:sp>
      <p:sp>
        <p:nvSpPr>
          <p:cNvPr id="8" name="Text 5"/>
          <p:cNvSpPr/>
          <p:nvPr/>
        </p:nvSpPr>
        <p:spPr>
          <a:xfrm>
            <a:off x="812800" y="3368030"/>
            <a:ext cx="5181600" cy="2225040"/>
          </a:xfrm>
          <a:prstGeom prst="roundRect">
            <a:avLst>
              <a:gd name="adj" fmla="val 3425"/>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vHandlerTask(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xSemaphoreTake( xBinarySemaphore,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processar o evento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9" name="Text 6"/>
          <p:cNvSpPr/>
          <p:nvPr/>
        </p:nvSpPr>
        <p:spPr>
          <a:xfrm>
            <a:off x="6197600" y="307851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ISR: DÁ O SEMÁFORO</a:t>
            </a:r>
            <a:endParaRPr lang="en-US" sz="1200" dirty="0">
              <a:latin typeface="IBM Plex Sans" charset="0"/>
              <a:ea typeface="IBM Plex Sans" charset="0"/>
              <a:cs typeface="IBM Plex Sans" charset="0"/>
            </a:endParaRPr>
          </a:p>
        </p:txBody>
      </p:sp>
      <p:sp>
        <p:nvSpPr>
          <p:cNvPr id="10" name="Text 7"/>
          <p:cNvSpPr/>
          <p:nvPr/>
        </p:nvSpPr>
        <p:spPr>
          <a:xfrm>
            <a:off x="6197600" y="3368030"/>
            <a:ext cx="5181600" cy="2225040"/>
          </a:xfrm>
          <a:prstGeom prst="roundRect">
            <a:avLst>
              <a:gd name="adj" fmla="val 3425"/>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vExampleISR(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BaseType_t xHigherPriorityTaskWoken = pdFALSE;</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Desbloqueia a handler task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xSemaphoreGiveFromISR( xBinarySemaphore,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&amp;xHigherPriorityTaskWoken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portYIELD_FROM_ISR( xHigherPriorityTaskWoken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1" name="Text 8"/>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2" name="Text 9"/>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Uma handler task robusta</a:t>
            </a:r>
            <a:endParaRPr lang="en-US" sz="3200" dirty="0">
              <a:latin typeface="IBM Plex Sans" charset="0"/>
              <a:ea typeface="IBM Plex Sans" charset="0"/>
              <a:cs typeface="IBM Plex Sans" charset="0"/>
            </a:endParaRPr>
          </a:p>
        </p:txBody>
      </p:sp>
      <p:sp>
        <p:nvSpPr>
          <p:cNvPr id="4" name="Text 2"/>
          <p:cNvSpPr/>
          <p:nvPr/>
        </p:nvSpPr>
        <p:spPr>
          <a:xfrm>
            <a:off x="812800" y="1899940"/>
            <a:ext cx="5715000" cy="3881120"/>
          </a:xfrm>
          <a:prstGeom prst="roundRect">
            <a:avLst>
              <a:gd name="adj" fmla="val 1963"/>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vUARTReceiveHandlerTask(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TickType_t xMaxExpectedBlockTime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pdMS_TO_TICKS( 500 );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if( xSemaphoreTake( xBinarySemaphore,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xMaxExpectedBlockTime ) == pdPASS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Processar TODOS os eventos pendentes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while( UART_RxCount() &gt;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UART_ProcessNextRxEvent();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else /* nada no tempo esperado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UART_ClearErrors();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5" name="Shape 3"/>
          <p:cNvSpPr/>
          <p:nvPr/>
        </p:nvSpPr>
        <p:spPr>
          <a:xfrm>
            <a:off x="6784975" y="1903115"/>
            <a:ext cx="4591050" cy="1212850"/>
          </a:xfrm>
          <a:prstGeom prst="roundRect">
            <a:avLst>
              <a:gd name="adj" fmla="val 8115"/>
            </a:avLst>
          </a:prstGeom>
          <a:solidFill>
            <a:srgbClr val="FCFBF8"/>
          </a:solidFill>
          <a:ln w="6350">
            <a:solidFill>
              <a:srgbClr val="DCDAD2"/>
            </a:solidFill>
            <a:prstDash val="solid"/>
          </a:ln>
        </p:spPr>
      </p:sp>
      <p:sp>
        <p:nvSpPr>
          <p:cNvPr id="6" name="Text 4"/>
          <p:cNvSpPr/>
          <p:nvPr/>
        </p:nvSpPr>
        <p:spPr>
          <a:xfrm>
            <a:off x="6939280" y="2057400"/>
            <a:ext cx="44109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Processar tudo o que está pendente</a:t>
            </a:r>
            <a:endParaRPr lang="en-US" sz="1400" dirty="0">
              <a:latin typeface="IBM Plex Sans" charset="0"/>
              <a:ea typeface="IBM Plex Sans" charset="0"/>
              <a:cs typeface="IBM Plex Sans" charset="0"/>
            </a:endParaRPr>
          </a:p>
        </p:txBody>
      </p:sp>
      <p:sp>
        <p:nvSpPr>
          <p:cNvPr id="7" name="Text 5"/>
          <p:cNvSpPr/>
          <p:nvPr/>
        </p:nvSpPr>
        <p:spPr>
          <a:xfrm>
            <a:off x="6939280" y="2321570"/>
            <a:ext cx="441091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 semáforo binário só guarda um evento. Se chegarem mais interrupções antes de a task acabar, perdem-se: à terceira, o semáforo já está dado.</a:t>
            </a:r>
            <a:endParaRPr lang="en-US" sz="1200" dirty="0">
              <a:latin typeface="IBM Plex Sans" charset="0"/>
              <a:ea typeface="IBM Plex Sans" charset="0"/>
              <a:cs typeface="IBM Plex Sans" charset="0"/>
            </a:endParaRPr>
          </a:p>
        </p:txBody>
      </p:sp>
      <p:sp>
        <p:nvSpPr>
          <p:cNvPr id="8" name="Shape 6"/>
          <p:cNvSpPr/>
          <p:nvPr/>
        </p:nvSpPr>
        <p:spPr>
          <a:xfrm>
            <a:off x="6784975" y="3249315"/>
            <a:ext cx="4591050" cy="999490"/>
          </a:xfrm>
          <a:prstGeom prst="roundRect">
            <a:avLst>
              <a:gd name="adj" fmla="val 9848"/>
            </a:avLst>
          </a:prstGeom>
          <a:solidFill>
            <a:srgbClr val="FCFBF8"/>
          </a:solidFill>
          <a:ln w="6350">
            <a:solidFill>
              <a:srgbClr val="DCDAD2"/>
            </a:solidFill>
            <a:prstDash val="solid"/>
          </a:ln>
        </p:spPr>
      </p:sp>
      <p:sp>
        <p:nvSpPr>
          <p:cNvPr id="9" name="Text 7"/>
          <p:cNvSpPr/>
          <p:nvPr/>
        </p:nvSpPr>
        <p:spPr>
          <a:xfrm>
            <a:off x="6939280" y="3403600"/>
            <a:ext cx="441091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Usar timeout, não portMAX_DELAY</a:t>
            </a:r>
            <a:endParaRPr lang="en-US" sz="1400" dirty="0">
              <a:latin typeface="IBM Plex Sans" charset="0"/>
              <a:ea typeface="IBM Plex Sans" charset="0"/>
              <a:cs typeface="IBM Plex Sans" charset="0"/>
            </a:endParaRPr>
          </a:p>
        </p:txBody>
      </p:sp>
      <p:sp>
        <p:nvSpPr>
          <p:cNvPr id="10" name="Text 8"/>
          <p:cNvSpPr/>
          <p:nvPr/>
        </p:nvSpPr>
        <p:spPr>
          <a:xfrm>
            <a:off x="6939280" y="3667770"/>
            <a:ext cx="441091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um erro de hardware impedir a interrupção, a task deteta-o e trata-o em vez de esperar para sempre.</a:t>
            </a:r>
            <a:endParaRPr lang="en-US" sz="1200" dirty="0">
              <a:latin typeface="IBM Plex Sans" charset="0"/>
              <a:ea typeface="IBM Plex Sans" charset="0"/>
              <a:cs typeface="IBM Plex Sans" charset="0"/>
            </a:endParaRPr>
          </a:p>
        </p:txBody>
      </p:sp>
      <p:sp>
        <p:nvSpPr>
          <p:cNvPr id="11" name="Text 9"/>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2" name="Text 10"/>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96</a:t>
            </a:r>
            <a:endParaRPr lang="en-US" sz="1200" dirty="0">
              <a:latin typeface="IBM Plex Sans" charset="0"/>
              <a:ea typeface="IBM Plex Sans" charset="0"/>
              <a:cs typeface="IBM Plex Sans"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Semáforos de contagem</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Uma queue de comprimento maior que 1, em que só interessa </a:t>
            </a:r>
            <a:r>
              <a:rPr lang="en-US" sz="1500" b="1" dirty="0">
                <a:solidFill>
                  <a:srgbClr val="44505C"/>
                </a:solidFill>
                <a:latin typeface="IBM Plex Sans" pitchFamily="34" charset="0"/>
                <a:ea typeface="IBM Plex Sans" pitchFamily="34" charset="-122"/>
                <a:cs typeface="IBM Plex Sans" pitchFamily="34" charset="-120"/>
              </a:rPr>
              <a:t>quantos</a:t>
            </a:r>
            <a:r>
              <a:rPr lang="en-US" sz="1500" dirty="0">
                <a:solidFill>
                  <a:srgbClr val="44505C"/>
                </a:solidFill>
                <a:latin typeface="IBM Plex Sans" pitchFamily="34" charset="0"/>
                <a:ea typeface="IBM Plex Sans" pitchFamily="34" charset="-122"/>
                <a:cs typeface="IBM Plex Sans" pitchFamily="34" charset="-120"/>
              </a:rPr>
              <a:t> itens tem: a contagem. Requer </a:t>
            </a:r>
            <a:r>
              <a:rPr lang="en-US" sz="1500" b="1" dirty="0">
                <a:solidFill>
                  <a:srgbClr val="14222E"/>
                </a:solidFill>
                <a:latin typeface="IBM Plex Sans" pitchFamily="34" charset="0"/>
                <a:ea typeface="IBM Plex Sans" pitchFamily="34" charset="-122"/>
                <a:cs typeface="IBM Plex Sans" pitchFamily="34" charset="-120"/>
              </a:rPr>
              <a:t>configUSE_COUNTING_SEMAPHORES = 1</a:t>
            </a:r>
            <a:r>
              <a:rPr lang="en-US" sz="1500" dirty="0">
                <a:solidFill>
                  <a:srgbClr val="44505C"/>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p:txBody>
      </p:sp>
      <p:sp>
        <p:nvSpPr>
          <p:cNvPr id="5" name="Shape 3"/>
          <p:cNvSpPr/>
          <p:nvPr/>
        </p:nvSpPr>
        <p:spPr>
          <a:xfrm>
            <a:off x="815975" y="2538115"/>
            <a:ext cx="5175250" cy="2099310"/>
          </a:xfrm>
          <a:prstGeom prst="roundRect">
            <a:avLst>
              <a:gd name="adj" fmla="val 4688"/>
            </a:avLst>
          </a:prstGeom>
          <a:solidFill>
            <a:srgbClr val="FCFBF8"/>
          </a:solidFill>
          <a:ln w="6350">
            <a:solidFill>
              <a:srgbClr val="DCDAD2"/>
            </a:solidFill>
            <a:prstDash val="solid"/>
          </a:ln>
        </p:spPr>
      </p:sp>
      <p:sp>
        <p:nvSpPr>
          <p:cNvPr id="6" name="Text 4"/>
          <p:cNvSpPr/>
          <p:nvPr/>
        </p:nvSpPr>
        <p:spPr>
          <a:xfrm>
            <a:off x="1071880" y="27940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USO 1</a:t>
            </a:r>
            <a:endParaRPr lang="en-US" sz="1200" dirty="0">
              <a:latin typeface="IBM Plex Sans" charset="0"/>
              <a:ea typeface="IBM Plex Sans" charset="0"/>
              <a:cs typeface="IBM Plex Sans" charset="0"/>
            </a:endParaRPr>
          </a:p>
        </p:txBody>
      </p:sp>
      <p:sp>
        <p:nvSpPr>
          <p:cNvPr id="7" name="Text 5"/>
          <p:cNvSpPr/>
          <p:nvPr/>
        </p:nvSpPr>
        <p:spPr>
          <a:xfrm>
            <a:off x="1071880" y="307087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Contar eventos</a:t>
            </a:r>
            <a:endParaRPr lang="en-US" sz="1700" dirty="0">
              <a:latin typeface="IBM Plex Sans" charset="0"/>
              <a:ea typeface="IBM Plex Sans" charset="0"/>
              <a:cs typeface="IBM Plex Sans" charset="0"/>
            </a:endParaRPr>
          </a:p>
        </p:txBody>
      </p:sp>
      <p:sp>
        <p:nvSpPr>
          <p:cNvPr id="8" name="Text 6"/>
          <p:cNvSpPr/>
          <p:nvPr/>
        </p:nvSpPr>
        <p:spPr>
          <a:xfrm>
            <a:off x="1071880" y="3393430"/>
            <a:ext cx="480334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O handler dá a cada evento (+1); a task tira a cada evento processado (−1). A contagem é a diferença entre ocorridos e processados.</a:t>
            </a:r>
            <a:endParaRPr lang="en-US" sz="1300" dirty="0">
              <a:latin typeface="IBM Plex Sans" charset="0"/>
              <a:ea typeface="IBM Plex Sans" charset="0"/>
              <a:cs typeface="IBM Plex Sans" charset="0"/>
            </a:endParaRPr>
          </a:p>
        </p:txBody>
      </p:sp>
      <p:sp>
        <p:nvSpPr>
          <p:cNvPr id="9" name="Text 7"/>
          <p:cNvSpPr/>
          <p:nvPr/>
        </p:nvSpPr>
        <p:spPr>
          <a:xfrm>
            <a:off x="1071880" y="4150370"/>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Contagem inicial: </a:t>
            </a:r>
            <a:r>
              <a:rPr lang="en-US" sz="1300" b="1" dirty="0">
                <a:solidFill>
                  <a:srgbClr val="14222E"/>
                </a:solidFill>
                <a:latin typeface="IBM Plex Sans" pitchFamily="34" charset="0"/>
                <a:ea typeface="IBM Plex Sans" pitchFamily="34" charset="-122"/>
                <a:cs typeface="IBM Plex Sans" pitchFamily="34" charset="-120"/>
              </a:rPr>
              <a:t>0</a:t>
            </a:r>
            <a:r>
              <a:rPr lang="en-US" sz="1300" dirty="0">
                <a:solidFill>
                  <a:srgbClr val="14222E"/>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sp>
        <p:nvSpPr>
          <p:cNvPr id="10" name="Shape 8"/>
          <p:cNvSpPr/>
          <p:nvPr/>
        </p:nvSpPr>
        <p:spPr>
          <a:xfrm>
            <a:off x="6200775" y="2538115"/>
            <a:ext cx="5175250" cy="2099310"/>
          </a:xfrm>
          <a:prstGeom prst="roundRect">
            <a:avLst>
              <a:gd name="adj" fmla="val 4688"/>
            </a:avLst>
          </a:prstGeom>
          <a:solidFill>
            <a:srgbClr val="FCFBF8"/>
          </a:solidFill>
          <a:ln w="6350">
            <a:solidFill>
              <a:srgbClr val="DCDAD2"/>
            </a:solidFill>
            <a:prstDash val="solid"/>
          </a:ln>
        </p:spPr>
      </p:sp>
      <p:sp>
        <p:nvSpPr>
          <p:cNvPr id="11" name="Text 9"/>
          <p:cNvSpPr/>
          <p:nvPr/>
        </p:nvSpPr>
        <p:spPr>
          <a:xfrm>
            <a:off x="6456680" y="27940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USO 2</a:t>
            </a:r>
            <a:endParaRPr lang="en-US" sz="1200" dirty="0">
              <a:latin typeface="IBM Plex Sans" charset="0"/>
              <a:ea typeface="IBM Plex Sans" charset="0"/>
              <a:cs typeface="IBM Plex Sans" charset="0"/>
            </a:endParaRPr>
          </a:p>
        </p:txBody>
      </p:sp>
      <p:sp>
        <p:nvSpPr>
          <p:cNvPr id="12" name="Text 10"/>
          <p:cNvSpPr/>
          <p:nvPr/>
        </p:nvSpPr>
        <p:spPr>
          <a:xfrm>
            <a:off x="6456680" y="307087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Gerir recursos</a:t>
            </a:r>
            <a:endParaRPr lang="en-US" sz="1700" dirty="0">
              <a:latin typeface="IBM Plex Sans" charset="0"/>
              <a:ea typeface="IBM Plex Sans" charset="0"/>
              <a:cs typeface="IBM Plex Sans" charset="0"/>
            </a:endParaRPr>
          </a:p>
        </p:txBody>
      </p:sp>
      <p:sp>
        <p:nvSpPr>
          <p:cNvPr id="13" name="Text 11"/>
          <p:cNvSpPr/>
          <p:nvPr/>
        </p:nvSpPr>
        <p:spPr>
          <a:xfrm>
            <a:off x="6456680" y="3393430"/>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contagem é o número de recursos livres. Tirar para usar, dar para devolver; em 0 não há recursos.</a:t>
            </a:r>
            <a:endParaRPr lang="en-US" sz="1300" dirty="0">
              <a:latin typeface="IBM Plex Sans" charset="0"/>
              <a:ea typeface="IBM Plex Sans" charset="0"/>
              <a:cs typeface="IBM Plex Sans" charset="0"/>
            </a:endParaRPr>
          </a:p>
        </p:txBody>
      </p:sp>
      <p:sp>
        <p:nvSpPr>
          <p:cNvPr id="14" name="Text 12"/>
          <p:cNvSpPr/>
          <p:nvPr/>
        </p:nvSpPr>
        <p:spPr>
          <a:xfrm>
            <a:off x="6456680" y="3919240"/>
            <a:ext cx="480334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Contagem inicial: </a:t>
            </a:r>
            <a:r>
              <a:rPr lang="en-US" sz="1300" b="1" dirty="0">
                <a:solidFill>
                  <a:srgbClr val="14222E"/>
                </a:solidFill>
                <a:latin typeface="IBM Plex Sans" pitchFamily="34" charset="0"/>
                <a:ea typeface="IBM Plex Sans" pitchFamily="34" charset="-122"/>
                <a:cs typeface="IBM Plex Sans" pitchFamily="34" charset="-120"/>
              </a:rPr>
              <a:t>igual ao máximo</a:t>
            </a:r>
            <a:r>
              <a:rPr lang="en-US" sz="1300" dirty="0">
                <a:solidFill>
                  <a:srgbClr val="14222E"/>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sp>
        <p:nvSpPr>
          <p:cNvPr id="15" name="Text 13"/>
          <p:cNvSpPr/>
          <p:nvPr/>
        </p:nvSpPr>
        <p:spPr>
          <a:xfrm>
            <a:off x="812800" y="4843810"/>
            <a:ext cx="5715000" cy="944880"/>
          </a:xfrm>
          <a:prstGeom prst="roundRect">
            <a:avLst>
              <a:gd name="adj" fmla="val 8065"/>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SemaphoreHandle_t xSemaphoreCreateCounting(</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UBaseType_t uxMaxCount, UBaseType_t uxInitialCount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xCountingSemaphore = xSemaphoreCreateCounting( 10, 0 );</a:t>
            </a:r>
            <a:endParaRPr lang="en-US" sz="1200" dirty="0">
              <a:latin typeface="JetBrains Mono" charset="0"/>
              <a:ea typeface="JetBrains Mono" charset="0"/>
              <a:cs typeface="JetBrains Mono" charset="0"/>
            </a:endParaRPr>
          </a:p>
        </p:txBody>
      </p:sp>
      <p:sp>
        <p:nvSpPr>
          <p:cNvPr id="16" name="Text 14"/>
          <p:cNvSpPr/>
          <p:nvPr/>
        </p:nvSpPr>
        <p:spPr>
          <a:xfrm>
            <a:off x="6731000" y="4969520"/>
            <a:ext cx="4787646"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Exemplo anterior: máximo 10, começa em 0. A ISR dá o semáforo 3 vezes; a task processa os 3 eventos, sem perder nenhum.</a:t>
            </a:r>
            <a:endParaRPr lang="en-US" sz="1300" dirty="0">
              <a:latin typeface="IBM Plex Sans" charset="0"/>
              <a:ea typeface="IBM Plex Sans" charset="0"/>
              <a:cs typeface="IBM Plex Sans" charset="0"/>
            </a:endParaRPr>
          </a:p>
        </p:txBody>
      </p:sp>
      <p:sp>
        <p:nvSpPr>
          <p:cNvPr id="17" name="Text 1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8"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97</a:t>
            </a:r>
            <a:endParaRPr lang="en-US" sz="1200" dirty="0">
              <a:latin typeface="IBM Plex Sans" charset="0"/>
              <a:ea typeface="IBM Plex Sans" charset="0"/>
              <a:cs typeface="IBM Plex Sans"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Adiar para a daemon task</a:t>
            </a:r>
            <a:endParaRPr lang="en-US" sz="3200" dirty="0">
              <a:latin typeface="IBM Plex Sans" charset="0"/>
              <a:ea typeface="IBM Plex Sans" charset="0"/>
              <a:cs typeface="IBM Plex Sans" charset="0"/>
            </a:endParaRPr>
          </a:p>
        </p:txBody>
      </p:sp>
      <p:sp>
        <p:nvSpPr>
          <p:cNvPr id="4" name="Text 2"/>
          <p:cNvSpPr/>
          <p:nvPr/>
        </p:nvSpPr>
        <p:spPr>
          <a:xfrm>
            <a:off x="812800" y="1899940"/>
            <a:ext cx="588645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Em vez de uma task por interrupção, a ISR manda a </a:t>
            </a:r>
            <a:r>
              <a:rPr lang="en-US" sz="1400" b="1" dirty="0">
                <a:solidFill>
                  <a:srgbClr val="44505C"/>
                </a:solidFill>
                <a:latin typeface="IBM Plex Sans" pitchFamily="34" charset="0"/>
                <a:ea typeface="IBM Plex Sans" pitchFamily="34" charset="-122"/>
                <a:cs typeface="IBM Plex Sans" pitchFamily="34" charset="-120"/>
              </a:rPr>
              <a:t>daemon task</a:t>
            </a:r>
            <a:r>
              <a:rPr lang="en-US" sz="1400" dirty="0">
                <a:solidFill>
                  <a:srgbClr val="44505C"/>
                </a:solidFill>
                <a:latin typeface="IBM Plex Sans" pitchFamily="34" charset="0"/>
                <a:ea typeface="IBM Plex Sans" pitchFamily="34" charset="-122"/>
                <a:cs typeface="IBM Plex Sans" pitchFamily="34" charset="-120"/>
              </a:rPr>
              <a:t> do RTOS executar uma função: </a:t>
            </a:r>
            <a:r>
              <a:rPr lang="en-US" sz="1400" b="1" dirty="0">
                <a:solidFill>
                  <a:srgbClr val="44505C"/>
                </a:solidFill>
                <a:latin typeface="IBM Plex Sans" pitchFamily="34" charset="0"/>
                <a:ea typeface="IBM Plex Sans" pitchFamily="34" charset="-122"/>
                <a:cs typeface="IBM Plex Sans" pitchFamily="34" charset="-120"/>
              </a:rPr>
              <a:t>centralized deferred interrupt processing</a:t>
            </a:r>
            <a:r>
              <a:rPr lang="en-US" sz="1400" dirty="0">
                <a:solidFill>
                  <a:srgbClr val="44505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sp>
        <p:nvSpPr>
          <p:cNvPr id="5" name="Text 3"/>
          <p:cNvSpPr/>
          <p:nvPr/>
        </p:nvSpPr>
        <p:spPr>
          <a:xfrm>
            <a:off x="812800" y="2748310"/>
            <a:ext cx="5715000" cy="2600960"/>
          </a:xfrm>
          <a:prstGeom prst="roundRect">
            <a:avLst>
              <a:gd name="adj" fmla="val 2930"/>
            </a:avLst>
          </a:prstGeom>
          <a:solidFill>
            <a:srgbClr val="14222E"/>
          </a:solidFill>
          <a:ln/>
        </p:spPr>
        <p:txBody>
          <a:bodyPr wrap="none" lIns="1046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Função adiada: protótipo PendedFunction_t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vDeferredHandlingFunction(</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void *pvParameter1, uint32_t ulParameter2 );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Na ISR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xHigherPriorityTaskWoken = pdFALSE;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xTimerPendFunctionCallFromISR( vDeferredHandlingFunction,</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NULL,</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ulParameterValue,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&amp;xHigherPriorityTaskWoken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portYIELD_FROM_ISR( xHigherPriorityTaskWoken );</a:t>
            </a:r>
            <a:endParaRPr lang="en-US" sz="1200" dirty="0">
              <a:latin typeface="JetBrains Mono" charset="0"/>
              <a:ea typeface="JetBrains Mono" charset="0"/>
              <a:cs typeface="JetBrains Mono" charset="0"/>
            </a:endParaRPr>
          </a:p>
        </p:txBody>
      </p:sp>
      <p:sp>
        <p:nvSpPr>
          <p:cNvPr id="6" name="Text 4"/>
          <p:cNvSpPr/>
          <p:nvPr/>
        </p:nvSpPr>
        <p:spPr>
          <a:xfrm>
            <a:off x="812800" y="5450830"/>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Usa a timer command queue. Devolve pdFAIL se essa queue estiver cheia.</a:t>
            </a:r>
            <a:endParaRPr lang="en-US" sz="1200" dirty="0">
              <a:latin typeface="IBM Plex Sans" charset="0"/>
              <a:ea typeface="IBM Plex Sans" charset="0"/>
              <a:cs typeface="IBM Plex Sans" charset="0"/>
            </a:endParaRPr>
          </a:p>
        </p:txBody>
      </p:sp>
      <p:sp>
        <p:nvSpPr>
          <p:cNvPr id="7" name="Shape 5"/>
          <p:cNvSpPr/>
          <p:nvPr/>
        </p:nvSpPr>
        <p:spPr>
          <a:xfrm>
            <a:off x="6784975" y="1903115"/>
            <a:ext cx="4591050" cy="1489710"/>
          </a:xfrm>
          <a:prstGeom prst="roundRect">
            <a:avLst>
              <a:gd name="adj" fmla="val 6607"/>
            </a:avLst>
          </a:prstGeom>
          <a:solidFill>
            <a:srgbClr val="FCFBF8"/>
          </a:solidFill>
          <a:ln w="6350">
            <a:solidFill>
              <a:srgbClr val="DCDAD2"/>
            </a:solidFill>
            <a:prstDash val="solid"/>
          </a:ln>
        </p:spPr>
      </p:sp>
      <p:sp>
        <p:nvSpPr>
          <p:cNvPr id="8" name="Text 6"/>
          <p:cNvSpPr/>
          <p:nvPr/>
        </p:nvSpPr>
        <p:spPr>
          <a:xfrm>
            <a:off x="6964680" y="2082800"/>
            <a:ext cx="4358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VANTAGENS</a:t>
            </a:r>
            <a:endParaRPr lang="en-US" sz="1200" dirty="0">
              <a:latin typeface="IBM Plex Sans" charset="0"/>
              <a:ea typeface="IBM Plex Sans" charset="0"/>
              <a:cs typeface="IBM Plex Sans" charset="0"/>
            </a:endParaRPr>
          </a:p>
        </p:txBody>
      </p:sp>
      <p:sp>
        <p:nvSpPr>
          <p:cNvPr id="9" name="Text 7"/>
          <p:cNvSpPr/>
          <p:nvPr/>
        </p:nvSpPr>
        <p:spPr>
          <a:xfrm>
            <a:off x="7142480" y="2359670"/>
            <a:ext cx="4175455" cy="87884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Menos recursos: sem task por interrupção</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A função adiada é uma função C normal</a:t>
            </a:r>
            <a:endParaRPr lang="en-US" sz="1600" dirty="0">
              <a:latin typeface="IBM Plex Sans" charset="0"/>
              <a:ea typeface="IBM Plex Sans" charset="0"/>
              <a:cs typeface="IBM Plex Sans" charset="0"/>
            </a:endParaRPr>
          </a:p>
        </p:txBody>
      </p:sp>
      <p:sp>
        <p:nvSpPr>
          <p:cNvPr id="10" name="Shape 8"/>
          <p:cNvSpPr/>
          <p:nvPr/>
        </p:nvSpPr>
        <p:spPr>
          <a:xfrm>
            <a:off x="6784975" y="3526185"/>
            <a:ext cx="4591050" cy="1774190"/>
          </a:xfrm>
          <a:prstGeom prst="roundRect">
            <a:avLst>
              <a:gd name="adj" fmla="val 5548"/>
            </a:avLst>
          </a:prstGeom>
          <a:solidFill>
            <a:srgbClr val="FCFBF8"/>
          </a:solidFill>
          <a:ln w="6350">
            <a:solidFill>
              <a:srgbClr val="DCDAD2"/>
            </a:solidFill>
            <a:prstDash val="solid"/>
          </a:ln>
        </p:spPr>
      </p:sp>
      <p:sp>
        <p:nvSpPr>
          <p:cNvPr id="11" name="Text 9"/>
          <p:cNvSpPr/>
          <p:nvPr/>
        </p:nvSpPr>
        <p:spPr>
          <a:xfrm>
            <a:off x="6964680" y="3705870"/>
            <a:ext cx="4358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DESVANTAGENS</a:t>
            </a:r>
            <a:endParaRPr lang="en-US" sz="1200" dirty="0">
              <a:latin typeface="IBM Plex Sans" charset="0"/>
              <a:ea typeface="IBM Plex Sans" charset="0"/>
              <a:cs typeface="IBM Plex Sans" charset="0"/>
            </a:endParaRPr>
          </a:p>
        </p:txBody>
      </p:sp>
      <p:sp>
        <p:nvSpPr>
          <p:cNvPr id="12" name="Text 10"/>
          <p:cNvSpPr/>
          <p:nvPr/>
        </p:nvSpPr>
        <p:spPr>
          <a:xfrm>
            <a:off x="7142480" y="3982740"/>
            <a:ext cx="4175455" cy="116332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Tudo corre à prioridade da daemon task (configTIMER_TASK_PRIORITY)</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Menos determinismo: comandos já na queue são tratados primeiro</a:t>
            </a:r>
            <a:endParaRPr lang="en-US" sz="1600" dirty="0">
              <a:latin typeface="IBM Plex Sans" charset="0"/>
              <a:ea typeface="IBM Plex Sans" charset="0"/>
              <a:cs typeface="IBM Plex Sans" charset="0"/>
            </a:endParaRPr>
          </a:p>
        </p:txBody>
      </p:sp>
      <p:sp>
        <p:nvSpPr>
          <p:cNvPr id="13" name="Text 11"/>
          <p:cNvSpPr/>
          <p:nvPr/>
        </p:nvSpPr>
        <p:spPr>
          <a:xfrm>
            <a:off x="6781800" y="5430540"/>
            <a:ext cx="47353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É comum usar os dois métodos na mesma aplicação.</a:t>
            </a:r>
            <a:endParaRPr lang="en-US" sz="1300" dirty="0">
              <a:latin typeface="IBM Plex Sans" charset="0"/>
              <a:ea typeface="IBM Plex Sans" charset="0"/>
              <a:cs typeface="IBM Plex Sans" charset="0"/>
            </a:endParaRPr>
          </a:p>
        </p:txBody>
      </p:sp>
      <p:sp>
        <p:nvSpPr>
          <p:cNvPr id="14" name="Text 1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5" name="Text 1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98</a:t>
            </a:r>
            <a:endParaRPr lang="en-US" sz="1200" dirty="0">
              <a:latin typeface="IBM Plex Sans" charset="0"/>
              <a:ea typeface="IBM Plex Sans" charset="0"/>
              <a:cs typeface="IBM Plex Sans"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Queues dentro de uma ISR</a:t>
            </a:r>
            <a:endParaRPr lang="en-US" sz="3200" dirty="0">
              <a:latin typeface="IBM Plex Sans" charset="0"/>
              <a:ea typeface="IBM Plex Sans" charset="0"/>
              <a:cs typeface="IBM Plex Sans" charset="0"/>
            </a:endParaRPr>
          </a:p>
        </p:txBody>
      </p:sp>
      <p:sp>
        <p:nvSpPr>
          <p:cNvPr id="4" name="Text 2"/>
          <p:cNvSpPr/>
          <p:nvPr/>
        </p:nvSpPr>
        <p:spPr>
          <a:xfrm>
            <a:off x="812800" y="1899940"/>
            <a:ext cx="58864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Semáforos comunicam </a:t>
            </a:r>
            <a:r>
              <a:rPr lang="en-US" sz="1500" b="1" dirty="0">
                <a:solidFill>
                  <a:srgbClr val="44505C"/>
                </a:solidFill>
                <a:latin typeface="IBM Plex Sans" pitchFamily="34" charset="0"/>
                <a:ea typeface="IBM Plex Sans" pitchFamily="34" charset="-122"/>
                <a:cs typeface="IBM Plex Sans" pitchFamily="34" charset="-120"/>
              </a:rPr>
              <a:t>eventos</a:t>
            </a:r>
            <a:r>
              <a:rPr lang="en-US" sz="1500" dirty="0">
                <a:solidFill>
                  <a:srgbClr val="44505C"/>
                </a:solidFill>
                <a:latin typeface="IBM Plex Sans" pitchFamily="34" charset="0"/>
                <a:ea typeface="IBM Plex Sans" pitchFamily="34" charset="-122"/>
                <a:cs typeface="IBM Plex Sans" pitchFamily="34" charset="-120"/>
              </a:rPr>
              <a:t>. Queues comunicam eventos </a:t>
            </a:r>
            <a:r>
              <a:rPr lang="en-US" sz="1500" b="1" dirty="0">
                <a:solidFill>
                  <a:srgbClr val="44505C"/>
                </a:solidFill>
                <a:latin typeface="IBM Plex Sans" pitchFamily="34" charset="0"/>
                <a:ea typeface="IBM Plex Sans" pitchFamily="34" charset="-122"/>
                <a:cs typeface="IBM Plex Sans" pitchFamily="34" charset="-120"/>
              </a:rPr>
              <a:t>e dados</a:t>
            </a:r>
            <a:r>
              <a:rPr lang="en-US" sz="1500" dirty="0">
                <a:solidFill>
                  <a:srgbClr val="44505C"/>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p:txBody>
      </p:sp>
      <p:sp>
        <p:nvSpPr>
          <p:cNvPr id="5" name="Text 3"/>
          <p:cNvSpPr/>
          <p:nvPr/>
        </p:nvSpPr>
        <p:spPr>
          <a:xfrm>
            <a:off x="812800" y="2534940"/>
            <a:ext cx="5715000" cy="1584960"/>
          </a:xfrm>
          <a:prstGeom prst="roundRect">
            <a:avLst>
              <a:gd name="adj" fmla="val 4808"/>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xQueueSendToBackFromISR(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QueueHandle_t xQueue,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void *pvItemToQueue,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BaseType_t *pxHigherPriorityTaskWoken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também: xQueueSendToFrontFromISR(),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xQueueSendFromISR(), xQueueReceiveFromISR() */</a:t>
            </a:r>
            <a:endParaRPr lang="en-US" sz="1200" dirty="0">
              <a:latin typeface="JetBrains Mono" charset="0"/>
              <a:ea typeface="JetBrains Mono" charset="0"/>
              <a:cs typeface="JetBrains Mono" charset="0"/>
            </a:endParaRPr>
          </a:p>
        </p:txBody>
      </p:sp>
      <p:sp>
        <p:nvSpPr>
          <p:cNvPr id="6" name="Text 4"/>
          <p:cNvSpPr/>
          <p:nvPr/>
        </p:nvSpPr>
        <p:spPr>
          <a:xfrm>
            <a:off x="812800" y="4221510"/>
            <a:ext cx="588645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Retorno: pdPASS, ou errQUEUE_FULL se a queue estiver cheia. Sem block time: numa ISR não se bloqueia.</a:t>
            </a:r>
            <a:endParaRPr lang="en-US" sz="1300" dirty="0">
              <a:latin typeface="IBM Plex Sans" charset="0"/>
              <a:ea typeface="IBM Plex Sans" charset="0"/>
              <a:cs typeface="IBM Plex Sans" charset="0"/>
            </a:endParaRPr>
          </a:p>
        </p:txBody>
      </p:sp>
      <p:sp>
        <p:nvSpPr>
          <p:cNvPr id="7" name="Text 5"/>
          <p:cNvSpPr/>
          <p:nvPr/>
        </p:nvSpPr>
        <p:spPr>
          <a:xfrm>
            <a:off x="6781800" y="1899940"/>
            <a:ext cx="4597400" cy="1153160"/>
          </a:xfrm>
          <a:custGeom>
            <a:avLst/>
            <a:gdLst/>
            <a:ahLst/>
            <a:cxnLst/>
            <a:rect l="l" t="t" r="r" b="b"/>
            <a:pathLst>
              <a:path w="4597400" h="1153160">
                <a:moveTo>
                  <a:pt x="0" y="0"/>
                </a:moveTo>
                <a:lnTo>
                  <a:pt x="4521200" y="0"/>
                </a:lnTo>
                <a:arcTo hR="76200" wR="76200" stAng="16200000" swAng="5400000"/>
                <a:lnTo>
                  <a:pt x="4597400" y="1076960"/>
                </a:lnTo>
                <a:arcTo hR="76200" wR="76200" stAng="0" swAng="5400000"/>
                <a:lnTo>
                  <a:pt x="0" y="1153160"/>
                </a:lnTo>
                <a:lnTo>
                  <a:pt x="0" y="0"/>
                </a:lnTo>
                <a:close/>
              </a:path>
            </a:pathLst>
          </a:custGeom>
          <a:solidFill>
            <a:srgbClr val="FBEFE7"/>
          </a:solidFill>
          <a:ln/>
        </p:spPr>
        <p:txBody>
          <a:bodyPr wrap="square" lIns="175260" tIns="114300" rIns="11227" bIns="8890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Uma queue é </a:t>
            </a:r>
            <a:r>
              <a:rPr lang="en-US" sz="1300" b="1" dirty="0">
                <a:solidFill>
                  <a:srgbClr val="14222E"/>
                </a:solidFill>
                <a:latin typeface="IBM Plex Sans" pitchFamily="34" charset="0"/>
                <a:ea typeface="IBM Plex Sans" pitchFamily="34" charset="-122"/>
                <a:cs typeface="IBM Plex Sans" pitchFamily="34" charset="-120"/>
              </a:rPr>
              <a:t>ineficiente</a:t>
            </a:r>
            <a:r>
              <a:rPr lang="en-US" sz="1300" dirty="0">
                <a:solidFill>
                  <a:srgbClr val="14222E"/>
                </a:solidFill>
                <a:latin typeface="IBM Plex Sans" pitchFamily="34" charset="0"/>
                <a:ea typeface="IBM Plex Sans" pitchFamily="34" charset="-122"/>
                <a:cs typeface="IBM Plex Sans" pitchFamily="34" charset="-120"/>
              </a:rPr>
              <a:t> se os dados chegarem a alta frequência. Os drivers de UART das demos usam-na para demonstrar e carregar o sistema, não como exemplo de produção.</a:t>
            </a:r>
            <a:endParaRPr lang="en-US" sz="1300" dirty="0">
              <a:latin typeface="IBM Plex Sans" charset="0"/>
              <a:ea typeface="IBM Plex Sans" charset="0"/>
              <a:cs typeface="IBM Plex Sans" charset="0"/>
            </a:endParaRPr>
          </a:p>
        </p:txBody>
      </p:sp>
      <p:sp>
        <p:nvSpPr>
          <p:cNvPr id="8" name="Shape 6"/>
          <p:cNvSpPr/>
          <p:nvPr/>
        </p:nvSpPr>
        <p:spPr>
          <a:xfrm>
            <a:off x="6781800" y="1899940"/>
            <a:ext cx="4597400" cy="1153160"/>
          </a:xfrm>
          <a:custGeom>
            <a:avLst/>
            <a:gdLst/>
            <a:ahLst/>
            <a:cxnLst/>
            <a:rect l="l" t="t" r="r" b="b"/>
            <a:pathLst>
              <a:path w="4597400" h="1153160">
                <a:moveTo>
                  <a:pt x="38100" y="1153160"/>
                </a:moveTo>
                <a:lnTo>
                  <a:pt x="0" y="1153160"/>
                </a:lnTo>
                <a:lnTo>
                  <a:pt x="0" y="0"/>
                </a:lnTo>
                <a:lnTo>
                  <a:pt x="38100" y="0"/>
                </a:lnTo>
                <a:lnTo>
                  <a:pt x="38100" y="1153160"/>
                </a:lnTo>
                <a:close/>
              </a:path>
            </a:pathLst>
          </a:custGeom>
          <a:solidFill>
            <a:srgbClr val="D0612A"/>
          </a:solidFill>
          <a:ln/>
        </p:spPr>
      </p:sp>
      <p:sp>
        <p:nvSpPr>
          <p:cNvPr id="9" name="Text 7"/>
          <p:cNvSpPr/>
          <p:nvPr/>
        </p:nvSpPr>
        <p:spPr>
          <a:xfrm>
            <a:off x="6781800" y="3154710"/>
            <a:ext cx="473532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ALTERNATIVAS PARA PRODUÇÃO</a:t>
            </a:r>
            <a:endParaRPr lang="en-US" sz="1200" dirty="0">
              <a:latin typeface="IBM Plex Sans" charset="0"/>
              <a:ea typeface="IBM Plex Sans" charset="0"/>
              <a:cs typeface="IBM Plex Sans" charset="0"/>
            </a:endParaRPr>
          </a:p>
        </p:txBody>
      </p:sp>
      <p:sp>
        <p:nvSpPr>
          <p:cNvPr id="10" name="Text 8"/>
          <p:cNvSpPr/>
          <p:nvPr/>
        </p:nvSpPr>
        <p:spPr>
          <a:xfrm>
            <a:off x="6959600" y="3469630"/>
            <a:ext cx="4552188" cy="173228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DMA recebe os dados; a ISR de fim de transferência dá um semáforo à task</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Copiar para um buffer em RAM e dar um semáforo no fim da mensagem</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Processar na ISR e enviar só o resultado pela queue</a:t>
            </a:r>
            <a:endParaRPr lang="en-US" sz="1600" dirty="0">
              <a:latin typeface="IBM Plex Sans" charset="0"/>
              <a:ea typeface="IBM Plex Sans" charset="0"/>
              <a:cs typeface="IBM Plex Sans" charset="0"/>
            </a:endParaRPr>
          </a:p>
        </p:txBody>
      </p:sp>
      <p:sp>
        <p:nvSpPr>
          <p:cNvPr id="11" name="Text 9"/>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12" name="Text 10"/>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99</a:t>
            </a:r>
            <a:endParaRPr lang="en-US" sz="1200" dirty="0">
              <a:latin typeface="IBM Plex Sans" charset="0"/>
              <a:ea typeface="IBM Plex Sans" charset="0"/>
              <a:cs typeface="IBM Plex Sans"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3403124"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Interrupt nesting</a:t>
            </a:r>
            <a:endParaRPr lang="en-US" sz="3200" dirty="0">
              <a:latin typeface="IBM Plex Sans" charset="0"/>
              <a:ea typeface="IBM Plex Sans" charset="0"/>
              <a:cs typeface="IBM Plex Sans" charset="0"/>
            </a:endParaRPr>
          </a:p>
        </p:txBody>
      </p:sp>
      <p:sp>
        <p:nvSpPr>
          <p:cNvPr id="4" name="Text 2"/>
          <p:cNvSpPr/>
          <p:nvPr/>
        </p:nvSpPr>
        <p:spPr>
          <a:xfrm>
            <a:off x="4222274" y="1200150"/>
            <a:ext cx="3428762" cy="322580"/>
          </a:xfrm>
          <a:prstGeom prst="roundRect">
            <a:avLst>
              <a:gd name="adj" fmla="val 50000"/>
            </a:avLst>
          </a:prstGeom>
          <a:solidFill>
            <a:srgbClr val="FBEFE7"/>
          </a:solidFill>
          <a:ln w="12700">
            <a:solidFill>
              <a:srgbClr val="D0612A"/>
            </a:solidFill>
            <a:prstDash val="solid"/>
          </a:ln>
        </p:spPr>
        <p:txBody>
          <a:bodyPr wrap="none" lIns="0" tIns="0" rIns="0" bIns="0" rtlCol="0" anchor="ctr">
            <a:normAutofit/>
          </a:bodyPr>
          <a:lstStyle/>
          <a:p>
            <a:pPr algn="ctr" indent="0" marL="0">
              <a:lnSpc>
                <a:spcPts val="1680"/>
              </a:lnSpc>
              <a:buNone/>
            </a:pPr>
            <a:r>
              <a:rPr lang="en-US" sz="1200" b="1" dirty="0">
                <a:solidFill>
                  <a:srgbClr val="A8491A"/>
                </a:solidFill>
                <a:latin typeface="IBM Plex Sans" pitchFamily="34" charset="0"/>
                <a:ea typeface="IBM Plex Sans" pitchFamily="34" charset="-122"/>
                <a:cs typeface="IBM Plex Sans" pitchFamily="34" charset="-120"/>
              </a:rPr>
              <a:t>Na Pico 2: desligado no port RP2350_RISC-V</a:t>
            </a:r>
            <a:endParaRPr lang="en-US" sz="1200" dirty="0">
              <a:latin typeface="IBM Plex Sans" charset="0"/>
              <a:ea typeface="IBM Plex Sans" charset="0"/>
              <a:cs typeface="IBM Plex Sans" charset="0"/>
            </a:endParaRPr>
          </a:p>
        </p:txBody>
      </p:sp>
      <p:sp>
        <p:nvSpPr>
          <p:cNvPr id="5" name="Shape 3"/>
          <p:cNvSpPr/>
          <p:nvPr/>
        </p:nvSpPr>
        <p:spPr>
          <a:xfrm>
            <a:off x="815975" y="1903115"/>
            <a:ext cx="4819650" cy="1212850"/>
          </a:xfrm>
          <a:prstGeom prst="roundRect">
            <a:avLst>
              <a:gd name="adj" fmla="val 8115"/>
            </a:avLst>
          </a:prstGeom>
          <a:solidFill>
            <a:srgbClr val="FCFBF8"/>
          </a:solidFill>
          <a:ln w="6350">
            <a:solidFill>
              <a:srgbClr val="DCDAD2"/>
            </a:solidFill>
            <a:prstDash val="solid"/>
          </a:ln>
        </p:spPr>
      </p:sp>
      <p:sp>
        <p:nvSpPr>
          <p:cNvPr id="6" name="Text 4"/>
          <p:cNvSpPr/>
          <p:nvPr/>
        </p:nvSpPr>
        <p:spPr>
          <a:xfrm>
            <a:off x="970280" y="2057400"/>
            <a:ext cx="46463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configMAX_SYSCALL_INTERRUPT_PRIORITY</a:t>
            </a:r>
            <a:endParaRPr lang="en-US" sz="1400" dirty="0">
              <a:latin typeface="IBM Plex Sans" charset="0"/>
              <a:ea typeface="IBM Plex Sans" charset="0"/>
              <a:cs typeface="IBM Plex Sans" charset="0"/>
            </a:endParaRPr>
          </a:p>
        </p:txBody>
      </p:sp>
      <p:sp>
        <p:nvSpPr>
          <p:cNvPr id="7" name="Text 5"/>
          <p:cNvSpPr/>
          <p:nvPr/>
        </p:nvSpPr>
        <p:spPr>
          <a:xfrm>
            <a:off x="970280" y="2321570"/>
            <a:ext cx="464637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(ou configMAX_API_CALL_INTERRUPT_PRIORITY, nos ports mais recentes) Prioridade mais alta a partir da qual se pode chamar a API FromISR.</a:t>
            </a:r>
            <a:endParaRPr lang="en-US" sz="1200" dirty="0">
              <a:latin typeface="IBM Plex Sans" charset="0"/>
              <a:ea typeface="IBM Plex Sans" charset="0"/>
              <a:cs typeface="IBM Plex Sans" charset="0"/>
            </a:endParaRPr>
          </a:p>
        </p:txBody>
      </p:sp>
      <p:sp>
        <p:nvSpPr>
          <p:cNvPr id="8" name="Shape 6"/>
          <p:cNvSpPr/>
          <p:nvPr/>
        </p:nvSpPr>
        <p:spPr>
          <a:xfrm>
            <a:off x="815975" y="3249315"/>
            <a:ext cx="4819650" cy="999490"/>
          </a:xfrm>
          <a:prstGeom prst="roundRect">
            <a:avLst>
              <a:gd name="adj" fmla="val 9848"/>
            </a:avLst>
          </a:prstGeom>
          <a:solidFill>
            <a:srgbClr val="FCFBF8"/>
          </a:solidFill>
          <a:ln w="6350">
            <a:solidFill>
              <a:srgbClr val="DCDAD2"/>
            </a:solidFill>
            <a:prstDash val="solid"/>
          </a:ln>
        </p:spPr>
      </p:sp>
      <p:sp>
        <p:nvSpPr>
          <p:cNvPr id="9" name="Text 7"/>
          <p:cNvSpPr/>
          <p:nvPr/>
        </p:nvSpPr>
        <p:spPr>
          <a:xfrm>
            <a:off x="970280" y="3403600"/>
            <a:ext cx="46463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configKERNEL_INTERRUPT_PRIORITY</a:t>
            </a:r>
            <a:endParaRPr lang="en-US" sz="1400" dirty="0">
              <a:latin typeface="IBM Plex Sans" charset="0"/>
              <a:ea typeface="IBM Plex Sans" charset="0"/>
              <a:cs typeface="IBM Plex Sans" charset="0"/>
            </a:endParaRPr>
          </a:p>
        </p:txBody>
      </p:sp>
      <p:sp>
        <p:nvSpPr>
          <p:cNvPr id="10" name="Text 8"/>
          <p:cNvSpPr/>
          <p:nvPr/>
        </p:nvSpPr>
        <p:spPr>
          <a:xfrm>
            <a:off x="970280" y="3667770"/>
            <a:ext cx="46463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Prioridade do tick interrupt. Tem de ser sempre a mais baixa possível.</a:t>
            </a:r>
            <a:endParaRPr lang="en-US" sz="1200" dirty="0">
              <a:latin typeface="IBM Plex Sans" charset="0"/>
              <a:ea typeface="IBM Plex Sans" charset="0"/>
              <a:cs typeface="IBM Plex Sans" charset="0"/>
            </a:endParaRPr>
          </a:p>
        </p:txBody>
      </p:sp>
      <p:sp>
        <p:nvSpPr>
          <p:cNvPr id="11" name="Text 9"/>
          <p:cNvSpPr/>
          <p:nvPr/>
        </p:nvSpPr>
        <p:spPr>
          <a:xfrm>
            <a:off x="812800" y="4378970"/>
            <a:ext cx="49707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Prioridade </a:t>
            </a:r>
            <a:r>
              <a:rPr lang="en-US" sz="1300" b="1" dirty="0">
                <a:solidFill>
                  <a:srgbClr val="44505C"/>
                </a:solidFill>
                <a:latin typeface="IBM Plex Sans" pitchFamily="34" charset="0"/>
                <a:ea typeface="IBM Plex Sans" pitchFamily="34" charset="-122"/>
                <a:cs typeface="IBM Plex Sans" pitchFamily="34" charset="-120"/>
              </a:rPr>
              <a:t>numérica</a:t>
            </a:r>
            <a:r>
              <a:rPr lang="en-US" sz="1300" dirty="0">
                <a:solidFill>
                  <a:srgbClr val="44505C"/>
                </a:solidFill>
                <a:latin typeface="IBM Plex Sans" pitchFamily="34" charset="0"/>
                <a:ea typeface="IBM Plex Sans" pitchFamily="34" charset="-122"/>
                <a:cs typeface="IBM Plex Sans" pitchFamily="34" charset="-120"/>
              </a:rPr>
              <a:t> (o número) ≠ prioridade </a:t>
            </a:r>
            <a:r>
              <a:rPr lang="en-US" sz="1300" b="1" dirty="0">
                <a:solidFill>
                  <a:srgbClr val="44505C"/>
                </a:solidFill>
                <a:latin typeface="IBM Plex Sans" pitchFamily="34" charset="0"/>
                <a:ea typeface="IBM Plex Sans" pitchFamily="34" charset="-122"/>
                <a:cs typeface="IBM Plex Sans" pitchFamily="34" charset="-120"/>
              </a:rPr>
              <a:t>lógica</a:t>
            </a:r>
            <a:r>
              <a:rPr lang="en-US" sz="1300" dirty="0">
                <a:solidFill>
                  <a:srgbClr val="44505C"/>
                </a:solidFill>
                <a:latin typeface="IBM Plex Sans" pitchFamily="34" charset="0"/>
                <a:ea typeface="IBM Plex Sans" pitchFamily="34" charset="-122"/>
                <a:cs typeface="IBM Plex Sans" pitchFamily="34" charset="-120"/>
              </a:rPr>
              <a:t> (quem tem precedência). A relação depende da arquitetura.</a:t>
            </a:r>
            <a:endParaRPr lang="en-US" sz="1300" dirty="0">
              <a:latin typeface="IBM Plex Sans" charset="0"/>
              <a:ea typeface="IBM Plex Sans" charset="0"/>
              <a:cs typeface="IBM Plex Sans" charset="0"/>
            </a:endParaRPr>
          </a:p>
        </p:txBody>
      </p:sp>
      <p:sp>
        <p:nvSpPr>
          <p:cNvPr id="12" name="Text 10"/>
          <p:cNvSpPr/>
          <p:nvPr/>
        </p:nvSpPr>
        <p:spPr>
          <a:xfrm>
            <a:off x="812800" y="4968230"/>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Exemplo: 7 prioridades, 7 = logicamente mais alta, KERNEL = 1, MAX_SYSCALL = 3.</a:t>
            </a:r>
            <a:endParaRPr lang="en-US" sz="1200" dirty="0">
              <a:latin typeface="IBM Plex Sans" charset="0"/>
              <a:ea typeface="IBM Plex Sans" charset="0"/>
              <a:cs typeface="IBM Plex Sans" charset="0"/>
            </a:endParaRPr>
          </a:p>
        </p:txBody>
      </p:sp>
      <p:sp>
        <p:nvSpPr>
          <p:cNvPr id="13" name="Text 11"/>
          <p:cNvSpPr/>
          <p:nvPr/>
        </p:nvSpPr>
        <p:spPr>
          <a:xfrm>
            <a:off x="5943600" y="2493020"/>
            <a:ext cx="1905000" cy="393700"/>
          </a:xfrm>
          <a:prstGeom prst="rect">
            <a:avLst/>
          </a:prstGeom>
          <a:solidFill>
            <a:srgbClr val="0F5E3A"/>
          </a:solidFill>
          <a:ln/>
        </p:spPr>
        <p:txBody>
          <a:bodyPr wrap="square" lIns="0" tIns="0" rIns="0" bIns="0" rtlCol="0" anchor="t">
            <a:normAutofit/>
          </a:bodyPr>
          <a:lstStyle/>
          <a:p>
            <a:pPr algn="ctr" indent="0" marL="0">
              <a:lnSpc>
                <a:spcPts val="3036"/>
              </a:lnSpc>
              <a:buNone/>
            </a:pPr>
            <a:r>
              <a:rPr lang="en-US" sz="1374" b="1" dirty="0">
                <a:solidFill>
                  <a:srgbClr val="F5F4EF"/>
                </a:solidFill>
                <a:latin typeface="IBM Plex Sans" pitchFamily="34" charset="0"/>
                <a:ea typeface="IBM Plex Sans" pitchFamily="34" charset="-122"/>
                <a:cs typeface="IBM Plex Sans" pitchFamily="34" charset="-120"/>
              </a:rPr>
              <a:t>Prioridade 7</a:t>
            </a:r>
            <a:endParaRPr lang="en-US" sz="1374" dirty="0">
              <a:latin typeface="IBM Plex Sans" charset="0"/>
              <a:ea typeface="IBM Plex Sans" charset="0"/>
              <a:cs typeface="IBM Plex Sans" charset="0"/>
            </a:endParaRPr>
          </a:p>
        </p:txBody>
      </p:sp>
      <p:sp>
        <p:nvSpPr>
          <p:cNvPr id="14" name="Shape 12"/>
          <p:cNvSpPr/>
          <p:nvPr/>
        </p:nvSpPr>
        <p:spPr>
          <a:xfrm>
            <a:off x="5943600" y="2880370"/>
            <a:ext cx="1905000" cy="0"/>
          </a:xfrm>
          <a:prstGeom prst="line">
            <a:avLst/>
          </a:prstGeom>
          <a:noFill/>
          <a:ln w="12700">
            <a:solidFill>
              <a:srgbClr val="F5F4EF"/>
            </a:solidFill>
            <a:prstDash val="solid"/>
          </a:ln>
        </p:spPr>
      </p:sp>
      <p:sp>
        <p:nvSpPr>
          <p:cNvPr id="15" name="Text 13"/>
          <p:cNvSpPr/>
          <p:nvPr/>
        </p:nvSpPr>
        <p:spPr>
          <a:xfrm>
            <a:off x="5943600" y="2886720"/>
            <a:ext cx="1905000" cy="393700"/>
          </a:xfrm>
          <a:prstGeom prst="rect">
            <a:avLst/>
          </a:prstGeom>
          <a:solidFill>
            <a:srgbClr val="177A4B"/>
          </a:solidFill>
          <a:ln/>
        </p:spPr>
        <p:txBody>
          <a:bodyPr wrap="square" lIns="0" tIns="0" rIns="0" bIns="0" rtlCol="0" anchor="t">
            <a:normAutofit/>
          </a:bodyPr>
          <a:lstStyle/>
          <a:p>
            <a:pPr algn="ctr" indent="0" marL="0">
              <a:lnSpc>
                <a:spcPts val="3036"/>
              </a:lnSpc>
              <a:buNone/>
            </a:pPr>
            <a:r>
              <a:rPr lang="en-US" sz="1374" b="1" dirty="0">
                <a:solidFill>
                  <a:srgbClr val="F5F4EF"/>
                </a:solidFill>
                <a:latin typeface="IBM Plex Sans" pitchFamily="34" charset="0"/>
                <a:ea typeface="IBM Plex Sans" pitchFamily="34" charset="-122"/>
                <a:cs typeface="IBM Plex Sans" pitchFamily="34" charset="-120"/>
              </a:rPr>
              <a:t>Prioridade 6</a:t>
            </a:r>
            <a:endParaRPr lang="en-US" sz="1374" dirty="0">
              <a:latin typeface="IBM Plex Sans" charset="0"/>
              <a:ea typeface="IBM Plex Sans" charset="0"/>
              <a:cs typeface="IBM Plex Sans" charset="0"/>
            </a:endParaRPr>
          </a:p>
        </p:txBody>
      </p:sp>
      <p:sp>
        <p:nvSpPr>
          <p:cNvPr id="16" name="Shape 14"/>
          <p:cNvSpPr/>
          <p:nvPr/>
        </p:nvSpPr>
        <p:spPr>
          <a:xfrm>
            <a:off x="5943600" y="3274070"/>
            <a:ext cx="1905000" cy="0"/>
          </a:xfrm>
          <a:prstGeom prst="line">
            <a:avLst/>
          </a:prstGeom>
          <a:noFill/>
          <a:ln w="12700">
            <a:solidFill>
              <a:srgbClr val="F5F4EF"/>
            </a:solidFill>
            <a:prstDash val="solid"/>
          </a:ln>
        </p:spPr>
      </p:sp>
      <p:sp>
        <p:nvSpPr>
          <p:cNvPr id="17" name="Text 15"/>
          <p:cNvSpPr/>
          <p:nvPr/>
        </p:nvSpPr>
        <p:spPr>
          <a:xfrm>
            <a:off x="5943600" y="3280420"/>
            <a:ext cx="1905000" cy="393700"/>
          </a:xfrm>
          <a:prstGeom prst="rect">
            <a:avLst/>
          </a:prstGeom>
          <a:solidFill>
            <a:srgbClr val="1F8F58"/>
          </a:solidFill>
          <a:ln/>
        </p:spPr>
        <p:txBody>
          <a:bodyPr wrap="square" lIns="0" tIns="0" rIns="0" bIns="0" rtlCol="0" anchor="t">
            <a:normAutofit/>
          </a:bodyPr>
          <a:lstStyle/>
          <a:p>
            <a:pPr algn="ctr" indent="0" marL="0">
              <a:lnSpc>
                <a:spcPts val="3036"/>
              </a:lnSpc>
              <a:buNone/>
            </a:pPr>
            <a:r>
              <a:rPr lang="en-US" sz="1374" b="1" dirty="0">
                <a:solidFill>
                  <a:srgbClr val="F5F4EF"/>
                </a:solidFill>
                <a:latin typeface="IBM Plex Sans" pitchFamily="34" charset="0"/>
                <a:ea typeface="IBM Plex Sans" pitchFamily="34" charset="-122"/>
                <a:cs typeface="IBM Plex Sans" pitchFamily="34" charset="-120"/>
              </a:rPr>
              <a:t>Prioridade 5</a:t>
            </a:r>
            <a:endParaRPr lang="en-US" sz="1374" dirty="0">
              <a:latin typeface="IBM Plex Sans" charset="0"/>
              <a:ea typeface="IBM Plex Sans" charset="0"/>
              <a:cs typeface="IBM Plex Sans" charset="0"/>
            </a:endParaRPr>
          </a:p>
        </p:txBody>
      </p:sp>
      <p:sp>
        <p:nvSpPr>
          <p:cNvPr id="18" name="Shape 16"/>
          <p:cNvSpPr/>
          <p:nvPr/>
        </p:nvSpPr>
        <p:spPr>
          <a:xfrm>
            <a:off x="5943600" y="3667770"/>
            <a:ext cx="1905000" cy="0"/>
          </a:xfrm>
          <a:prstGeom prst="line">
            <a:avLst/>
          </a:prstGeom>
          <a:noFill/>
          <a:ln w="12700">
            <a:solidFill>
              <a:srgbClr val="F5F4EF"/>
            </a:solidFill>
            <a:prstDash val="solid"/>
          </a:ln>
        </p:spPr>
      </p:sp>
      <p:sp>
        <p:nvSpPr>
          <p:cNvPr id="19" name="Text 17"/>
          <p:cNvSpPr/>
          <p:nvPr/>
        </p:nvSpPr>
        <p:spPr>
          <a:xfrm>
            <a:off x="5943600" y="3674120"/>
            <a:ext cx="1905000" cy="393700"/>
          </a:xfrm>
          <a:prstGeom prst="rect">
            <a:avLst/>
          </a:prstGeom>
          <a:solidFill>
            <a:srgbClr val="27A365"/>
          </a:solidFill>
          <a:ln/>
        </p:spPr>
        <p:txBody>
          <a:bodyPr wrap="square" lIns="0" tIns="0" rIns="0" bIns="0" rtlCol="0" anchor="t">
            <a:normAutofit/>
          </a:bodyPr>
          <a:lstStyle/>
          <a:p>
            <a:pPr algn="ctr" indent="0" marL="0">
              <a:lnSpc>
                <a:spcPts val="3036"/>
              </a:lnSpc>
              <a:buNone/>
            </a:pPr>
            <a:r>
              <a:rPr lang="en-US" sz="1374" b="1" dirty="0">
                <a:solidFill>
                  <a:srgbClr val="F5F4EF"/>
                </a:solidFill>
                <a:latin typeface="IBM Plex Sans" pitchFamily="34" charset="0"/>
                <a:ea typeface="IBM Plex Sans" pitchFamily="34" charset="-122"/>
                <a:cs typeface="IBM Plex Sans" pitchFamily="34" charset="-120"/>
              </a:rPr>
              <a:t>Prioridade 4</a:t>
            </a:r>
            <a:endParaRPr lang="en-US" sz="1374" dirty="0">
              <a:latin typeface="IBM Plex Sans" charset="0"/>
              <a:ea typeface="IBM Plex Sans" charset="0"/>
              <a:cs typeface="IBM Plex Sans" charset="0"/>
            </a:endParaRPr>
          </a:p>
        </p:txBody>
      </p:sp>
      <p:sp>
        <p:nvSpPr>
          <p:cNvPr id="20" name="Shape 18"/>
          <p:cNvSpPr/>
          <p:nvPr/>
        </p:nvSpPr>
        <p:spPr>
          <a:xfrm>
            <a:off x="5943600" y="4061470"/>
            <a:ext cx="1905000" cy="0"/>
          </a:xfrm>
          <a:prstGeom prst="line">
            <a:avLst/>
          </a:prstGeom>
          <a:noFill/>
          <a:ln w="12700">
            <a:solidFill>
              <a:srgbClr val="F5F4EF"/>
            </a:solidFill>
            <a:prstDash val="solid"/>
          </a:ln>
        </p:spPr>
      </p:sp>
      <p:sp>
        <p:nvSpPr>
          <p:cNvPr id="21" name="Text 19"/>
          <p:cNvSpPr/>
          <p:nvPr/>
        </p:nvSpPr>
        <p:spPr>
          <a:xfrm>
            <a:off x="5943600" y="4067820"/>
            <a:ext cx="1905000" cy="393700"/>
          </a:xfrm>
          <a:prstGeom prst="rect">
            <a:avLst/>
          </a:prstGeom>
          <a:solidFill>
            <a:srgbClr val="7CCB91"/>
          </a:solidFill>
          <a:ln/>
        </p:spPr>
        <p:txBody>
          <a:bodyPr wrap="square" lIns="0" tIns="0" rIns="0" bIns="0" rtlCol="0" anchor="t">
            <a:normAutofit/>
          </a:bodyPr>
          <a:lstStyle/>
          <a:p>
            <a:pPr algn="ctr" indent="0" marL="0">
              <a:lnSpc>
                <a:spcPts val="3036"/>
              </a:lnSpc>
              <a:buNone/>
            </a:pPr>
            <a:r>
              <a:rPr lang="en-US" sz="1374" b="1" dirty="0">
                <a:solidFill>
                  <a:srgbClr val="14222E"/>
                </a:solidFill>
                <a:latin typeface="IBM Plex Sans" pitchFamily="34" charset="0"/>
                <a:ea typeface="IBM Plex Sans" pitchFamily="34" charset="-122"/>
                <a:cs typeface="IBM Plex Sans" pitchFamily="34" charset="-120"/>
              </a:rPr>
              <a:t>Prioridade 3</a:t>
            </a:r>
            <a:endParaRPr lang="en-US" sz="1374" dirty="0">
              <a:latin typeface="IBM Plex Sans" charset="0"/>
              <a:ea typeface="IBM Plex Sans" charset="0"/>
              <a:cs typeface="IBM Plex Sans" charset="0"/>
            </a:endParaRPr>
          </a:p>
        </p:txBody>
      </p:sp>
      <p:sp>
        <p:nvSpPr>
          <p:cNvPr id="22" name="Shape 20"/>
          <p:cNvSpPr/>
          <p:nvPr/>
        </p:nvSpPr>
        <p:spPr>
          <a:xfrm>
            <a:off x="5943600" y="4455170"/>
            <a:ext cx="1905000" cy="0"/>
          </a:xfrm>
          <a:prstGeom prst="line">
            <a:avLst/>
          </a:prstGeom>
          <a:noFill/>
          <a:ln w="12700">
            <a:solidFill>
              <a:srgbClr val="F5F4EF"/>
            </a:solidFill>
            <a:prstDash val="solid"/>
          </a:ln>
        </p:spPr>
      </p:sp>
      <p:sp>
        <p:nvSpPr>
          <p:cNvPr id="23" name="Text 21"/>
          <p:cNvSpPr/>
          <p:nvPr/>
        </p:nvSpPr>
        <p:spPr>
          <a:xfrm>
            <a:off x="5943600" y="4461520"/>
            <a:ext cx="1905000" cy="393700"/>
          </a:xfrm>
          <a:prstGeom prst="rect">
            <a:avLst/>
          </a:prstGeom>
          <a:solidFill>
            <a:srgbClr val="9DD9AB"/>
          </a:solidFill>
          <a:ln/>
        </p:spPr>
        <p:txBody>
          <a:bodyPr wrap="square" lIns="0" tIns="0" rIns="0" bIns="0" rtlCol="0" anchor="t">
            <a:normAutofit/>
          </a:bodyPr>
          <a:lstStyle/>
          <a:p>
            <a:pPr algn="ctr" indent="0" marL="0">
              <a:lnSpc>
                <a:spcPts val="3036"/>
              </a:lnSpc>
              <a:buNone/>
            </a:pPr>
            <a:r>
              <a:rPr lang="en-US" sz="1374" b="1" dirty="0">
                <a:solidFill>
                  <a:srgbClr val="14222E"/>
                </a:solidFill>
                <a:latin typeface="IBM Plex Sans" pitchFamily="34" charset="0"/>
                <a:ea typeface="IBM Plex Sans" pitchFamily="34" charset="-122"/>
                <a:cs typeface="IBM Plex Sans" pitchFamily="34" charset="-120"/>
              </a:rPr>
              <a:t>Prioridade 2</a:t>
            </a:r>
            <a:endParaRPr lang="en-US" sz="1374" dirty="0">
              <a:latin typeface="IBM Plex Sans" charset="0"/>
              <a:ea typeface="IBM Plex Sans" charset="0"/>
              <a:cs typeface="IBM Plex Sans" charset="0"/>
            </a:endParaRPr>
          </a:p>
        </p:txBody>
      </p:sp>
      <p:sp>
        <p:nvSpPr>
          <p:cNvPr id="24" name="Shape 22"/>
          <p:cNvSpPr/>
          <p:nvPr/>
        </p:nvSpPr>
        <p:spPr>
          <a:xfrm>
            <a:off x="5943600" y="4848870"/>
            <a:ext cx="1905000" cy="0"/>
          </a:xfrm>
          <a:prstGeom prst="line">
            <a:avLst/>
          </a:prstGeom>
          <a:noFill/>
          <a:ln w="12700">
            <a:solidFill>
              <a:srgbClr val="F5F4EF"/>
            </a:solidFill>
            <a:prstDash val="solid"/>
          </a:ln>
        </p:spPr>
      </p:sp>
      <p:sp>
        <p:nvSpPr>
          <p:cNvPr id="25" name="Text 23"/>
          <p:cNvSpPr/>
          <p:nvPr/>
        </p:nvSpPr>
        <p:spPr>
          <a:xfrm>
            <a:off x="5943600" y="4855220"/>
            <a:ext cx="1905000" cy="393700"/>
          </a:xfrm>
          <a:prstGeom prst="rect">
            <a:avLst/>
          </a:prstGeom>
          <a:solidFill>
            <a:srgbClr val="C4EACD"/>
          </a:solidFill>
          <a:ln/>
        </p:spPr>
        <p:txBody>
          <a:bodyPr wrap="square" lIns="0" tIns="0" rIns="0" bIns="0" rtlCol="0" anchor="t">
            <a:normAutofit/>
          </a:bodyPr>
          <a:lstStyle/>
          <a:p>
            <a:pPr algn="ctr" indent="0" marL="0">
              <a:lnSpc>
                <a:spcPts val="3036"/>
              </a:lnSpc>
              <a:buNone/>
            </a:pPr>
            <a:r>
              <a:rPr lang="en-US" sz="1374" b="1" dirty="0">
                <a:solidFill>
                  <a:srgbClr val="14222E"/>
                </a:solidFill>
                <a:latin typeface="IBM Plex Sans" pitchFamily="34" charset="0"/>
                <a:ea typeface="IBM Plex Sans" pitchFamily="34" charset="-122"/>
                <a:cs typeface="IBM Plex Sans" pitchFamily="34" charset="-120"/>
              </a:rPr>
              <a:t>Prioridade 1</a:t>
            </a:r>
            <a:endParaRPr lang="en-US" sz="1374" dirty="0">
              <a:latin typeface="IBM Plex Sans" charset="0"/>
              <a:ea typeface="IBM Plex Sans" charset="0"/>
              <a:cs typeface="IBM Plex Sans" charset="0"/>
            </a:endParaRPr>
          </a:p>
        </p:txBody>
      </p:sp>
      <p:sp>
        <p:nvSpPr>
          <p:cNvPr id="26" name="Shape 24"/>
          <p:cNvSpPr/>
          <p:nvPr/>
        </p:nvSpPr>
        <p:spPr>
          <a:xfrm>
            <a:off x="5943600" y="5242570"/>
            <a:ext cx="1905000" cy="0"/>
          </a:xfrm>
          <a:prstGeom prst="line">
            <a:avLst/>
          </a:prstGeom>
          <a:noFill/>
          <a:ln w="12700">
            <a:solidFill>
              <a:srgbClr val="F5F4EF"/>
            </a:solidFill>
            <a:prstDash val="solid"/>
          </a:ln>
        </p:spPr>
      </p:sp>
      <p:sp>
        <p:nvSpPr>
          <p:cNvPr id="27" name="Shape 25"/>
          <p:cNvSpPr/>
          <p:nvPr/>
        </p:nvSpPr>
        <p:spPr>
          <a:xfrm>
            <a:off x="8039100" y="2448570"/>
            <a:ext cx="0" cy="1625600"/>
          </a:xfrm>
          <a:prstGeom prst="line">
            <a:avLst/>
          </a:prstGeom>
          <a:noFill/>
          <a:ln w="25400">
            <a:solidFill>
              <a:srgbClr val="177A4B"/>
            </a:solidFill>
            <a:prstDash val="solid"/>
          </a:ln>
        </p:spPr>
      </p:sp>
      <p:sp>
        <p:nvSpPr>
          <p:cNvPr id="28" name="Text 26"/>
          <p:cNvSpPr/>
          <p:nvPr/>
        </p:nvSpPr>
        <p:spPr>
          <a:xfrm>
            <a:off x="8178800" y="2941340"/>
            <a:ext cx="324408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4 a 7:</a:t>
            </a:r>
            <a:r>
              <a:rPr lang="en-US" sz="1200" dirty="0">
                <a:solidFill>
                  <a:srgbClr val="14222E"/>
                </a:solidFill>
                <a:latin typeface="IBM Plex Sans" pitchFamily="34" charset="0"/>
                <a:ea typeface="IBM Plex Sans" pitchFamily="34" charset="-122"/>
                <a:cs typeface="IBM Plex Sans" pitchFamily="34" charset="-120"/>
              </a:rPr>
              <a:t> nunca atrasadas pelo kernel, podem fazer nesting, mas </a:t>
            </a:r>
            <a:r>
              <a:rPr lang="en-US" sz="1200" b="1" dirty="0">
                <a:solidFill>
                  <a:srgbClr val="14222E"/>
                </a:solidFill>
                <a:latin typeface="IBM Plex Sans" pitchFamily="34" charset="0"/>
                <a:ea typeface="IBM Plex Sans" pitchFamily="34" charset="-122"/>
                <a:cs typeface="IBM Plex Sans" pitchFamily="34" charset="-120"/>
              </a:rPr>
              <a:t>não podem usar a API</a:t>
            </a:r>
            <a:r>
              <a:rPr lang="en-US" sz="1200" dirty="0">
                <a:solidFill>
                  <a:srgbClr val="14222E"/>
                </a:solidFill>
                <a:latin typeface="IBM Plex Sans" pitchFamily="34" charset="0"/>
                <a:ea typeface="IBM Plex Sans" pitchFamily="34" charset="-122"/>
                <a:cs typeface="IBM Plex Sans" pitchFamily="34" charset="-120"/>
              </a:rPr>
              <a:t>. Ex.: controlo de motores.</a:t>
            </a:r>
            <a:endParaRPr lang="en-US" sz="1200" dirty="0">
              <a:latin typeface="IBM Plex Sans" charset="0"/>
              <a:ea typeface="IBM Plex Sans" charset="0"/>
              <a:cs typeface="IBM Plex Sans" charset="0"/>
            </a:endParaRPr>
          </a:p>
        </p:txBody>
      </p:sp>
      <p:sp>
        <p:nvSpPr>
          <p:cNvPr id="29" name="Shape 27"/>
          <p:cNvSpPr/>
          <p:nvPr/>
        </p:nvSpPr>
        <p:spPr>
          <a:xfrm>
            <a:off x="8039100" y="4074170"/>
            <a:ext cx="0" cy="1219200"/>
          </a:xfrm>
          <a:prstGeom prst="line">
            <a:avLst/>
          </a:prstGeom>
          <a:noFill/>
          <a:ln w="25400">
            <a:solidFill>
              <a:srgbClr val="7CCB91"/>
            </a:solidFill>
            <a:prstDash val="solid"/>
          </a:ln>
        </p:spPr>
      </p:sp>
      <p:sp>
        <p:nvSpPr>
          <p:cNvPr id="30" name="Text 28"/>
          <p:cNvSpPr/>
          <p:nvPr/>
        </p:nvSpPr>
        <p:spPr>
          <a:xfrm>
            <a:off x="8178800" y="4363740"/>
            <a:ext cx="324408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1 a 3:</a:t>
            </a:r>
            <a:r>
              <a:rPr lang="en-US" sz="1200" dirty="0">
                <a:solidFill>
                  <a:srgbClr val="14222E"/>
                </a:solidFill>
                <a:latin typeface="IBM Plex Sans" pitchFamily="34" charset="0"/>
                <a:ea typeface="IBM Plex Sans" pitchFamily="34" charset="-122"/>
                <a:cs typeface="IBM Plex Sans" pitchFamily="34" charset="-120"/>
              </a:rPr>
              <a:t> podem usar a API FromISR e fazer nesting, mas são mascaradas pelas critical sections.</a:t>
            </a:r>
            <a:endParaRPr lang="en-US" sz="1200" dirty="0">
              <a:latin typeface="IBM Plex Sans" charset="0"/>
              <a:ea typeface="IBM Plex Sans" charset="0"/>
              <a:cs typeface="IBM Plex Sans" charset="0"/>
            </a:endParaRPr>
          </a:p>
        </p:txBody>
      </p:sp>
      <p:sp>
        <p:nvSpPr>
          <p:cNvPr id="31" name="Text 29"/>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7</a:t>
            </a:r>
            <a:endParaRPr lang="en-US" sz="1200" dirty="0">
              <a:latin typeface="IBM Plex Sans" charset="0"/>
              <a:ea typeface="IBM Plex Sans" charset="0"/>
              <a:cs typeface="IBM Plex Sans" charset="0"/>
            </a:endParaRPr>
          </a:p>
        </p:txBody>
      </p:sp>
      <p:sp>
        <p:nvSpPr>
          <p:cNvPr id="32" name="Text 30"/>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100</a:t>
            </a:r>
            <a:endParaRPr lang="en-US" sz="1200" dirty="0">
              <a:latin typeface="IBM Plex Sans" charset="0"/>
              <a:ea typeface="IBM Plex Sans" charset="0"/>
              <a:cs typeface="IBM Plex Sans"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INTERRUPÇÕES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Nota para RISC-V: o Hazard3 no RP2350</a:t>
            </a:r>
            <a:endParaRPr lang="en-US" sz="3200" dirty="0">
              <a:latin typeface="IBM Plex Sans" charset="0"/>
              <a:ea typeface="IBM Plex Sans" charset="0"/>
              <a:cs typeface="IBM Plex Sans" charset="0"/>
            </a:endParaRPr>
          </a:p>
        </p:txBody>
      </p:sp>
      <p:sp>
        <p:nvSpPr>
          <p:cNvPr id="4" name="Shape 2"/>
          <p:cNvSpPr/>
          <p:nvPr/>
        </p:nvSpPr>
        <p:spPr>
          <a:xfrm>
            <a:off x="812800" y="1905020"/>
            <a:ext cx="10566400" cy="0"/>
          </a:xfrm>
          <a:prstGeom prst="line">
            <a:avLst/>
          </a:prstGeom>
          <a:noFill/>
          <a:ln w="10160">
            <a:solidFill>
              <a:srgbClr val="141413">
                <a:alpha val="22000"/>
              </a:srgbClr>
            </a:solidFill>
            <a:prstDash val="solid"/>
          </a:ln>
        </p:spPr>
      </p:sp>
      <p:sp>
        <p:nvSpPr>
          <p:cNvPr id="5" name="Shape 3"/>
          <p:cNvSpPr/>
          <p:nvPr/>
        </p:nvSpPr>
        <p:spPr>
          <a:xfrm>
            <a:off x="817880" y="1899940"/>
            <a:ext cx="0" cy="287528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973600"/>
          <a:ext cx="10353040" cy="2738120"/>
        </p:xfrm>
        <a:graphic>
          <a:graphicData uri="http://schemas.openxmlformats.org/drawingml/2006/table">
            <a:tbl>
              <a:tblPr/>
              <a:tblGrid>
                <a:gridCol w="2691790"/>
                <a:gridCol w="3520034"/>
                <a:gridCol w="4141216"/>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Cortex-M (ex.: ARM_CM4F)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Port RP2350_RISC-V (Pico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Tick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SysTick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Machine timer do SIO (mtime / mtimecmp)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Handlers do kernel</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#define para os nomes do vetor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Instalados pelo port em run time (API de IRQs do pico-sdk)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Secção crítica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BASEPRI: só mascara até configMAX_SYSCALL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Desliga todas as interrupções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Nesting de ISRs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Sim, com prioridades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o port desliga a preempção de IRQs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Que ISRs podem usar FromISR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Só as de prioridade lógica ≤ configMAX_SYSCALL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Todas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Verificação com configASSERT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vPortValidateInterruptPriority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há</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508000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Mais simples:</a:t>
            </a:r>
            <a:r>
              <a:rPr lang="en-US" sz="1200" dirty="0">
                <a:solidFill>
                  <a:srgbClr val="14222E"/>
                </a:solidFill>
                <a:latin typeface="IBM Plex Sans" pitchFamily="34" charset="0"/>
                <a:ea typeface="IBM Plex Sans" pitchFamily="34" charset="-122"/>
                <a:cs typeface="IBM Plex Sans" pitchFamily="34" charset="-120"/>
              </a:rPr>
              <a:t> não há prioridades de interrupção a acertar com o kernel.</a:t>
            </a:r>
            <a:endParaRPr lang="en-US" sz="1200" dirty="0">
              <a:latin typeface="IBM Plex Sans" charset="0"/>
              <a:ea typeface="IBM Plex Sans" charset="0"/>
              <a:cs typeface="IBM Plex Sans" charset="0"/>
            </a:endParaRPr>
          </a:p>
        </p:txBody>
      </p:sp>
      <p:sp>
        <p:nvSpPr>
          <p:cNvPr id="8" name="Text 5"/>
          <p:cNvSpPr/>
          <p:nvPr/>
        </p:nvSpPr>
        <p:spPr>
          <a:xfrm>
            <a:off x="6159500" y="5080000"/>
            <a:ext cx="5219700" cy="629920"/>
          </a:xfrm>
          <a:prstGeom prst="roundRect">
            <a:avLst>
              <a:gd name="adj" fmla="val 12097"/>
            </a:avLst>
          </a:prstGeom>
          <a:solidFill>
            <a:srgbClr val="FBEFE7"/>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Mais exigente:</a:t>
            </a:r>
            <a:r>
              <a:rPr lang="en-US" sz="1200" dirty="0">
                <a:solidFill>
                  <a:srgbClr val="14222E"/>
                </a:solidFill>
                <a:latin typeface="IBM Plex Sans" pitchFamily="34" charset="0"/>
                <a:ea typeface="IBM Plex Sans" pitchFamily="34" charset="-122"/>
                <a:cs typeface="IBM Plex Sans" pitchFamily="34" charset="-120"/>
              </a:rPr>
              <a:t> sem nesting, uma ISR longa atrasa todas as outras. ISRs curtas e deferred processing.</a:t>
            </a:r>
            <a:endParaRPr lang="en-US" sz="1200" dirty="0">
              <a:latin typeface="IBM Plex Sans" charset="0"/>
              <a:ea typeface="IBM Plex Sans" charset="0"/>
              <a:cs typeface="IBM Plex Sans" charset="0"/>
            </a:endParaRPr>
          </a:p>
        </p:txBody>
      </p:sp>
      <p:sp>
        <p:nvSpPr>
          <p:cNvPr id="9" name="Text 6"/>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port RP2350_RISC-V (raspberrypi/FreeRTOS-Kernel)</a:t>
            </a:r>
            <a:endParaRPr lang="en-US" sz="1200" dirty="0">
              <a:latin typeface="IBM Plex Sans" charset="0"/>
              <a:ea typeface="IBM Plex Sans" charset="0"/>
              <a:cs typeface="IBM Plex Sans" charset="0"/>
            </a:endParaRPr>
          </a:p>
        </p:txBody>
      </p:sp>
      <p:sp>
        <p:nvSpPr>
          <p:cNvPr id="10" name="Text 7"/>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101</a:t>
            </a:r>
            <a:endParaRPr lang="en-US" sz="1200" dirty="0">
              <a:latin typeface="IBM Plex Sans" charset="0"/>
              <a:ea typeface="IBM Plex Sans" charset="0"/>
              <a:cs typeface="IBM Plex Sans"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5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70"/>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A ISR regista o evento e sai depressa; uma task, acordada por um semáforo ou por uma queue, faz o resto.</a:t>
            </a:r>
            <a:endParaRPr lang="en-US" sz="3200" dirty="0">
              <a:latin typeface="IBM Plex Sans" charset="0"/>
              <a:ea typeface="IBM Plex Sans" charset="0"/>
              <a:cs typeface="IBM Plex Sans" charset="0"/>
            </a:endParaRPr>
          </a:p>
        </p:txBody>
      </p:sp>
      <p:sp>
        <p:nvSpPr>
          <p:cNvPr id="4" name="Text 2"/>
          <p:cNvSpPr/>
          <p:nvPr/>
        </p:nvSpPr>
        <p:spPr>
          <a:xfrm>
            <a:off x="819150" y="2942580"/>
            <a:ext cx="131349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…FromISR()</a:t>
            </a:r>
            <a:endParaRPr lang="en-US" sz="1400" dirty="0">
              <a:latin typeface="IBM Plex Sans" charset="0"/>
              <a:ea typeface="IBM Plex Sans" charset="0"/>
              <a:cs typeface="IBM Plex Sans" charset="0"/>
            </a:endParaRPr>
          </a:p>
        </p:txBody>
      </p:sp>
      <p:sp>
        <p:nvSpPr>
          <p:cNvPr id="5" name="Text 3"/>
          <p:cNvSpPr/>
          <p:nvPr/>
        </p:nvSpPr>
        <p:spPr>
          <a:xfrm>
            <a:off x="2246948" y="2942580"/>
            <a:ext cx="214987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portYIELD_FROM_ISR</a:t>
            </a:r>
            <a:endParaRPr lang="en-US" sz="1400" dirty="0">
              <a:latin typeface="IBM Plex Sans" charset="0"/>
              <a:ea typeface="IBM Plex Sans" charset="0"/>
              <a:cs typeface="IBM Plex Sans" charset="0"/>
            </a:endParaRPr>
          </a:p>
        </p:txBody>
      </p:sp>
      <p:sp>
        <p:nvSpPr>
          <p:cNvPr id="6" name="Text 4"/>
          <p:cNvSpPr/>
          <p:nvPr/>
        </p:nvSpPr>
        <p:spPr>
          <a:xfrm>
            <a:off x="4511120" y="2942580"/>
            <a:ext cx="197350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Deferred processing</a:t>
            </a:r>
            <a:endParaRPr lang="en-US" sz="1400" dirty="0">
              <a:latin typeface="IBM Plex Sans" charset="0"/>
              <a:ea typeface="IBM Plex Sans" charset="0"/>
              <a:cs typeface="IBM Plex Sans" charset="0"/>
            </a:endParaRPr>
          </a:p>
        </p:txBody>
      </p:sp>
      <p:sp>
        <p:nvSpPr>
          <p:cNvPr id="7" name="Text 5"/>
          <p:cNvSpPr/>
          <p:nvPr/>
        </p:nvSpPr>
        <p:spPr>
          <a:xfrm>
            <a:off x="6598920" y="2942580"/>
            <a:ext cx="297338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Semáforo binário e de contagem</a:t>
            </a:r>
            <a:endParaRPr lang="en-US" sz="1400" dirty="0">
              <a:latin typeface="IBM Plex Sans" charset="0"/>
              <a:ea typeface="IBM Plex Sans" charset="0"/>
              <a:cs typeface="IBM Plex Sans" charset="0"/>
            </a:endParaRPr>
          </a:p>
        </p:txBody>
      </p:sp>
      <p:sp>
        <p:nvSpPr>
          <p:cNvPr id="8" name="Text 6"/>
          <p:cNvSpPr/>
          <p:nvPr/>
        </p:nvSpPr>
        <p:spPr>
          <a:xfrm>
            <a:off x="819150" y="3440460"/>
            <a:ext cx="306395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xTimerPendFunctionCallFromISR</a:t>
            </a:r>
            <a:endParaRPr lang="en-US" sz="1400" dirty="0">
              <a:latin typeface="IBM Plex Sans" charset="0"/>
              <a:ea typeface="IBM Plex Sans" charset="0"/>
              <a:cs typeface="IBM Plex Sans" charset="0"/>
            </a:endParaRPr>
          </a:p>
        </p:txBody>
      </p:sp>
      <p:sp>
        <p:nvSpPr>
          <p:cNvPr id="9" name="Text 7"/>
          <p:cNvSpPr/>
          <p:nvPr/>
        </p:nvSpPr>
        <p:spPr>
          <a:xfrm>
            <a:off x="3997404" y="3440460"/>
            <a:ext cx="166695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Queues em ISRs</a:t>
            </a:r>
            <a:endParaRPr lang="en-US" sz="1400" dirty="0">
              <a:latin typeface="IBM Plex Sans" charset="0"/>
              <a:ea typeface="IBM Plex Sans" charset="0"/>
              <a:cs typeface="IBM Plex Sans" charset="0"/>
            </a:endParaRPr>
          </a:p>
        </p:txBody>
      </p:sp>
      <p:sp>
        <p:nvSpPr>
          <p:cNvPr id="10" name="Text 8"/>
          <p:cNvSpPr/>
          <p:nvPr/>
        </p:nvSpPr>
        <p:spPr>
          <a:xfrm>
            <a:off x="5778659" y="3440460"/>
            <a:ext cx="404352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configMAX_SYSCALL_INTERRUPT_PRIORITY</a:t>
            </a:r>
            <a:endParaRPr lang="en-US" sz="1400" dirty="0">
              <a:latin typeface="IBM Plex Sans" charset="0"/>
              <a:ea typeface="IBM Plex Sans" charset="0"/>
              <a:cs typeface="IBM Plex Sans" charset="0"/>
            </a:endParaRPr>
          </a:p>
        </p:txBody>
      </p:sp>
      <p:sp>
        <p:nvSpPr>
          <p:cNvPr id="11" name="Text 9"/>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no Módulo 6: gestão de recursos, com mutexes e semáforos.</a:t>
            </a:r>
            <a:endParaRPr lang="en-US" sz="1600" dirty="0">
              <a:latin typeface="IBM Plex Sans" charset="0"/>
              <a:ea typeface="IBM Plex Sans" charset="0"/>
              <a:cs typeface="IBM Plex Sans"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6</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40"/>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F2F1EC"/>
                </a:solidFill>
                <a:latin typeface="IBM Plex Sans" pitchFamily="34" charset="0"/>
                <a:ea typeface="IBM Plex Sans" pitchFamily="34" charset="-122"/>
                <a:cs typeface="IBM Plex Sans" pitchFamily="34" charset="-120"/>
              </a:rPr>
              <a:t>Gestão de recursos</a:t>
            </a:r>
            <a:endParaRPr lang="en-US" sz="7000" dirty="0">
              <a:latin typeface="IBM Plex Sans" charset="0"/>
              <a:ea typeface="IBM Plex Sans" charset="0"/>
              <a:cs typeface="IBM Plex Sans" charset="0"/>
            </a:endParaRPr>
          </a:p>
        </p:txBody>
      </p:sp>
      <p:sp>
        <p:nvSpPr>
          <p:cNvPr id="4" name="Text 2"/>
          <p:cNvSpPr/>
          <p:nvPr/>
        </p:nvSpPr>
        <p:spPr>
          <a:xfrm>
            <a:off x="812800" y="2255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Critical sections, mutexes e gatekeeper tasks</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697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 PROBLEMA</a:t>
            </a:r>
            <a:endParaRPr lang="en-US" sz="1200" dirty="0">
              <a:latin typeface="IBM Plex Sans" charset="0"/>
              <a:ea typeface="IBM Plex Sans" charset="0"/>
              <a:cs typeface="IBM Plex Sans" charset="0"/>
            </a:endParaRPr>
          </a:p>
        </p:txBody>
      </p:sp>
      <p:sp>
        <p:nvSpPr>
          <p:cNvPr id="7" name="Text 5"/>
          <p:cNvSpPr/>
          <p:nvPr/>
        </p:nvSpPr>
        <p:spPr>
          <a:xfrm>
            <a:off x="812800" y="515114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Acesso concorrente, operações não atómicas, reentrância</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AS FERRAMENTAS</a:t>
            </a:r>
            <a:endParaRPr lang="en-US" sz="1200" dirty="0">
              <a:latin typeface="IBM Plex Sans" charset="0"/>
              <a:ea typeface="IBM Plex Sans" charset="0"/>
              <a:cs typeface="IBM Plex Sans" charset="0"/>
            </a:endParaRPr>
          </a:p>
        </p:txBody>
      </p:sp>
      <p:sp>
        <p:nvSpPr>
          <p:cNvPr id="10" name="Text 8"/>
          <p:cNvSpPr/>
          <p:nvPr/>
        </p:nvSpPr>
        <p:spPr>
          <a:xfrm>
            <a:off x="4402614" y="515114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Critical sections, suspender o scheduler, mutexes, gatekeeper tasks</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OS RISCOS</a:t>
            </a:r>
            <a:endParaRPr lang="en-US" sz="1200" dirty="0">
              <a:latin typeface="IBM Plex Sans" charset="0"/>
              <a:ea typeface="IBM Plex Sans" charset="0"/>
              <a:cs typeface="IBM Plex Sans" charset="0"/>
            </a:endParaRPr>
          </a:p>
        </p:txBody>
      </p:sp>
      <p:sp>
        <p:nvSpPr>
          <p:cNvPr id="13" name="Text 11"/>
          <p:cNvSpPr/>
          <p:nvPr/>
        </p:nvSpPr>
        <p:spPr>
          <a:xfrm>
            <a:off x="7992507"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Priority inversion e deadlock</a:t>
            </a:r>
            <a:endParaRPr lang="en-US" sz="1200" dirty="0">
              <a:latin typeface="IBM Plex Sans" charset="0"/>
              <a:ea typeface="IBM Plex Sans" charset="0"/>
              <a:cs typeface="IBM Plex Sans" charset="0"/>
            </a:endParaRPr>
          </a:p>
        </p:txBody>
      </p:sp>
      <p:sp>
        <p:nvSpPr>
          <p:cNvPr id="14" name="Text 12"/>
          <p:cNvSpPr/>
          <p:nvPr/>
        </p:nvSpPr>
        <p:spPr>
          <a:xfrm>
            <a:off x="812800" y="58318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8</a:t>
            </a:r>
            <a:endParaRPr lang="en-US" sz="1200" dirty="0">
              <a:latin typeface="IBM Plex Sans" charset="0"/>
              <a:ea typeface="IBM Plex Sans" charset="0"/>
              <a:cs typeface="IBM Plex Sans"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problema: acessos interrompidos a meio</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Se uma task sai de Running a meio de usar um recurso, este pode ficar inconsistente, e outra task ou ISR que lhe aceda corrompe os dados.</a:t>
            </a:r>
            <a:endParaRPr lang="en-US" sz="1500" dirty="0">
              <a:latin typeface="IBM Plex Sans" charset="0"/>
              <a:ea typeface="IBM Plex Sans" charset="0"/>
              <a:cs typeface="IBM Plex Sans" charset="0"/>
            </a:endParaRPr>
          </a:p>
        </p:txBody>
      </p:sp>
      <p:sp>
        <p:nvSpPr>
          <p:cNvPr id="5" name="Shape 3"/>
          <p:cNvSpPr/>
          <p:nvPr/>
        </p:nvSpPr>
        <p:spPr>
          <a:xfrm>
            <a:off x="815975" y="2538115"/>
            <a:ext cx="5175250" cy="3280410"/>
          </a:xfrm>
          <a:prstGeom prst="roundRect">
            <a:avLst>
              <a:gd name="adj" fmla="val 3000"/>
            </a:avLst>
          </a:prstGeom>
          <a:solidFill>
            <a:srgbClr val="FCFBF8"/>
          </a:solidFill>
          <a:ln w="6350">
            <a:solidFill>
              <a:srgbClr val="DCDAD2"/>
            </a:solidFill>
            <a:prstDash val="solid"/>
          </a:ln>
        </p:spPr>
      </p:sp>
      <p:sp>
        <p:nvSpPr>
          <p:cNvPr id="6" name="Text 4"/>
          <p:cNvSpPr/>
          <p:nvPr/>
        </p:nvSpPr>
        <p:spPr>
          <a:xfrm>
            <a:off x="995680" y="2717800"/>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PERIFÉRICOS</a:t>
            </a:r>
            <a:endParaRPr lang="en-US" sz="1200" dirty="0">
              <a:latin typeface="IBM Plex Sans" charset="0"/>
              <a:ea typeface="IBM Plex Sans" charset="0"/>
              <a:cs typeface="IBM Plex Sans" charset="0"/>
            </a:endParaRPr>
          </a:p>
        </p:txBody>
      </p:sp>
      <p:sp>
        <p:nvSpPr>
          <p:cNvPr id="7" name="Text 5"/>
          <p:cNvSpPr/>
          <p:nvPr/>
        </p:nvSpPr>
        <p:spPr>
          <a:xfrm>
            <a:off x="995680" y="3007370"/>
            <a:ext cx="49603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Duas tasks a escrever no LCD</a:t>
            </a:r>
            <a:endParaRPr lang="en-US" sz="1500" dirty="0">
              <a:latin typeface="IBM Plex Sans" charset="0"/>
              <a:ea typeface="IBM Plex Sans" charset="0"/>
              <a:cs typeface="IBM Plex Sans" charset="0"/>
            </a:endParaRPr>
          </a:p>
        </p:txBody>
      </p:sp>
      <p:sp>
        <p:nvSpPr>
          <p:cNvPr id="8" name="Text 6"/>
          <p:cNvSpPr/>
          <p:nvPr/>
        </p:nvSpPr>
        <p:spPr>
          <a:xfrm>
            <a:off x="995680" y="3312170"/>
            <a:ext cx="4815840" cy="520700"/>
          </a:xfrm>
          <a:prstGeom prst="roundRect">
            <a:avLst>
              <a:gd name="adj" fmla="val 14634"/>
            </a:avLst>
          </a:prstGeom>
          <a:solidFill>
            <a:srgbClr val="0E1820"/>
          </a:solidFill>
          <a:ln/>
        </p:spPr>
        <p:txBody>
          <a:bodyPr wrap="none" lIns="130082" tIns="104682" rIns="0" bIns="79282" rtlCol="0" anchor="t">
            <a:normAutofit/>
          </a:bodyPr>
          <a:lstStyle/>
          <a:p>
            <a:pPr algn="l" indent="0" marL="0">
              <a:lnSpc>
                <a:spcPts val="2100"/>
              </a:lnSpc>
              <a:buNone/>
            </a:pPr>
            <a:r>
              <a:rPr lang="en-US" sz="1500" b="1" dirty="0">
                <a:solidFill>
                  <a:srgbClr val="2F6FD0"/>
                </a:solidFill>
                <a:latin typeface="JetBrains Mono" pitchFamily="49" charset="0"/>
                <a:ea typeface="JetBrains Mono" pitchFamily="49" charset="-122"/>
                <a:cs typeface="JetBrains Mono" pitchFamily="49" charset="-120"/>
              </a:rPr>
              <a:t>Hello w</a:t>
            </a:r>
            <a:r>
              <a:rPr lang="en-US" sz="1500" b="1" dirty="0">
                <a:solidFill>
                  <a:srgbClr val="D0612A"/>
                </a:solidFill>
                <a:latin typeface="JetBrains Mono" pitchFamily="49" charset="0"/>
                <a:ea typeface="JetBrains Mono" pitchFamily="49" charset="-122"/>
                <a:cs typeface="JetBrains Mono" pitchFamily="49" charset="-120"/>
              </a:rPr>
              <a:t>Abort, Retry, Fail?</a:t>
            </a:r>
            <a:r>
              <a:rPr lang="en-US" sz="1500" b="1" dirty="0">
                <a:solidFill>
                  <a:srgbClr val="2F6FD0"/>
                </a:solidFill>
                <a:latin typeface="JetBrains Mono" pitchFamily="49" charset="0"/>
                <a:ea typeface="JetBrains Mono" pitchFamily="49" charset="-122"/>
                <a:cs typeface="JetBrains Mono" pitchFamily="49" charset="-120"/>
              </a:rPr>
              <a:t>orld</a:t>
            </a:r>
            <a:endParaRPr lang="en-US" sz="1500" dirty="0">
              <a:latin typeface="JetBrains Mono" charset="0"/>
              <a:ea typeface="JetBrains Mono" charset="0"/>
              <a:cs typeface="JetBrains Mono" charset="0"/>
            </a:endParaRPr>
          </a:p>
        </p:txBody>
      </p:sp>
      <p:sp>
        <p:nvSpPr>
          <p:cNvPr id="9" name="Text 7"/>
          <p:cNvSpPr/>
          <p:nvPr/>
        </p:nvSpPr>
        <p:spPr>
          <a:xfrm>
            <a:off x="995680" y="3909070"/>
            <a:ext cx="4960315"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6FD0"/>
                </a:solidFill>
                <a:latin typeface="IBM Plex Sans" pitchFamily="34" charset="0"/>
                <a:ea typeface="IBM Plex Sans" pitchFamily="34" charset="-122"/>
                <a:cs typeface="IBM Plex Sans" pitchFamily="34" charset="-120"/>
              </a:rPr>
              <a:t>Task A</a:t>
            </a:r>
            <a:r>
              <a:rPr lang="en-US" sz="1300" dirty="0">
                <a:solidFill>
                  <a:srgbClr val="44505C"/>
                </a:solidFill>
                <a:latin typeface="IBM Plex Sans" pitchFamily="34" charset="0"/>
                <a:ea typeface="IBM Plex Sans" pitchFamily="34" charset="-122"/>
                <a:cs typeface="IBM Plex Sans" pitchFamily="34" charset="-120"/>
              </a:rPr>
              <a:t> escreve “Hello world”, é preemptada; </a:t>
            </a:r>
            <a:r>
              <a:rPr lang="en-US" sz="1300" b="1" dirty="0">
                <a:solidFill>
                  <a:srgbClr val="D0612A"/>
                </a:solidFill>
                <a:latin typeface="IBM Plex Sans" pitchFamily="34" charset="0"/>
                <a:ea typeface="IBM Plex Sans" pitchFamily="34" charset="-122"/>
                <a:cs typeface="IBM Plex Sans" pitchFamily="34" charset="-120"/>
              </a:rPr>
              <a:t>Task B</a:t>
            </a:r>
            <a:r>
              <a:rPr lang="en-US" sz="1300" dirty="0">
                <a:solidFill>
                  <a:srgbClr val="44505C"/>
                </a:solidFill>
                <a:latin typeface="IBM Plex Sans" pitchFamily="34" charset="0"/>
                <a:ea typeface="IBM Plex Sans" pitchFamily="34" charset="-122"/>
                <a:cs typeface="IBM Plex Sans" pitchFamily="34" charset="-120"/>
              </a:rPr>
              <a:t> escreve a sua mensagem; A acaba “orld”.</a:t>
            </a:r>
            <a:endParaRPr lang="en-US" sz="1300" dirty="0">
              <a:latin typeface="IBM Plex Sans" charset="0"/>
              <a:ea typeface="IBM Plex Sans" charset="0"/>
              <a:cs typeface="IBM Plex Sans" charset="0"/>
            </a:endParaRPr>
          </a:p>
        </p:txBody>
      </p:sp>
      <p:sp>
        <p:nvSpPr>
          <p:cNvPr id="10" name="Shape 8"/>
          <p:cNvSpPr/>
          <p:nvPr/>
        </p:nvSpPr>
        <p:spPr>
          <a:xfrm>
            <a:off x="6200775" y="2538115"/>
            <a:ext cx="5175250" cy="3280410"/>
          </a:xfrm>
          <a:prstGeom prst="roundRect">
            <a:avLst>
              <a:gd name="adj" fmla="val 3000"/>
            </a:avLst>
          </a:prstGeom>
          <a:solidFill>
            <a:srgbClr val="FCFBF8"/>
          </a:solidFill>
          <a:ln w="6350">
            <a:solidFill>
              <a:srgbClr val="DCDAD2"/>
            </a:solidFill>
            <a:prstDash val="solid"/>
          </a:ln>
        </p:spPr>
      </p:sp>
      <p:sp>
        <p:nvSpPr>
          <p:cNvPr id="11" name="Text 9"/>
          <p:cNvSpPr/>
          <p:nvPr/>
        </p:nvSpPr>
        <p:spPr>
          <a:xfrm>
            <a:off x="6380480" y="2692400"/>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READ, MODIFY, WRITE</a:t>
            </a:r>
            <a:endParaRPr lang="en-US" sz="1200" dirty="0">
              <a:latin typeface="IBM Plex Sans" charset="0"/>
              <a:ea typeface="IBM Plex Sans" charset="0"/>
              <a:cs typeface="IBM Plex Sans" charset="0"/>
            </a:endParaRPr>
          </a:p>
        </p:txBody>
      </p:sp>
      <p:sp>
        <p:nvSpPr>
          <p:cNvPr id="12" name="Text 10"/>
          <p:cNvSpPr/>
          <p:nvPr/>
        </p:nvSpPr>
        <p:spPr>
          <a:xfrm>
            <a:off x="6380480" y="2956570"/>
            <a:ext cx="496031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Uma linha de C, quatro instruções</a:t>
            </a:r>
            <a:endParaRPr lang="en-US" sz="1500" dirty="0">
              <a:latin typeface="IBM Plex Sans" charset="0"/>
              <a:ea typeface="IBM Plex Sans" charset="0"/>
              <a:cs typeface="IBM Plex Sans" charset="0"/>
            </a:endParaRPr>
          </a:p>
        </p:txBody>
      </p:sp>
      <p:sp>
        <p:nvSpPr>
          <p:cNvPr id="13" name="Text 11"/>
          <p:cNvSpPr/>
          <p:nvPr/>
        </p:nvSpPr>
        <p:spPr>
          <a:xfrm>
            <a:off x="6380480" y="3235970"/>
            <a:ext cx="4960315"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66717C"/>
                </a:solidFill>
                <a:latin typeface="IBM Plex Sans" pitchFamily="34" charset="0"/>
                <a:ea typeface="IBM Plex Sans" pitchFamily="34" charset="-122"/>
                <a:cs typeface="IBM Plex Sans" pitchFamily="34" charset="-120"/>
              </a:rPr>
              <a:t>C:</a:t>
            </a:r>
            <a:endParaRPr lang="en-US" sz="1100" dirty="0">
              <a:latin typeface="IBM Plex Sans" charset="0"/>
              <a:ea typeface="IBM Plex Sans" charset="0"/>
              <a:cs typeface="IBM Plex Sans" charset="0"/>
            </a:endParaRPr>
          </a:p>
        </p:txBody>
      </p:sp>
      <p:sp>
        <p:nvSpPr>
          <p:cNvPr id="14" name="Text 12"/>
          <p:cNvSpPr/>
          <p:nvPr/>
        </p:nvSpPr>
        <p:spPr>
          <a:xfrm>
            <a:off x="6380480" y="3482330"/>
            <a:ext cx="4815840" cy="365760"/>
          </a:xfrm>
          <a:prstGeom prst="roundRect">
            <a:avLst>
              <a:gd name="adj" fmla="val 20833"/>
            </a:avLst>
          </a:prstGeom>
          <a:solidFill>
            <a:srgbClr val="14222E"/>
          </a:solidFill>
          <a:ln/>
        </p:spPr>
        <p:txBody>
          <a:bodyPr wrap="none" lIns="130082" tIns="53882" rIns="0" bIns="284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PORTA |= 0x01;</a:t>
            </a:r>
            <a:endParaRPr lang="en-US" sz="1200" dirty="0">
              <a:latin typeface="JetBrains Mono" charset="0"/>
              <a:ea typeface="JetBrains Mono" charset="0"/>
              <a:cs typeface="JetBrains Mono" charset="0"/>
            </a:endParaRPr>
          </a:p>
        </p:txBody>
      </p:sp>
      <p:sp>
        <p:nvSpPr>
          <p:cNvPr id="15" name="Text 13"/>
          <p:cNvSpPr/>
          <p:nvPr/>
        </p:nvSpPr>
        <p:spPr>
          <a:xfrm>
            <a:off x="6380480" y="3898900"/>
            <a:ext cx="4960315" cy="220980"/>
          </a:xfrm>
          <a:prstGeom prst="rect">
            <a:avLst/>
          </a:prstGeom>
          <a:noFill/>
          <a:ln/>
        </p:spPr>
        <p:txBody>
          <a:bodyPr wrap="square" lIns="0" tIns="0" rIns="0" bIns="0" rtlCol="0" anchor="t">
            <a:normAutofit/>
          </a:bodyPr>
          <a:lstStyle/>
          <a:p>
            <a:pPr algn="l" indent="0" marL="0">
              <a:lnSpc>
                <a:spcPts val="1540"/>
              </a:lnSpc>
              <a:buNone/>
            </a:pPr>
            <a:r>
              <a:rPr lang="en-US" sz="1100" b="1" spc="50" kern="0" dirty="0">
                <a:solidFill>
                  <a:srgbClr val="66717C"/>
                </a:solidFill>
                <a:latin typeface="IBM Plex Sans" pitchFamily="34" charset="0"/>
                <a:ea typeface="IBM Plex Sans" pitchFamily="34" charset="-122"/>
                <a:cs typeface="IBM Plex Sans" pitchFamily="34" charset="-120"/>
              </a:rPr>
              <a:t>O compilador gera (pseudo-assembly):</a:t>
            </a:r>
            <a:endParaRPr lang="en-US" sz="1100" dirty="0">
              <a:latin typeface="IBM Plex Sans" charset="0"/>
              <a:ea typeface="IBM Plex Sans" charset="0"/>
              <a:cs typeface="IBM Plex Sans" charset="0"/>
            </a:endParaRPr>
          </a:p>
        </p:txBody>
      </p:sp>
      <p:sp>
        <p:nvSpPr>
          <p:cNvPr id="16" name="Text 14"/>
          <p:cNvSpPr/>
          <p:nvPr/>
        </p:nvSpPr>
        <p:spPr>
          <a:xfrm>
            <a:off x="6380480" y="4145310"/>
            <a:ext cx="4815840" cy="1005840"/>
          </a:xfrm>
          <a:prstGeom prst="roundRect">
            <a:avLst>
              <a:gd name="adj" fmla="val 7576"/>
            </a:avLst>
          </a:prstGeom>
          <a:solidFill>
            <a:srgbClr val="14222E"/>
          </a:solidFill>
          <a:ln/>
        </p:spPr>
        <p:txBody>
          <a:bodyPr wrap="none" lIns="130082" tIns="53882" rIns="0" bIns="284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LOAD R1,[#PORTA] ; ler PORTA para R1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MOVE R2,#0x01 ; constante 1 para R2</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OR R1,R2 ; R1 = R1 | R2</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STORE R1,[#PORTA] ; escrever em PORTA</a:t>
            </a:r>
            <a:endParaRPr lang="en-US" sz="1200" dirty="0">
              <a:latin typeface="JetBrains Mono" charset="0"/>
              <a:ea typeface="JetBrains Mono" charset="0"/>
              <a:cs typeface="JetBrains Mono" charset="0"/>
            </a:endParaRPr>
          </a:p>
        </p:txBody>
      </p:sp>
      <p:sp>
        <p:nvSpPr>
          <p:cNvPr id="17" name="Text 15"/>
          <p:cNvSpPr/>
          <p:nvPr/>
        </p:nvSpPr>
        <p:spPr>
          <a:xfrm>
            <a:off x="6380480" y="5201940"/>
            <a:ext cx="49603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Se B alterar PORTA entre o LOAD e o STORE de A, A escreve um valor desatualizado e apaga a alteração de B.</a:t>
            </a:r>
            <a:endParaRPr lang="en-US" sz="1300" dirty="0">
              <a:latin typeface="IBM Plex Sans" charset="0"/>
              <a:ea typeface="IBM Plex Sans" charset="0"/>
              <a:cs typeface="IBM Plex Sans" charset="0"/>
            </a:endParaRPr>
          </a:p>
        </p:txBody>
      </p:sp>
      <p:sp>
        <p:nvSpPr>
          <p:cNvPr id="18" name="Text 16"/>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9" name="Text 17"/>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104</a:t>
            </a:r>
            <a:endParaRPr lang="en-US" sz="1200" dirty="0">
              <a:latin typeface="IBM Plex Sans" charset="0"/>
              <a:ea typeface="IBM Plex Sans" charset="0"/>
              <a:cs typeface="IBM Plex Sans"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Funções reentrantes</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Uma função é </a:t>
            </a:r>
            <a:r>
              <a:rPr lang="en-US" sz="1500" b="1" dirty="0">
                <a:solidFill>
                  <a:srgbClr val="44505C"/>
                </a:solidFill>
                <a:latin typeface="IBM Plex Sans" pitchFamily="34" charset="0"/>
                <a:ea typeface="IBM Plex Sans" pitchFamily="34" charset="-122"/>
                <a:cs typeface="IBM Plex Sans" pitchFamily="34" charset="-120"/>
              </a:rPr>
              <a:t>reentrante</a:t>
            </a:r>
            <a:r>
              <a:rPr lang="en-US" sz="1500" dirty="0">
                <a:solidFill>
                  <a:srgbClr val="44505C"/>
                </a:solidFill>
                <a:latin typeface="IBM Plex Sans" pitchFamily="34" charset="0"/>
                <a:ea typeface="IBM Plex Sans" pitchFamily="34" charset="-122"/>
                <a:cs typeface="IBM Plex Sans" pitchFamily="34" charset="-120"/>
              </a:rPr>
              <a:t> (thread-safe) se pode ser chamada por várias tasks, ou por tasks e ISRs, sem risco. Cada task tem a sua stack e os seus registos: se a função só usa dados da stack ou dos registos, é reentrante.</a:t>
            </a:r>
            <a:endParaRPr lang="en-US" sz="1500" dirty="0">
              <a:latin typeface="IBM Plex Sans" charset="0"/>
              <a:ea typeface="IBM Plex Sans" charset="0"/>
              <a:cs typeface="IBM Plex Sans" charset="0"/>
            </a:endParaRPr>
          </a:p>
        </p:txBody>
      </p:sp>
      <p:sp>
        <p:nvSpPr>
          <p:cNvPr id="5" name="Text 3"/>
          <p:cNvSpPr/>
          <p:nvPr/>
        </p:nvSpPr>
        <p:spPr>
          <a:xfrm>
            <a:off x="812800" y="253494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REENTRANTE</a:t>
            </a:r>
            <a:endParaRPr lang="en-US" sz="1200" dirty="0">
              <a:latin typeface="IBM Plex Sans" charset="0"/>
              <a:ea typeface="IBM Plex Sans" charset="0"/>
              <a:cs typeface="IBM Plex Sans" charset="0"/>
            </a:endParaRPr>
          </a:p>
        </p:txBody>
      </p:sp>
      <p:sp>
        <p:nvSpPr>
          <p:cNvPr id="6" name="Text 4"/>
          <p:cNvSpPr/>
          <p:nvPr/>
        </p:nvSpPr>
        <p:spPr>
          <a:xfrm>
            <a:off x="812800" y="2824510"/>
            <a:ext cx="5181600" cy="1584960"/>
          </a:xfrm>
          <a:prstGeom prst="roundRect">
            <a:avLst>
              <a:gd name="adj" fmla="val 4808"/>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long lAddOneHundred( long lVar1 )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long lVar2; /* stack ou registo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lVar2 = lVar1 + 100;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return lVar2;</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7" name="Text 5"/>
          <p:cNvSpPr/>
          <p:nvPr/>
        </p:nvSpPr>
        <p:spPr>
          <a:xfrm>
            <a:off x="6197600" y="253494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NÃO REENTRANTE</a:t>
            </a:r>
            <a:endParaRPr lang="en-US" sz="1200" dirty="0">
              <a:latin typeface="IBM Plex Sans" charset="0"/>
              <a:ea typeface="IBM Plex Sans" charset="0"/>
              <a:cs typeface="IBM Plex Sans" charset="0"/>
            </a:endParaRPr>
          </a:p>
        </p:txBody>
      </p:sp>
      <p:sp>
        <p:nvSpPr>
          <p:cNvPr id="8" name="Text 6"/>
          <p:cNvSpPr/>
          <p:nvPr/>
        </p:nvSpPr>
        <p:spPr>
          <a:xfrm>
            <a:off x="6197600" y="2824510"/>
            <a:ext cx="5181600" cy="1584960"/>
          </a:xfrm>
          <a:prstGeom prst="roundRect">
            <a:avLst>
              <a:gd name="adj" fmla="val 4808"/>
            </a:avLst>
          </a:prstGeom>
          <a:solidFill>
            <a:srgbClr val="14222E"/>
          </a:solidFill>
          <a:ln/>
        </p:spPr>
        <p:txBody>
          <a:bodyPr wrap="none" lIns="155482" tIns="130082" rIns="10702"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long lVar1; /* global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long lNonsenseFunction(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 long lState = 0; /* partilhada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9" name="Text 7"/>
          <p:cNvSpPr/>
          <p:nvPr/>
        </p:nvSpPr>
        <p:spPr>
          <a:xfrm>
            <a:off x="812800" y="461263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libc também tem estado global (ex.: </a:t>
            </a:r>
            <a:r>
              <a:rPr lang="en-US" sz="1300" b="1" dirty="0">
                <a:solidFill>
                  <a:srgbClr val="14222E"/>
                </a:solidFill>
                <a:latin typeface="IBM Plex Sans" pitchFamily="34" charset="0"/>
                <a:ea typeface="IBM Plex Sans" pitchFamily="34" charset="-122"/>
                <a:cs typeface="IBM Plex Sans" pitchFamily="34" charset="-120"/>
              </a:rPr>
              <a:t>errno</a:t>
            </a:r>
            <a:r>
              <a:rPr lang="en-US" sz="1300" dirty="0">
                <a:solidFill>
                  <a:srgbClr val="44505C"/>
                </a:solidFill>
                <a:latin typeface="IBM Plex Sans" pitchFamily="34" charset="0"/>
                <a:ea typeface="IBM Plex Sans" pitchFamily="34" charset="-122"/>
                <a:cs typeface="IBM Plex Sans" pitchFamily="34" charset="-120"/>
              </a:rPr>
              <a:t>, </a:t>
            </a:r>
            <a:r>
              <a:rPr lang="en-US" sz="1300" b="1" dirty="0">
                <a:solidFill>
                  <a:srgbClr val="14222E"/>
                </a:solidFill>
                <a:latin typeface="IBM Plex Sans" pitchFamily="34" charset="0"/>
                <a:ea typeface="IBM Plex Sans" pitchFamily="34" charset="-122"/>
                <a:cs typeface="IBM Plex Sans" pitchFamily="34" charset="-120"/>
              </a:rPr>
              <a:t>strtok()</a:t>
            </a:r>
            <a:r>
              <a:rPr lang="en-US" sz="1300" dirty="0">
                <a:solidFill>
                  <a:srgbClr val="44505C"/>
                </a:solidFill>
                <a:latin typeface="IBM Plex Sans" pitchFamily="34" charset="0"/>
                <a:ea typeface="IBM Plex Sans" pitchFamily="34" charset="-122"/>
                <a:cs typeface="IBM Plex Sans" pitchFamily="34" charset="-120"/>
              </a:rPr>
              <a:t>). Duas tasks a usá-las têm o mesmo problema.</a:t>
            </a:r>
            <a:endParaRPr lang="en-US" sz="1300" dirty="0">
              <a:latin typeface="IBM Plex Sans" charset="0"/>
              <a:ea typeface="IBM Plex Sans" charset="0"/>
              <a:cs typeface="IBM Plex Sans" charset="0"/>
            </a:endParaRPr>
          </a:p>
        </p:txBody>
      </p:sp>
      <p:sp>
        <p:nvSpPr>
          <p:cNvPr id="10" name="Text 8"/>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1" name="Text 9"/>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105</a:t>
            </a:r>
            <a:endParaRPr lang="en-US" sz="1200" dirty="0">
              <a:latin typeface="IBM Plex Sans" charset="0"/>
              <a:ea typeface="IBM Plex Sans" charset="0"/>
              <a:cs typeface="IBM Plex Sans"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Exclusão mútua</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Objetivo: quando uma task começa a usar um recurso partilhado não reentrante, tem acesso </a:t>
            </a:r>
            <a:r>
              <a:rPr lang="en-US" sz="1500" b="1" dirty="0">
                <a:solidFill>
                  <a:srgbClr val="44505C"/>
                </a:solidFill>
                <a:latin typeface="IBM Plex Sans" pitchFamily="34" charset="0"/>
                <a:ea typeface="IBM Plex Sans" pitchFamily="34" charset="-122"/>
                <a:cs typeface="IBM Plex Sans" pitchFamily="34" charset="-120"/>
              </a:rPr>
              <a:t>exclusivo</a:t>
            </a:r>
            <a:r>
              <a:rPr lang="en-US" sz="1500" dirty="0">
                <a:solidFill>
                  <a:srgbClr val="44505C"/>
                </a:solidFill>
                <a:latin typeface="IBM Plex Sans" pitchFamily="34" charset="0"/>
                <a:ea typeface="IBM Plex Sans" pitchFamily="34" charset="-122"/>
                <a:cs typeface="IBM Plex Sans" pitchFamily="34" charset="-120"/>
              </a:rPr>
              <a:t> até o deixar de novo num estado consistente.</a:t>
            </a:r>
            <a:endParaRPr lang="en-US" sz="1500" dirty="0">
              <a:latin typeface="IBM Plex Sans" charset="0"/>
              <a:ea typeface="IBM Plex Sans" charset="0"/>
              <a:cs typeface="IBM Plex Sans" charset="0"/>
            </a:endParaRPr>
          </a:p>
        </p:txBody>
      </p:sp>
      <p:sp>
        <p:nvSpPr>
          <p:cNvPr id="5" name="Shape 3"/>
          <p:cNvSpPr/>
          <p:nvPr/>
        </p:nvSpPr>
        <p:spPr>
          <a:xfrm>
            <a:off x="812800" y="2534940"/>
            <a:ext cx="10566400" cy="889000"/>
          </a:xfrm>
          <a:prstGeom prst="roundRect">
            <a:avLst>
              <a:gd name="adj" fmla="val 11429"/>
            </a:avLst>
          </a:prstGeom>
          <a:solidFill>
            <a:srgbClr val="E3EFEC"/>
          </a:solidFill>
          <a:ln/>
        </p:spPr>
      </p:sp>
      <p:pic>
        <p:nvPicPr>
          <p:cNvPr id="6" name="Image 0" descr="Lightbulb">    </p:cNvPr>
          <p:cNvPicPr>
            <a:picLocks noChangeAspect="1"/>
          </p:cNvPicPr>
          <p:nvPr/>
        </p:nvPicPr>
        <p:blipFill>
          <a:blip r:embed="rId1"/>
          <a:srcRect l="0" r="0" t="0" b="0"/>
          <a:stretch/>
        </p:blipFill>
        <p:spPr>
          <a:xfrm>
            <a:off x="1016000" y="2801640"/>
            <a:ext cx="355600" cy="355600"/>
          </a:xfrm>
          <a:prstGeom prst="rect">
            <a:avLst/>
          </a:prstGeom>
        </p:spPr>
      </p:pic>
      <p:sp>
        <p:nvSpPr>
          <p:cNvPr id="7" name="Text 4"/>
          <p:cNvSpPr/>
          <p:nvPr/>
        </p:nvSpPr>
        <p:spPr>
          <a:xfrm>
            <a:off x="1524000" y="2712740"/>
            <a:ext cx="994156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22E"/>
                </a:solidFill>
                <a:latin typeface="IBM Plex Sans" pitchFamily="34" charset="0"/>
                <a:ea typeface="IBM Plex Sans" pitchFamily="34" charset="-122"/>
                <a:cs typeface="IBM Plex Sans" pitchFamily="34" charset="-120"/>
              </a:rPr>
              <a:t>O melhor método:</a:t>
            </a:r>
            <a:r>
              <a:rPr lang="en-US" sz="1500" dirty="0">
                <a:solidFill>
                  <a:srgbClr val="14222E"/>
                </a:solidFill>
                <a:latin typeface="IBM Plex Sans" pitchFamily="34" charset="0"/>
                <a:ea typeface="IBM Plex Sans" pitchFamily="34" charset="-122"/>
                <a:cs typeface="IBM Plex Sans" pitchFamily="34" charset="-120"/>
              </a:rPr>
              <a:t> desenhar a aplicação para que os recursos </a:t>
            </a:r>
            <a:r>
              <a:rPr lang="en-US" sz="1500" b="1" dirty="0">
                <a:solidFill>
                  <a:srgbClr val="14222E"/>
                </a:solidFill>
                <a:latin typeface="IBM Plex Sans" pitchFamily="34" charset="0"/>
                <a:ea typeface="IBM Plex Sans" pitchFamily="34" charset="-122"/>
                <a:cs typeface="IBM Plex Sans" pitchFamily="34" charset="-120"/>
              </a:rPr>
              <a:t>não sejam partilhados</a:t>
            </a:r>
            <a:r>
              <a:rPr lang="en-US" sz="1500" dirty="0">
                <a:solidFill>
                  <a:srgbClr val="14222E"/>
                </a:solidFill>
                <a:latin typeface="IBM Plex Sans" pitchFamily="34" charset="0"/>
                <a:ea typeface="IBM Plex Sans" pitchFamily="34" charset="-122"/>
                <a:cs typeface="IBM Plex Sans" pitchFamily="34" charset="-120"/>
              </a:rPr>
              <a:t>, e cada um seja usado por uma só task. Nem sempre é prático.</a:t>
            </a:r>
            <a:endParaRPr lang="en-US" sz="1500" dirty="0">
              <a:latin typeface="IBM Plex Sans" charset="0"/>
              <a:ea typeface="IBM Plex Sans" charset="0"/>
              <a:cs typeface="IBM Plex Sans" charset="0"/>
            </a:endParaRPr>
          </a:p>
        </p:txBody>
      </p:sp>
      <p:sp>
        <p:nvSpPr>
          <p:cNvPr id="8" name="Text 5"/>
          <p:cNvSpPr/>
          <p:nvPr/>
        </p:nvSpPr>
        <p:spPr>
          <a:xfrm>
            <a:off x="812800" y="36271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AS FERRAMENTAS DO FREERTOS, DESTE MÓDULO</a:t>
            </a:r>
            <a:endParaRPr lang="en-US" sz="1200" dirty="0">
              <a:latin typeface="IBM Plex Sans" charset="0"/>
              <a:ea typeface="IBM Plex Sans" charset="0"/>
              <a:cs typeface="IBM Plex Sans" charset="0"/>
            </a:endParaRPr>
          </a:p>
        </p:txBody>
      </p:sp>
      <p:sp>
        <p:nvSpPr>
          <p:cNvPr id="9" name="Shape 6"/>
          <p:cNvSpPr/>
          <p:nvPr/>
        </p:nvSpPr>
        <p:spPr>
          <a:xfrm>
            <a:off x="815975" y="4046885"/>
            <a:ext cx="2520950" cy="1408430"/>
          </a:xfrm>
          <a:prstGeom prst="roundRect">
            <a:avLst>
              <a:gd name="adj" fmla="val 6988"/>
            </a:avLst>
          </a:prstGeom>
          <a:solidFill>
            <a:srgbClr val="FCFBF8"/>
          </a:solidFill>
          <a:ln w="6350">
            <a:solidFill>
              <a:srgbClr val="DCDAD2"/>
            </a:solidFill>
            <a:prstDash val="solid"/>
          </a:ln>
        </p:spPr>
      </p:sp>
      <p:sp>
        <p:nvSpPr>
          <p:cNvPr id="10" name="Text 7"/>
          <p:cNvSpPr/>
          <p:nvPr/>
        </p:nvSpPr>
        <p:spPr>
          <a:xfrm>
            <a:off x="995680" y="4226570"/>
            <a:ext cx="22263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66A"/>
                </a:solidFill>
                <a:latin typeface="JetBrains Mono" pitchFamily="49" charset="0"/>
                <a:ea typeface="JetBrains Mono" pitchFamily="49" charset="-122"/>
                <a:cs typeface="JetBrains Mono" pitchFamily="49" charset="-120"/>
              </a:rPr>
              <a:t>01</a:t>
            </a:r>
            <a:endParaRPr lang="en-US" sz="1500" dirty="0">
              <a:latin typeface="JetBrains Mono" charset="0"/>
              <a:ea typeface="JetBrains Mono" charset="0"/>
              <a:cs typeface="JetBrains Mono" charset="0"/>
            </a:endParaRPr>
          </a:p>
        </p:txBody>
      </p:sp>
      <p:sp>
        <p:nvSpPr>
          <p:cNvPr id="11" name="Text 8"/>
          <p:cNvSpPr/>
          <p:nvPr/>
        </p:nvSpPr>
        <p:spPr>
          <a:xfrm>
            <a:off x="995680" y="4556770"/>
            <a:ext cx="22263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Critical sections</a:t>
            </a:r>
            <a:endParaRPr lang="en-US" sz="1500" dirty="0">
              <a:latin typeface="IBM Plex Sans" charset="0"/>
              <a:ea typeface="IBM Plex Sans" charset="0"/>
              <a:cs typeface="IBM Plex Sans" charset="0"/>
            </a:endParaRPr>
          </a:p>
        </p:txBody>
      </p:sp>
      <p:sp>
        <p:nvSpPr>
          <p:cNvPr id="12" name="Text 9"/>
          <p:cNvSpPr/>
          <p:nvPr/>
        </p:nvSpPr>
        <p:spPr>
          <a:xfrm>
            <a:off x="995680" y="484887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Desligar interrupções durante um troço muito curto.</a:t>
            </a:r>
            <a:endParaRPr lang="en-US" sz="1200" dirty="0">
              <a:latin typeface="IBM Plex Sans" charset="0"/>
              <a:ea typeface="IBM Plex Sans" charset="0"/>
              <a:cs typeface="IBM Plex Sans" charset="0"/>
            </a:endParaRPr>
          </a:p>
        </p:txBody>
      </p:sp>
      <p:sp>
        <p:nvSpPr>
          <p:cNvPr id="13" name="Shape 10"/>
          <p:cNvSpPr/>
          <p:nvPr/>
        </p:nvSpPr>
        <p:spPr>
          <a:xfrm>
            <a:off x="3495675" y="4046885"/>
            <a:ext cx="2520950" cy="1408430"/>
          </a:xfrm>
          <a:prstGeom prst="roundRect">
            <a:avLst>
              <a:gd name="adj" fmla="val 6988"/>
            </a:avLst>
          </a:prstGeom>
          <a:solidFill>
            <a:srgbClr val="FCFBF8"/>
          </a:solidFill>
          <a:ln w="6350">
            <a:solidFill>
              <a:srgbClr val="DCDAD2"/>
            </a:solidFill>
            <a:prstDash val="solid"/>
          </a:ln>
        </p:spPr>
      </p:sp>
      <p:sp>
        <p:nvSpPr>
          <p:cNvPr id="14" name="Text 11"/>
          <p:cNvSpPr/>
          <p:nvPr/>
        </p:nvSpPr>
        <p:spPr>
          <a:xfrm>
            <a:off x="3675380" y="4226570"/>
            <a:ext cx="22263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66A"/>
                </a:solidFill>
                <a:latin typeface="JetBrains Mono" pitchFamily="49" charset="0"/>
                <a:ea typeface="JetBrains Mono" pitchFamily="49" charset="-122"/>
                <a:cs typeface="JetBrains Mono" pitchFamily="49" charset="-120"/>
              </a:rPr>
              <a:t>02</a:t>
            </a:r>
            <a:endParaRPr lang="en-US" sz="1500" dirty="0">
              <a:latin typeface="JetBrains Mono" charset="0"/>
              <a:ea typeface="JetBrains Mono" charset="0"/>
              <a:cs typeface="JetBrains Mono" charset="0"/>
            </a:endParaRPr>
          </a:p>
        </p:txBody>
      </p:sp>
      <p:sp>
        <p:nvSpPr>
          <p:cNvPr id="15" name="Text 12"/>
          <p:cNvSpPr/>
          <p:nvPr/>
        </p:nvSpPr>
        <p:spPr>
          <a:xfrm>
            <a:off x="3675380" y="4556770"/>
            <a:ext cx="22263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Suspender o scheduler</a:t>
            </a:r>
            <a:endParaRPr lang="en-US" sz="1500" dirty="0">
              <a:latin typeface="IBM Plex Sans" charset="0"/>
              <a:ea typeface="IBM Plex Sans" charset="0"/>
              <a:cs typeface="IBM Plex Sans" charset="0"/>
            </a:endParaRPr>
          </a:p>
        </p:txBody>
      </p:sp>
      <p:sp>
        <p:nvSpPr>
          <p:cNvPr id="16" name="Text 13"/>
          <p:cNvSpPr/>
          <p:nvPr/>
        </p:nvSpPr>
        <p:spPr>
          <a:xfrm>
            <a:off x="3675380" y="484887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Impedir trocas de task, com interrupções ligadas.</a:t>
            </a:r>
            <a:endParaRPr lang="en-US" sz="1200" dirty="0">
              <a:latin typeface="IBM Plex Sans" charset="0"/>
              <a:ea typeface="IBM Plex Sans" charset="0"/>
              <a:cs typeface="IBM Plex Sans" charset="0"/>
            </a:endParaRPr>
          </a:p>
        </p:txBody>
      </p:sp>
      <p:sp>
        <p:nvSpPr>
          <p:cNvPr id="17" name="Shape 14"/>
          <p:cNvSpPr/>
          <p:nvPr/>
        </p:nvSpPr>
        <p:spPr>
          <a:xfrm>
            <a:off x="6175375" y="4046885"/>
            <a:ext cx="2520950" cy="1408430"/>
          </a:xfrm>
          <a:prstGeom prst="roundRect">
            <a:avLst>
              <a:gd name="adj" fmla="val 6988"/>
            </a:avLst>
          </a:prstGeom>
          <a:solidFill>
            <a:srgbClr val="FCFBF8"/>
          </a:solidFill>
          <a:ln w="6350">
            <a:solidFill>
              <a:srgbClr val="DCDAD2"/>
            </a:solidFill>
            <a:prstDash val="solid"/>
          </a:ln>
        </p:spPr>
      </p:sp>
      <p:sp>
        <p:nvSpPr>
          <p:cNvPr id="18" name="Text 15"/>
          <p:cNvSpPr/>
          <p:nvPr/>
        </p:nvSpPr>
        <p:spPr>
          <a:xfrm>
            <a:off x="6355080" y="4226570"/>
            <a:ext cx="22263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66A"/>
                </a:solidFill>
                <a:latin typeface="JetBrains Mono" pitchFamily="49" charset="0"/>
                <a:ea typeface="JetBrains Mono" pitchFamily="49" charset="-122"/>
                <a:cs typeface="JetBrains Mono" pitchFamily="49" charset="-120"/>
              </a:rPr>
              <a:t>03</a:t>
            </a:r>
            <a:endParaRPr lang="en-US" sz="1500" dirty="0">
              <a:latin typeface="JetBrains Mono" charset="0"/>
              <a:ea typeface="JetBrains Mono" charset="0"/>
              <a:cs typeface="JetBrains Mono" charset="0"/>
            </a:endParaRPr>
          </a:p>
        </p:txBody>
      </p:sp>
      <p:sp>
        <p:nvSpPr>
          <p:cNvPr id="19" name="Text 16"/>
          <p:cNvSpPr/>
          <p:nvPr/>
        </p:nvSpPr>
        <p:spPr>
          <a:xfrm>
            <a:off x="6355080" y="4556770"/>
            <a:ext cx="22263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Mutexes</a:t>
            </a:r>
            <a:endParaRPr lang="en-US" sz="1500" dirty="0">
              <a:latin typeface="IBM Plex Sans" charset="0"/>
              <a:ea typeface="IBM Plex Sans" charset="0"/>
              <a:cs typeface="IBM Plex Sans" charset="0"/>
            </a:endParaRPr>
          </a:p>
        </p:txBody>
      </p:sp>
      <p:sp>
        <p:nvSpPr>
          <p:cNvPr id="20" name="Text 17"/>
          <p:cNvSpPr/>
          <p:nvPr/>
        </p:nvSpPr>
        <p:spPr>
          <a:xfrm>
            <a:off x="6355080" y="484887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 token associado ao recurso: tirar, usar, devolver.</a:t>
            </a:r>
            <a:endParaRPr lang="en-US" sz="1200" dirty="0">
              <a:latin typeface="IBM Plex Sans" charset="0"/>
              <a:ea typeface="IBM Plex Sans" charset="0"/>
              <a:cs typeface="IBM Plex Sans" charset="0"/>
            </a:endParaRPr>
          </a:p>
        </p:txBody>
      </p:sp>
      <p:sp>
        <p:nvSpPr>
          <p:cNvPr id="21" name="Shape 18"/>
          <p:cNvSpPr/>
          <p:nvPr/>
        </p:nvSpPr>
        <p:spPr>
          <a:xfrm>
            <a:off x="8855075" y="4046885"/>
            <a:ext cx="2520950" cy="1408430"/>
          </a:xfrm>
          <a:prstGeom prst="roundRect">
            <a:avLst>
              <a:gd name="adj" fmla="val 6988"/>
            </a:avLst>
          </a:prstGeom>
          <a:solidFill>
            <a:srgbClr val="FCFBF8"/>
          </a:solidFill>
          <a:ln w="6350">
            <a:solidFill>
              <a:srgbClr val="DCDAD2"/>
            </a:solidFill>
            <a:prstDash val="solid"/>
          </a:ln>
        </p:spPr>
      </p:sp>
      <p:sp>
        <p:nvSpPr>
          <p:cNvPr id="22" name="Text 19"/>
          <p:cNvSpPr/>
          <p:nvPr/>
        </p:nvSpPr>
        <p:spPr>
          <a:xfrm>
            <a:off x="9034780" y="4226570"/>
            <a:ext cx="22263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766A"/>
                </a:solidFill>
                <a:latin typeface="JetBrains Mono" pitchFamily="49" charset="0"/>
                <a:ea typeface="JetBrains Mono" pitchFamily="49" charset="-122"/>
                <a:cs typeface="JetBrains Mono" pitchFamily="49" charset="-120"/>
              </a:rPr>
              <a:t>04</a:t>
            </a:r>
            <a:endParaRPr lang="en-US" sz="1500" dirty="0">
              <a:latin typeface="JetBrains Mono" charset="0"/>
              <a:ea typeface="JetBrains Mono" charset="0"/>
              <a:cs typeface="JetBrains Mono" charset="0"/>
            </a:endParaRPr>
          </a:p>
        </p:txBody>
      </p:sp>
      <p:sp>
        <p:nvSpPr>
          <p:cNvPr id="23" name="Text 20"/>
          <p:cNvSpPr/>
          <p:nvPr/>
        </p:nvSpPr>
        <p:spPr>
          <a:xfrm>
            <a:off x="9034780" y="4556770"/>
            <a:ext cx="222638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22E"/>
                </a:solidFill>
                <a:latin typeface="IBM Plex Sans" pitchFamily="34" charset="0"/>
                <a:ea typeface="IBM Plex Sans" pitchFamily="34" charset="-122"/>
                <a:cs typeface="IBM Plex Sans" pitchFamily="34" charset="-120"/>
              </a:rPr>
              <a:t>Gatekeeper tasks</a:t>
            </a:r>
            <a:endParaRPr lang="en-US" sz="1500" dirty="0">
              <a:latin typeface="IBM Plex Sans" charset="0"/>
              <a:ea typeface="IBM Plex Sans" charset="0"/>
              <a:cs typeface="IBM Plex Sans" charset="0"/>
            </a:endParaRPr>
          </a:p>
        </p:txBody>
      </p:sp>
      <p:sp>
        <p:nvSpPr>
          <p:cNvPr id="24" name="Text 21"/>
          <p:cNvSpPr/>
          <p:nvPr/>
        </p:nvSpPr>
        <p:spPr>
          <a:xfrm>
            <a:off x="9034780" y="484887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Uma só task é dona do recurso; as outras pedem-lhe.</a:t>
            </a:r>
            <a:endParaRPr lang="en-US" sz="1200" dirty="0">
              <a:latin typeface="IBM Plex Sans" charset="0"/>
              <a:ea typeface="IBM Plex Sans" charset="0"/>
              <a:cs typeface="IBM Plex Sans" charset="0"/>
            </a:endParaRPr>
          </a:p>
        </p:txBody>
      </p:sp>
      <p:sp>
        <p:nvSpPr>
          <p:cNvPr id="25" name="Text 22"/>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26" name="Text 23"/>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106</a:t>
            </a:r>
            <a:endParaRPr lang="en-US" sz="1200" dirty="0">
              <a:latin typeface="IBM Plex Sans" charset="0"/>
              <a:ea typeface="IBM Plex Sans" charset="0"/>
              <a:cs typeface="IBM Plex Sans"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Critical sections</a:t>
            </a:r>
            <a:endParaRPr lang="en-US" sz="3200" dirty="0">
              <a:latin typeface="IBM Plex Sans" charset="0"/>
              <a:ea typeface="IBM Plex Sans" charset="0"/>
              <a:cs typeface="IBM Plex Sans" charset="0"/>
            </a:endParaRPr>
          </a:p>
        </p:txBody>
      </p:sp>
      <p:sp>
        <p:nvSpPr>
          <p:cNvPr id="4" name="Text 2"/>
          <p:cNvSpPr/>
          <p:nvPr/>
        </p:nvSpPr>
        <p:spPr>
          <a:xfrm>
            <a:off x="812800" y="1899940"/>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NUMA TASK</a:t>
            </a:r>
            <a:endParaRPr lang="en-US" sz="1200" dirty="0">
              <a:latin typeface="IBM Plex Sans" charset="0"/>
              <a:ea typeface="IBM Plex Sans" charset="0"/>
              <a:cs typeface="IBM Plex Sans" charset="0"/>
            </a:endParaRPr>
          </a:p>
        </p:txBody>
      </p:sp>
      <p:sp>
        <p:nvSpPr>
          <p:cNvPr id="5" name="Text 3"/>
          <p:cNvSpPr/>
          <p:nvPr/>
        </p:nvSpPr>
        <p:spPr>
          <a:xfrm>
            <a:off x="812800" y="2214910"/>
            <a:ext cx="5207000" cy="1960880"/>
          </a:xfrm>
          <a:prstGeom prst="roundRect">
            <a:avLst>
              <a:gd name="adj" fmla="val 3886"/>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taskENTER_CRITICAL();</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Nenhuma troca de task aqui. Só correm ISRs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acima de configMAX_SYSCALL_INTERRUPT_PRIORITY,</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que não podem usar a API.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PORTA |= 0x01;</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taskEXIT_CRITICAL();</a:t>
            </a:r>
            <a:endParaRPr lang="en-US" sz="1200" dirty="0">
              <a:latin typeface="JetBrains Mono" charset="0"/>
              <a:ea typeface="JetBrains Mono" charset="0"/>
              <a:cs typeface="JetBrains Mono" charset="0"/>
            </a:endParaRPr>
          </a:p>
        </p:txBody>
      </p:sp>
      <p:sp>
        <p:nvSpPr>
          <p:cNvPr id="6" name="Text 4"/>
          <p:cNvSpPr/>
          <p:nvPr/>
        </p:nvSpPr>
        <p:spPr>
          <a:xfrm>
            <a:off x="812800" y="4277370"/>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Numa ISR (ports com nesting)</a:t>
            </a:r>
            <a:endParaRPr lang="en-US" sz="1200" dirty="0">
              <a:latin typeface="IBM Plex Sans" charset="0"/>
              <a:ea typeface="IBM Plex Sans" charset="0"/>
              <a:cs typeface="IBM Plex Sans" charset="0"/>
            </a:endParaRPr>
          </a:p>
        </p:txBody>
      </p:sp>
      <p:sp>
        <p:nvSpPr>
          <p:cNvPr id="7" name="Text 5"/>
          <p:cNvSpPr/>
          <p:nvPr/>
        </p:nvSpPr>
        <p:spPr>
          <a:xfrm>
            <a:off x="812800" y="4592340"/>
            <a:ext cx="5207000" cy="1107440"/>
          </a:xfrm>
          <a:prstGeom prst="roundRect">
            <a:avLst>
              <a:gd name="adj" fmla="val 6881"/>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UBaseType_t uxSavedInterruptStatus;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uxSavedInterruptStatus = taskENTER_CRITICAL_FROM_ISR();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taskEXIT_CRITICAL_FROM_ISR( uxSavedInterruptStatus );</a:t>
            </a:r>
            <a:endParaRPr lang="en-US" sz="1200" dirty="0">
              <a:latin typeface="JetBrains Mono" charset="0"/>
              <a:ea typeface="JetBrains Mono" charset="0"/>
              <a:cs typeface="JetBrains Mono" charset="0"/>
            </a:endParaRPr>
          </a:p>
        </p:txBody>
      </p:sp>
      <p:sp>
        <p:nvSpPr>
          <p:cNvPr id="8" name="Shape 6"/>
          <p:cNvSpPr/>
          <p:nvPr/>
        </p:nvSpPr>
        <p:spPr>
          <a:xfrm>
            <a:off x="6276975" y="1903115"/>
            <a:ext cx="5099050" cy="1212850"/>
          </a:xfrm>
          <a:prstGeom prst="roundRect">
            <a:avLst>
              <a:gd name="adj" fmla="val 8115"/>
            </a:avLst>
          </a:prstGeom>
          <a:solidFill>
            <a:srgbClr val="FCFBF8"/>
          </a:solidFill>
          <a:ln w="6350">
            <a:solidFill>
              <a:srgbClr val="DCDAD2"/>
            </a:solidFill>
            <a:prstDash val="solid"/>
          </a:ln>
        </p:spPr>
      </p:sp>
      <p:sp>
        <p:nvSpPr>
          <p:cNvPr id="9" name="Text 7"/>
          <p:cNvSpPr/>
          <p:nvPr/>
        </p:nvSpPr>
        <p:spPr>
          <a:xfrm>
            <a:off x="6431280" y="2057400"/>
            <a:ext cx="493415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Como funcionam</a:t>
            </a:r>
            <a:endParaRPr lang="en-US" sz="1400" dirty="0">
              <a:latin typeface="IBM Plex Sans" charset="0"/>
              <a:ea typeface="IBM Plex Sans" charset="0"/>
              <a:cs typeface="IBM Plex Sans" charset="0"/>
            </a:endParaRPr>
          </a:p>
        </p:txBody>
      </p:sp>
      <p:sp>
        <p:nvSpPr>
          <p:cNvPr id="10" name="Text 8"/>
          <p:cNvSpPr/>
          <p:nvPr/>
        </p:nvSpPr>
        <p:spPr>
          <a:xfrm>
            <a:off x="6431280" y="2321570"/>
            <a:ext cx="493415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Desligam as interrupções, todas ou até configMAX_SYSCALL_INTERRUPT_PRIORITY. Sem interrupções não há preempção.</a:t>
            </a:r>
            <a:endParaRPr lang="en-US" sz="1200" dirty="0">
              <a:latin typeface="IBM Plex Sans" charset="0"/>
              <a:ea typeface="IBM Plex Sans" charset="0"/>
              <a:cs typeface="IBM Plex Sans" charset="0"/>
            </a:endParaRPr>
          </a:p>
        </p:txBody>
      </p:sp>
      <p:sp>
        <p:nvSpPr>
          <p:cNvPr id="11" name="Shape 9"/>
          <p:cNvSpPr/>
          <p:nvPr/>
        </p:nvSpPr>
        <p:spPr>
          <a:xfrm>
            <a:off x="6276975" y="3249315"/>
            <a:ext cx="5099050" cy="999490"/>
          </a:xfrm>
          <a:prstGeom prst="roundRect">
            <a:avLst>
              <a:gd name="adj" fmla="val 9848"/>
            </a:avLst>
          </a:prstGeom>
          <a:solidFill>
            <a:srgbClr val="FCFBF8"/>
          </a:solidFill>
          <a:ln w="6350">
            <a:solidFill>
              <a:srgbClr val="DCDAD2"/>
            </a:solidFill>
            <a:prstDash val="solid"/>
          </a:ln>
        </p:spPr>
      </p:sp>
      <p:sp>
        <p:nvSpPr>
          <p:cNvPr id="12" name="Text 10"/>
          <p:cNvSpPr/>
          <p:nvPr/>
        </p:nvSpPr>
        <p:spPr>
          <a:xfrm>
            <a:off x="6431280" y="3403600"/>
            <a:ext cx="493415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Muito curtas</a:t>
            </a:r>
            <a:endParaRPr lang="en-US" sz="1400" dirty="0">
              <a:latin typeface="IBM Plex Sans" charset="0"/>
              <a:ea typeface="IBM Plex Sans" charset="0"/>
              <a:cs typeface="IBM Plex Sans" charset="0"/>
            </a:endParaRPr>
          </a:p>
        </p:txBody>
      </p:sp>
      <p:sp>
        <p:nvSpPr>
          <p:cNvPr id="13" name="Text 11"/>
          <p:cNvSpPr/>
          <p:nvPr/>
        </p:nvSpPr>
        <p:spPr>
          <a:xfrm>
            <a:off x="6431280" y="3667770"/>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Senão atrasam a resposta às interrupções. Rápidas a entrar e a sair, e determinísticas. Não servem para stdout.</a:t>
            </a:r>
            <a:endParaRPr lang="en-US" sz="1200" dirty="0">
              <a:latin typeface="IBM Plex Sans" charset="0"/>
              <a:ea typeface="IBM Plex Sans" charset="0"/>
              <a:cs typeface="IBM Plex Sans" charset="0"/>
            </a:endParaRPr>
          </a:p>
        </p:txBody>
      </p:sp>
      <p:sp>
        <p:nvSpPr>
          <p:cNvPr id="14" name="Shape 12"/>
          <p:cNvSpPr/>
          <p:nvPr/>
        </p:nvSpPr>
        <p:spPr>
          <a:xfrm>
            <a:off x="6276975" y="4382145"/>
            <a:ext cx="5099050" cy="999490"/>
          </a:xfrm>
          <a:prstGeom prst="roundRect">
            <a:avLst>
              <a:gd name="adj" fmla="val 9848"/>
            </a:avLst>
          </a:prstGeom>
          <a:solidFill>
            <a:srgbClr val="FCFBF8"/>
          </a:solidFill>
          <a:ln w="6350">
            <a:solidFill>
              <a:srgbClr val="DCDAD2"/>
            </a:solidFill>
            <a:prstDash val="solid"/>
          </a:ln>
        </p:spPr>
      </p:sp>
      <p:sp>
        <p:nvSpPr>
          <p:cNvPr id="15" name="Text 13"/>
          <p:cNvSpPr/>
          <p:nvPr/>
        </p:nvSpPr>
        <p:spPr>
          <a:xfrm>
            <a:off x="6431280" y="4536430"/>
            <a:ext cx="493415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Podem ser aninhadas</a:t>
            </a:r>
            <a:endParaRPr lang="en-US" sz="1400" dirty="0">
              <a:latin typeface="IBM Plex Sans" charset="0"/>
              <a:ea typeface="IBM Plex Sans" charset="0"/>
              <a:cs typeface="IBM Plex Sans" charset="0"/>
            </a:endParaRPr>
          </a:p>
        </p:txBody>
      </p:sp>
      <p:sp>
        <p:nvSpPr>
          <p:cNvPr id="16" name="Text 14"/>
          <p:cNvSpPr/>
          <p:nvPr/>
        </p:nvSpPr>
        <p:spPr>
          <a:xfrm>
            <a:off x="6431280" y="4800600"/>
            <a:ext cx="49341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kernel conta a profundidade. É a única forma legítima de uma task mudar o estado das interrupções.</a:t>
            </a:r>
            <a:endParaRPr lang="en-US" sz="1200" dirty="0">
              <a:latin typeface="IBM Plex Sans" charset="0"/>
              <a:ea typeface="IBM Plex Sans" charset="0"/>
              <a:cs typeface="IBM Plex Sans" charset="0"/>
            </a:endParaRPr>
          </a:p>
        </p:txBody>
      </p:sp>
      <p:sp>
        <p:nvSpPr>
          <p:cNvPr id="17" name="Text 1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8"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107</a:t>
            </a:r>
            <a:endParaRPr lang="en-US" sz="1200" dirty="0">
              <a:latin typeface="IBM Plex Sans" charset="0"/>
              <a:ea typeface="IBM Plex Sans" charset="0"/>
              <a:cs typeface="IBM Plex Sans"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Suspender o scheduler</a:t>
            </a:r>
            <a:endParaRPr lang="en-US" sz="3200" dirty="0">
              <a:latin typeface="IBM Plex Sans" charset="0"/>
              <a:ea typeface="IBM Plex Sans" charset="0"/>
              <a:cs typeface="IBM Plex Sans" charset="0"/>
            </a:endParaRPr>
          </a:p>
        </p:txBody>
      </p:sp>
      <p:sp>
        <p:nvSpPr>
          <p:cNvPr id="4" name="Text 2"/>
          <p:cNvSpPr/>
          <p:nvPr/>
        </p:nvSpPr>
        <p:spPr>
          <a:xfrm>
            <a:off x="812800" y="1899940"/>
            <a:ext cx="497078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Também cria uma critical section, mas sem desligar interrupções: impede as trocas de contexto. Um pedido de troca feito por uma ISR fica pendente até ao fim.</a:t>
            </a:r>
            <a:endParaRPr lang="en-US" sz="1400" dirty="0">
              <a:latin typeface="IBM Plex Sans" charset="0"/>
              <a:ea typeface="IBM Plex Sans" charset="0"/>
              <a:cs typeface="IBM Plex Sans" charset="0"/>
            </a:endParaRPr>
          </a:p>
        </p:txBody>
      </p:sp>
      <p:sp>
        <p:nvSpPr>
          <p:cNvPr id="5" name="Text 3"/>
          <p:cNvSpPr/>
          <p:nvPr/>
        </p:nvSpPr>
        <p:spPr>
          <a:xfrm>
            <a:off x="812800" y="2748310"/>
            <a:ext cx="4826000" cy="2225040"/>
          </a:xfrm>
          <a:prstGeom prst="roundRect">
            <a:avLst>
              <a:gd name="adj" fmla="val 3425"/>
            </a:avLst>
          </a:prstGeom>
          <a:solidFill>
            <a:srgbClr val="14222E"/>
          </a:solidFill>
          <a:ln/>
        </p:spPr>
        <p:txBody>
          <a:bodyPr wrap="none" lIns="155482" tIns="130082" rIns="2137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vPrintString( const char *pcString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vTaskSuspendAll();</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printf( "%s", pcString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fflush( stdout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xTaskResumeAll();</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6" name="Text 4"/>
          <p:cNvSpPr/>
          <p:nvPr/>
        </p:nvSpPr>
        <p:spPr>
          <a:xfrm>
            <a:off x="812800" y="5074940"/>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xTaskResumeAll() devolve pdTRUE se fez uma troca pendente. Também pode ser aninhado.</a:t>
            </a:r>
            <a:endParaRPr lang="en-US" sz="1200" dirty="0">
              <a:latin typeface="IBM Plex Sans" charset="0"/>
              <a:ea typeface="IBM Plex Sans" charset="0"/>
              <a:cs typeface="IBM Plex Sans" charset="0"/>
            </a:endParaRPr>
          </a:p>
        </p:txBody>
      </p:sp>
      <p:sp>
        <p:nvSpPr>
          <p:cNvPr id="7" name="Shape 5"/>
          <p:cNvSpPr/>
          <p:nvPr/>
        </p:nvSpPr>
        <p:spPr>
          <a:xfrm>
            <a:off x="5892800" y="1905020"/>
            <a:ext cx="5486400" cy="0"/>
          </a:xfrm>
          <a:prstGeom prst="line">
            <a:avLst/>
          </a:prstGeom>
          <a:noFill/>
          <a:ln w="10160">
            <a:solidFill>
              <a:srgbClr val="141413">
                <a:alpha val="22000"/>
              </a:srgbClr>
            </a:solidFill>
            <a:prstDash val="solid"/>
          </a:ln>
        </p:spPr>
      </p:sp>
      <p:sp>
        <p:nvSpPr>
          <p:cNvPr id="8" name="Shape 6"/>
          <p:cNvSpPr/>
          <p:nvPr/>
        </p:nvSpPr>
        <p:spPr>
          <a:xfrm>
            <a:off x="5897880" y="1899940"/>
            <a:ext cx="0" cy="2331720"/>
          </a:xfrm>
          <a:prstGeom prst="line">
            <a:avLst/>
          </a:prstGeom>
          <a:noFill/>
          <a:ln w="10160">
            <a:solidFill>
              <a:srgbClr val="141413">
                <a:alpha val="22000"/>
              </a:srgbClr>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04560" y="1973600"/>
          <a:ext cx="5273040" cy="2194560"/>
        </p:xfrm>
        <a:graphic>
          <a:graphicData uri="http://schemas.openxmlformats.org/drawingml/2006/table">
            <a:tbl>
              <a:tblPr/>
              <a:tblGrid>
                <a:gridCol w="1476451"/>
                <a:gridCol w="1792834"/>
                <a:gridCol w="2003755"/>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Critical section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Scheduler suspenso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Protege de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Tasks e interrupções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Só de outras tasks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Interrupções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Desligadas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Continuam ligadas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Duração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Muito curta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Pode ser mais longa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Custo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Rápida e determinística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Retomar pode demorar se houve interrupções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API lá dentro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(task)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0" name="Text 7"/>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1" name="Text 8"/>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108</a:t>
            </a:r>
            <a:endParaRPr lang="en-US" sz="1200" dirty="0">
              <a:latin typeface="IBM Plex Sans" charset="0"/>
              <a:ea typeface="IBM Plex Sans" charset="0"/>
              <a:cs typeface="IBM Plex Sans"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Mutexes</a:t>
            </a:r>
            <a:endParaRPr lang="en-US" sz="3200" dirty="0">
              <a:latin typeface="IBM Plex Sans" charset="0"/>
              <a:ea typeface="IBM Plex Sans" charset="0"/>
              <a:cs typeface="IBM Plex Sans" charset="0"/>
            </a:endParaRPr>
          </a:p>
        </p:txBody>
      </p:sp>
      <p:sp>
        <p:nvSpPr>
          <p:cNvPr id="4" name="Text 2"/>
          <p:cNvSpPr/>
          <p:nvPr/>
        </p:nvSpPr>
        <p:spPr>
          <a:xfrm>
            <a:off x="812800" y="1899940"/>
            <a:ext cx="525856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Um tipo especial de semáforo binário para controlar o acesso a um recurso partilhado. Requer </a:t>
            </a:r>
            <a:r>
              <a:rPr lang="en-US" sz="1400" b="1" dirty="0">
                <a:solidFill>
                  <a:srgbClr val="14222E"/>
                </a:solidFill>
                <a:latin typeface="IBM Plex Sans" pitchFamily="34" charset="0"/>
                <a:ea typeface="IBM Plex Sans" pitchFamily="34" charset="-122"/>
                <a:cs typeface="IBM Plex Sans" pitchFamily="34" charset="-120"/>
              </a:rPr>
              <a:t>configUSE_MUTEXES = 1</a:t>
            </a:r>
            <a:r>
              <a:rPr lang="en-US" sz="1400" dirty="0">
                <a:solidFill>
                  <a:srgbClr val="44505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sp>
        <p:nvSpPr>
          <p:cNvPr id="5" name="Text 3"/>
          <p:cNvSpPr/>
          <p:nvPr/>
        </p:nvSpPr>
        <p:spPr>
          <a:xfrm>
            <a:off x="812800" y="2524770"/>
            <a:ext cx="5258562"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Pensar num </a:t>
            </a:r>
            <a:r>
              <a:rPr lang="en-US" sz="1400" b="1" dirty="0">
                <a:solidFill>
                  <a:srgbClr val="44505C"/>
                </a:solidFill>
                <a:latin typeface="IBM Plex Sans" pitchFamily="34" charset="0"/>
                <a:ea typeface="IBM Plex Sans" pitchFamily="34" charset="-122"/>
                <a:cs typeface="IBM Plex Sans" pitchFamily="34" charset="-120"/>
              </a:rPr>
              <a:t>token</a:t>
            </a:r>
            <a:r>
              <a:rPr lang="en-US" sz="1400" dirty="0">
                <a:solidFill>
                  <a:srgbClr val="44505C"/>
                </a:solidFill>
                <a:latin typeface="IBM Plex Sans" pitchFamily="34" charset="0"/>
                <a:ea typeface="IBM Plex Sans" pitchFamily="34" charset="-122"/>
                <a:cs typeface="IBM Plex Sans" pitchFamily="34" charset="-120"/>
              </a:rPr>
              <a:t> associado ao recurso: para usar o recurso, a task tem de tirar o token; no fim, tem de o devolver. Funciona por disciplina: todas as tasks aceitam só usar o recurso quando têm o token.</a:t>
            </a:r>
            <a:endParaRPr lang="en-US" sz="1400" dirty="0">
              <a:latin typeface="IBM Plex Sans" charset="0"/>
              <a:ea typeface="IBM Plex Sans" charset="0"/>
              <a:cs typeface="IBM Plex Sans" charset="0"/>
            </a:endParaRPr>
          </a:p>
        </p:txBody>
      </p:sp>
      <p:sp>
        <p:nvSpPr>
          <p:cNvPr id="6" name="Text 4"/>
          <p:cNvSpPr/>
          <p:nvPr/>
        </p:nvSpPr>
        <p:spPr>
          <a:xfrm>
            <a:off x="812800" y="3647430"/>
            <a:ext cx="2501900" cy="629920"/>
          </a:xfrm>
          <a:prstGeom prst="roundRect">
            <a:avLst>
              <a:gd name="adj" fmla="val 12097"/>
            </a:avLst>
          </a:prstGeom>
          <a:solidFill>
            <a:srgbClr val="E3EFEC"/>
          </a:solidFill>
          <a:ln/>
        </p:spPr>
        <p:txBody>
          <a:bodyPr wrap="square" lIns="104682" tIns="79282" rIns="37245"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Exclusão mútua:</a:t>
            </a:r>
            <a:r>
              <a:rPr lang="en-US" sz="1200" dirty="0">
                <a:solidFill>
                  <a:srgbClr val="14222E"/>
                </a:solidFill>
                <a:latin typeface="IBM Plex Sans" pitchFamily="34" charset="0"/>
                <a:ea typeface="IBM Plex Sans" pitchFamily="34" charset="-122"/>
                <a:cs typeface="IBM Plex Sans" pitchFamily="34" charset="-120"/>
              </a:rPr>
              <a:t> o semáforo é sempre devolvido.</a:t>
            </a:r>
            <a:endParaRPr lang="en-US" sz="1200" dirty="0">
              <a:latin typeface="IBM Plex Sans" charset="0"/>
              <a:ea typeface="IBM Plex Sans" charset="0"/>
              <a:cs typeface="IBM Plex Sans" charset="0"/>
            </a:endParaRPr>
          </a:p>
        </p:txBody>
      </p:sp>
      <p:sp>
        <p:nvSpPr>
          <p:cNvPr id="7" name="Text 5"/>
          <p:cNvSpPr/>
          <p:nvPr/>
        </p:nvSpPr>
        <p:spPr>
          <a:xfrm>
            <a:off x="3416300" y="3647430"/>
            <a:ext cx="2501900" cy="629920"/>
          </a:xfrm>
          <a:prstGeom prst="roundRect">
            <a:avLst>
              <a:gd name="adj" fmla="val 12097"/>
            </a:avLst>
          </a:prstGeom>
          <a:solidFill>
            <a:srgbClr val="FBEFE7"/>
          </a:solidFill>
          <a:ln/>
        </p:spPr>
        <p:txBody>
          <a:bodyPr wrap="square" lIns="104682" tIns="79282" rIns="37245"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Sincronização</a:t>
            </a:r>
            <a:r>
              <a:rPr lang="en-US" sz="1200" dirty="0">
                <a:solidFill>
                  <a:srgbClr val="14222E"/>
                </a:solidFill>
                <a:latin typeface="IBM Plex Sans" pitchFamily="34" charset="0"/>
                <a:ea typeface="IBM Plex Sans" pitchFamily="34" charset="-122"/>
                <a:cs typeface="IBM Plex Sans" pitchFamily="34" charset="-120"/>
              </a:rPr>
              <a:t> (módulo 5): normalmente não é devolvido.</a:t>
            </a:r>
            <a:endParaRPr lang="en-US" sz="1200" dirty="0">
              <a:latin typeface="IBM Plex Sans" charset="0"/>
              <a:ea typeface="IBM Plex Sans" charset="0"/>
              <a:cs typeface="IBM Plex Sans" charset="0"/>
            </a:endParaRPr>
          </a:p>
        </p:txBody>
      </p:sp>
      <p:sp>
        <p:nvSpPr>
          <p:cNvPr id="8" name="Text 6"/>
          <p:cNvSpPr/>
          <p:nvPr/>
        </p:nvSpPr>
        <p:spPr>
          <a:xfrm>
            <a:off x="6172200" y="1899940"/>
            <a:ext cx="53632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Exemplo 8.1: vPrintString() com um mutex</a:t>
            </a:r>
            <a:endParaRPr lang="en-US" sz="1200" dirty="0">
              <a:latin typeface="IBM Plex Sans" charset="0"/>
              <a:ea typeface="IBM Plex Sans" charset="0"/>
              <a:cs typeface="IBM Plex Sans" charset="0"/>
            </a:endParaRPr>
          </a:p>
        </p:txBody>
      </p:sp>
      <p:sp>
        <p:nvSpPr>
          <p:cNvPr id="9" name="Text 7"/>
          <p:cNvSpPr/>
          <p:nvPr/>
        </p:nvSpPr>
        <p:spPr>
          <a:xfrm>
            <a:off x="6172200" y="2189510"/>
            <a:ext cx="5207000" cy="2600960"/>
          </a:xfrm>
          <a:prstGeom prst="roundRect">
            <a:avLst>
              <a:gd name="adj" fmla="val 2930"/>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xMutex = xSemaphoreCreateMutex(); /* no main()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prvNewPrintString( const char *pcString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xSemaphoreTake( xMutex,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printf( "%s", pcString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fflush( stdout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xSemaphoreGive( xMutex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0" name="Text 8"/>
          <p:cNvSpPr/>
          <p:nvPr/>
        </p:nvSpPr>
        <p:spPr>
          <a:xfrm>
            <a:off x="6172200" y="4866630"/>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xSemaphoreCreateMutex() devolve NULL sem heap; há versão Static.</a:t>
            </a:r>
            <a:endParaRPr lang="en-US" sz="1200" dirty="0">
              <a:latin typeface="IBM Plex Sans" charset="0"/>
              <a:ea typeface="IBM Plex Sans" charset="0"/>
              <a:cs typeface="IBM Plex Sans" charset="0"/>
            </a:endParaRPr>
          </a:p>
        </p:txBody>
      </p:sp>
      <p:sp>
        <p:nvSpPr>
          <p:cNvPr id="11" name="Text 9"/>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2" name="Text 10"/>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109</a:t>
            </a:r>
            <a:endParaRPr lang="en-US" sz="1200" dirty="0">
              <a:latin typeface="IBM Plex Sans" charset="0"/>
              <a:ea typeface="IBM Plex Sans" charset="0"/>
              <a:cs typeface="IBM Plex Sans"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Priority inversion</a:t>
            </a:r>
            <a:endParaRPr lang="en-US" sz="3200" dirty="0">
              <a:latin typeface="IBM Plex Sans" charset="0"/>
              <a:ea typeface="IBM Plex Sans" charset="0"/>
              <a:cs typeface="IBM Plex Sans" charset="0"/>
            </a:endParaRPr>
          </a:p>
        </p:txBody>
      </p:sp>
      <p:sp>
        <p:nvSpPr>
          <p:cNvPr id="4" name="Text 2"/>
          <p:cNvSpPr/>
          <p:nvPr/>
        </p:nvSpPr>
        <p:spPr>
          <a:xfrm>
            <a:off x="812800" y="17729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Uma task de alta prioridade fica à espera de uma de baixa prioridade que tem o recurso. Com um lock </a:t>
            </a:r>
            <a:r>
              <a:rPr lang="en-US" sz="1400" b="1" dirty="0">
                <a:solidFill>
                  <a:srgbClr val="44505C"/>
                </a:solidFill>
                <a:latin typeface="IBM Plex Sans" pitchFamily="34" charset="0"/>
                <a:ea typeface="IBM Plex Sans" pitchFamily="34" charset="-122"/>
                <a:cs typeface="IBM Plex Sans" pitchFamily="34" charset="-120"/>
              </a:rPr>
              <a:t>sem priority inheritance</a:t>
            </a:r>
            <a:r>
              <a:rPr lang="en-US" sz="1400" dirty="0">
                <a:solidFill>
                  <a:srgbClr val="44505C"/>
                </a:solidFill>
                <a:latin typeface="IBM Plex Sans" pitchFamily="34" charset="0"/>
                <a:ea typeface="IBM Plex Sans" pitchFamily="34" charset="-122"/>
                <a:cs typeface="IBM Plex Sans" pitchFamily="34" charset="-120"/>
              </a:rPr>
              <a:t> (ex.: um semáforo binário), uma task de prioridade média pode impedir a de baixa de correr, </a:t>
            </a:r>
            <a:r>
              <a:rPr lang="en-US" sz="1400" b="1" dirty="0">
                <a:solidFill>
                  <a:srgbClr val="44505C"/>
                </a:solidFill>
                <a:latin typeface="IBM Plex Sans" pitchFamily="34" charset="0"/>
                <a:ea typeface="IBM Plex Sans" pitchFamily="34" charset="-122"/>
                <a:cs typeface="IBM Plex Sans" pitchFamily="34" charset="-120"/>
              </a:rPr>
              <a:t>sem limite de tempo</a:t>
            </a:r>
            <a:r>
              <a:rPr lang="en-US" sz="1400" dirty="0">
                <a:solidFill>
                  <a:srgbClr val="44505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pic>
        <p:nvPicPr>
          <p:cNvPr id="5" name="Image 0" descr="Linha temporal de três tasks de prioridade alta, média e baixa a partilhar um mutex.">    </p:cNvPr>
          <p:cNvPicPr>
            <a:picLocks noChangeAspect="1"/>
          </p:cNvPicPr>
          <p:nvPr/>
        </p:nvPicPr>
        <p:blipFill>
          <a:blip r:embed="rId1"/>
          <a:srcRect l="0" r="0" t="-19" b="-19"/>
          <a:stretch/>
        </p:blipFill>
        <p:spPr>
          <a:xfrm>
            <a:off x="812800" y="2448570"/>
            <a:ext cx="10566400" cy="2095500"/>
          </a:xfrm>
          <a:prstGeom prst="rect">
            <a:avLst/>
          </a:prstGeom>
        </p:spPr>
      </p:pic>
      <p:sp>
        <p:nvSpPr>
          <p:cNvPr id="6" name="Text 3"/>
          <p:cNvSpPr/>
          <p:nvPr/>
        </p:nvSpPr>
        <p:spPr>
          <a:xfrm>
            <a:off x="812800" y="264542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2E9A62"/>
                </a:solidFill>
                <a:latin typeface="IBM Plex Sans" pitchFamily="34" charset="0"/>
                <a:ea typeface="IBM Plex Sans" pitchFamily="34" charset="-122"/>
                <a:cs typeface="IBM Plex Sans" pitchFamily="34" charset="-120"/>
              </a:rPr>
              <a:t>Alta prioridade (HP)</a:t>
            </a:r>
            <a:endParaRPr lang="en-US" sz="1200" dirty="0">
              <a:latin typeface="IBM Plex Sans" charset="0"/>
              <a:ea typeface="IBM Plex Sans" charset="0"/>
              <a:cs typeface="IBM Plex Sans" charset="0"/>
            </a:endParaRPr>
          </a:p>
        </p:txBody>
      </p:sp>
      <p:sp>
        <p:nvSpPr>
          <p:cNvPr id="7" name="Text 4"/>
          <p:cNvSpPr/>
          <p:nvPr/>
        </p:nvSpPr>
        <p:spPr>
          <a:xfrm>
            <a:off x="812800" y="324867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C0392B"/>
                </a:solidFill>
                <a:latin typeface="IBM Plex Sans" pitchFamily="34" charset="0"/>
                <a:ea typeface="IBM Plex Sans" pitchFamily="34" charset="-122"/>
                <a:cs typeface="IBM Plex Sans" pitchFamily="34" charset="-120"/>
              </a:rPr>
              <a:t>Média (MP)</a:t>
            </a:r>
            <a:endParaRPr lang="en-US" sz="1200" dirty="0">
              <a:latin typeface="IBM Plex Sans" charset="0"/>
              <a:ea typeface="IBM Plex Sans" charset="0"/>
              <a:cs typeface="IBM Plex Sans" charset="0"/>
            </a:endParaRPr>
          </a:p>
        </p:txBody>
      </p:sp>
      <p:sp>
        <p:nvSpPr>
          <p:cNvPr id="8" name="Text 5"/>
          <p:cNvSpPr/>
          <p:nvPr/>
        </p:nvSpPr>
        <p:spPr>
          <a:xfrm>
            <a:off x="812800" y="385192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Baixa (LP)</a:t>
            </a:r>
            <a:endParaRPr lang="en-US" sz="1200" dirty="0">
              <a:latin typeface="IBM Plex Sans" charset="0"/>
              <a:ea typeface="IBM Plex Sans" charset="0"/>
              <a:cs typeface="IBM Plex Sans" charset="0"/>
            </a:endParaRPr>
          </a:p>
        </p:txBody>
      </p:sp>
      <p:sp>
        <p:nvSpPr>
          <p:cNvPr id="9" name="Text 6"/>
          <p:cNvSpPr/>
          <p:nvPr/>
        </p:nvSpPr>
        <p:spPr>
          <a:xfrm>
            <a:off x="3765550" y="35280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10" name="Text 7"/>
          <p:cNvSpPr/>
          <p:nvPr/>
        </p:nvSpPr>
        <p:spPr>
          <a:xfrm>
            <a:off x="5924550" y="29184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11" name="Text 8"/>
          <p:cNvSpPr/>
          <p:nvPr/>
        </p:nvSpPr>
        <p:spPr>
          <a:xfrm>
            <a:off x="7340600" y="35280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12" name="Text 9"/>
          <p:cNvSpPr/>
          <p:nvPr/>
        </p:nvSpPr>
        <p:spPr>
          <a:xfrm>
            <a:off x="9004300" y="292482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13" name="Text 10"/>
          <p:cNvSpPr/>
          <p:nvPr/>
        </p:nvSpPr>
        <p:spPr>
          <a:xfrm>
            <a:off x="9906000" y="4328170"/>
            <a:ext cx="1320800" cy="241776"/>
          </a:xfrm>
          <a:prstGeom prst="rect">
            <a:avLst/>
          </a:prstGeom>
          <a:noFill/>
          <a:ln/>
        </p:spPr>
        <p:txBody>
          <a:bodyPr wrap="square" lIns="0" tIns="0" rIns="0" bIns="0" rtlCol="0" anchor="t">
            <a:normAutofit/>
          </a:bodyPr>
          <a:lstStyle/>
          <a:p>
            <a:pPr algn="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tempo →</a:t>
            </a:r>
            <a:endParaRPr lang="en-US" sz="1200" dirty="0">
              <a:latin typeface="IBM Plex Sans" charset="0"/>
              <a:ea typeface="IBM Plex Sans" charset="0"/>
              <a:cs typeface="IBM Plex Sans" charset="0"/>
            </a:endParaRPr>
          </a:p>
        </p:txBody>
      </p:sp>
      <p:sp>
        <p:nvSpPr>
          <p:cNvPr id="14" name="Text 11"/>
          <p:cNvSpPr/>
          <p:nvPr/>
        </p:nvSpPr>
        <p:spPr>
          <a:xfrm>
            <a:off x="812800" y="472187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1</a:t>
            </a:r>
            <a:r>
              <a:rPr lang="en-US" sz="1200" dirty="0">
                <a:solidFill>
                  <a:srgbClr val="44505C"/>
                </a:solidFill>
                <a:latin typeface="IBM Plex Sans" pitchFamily="34" charset="0"/>
                <a:ea typeface="IBM Plex Sans" pitchFamily="34" charset="-122"/>
                <a:cs typeface="IBM Plex Sans" pitchFamily="34" charset="-120"/>
              </a:rPr>
              <a:t>  LP tira o semáforo e é preemptada por HP.</a:t>
            </a:r>
            <a:endParaRPr lang="en-US" sz="1200" dirty="0">
              <a:latin typeface="IBM Plex Sans" charset="0"/>
              <a:ea typeface="IBM Plex Sans" charset="0"/>
              <a:cs typeface="IBM Plex Sans" charset="0"/>
            </a:endParaRPr>
          </a:p>
        </p:txBody>
      </p:sp>
      <p:sp>
        <p:nvSpPr>
          <p:cNvPr id="15" name="Text 12"/>
          <p:cNvSpPr/>
          <p:nvPr/>
        </p:nvSpPr>
        <p:spPr>
          <a:xfrm>
            <a:off x="6248400" y="472187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2</a:t>
            </a:r>
            <a:r>
              <a:rPr lang="en-US" sz="1200" dirty="0">
                <a:solidFill>
                  <a:srgbClr val="44505C"/>
                </a:solidFill>
                <a:latin typeface="IBM Plex Sans" pitchFamily="34" charset="0"/>
                <a:ea typeface="IBM Plex Sans" pitchFamily="34" charset="-122"/>
                <a:cs typeface="IBM Plex Sans" pitchFamily="34" charset="-120"/>
              </a:rPr>
              <a:t>  HP tenta tirar o semáforo, que está com LP: bloqueia (tracejado).</a:t>
            </a:r>
            <a:endParaRPr lang="en-US" sz="1200" dirty="0">
              <a:latin typeface="IBM Plex Sans" charset="0"/>
              <a:ea typeface="IBM Plex Sans" charset="0"/>
              <a:cs typeface="IBM Plex Sans" charset="0"/>
            </a:endParaRPr>
          </a:p>
        </p:txBody>
      </p:sp>
      <p:sp>
        <p:nvSpPr>
          <p:cNvPr id="16" name="Text 13"/>
          <p:cNvSpPr/>
          <p:nvPr/>
        </p:nvSpPr>
        <p:spPr>
          <a:xfrm>
            <a:off x="812800" y="501144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3</a:t>
            </a:r>
            <a:r>
              <a:rPr lang="en-US" sz="1200" dirty="0">
                <a:solidFill>
                  <a:srgbClr val="44505C"/>
                </a:solidFill>
                <a:latin typeface="IBM Plex Sans" pitchFamily="34" charset="0"/>
                <a:ea typeface="IBM Plex Sans" pitchFamily="34" charset="-122"/>
                <a:cs typeface="IBM Plex Sans" pitchFamily="34" charset="-120"/>
              </a:rPr>
              <a:t>  LP continua, mas é preemptada por MP antes de devolver o semáforo.</a:t>
            </a:r>
            <a:endParaRPr lang="en-US" sz="1200" dirty="0">
              <a:latin typeface="IBM Plex Sans" charset="0"/>
              <a:ea typeface="IBM Plex Sans" charset="0"/>
              <a:cs typeface="IBM Plex Sans" charset="0"/>
            </a:endParaRPr>
          </a:p>
        </p:txBody>
      </p:sp>
      <p:sp>
        <p:nvSpPr>
          <p:cNvPr id="17" name="Text 14"/>
          <p:cNvSpPr/>
          <p:nvPr/>
        </p:nvSpPr>
        <p:spPr>
          <a:xfrm>
            <a:off x="6248400" y="501144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4</a:t>
            </a:r>
            <a:r>
              <a:rPr lang="en-US" sz="1200" dirty="0">
                <a:solidFill>
                  <a:srgbClr val="44505C"/>
                </a:solidFill>
                <a:latin typeface="IBM Plex Sans" pitchFamily="34" charset="0"/>
                <a:ea typeface="IBM Plex Sans" pitchFamily="34" charset="-122"/>
                <a:cs typeface="IBM Plex Sans" pitchFamily="34" charset="-120"/>
              </a:rPr>
              <a:t>  MP corre. HP continua à espera de LP, e LP nem sequer executa.</a:t>
            </a:r>
            <a:endParaRPr lang="en-US" sz="1200" dirty="0">
              <a:latin typeface="IBM Plex Sans" charset="0"/>
              <a:ea typeface="IBM Plex Sans" charset="0"/>
              <a:cs typeface="IBM Plex Sans" charset="0"/>
            </a:endParaRPr>
          </a:p>
        </p:txBody>
      </p:sp>
      <p:sp>
        <p:nvSpPr>
          <p:cNvPr id="18" name="Text 1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9"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110</a:t>
            </a:r>
            <a:endParaRPr lang="en-US" sz="1200" dirty="0">
              <a:latin typeface="IBM Plex Sans" charset="0"/>
              <a:ea typeface="IBM Plex Sans" charset="0"/>
              <a:cs typeface="IBM Plex Sans"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Priority inheritance</a:t>
            </a:r>
            <a:endParaRPr lang="en-US" sz="3200" dirty="0">
              <a:latin typeface="IBM Plex Sans" charset="0"/>
              <a:ea typeface="IBM Plex Sans" charset="0"/>
              <a:cs typeface="IBM Plex Sans" charset="0"/>
            </a:endParaRPr>
          </a:p>
        </p:txBody>
      </p:sp>
      <p:sp>
        <p:nvSpPr>
          <p:cNvPr id="4" name="Text 2"/>
          <p:cNvSpPr/>
          <p:nvPr/>
        </p:nvSpPr>
        <p:spPr>
          <a:xfrm>
            <a:off x="812800" y="177294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Os mutexes (e não os semáforos binários) sobem temporariamente a prioridade de quem tem o mutex até à da task mais prioritária que o espera. </a:t>
            </a:r>
            <a:r>
              <a:rPr lang="en-US" sz="1400" b="1" dirty="0">
                <a:solidFill>
                  <a:srgbClr val="44505C"/>
                </a:solidFill>
                <a:latin typeface="IBM Plex Sans" pitchFamily="34" charset="0"/>
                <a:ea typeface="IBM Plex Sans" pitchFamily="34" charset="-122"/>
                <a:cs typeface="IBM Plex Sans" pitchFamily="34" charset="-120"/>
              </a:rPr>
              <a:t>Limita</a:t>
            </a:r>
            <a:r>
              <a:rPr lang="en-US" sz="1400" dirty="0">
                <a:solidFill>
                  <a:srgbClr val="44505C"/>
                </a:solidFill>
                <a:latin typeface="IBM Plex Sans" pitchFamily="34" charset="0"/>
                <a:ea typeface="IBM Plex Sans" pitchFamily="34" charset="-122"/>
                <a:cs typeface="IBM Plex Sans" pitchFamily="34" charset="-120"/>
              </a:rPr>
              <a:t> a inversão no tempo; não a elimina.</a:t>
            </a:r>
            <a:endParaRPr lang="en-US" sz="1400" dirty="0">
              <a:latin typeface="IBM Plex Sans" charset="0"/>
              <a:ea typeface="IBM Plex Sans" charset="0"/>
              <a:cs typeface="IBM Plex Sans" charset="0"/>
            </a:endParaRPr>
          </a:p>
        </p:txBody>
      </p:sp>
      <p:pic>
        <p:nvPicPr>
          <p:cNvPr id="5" name="Image 0" descr="Linha temporal de três tasks de prioridade alta, média e baixa a partilhar um mutex.">    </p:cNvPr>
          <p:cNvPicPr>
            <a:picLocks noChangeAspect="1"/>
          </p:cNvPicPr>
          <p:nvPr/>
        </p:nvPicPr>
        <p:blipFill>
          <a:blip r:embed="rId1"/>
          <a:srcRect l="0" r="0" t="-19" b="-19"/>
          <a:stretch/>
        </p:blipFill>
        <p:spPr>
          <a:xfrm>
            <a:off x="812800" y="2448570"/>
            <a:ext cx="10566400" cy="2095500"/>
          </a:xfrm>
          <a:prstGeom prst="rect">
            <a:avLst/>
          </a:prstGeom>
        </p:spPr>
      </p:pic>
      <p:sp>
        <p:nvSpPr>
          <p:cNvPr id="6" name="Text 3"/>
          <p:cNvSpPr/>
          <p:nvPr/>
        </p:nvSpPr>
        <p:spPr>
          <a:xfrm>
            <a:off x="812800" y="264542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2E9A62"/>
                </a:solidFill>
                <a:latin typeface="IBM Plex Sans" pitchFamily="34" charset="0"/>
                <a:ea typeface="IBM Plex Sans" pitchFamily="34" charset="-122"/>
                <a:cs typeface="IBM Plex Sans" pitchFamily="34" charset="-120"/>
              </a:rPr>
              <a:t>Alta prioridade (HP)</a:t>
            </a:r>
            <a:endParaRPr lang="en-US" sz="1200" dirty="0">
              <a:latin typeface="IBM Plex Sans" charset="0"/>
              <a:ea typeface="IBM Plex Sans" charset="0"/>
              <a:cs typeface="IBM Plex Sans" charset="0"/>
            </a:endParaRPr>
          </a:p>
        </p:txBody>
      </p:sp>
      <p:sp>
        <p:nvSpPr>
          <p:cNvPr id="7" name="Text 4"/>
          <p:cNvSpPr/>
          <p:nvPr/>
        </p:nvSpPr>
        <p:spPr>
          <a:xfrm>
            <a:off x="812800" y="324867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C0392B"/>
                </a:solidFill>
                <a:latin typeface="IBM Plex Sans" pitchFamily="34" charset="0"/>
                <a:ea typeface="IBM Plex Sans" pitchFamily="34" charset="-122"/>
                <a:cs typeface="IBM Plex Sans" pitchFamily="34" charset="-120"/>
              </a:rPr>
              <a:t>Média (MP)</a:t>
            </a:r>
            <a:endParaRPr lang="en-US" sz="1200" dirty="0">
              <a:latin typeface="IBM Plex Sans" charset="0"/>
              <a:ea typeface="IBM Plex Sans" charset="0"/>
              <a:cs typeface="IBM Plex Sans" charset="0"/>
            </a:endParaRPr>
          </a:p>
        </p:txBody>
      </p:sp>
      <p:sp>
        <p:nvSpPr>
          <p:cNvPr id="8" name="Text 5"/>
          <p:cNvSpPr/>
          <p:nvPr/>
        </p:nvSpPr>
        <p:spPr>
          <a:xfrm>
            <a:off x="812800" y="385192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Baixa (LP)</a:t>
            </a:r>
            <a:endParaRPr lang="en-US" sz="1200" dirty="0">
              <a:latin typeface="IBM Plex Sans" charset="0"/>
              <a:ea typeface="IBM Plex Sans" charset="0"/>
              <a:cs typeface="IBM Plex Sans" charset="0"/>
            </a:endParaRPr>
          </a:p>
        </p:txBody>
      </p:sp>
      <p:sp>
        <p:nvSpPr>
          <p:cNvPr id="9" name="Text 6"/>
          <p:cNvSpPr/>
          <p:nvPr/>
        </p:nvSpPr>
        <p:spPr>
          <a:xfrm>
            <a:off x="3765550" y="35280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10" name="Text 7"/>
          <p:cNvSpPr/>
          <p:nvPr/>
        </p:nvSpPr>
        <p:spPr>
          <a:xfrm>
            <a:off x="5924550" y="29184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11" name="Text 8"/>
          <p:cNvSpPr/>
          <p:nvPr/>
        </p:nvSpPr>
        <p:spPr>
          <a:xfrm>
            <a:off x="6591300" y="35280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12" name="Text 9"/>
          <p:cNvSpPr/>
          <p:nvPr/>
        </p:nvSpPr>
        <p:spPr>
          <a:xfrm>
            <a:off x="7340600" y="2918470"/>
            <a:ext cx="279400" cy="278844"/>
          </a:xfrm>
          <a:custGeom>
            <a:avLst/>
            <a:gdLst/>
            <a:ahLst/>
            <a:cxnLst/>
            <a:rect l="l" t="t" r="r" b="b"/>
            <a:pathLst>
              <a:path w="279400" h="278844">
                <a:moveTo>
                  <a:pt x="139422" y="0"/>
                </a:moveTo>
                <a:lnTo>
                  <a:pt x="139978" y="0"/>
                </a:lnTo>
                <a:arcTo hR="139422" wR="139422" stAng="16200000" swAng="5400000"/>
                <a:lnTo>
                  <a:pt x="279400" y="139422"/>
                </a:lnTo>
                <a:arcTo hR="139422" wR="139422" stAng="0" swAng="5400000"/>
                <a:lnTo>
                  <a:pt x="139422" y="278844"/>
                </a:lnTo>
                <a:arcTo hR="139422" wR="139422" stAng="5400000" swAng="5400000"/>
                <a:lnTo>
                  <a:pt x="0" y="139422"/>
                </a:lnTo>
                <a:arcTo hR="139422" wR="139422"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13" name="Text 10"/>
          <p:cNvSpPr/>
          <p:nvPr/>
        </p:nvSpPr>
        <p:spPr>
          <a:xfrm>
            <a:off x="9906000" y="4328170"/>
            <a:ext cx="1320800" cy="241776"/>
          </a:xfrm>
          <a:prstGeom prst="rect">
            <a:avLst/>
          </a:prstGeom>
          <a:noFill/>
          <a:ln/>
        </p:spPr>
        <p:txBody>
          <a:bodyPr wrap="square" lIns="0" tIns="0" rIns="0" bIns="0" rtlCol="0" anchor="t">
            <a:normAutofit/>
          </a:bodyPr>
          <a:lstStyle/>
          <a:p>
            <a:pPr algn="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tempo →</a:t>
            </a:r>
            <a:endParaRPr lang="en-US" sz="1200" dirty="0">
              <a:latin typeface="IBM Plex Sans" charset="0"/>
              <a:ea typeface="IBM Plex Sans" charset="0"/>
              <a:cs typeface="IBM Plex Sans" charset="0"/>
            </a:endParaRPr>
          </a:p>
        </p:txBody>
      </p:sp>
      <p:sp>
        <p:nvSpPr>
          <p:cNvPr id="14" name="Text 11"/>
          <p:cNvSpPr/>
          <p:nvPr/>
        </p:nvSpPr>
        <p:spPr>
          <a:xfrm>
            <a:off x="812800" y="472187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1</a:t>
            </a:r>
            <a:r>
              <a:rPr lang="en-US" sz="1200" dirty="0">
                <a:solidFill>
                  <a:srgbClr val="44505C"/>
                </a:solidFill>
                <a:latin typeface="IBM Plex Sans" pitchFamily="34" charset="0"/>
                <a:ea typeface="IBM Plex Sans" pitchFamily="34" charset="-122"/>
                <a:cs typeface="IBM Plex Sans" pitchFamily="34" charset="-120"/>
              </a:rPr>
              <a:t>  LP tira o mutex e é preemptada por HP.</a:t>
            </a:r>
            <a:endParaRPr lang="en-US" sz="1200" dirty="0">
              <a:latin typeface="IBM Plex Sans" charset="0"/>
              <a:ea typeface="IBM Plex Sans" charset="0"/>
              <a:cs typeface="IBM Plex Sans" charset="0"/>
            </a:endParaRPr>
          </a:p>
        </p:txBody>
      </p:sp>
      <p:sp>
        <p:nvSpPr>
          <p:cNvPr id="15" name="Text 12"/>
          <p:cNvSpPr/>
          <p:nvPr/>
        </p:nvSpPr>
        <p:spPr>
          <a:xfrm>
            <a:off x="6248400" y="4721870"/>
            <a:ext cx="528472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2</a:t>
            </a:r>
            <a:r>
              <a:rPr lang="en-US" sz="1200" dirty="0">
                <a:solidFill>
                  <a:srgbClr val="44505C"/>
                </a:solidFill>
                <a:latin typeface="IBM Plex Sans" pitchFamily="34" charset="0"/>
                <a:ea typeface="IBM Plex Sans" pitchFamily="34" charset="-122"/>
                <a:cs typeface="IBM Plex Sans" pitchFamily="34" charset="-120"/>
              </a:rPr>
              <a:t>  HP tenta tirar o mutex e bloqueia.</a:t>
            </a:r>
            <a:endParaRPr lang="en-US" sz="1200" dirty="0">
              <a:latin typeface="IBM Plex Sans" charset="0"/>
              <a:ea typeface="IBM Plex Sans" charset="0"/>
              <a:cs typeface="IBM Plex Sans" charset="0"/>
            </a:endParaRPr>
          </a:p>
        </p:txBody>
      </p:sp>
      <p:sp>
        <p:nvSpPr>
          <p:cNvPr id="16" name="Text 13"/>
          <p:cNvSpPr/>
          <p:nvPr/>
        </p:nvSpPr>
        <p:spPr>
          <a:xfrm>
            <a:off x="812800" y="5011440"/>
            <a:ext cx="528472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3</a:t>
            </a:r>
            <a:r>
              <a:rPr lang="en-US" sz="1200" dirty="0">
                <a:solidFill>
                  <a:srgbClr val="44505C"/>
                </a:solidFill>
                <a:latin typeface="IBM Plex Sans" pitchFamily="34" charset="0"/>
                <a:ea typeface="IBM Plex Sans" pitchFamily="34" charset="-122"/>
                <a:cs typeface="IBM Plex Sans" pitchFamily="34" charset="-120"/>
              </a:rPr>
              <a:t>  LP herda a prioridade de HP (contorno verde): MP já não a preempta.</a:t>
            </a:r>
            <a:endParaRPr lang="en-US" sz="1200" dirty="0">
              <a:latin typeface="IBM Plex Sans" charset="0"/>
              <a:ea typeface="IBM Plex Sans" charset="0"/>
              <a:cs typeface="IBM Plex Sans" charset="0"/>
            </a:endParaRPr>
          </a:p>
        </p:txBody>
      </p:sp>
      <p:sp>
        <p:nvSpPr>
          <p:cNvPr id="17" name="Text 14"/>
          <p:cNvSpPr/>
          <p:nvPr/>
        </p:nvSpPr>
        <p:spPr>
          <a:xfrm>
            <a:off x="6248400" y="5011440"/>
            <a:ext cx="528472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4</a:t>
            </a:r>
            <a:r>
              <a:rPr lang="en-US" sz="1200" dirty="0">
                <a:solidFill>
                  <a:srgbClr val="44505C"/>
                </a:solidFill>
                <a:latin typeface="IBM Plex Sans" pitchFamily="34" charset="0"/>
                <a:ea typeface="IBM Plex Sans" pitchFamily="34" charset="-122"/>
                <a:cs typeface="IBM Plex Sans" pitchFamily="34" charset="-120"/>
              </a:rPr>
              <a:t>  LP devolve o mutex e volta à sua prioridade; HP corre. MP só corre quando HP bloqueia.</a:t>
            </a:r>
            <a:endParaRPr lang="en-US" sz="1200" dirty="0">
              <a:latin typeface="IBM Plex Sans" charset="0"/>
              <a:ea typeface="IBM Plex Sans" charset="0"/>
              <a:cs typeface="IBM Plex Sans" charset="0"/>
            </a:endParaRPr>
          </a:p>
        </p:txBody>
      </p:sp>
      <p:sp>
        <p:nvSpPr>
          <p:cNvPr id="18" name="Text 15"/>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9" name="Text 16"/>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111</a:t>
            </a:r>
            <a:endParaRPr lang="en-US" sz="1200" dirty="0">
              <a:latin typeface="IBM Plex Sans" charset="0"/>
              <a:ea typeface="IBM Plex Sans" charset="0"/>
              <a:cs typeface="IBM Plex Sans"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Deadlock</a:t>
            </a:r>
            <a:endParaRPr lang="en-US" sz="3200" dirty="0">
              <a:latin typeface="IBM Plex Sans" charset="0"/>
              <a:ea typeface="IBM Plex Sans" charset="0"/>
              <a:cs typeface="IBM Plex Sans" charset="0"/>
            </a:endParaRPr>
          </a:p>
        </p:txBody>
      </p:sp>
      <p:sp>
        <p:nvSpPr>
          <p:cNvPr id="4" name="Text 2"/>
          <p:cNvSpPr/>
          <p:nvPr/>
        </p:nvSpPr>
        <p:spPr>
          <a:xfrm>
            <a:off x="819150" y="1906290"/>
            <a:ext cx="1892300" cy="518160"/>
          </a:xfrm>
          <a:prstGeom prst="roundRect">
            <a:avLst>
              <a:gd name="adj" fmla="val 18382"/>
            </a:avLst>
          </a:prstGeom>
          <a:solidFill>
            <a:srgbClr val="FCFBF8"/>
          </a:solidFill>
          <a:ln w="12700">
            <a:solidFill>
              <a:srgbClr val="14222E"/>
            </a:solidFill>
            <a:prstDash val="solid"/>
          </a:ln>
        </p:spPr>
        <p:txBody>
          <a:bodyPr wrap="square" lIns="52112" tIns="115612" rIns="52112"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Task A</a:t>
            </a:r>
            <a:endParaRPr lang="en-US" sz="1400" dirty="0">
              <a:latin typeface="IBM Plex Sans" charset="0"/>
              <a:ea typeface="IBM Plex Sans" charset="0"/>
              <a:cs typeface="IBM Plex Sans" charset="0"/>
            </a:endParaRPr>
          </a:p>
        </p:txBody>
      </p:sp>
      <p:sp>
        <p:nvSpPr>
          <p:cNvPr id="5" name="Text 3"/>
          <p:cNvSpPr/>
          <p:nvPr/>
        </p:nvSpPr>
        <p:spPr>
          <a:xfrm>
            <a:off x="4756150" y="1906290"/>
            <a:ext cx="1892300" cy="518160"/>
          </a:xfrm>
          <a:prstGeom prst="roundRect">
            <a:avLst>
              <a:gd name="adj" fmla="val 18382"/>
            </a:avLst>
          </a:prstGeom>
          <a:solidFill>
            <a:srgbClr val="E3EFEC"/>
          </a:solidFill>
          <a:ln w="12700">
            <a:solidFill>
              <a:srgbClr val="14222E"/>
            </a:solidFill>
            <a:prstDash val="solid"/>
          </a:ln>
        </p:spPr>
        <p:txBody>
          <a:bodyPr wrap="square" lIns="52112" tIns="115612" rIns="52112"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Mutex X</a:t>
            </a:r>
            <a:endParaRPr lang="en-US" sz="1400" dirty="0">
              <a:latin typeface="IBM Plex Sans" charset="0"/>
              <a:ea typeface="IBM Plex Sans" charset="0"/>
              <a:cs typeface="IBM Plex Sans" charset="0"/>
            </a:endParaRPr>
          </a:p>
        </p:txBody>
      </p:sp>
      <p:sp>
        <p:nvSpPr>
          <p:cNvPr id="6" name="Text 4"/>
          <p:cNvSpPr/>
          <p:nvPr/>
        </p:nvSpPr>
        <p:spPr>
          <a:xfrm>
            <a:off x="819150" y="3811290"/>
            <a:ext cx="1892300" cy="518160"/>
          </a:xfrm>
          <a:prstGeom prst="roundRect">
            <a:avLst>
              <a:gd name="adj" fmla="val 18382"/>
            </a:avLst>
          </a:prstGeom>
          <a:solidFill>
            <a:srgbClr val="E3EFEC"/>
          </a:solidFill>
          <a:ln w="12700">
            <a:solidFill>
              <a:srgbClr val="14222E"/>
            </a:solidFill>
            <a:prstDash val="solid"/>
          </a:ln>
        </p:spPr>
        <p:txBody>
          <a:bodyPr wrap="square" lIns="52112" tIns="115612" rIns="52112"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Mutex Y</a:t>
            </a:r>
            <a:endParaRPr lang="en-US" sz="1400" dirty="0">
              <a:latin typeface="IBM Plex Sans" charset="0"/>
              <a:ea typeface="IBM Plex Sans" charset="0"/>
              <a:cs typeface="IBM Plex Sans" charset="0"/>
            </a:endParaRPr>
          </a:p>
        </p:txBody>
      </p:sp>
      <p:sp>
        <p:nvSpPr>
          <p:cNvPr id="7" name="Text 5"/>
          <p:cNvSpPr/>
          <p:nvPr/>
        </p:nvSpPr>
        <p:spPr>
          <a:xfrm>
            <a:off x="4756150" y="3811290"/>
            <a:ext cx="1892300" cy="518160"/>
          </a:xfrm>
          <a:prstGeom prst="roundRect">
            <a:avLst>
              <a:gd name="adj" fmla="val 18382"/>
            </a:avLst>
          </a:prstGeom>
          <a:solidFill>
            <a:srgbClr val="FCFBF8"/>
          </a:solidFill>
          <a:ln w="12700">
            <a:solidFill>
              <a:srgbClr val="14222E"/>
            </a:solidFill>
            <a:prstDash val="solid"/>
          </a:ln>
        </p:spPr>
        <p:txBody>
          <a:bodyPr wrap="square" lIns="52112" tIns="115612" rIns="52112"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Task B</a:t>
            </a:r>
            <a:endParaRPr lang="en-US" sz="1400" dirty="0">
              <a:latin typeface="IBM Plex Sans" charset="0"/>
              <a:ea typeface="IBM Plex Sans" charset="0"/>
              <a:cs typeface="IBM Plex Sans" charset="0"/>
            </a:endParaRPr>
          </a:p>
        </p:txBody>
      </p:sp>
      <p:pic>
        <p:nvPicPr>
          <p:cNvPr id="8" name="Image 0" descr="connector">    </p:cNvPr>
          <p:cNvPicPr>
            <a:picLocks noChangeAspect="1"/>
          </p:cNvPicPr>
          <p:nvPr/>
        </p:nvPicPr>
        <p:blipFill>
          <a:blip r:embed="rId1"/>
          <a:srcRect l="0" r="0" t="0" b="0"/>
          <a:stretch/>
        </p:blipFill>
        <p:spPr>
          <a:xfrm>
            <a:off x="2654300" y="2185690"/>
            <a:ext cx="2159000" cy="127000"/>
          </a:xfrm>
          <a:prstGeom prst="rect">
            <a:avLst/>
          </a:prstGeom>
        </p:spPr>
      </p:pic>
      <p:pic>
        <p:nvPicPr>
          <p:cNvPr id="9" name="Image 1" descr="connector">    </p:cNvPr>
          <p:cNvPicPr>
            <a:picLocks noChangeAspect="1"/>
          </p:cNvPicPr>
          <p:nvPr/>
        </p:nvPicPr>
        <p:blipFill>
          <a:blip r:embed="rId2"/>
          <a:srcRect l="0" r="0" t="0" b="0"/>
          <a:stretch/>
        </p:blipFill>
        <p:spPr>
          <a:xfrm>
            <a:off x="2654300" y="4090690"/>
            <a:ext cx="2159000" cy="127000"/>
          </a:xfrm>
          <a:prstGeom prst="rect">
            <a:avLst/>
          </a:prstGeom>
        </p:spPr>
      </p:pic>
      <p:pic>
        <p:nvPicPr>
          <p:cNvPr id="10" name="Image 2" descr="connector">    </p:cNvPr>
          <p:cNvPicPr>
            <a:picLocks noChangeAspect="1"/>
          </p:cNvPicPr>
          <p:nvPr/>
        </p:nvPicPr>
        <p:blipFill>
          <a:blip r:embed="rId3"/>
          <a:srcRect l="0" r="0" t="0" b="0"/>
          <a:stretch/>
        </p:blipFill>
        <p:spPr>
          <a:xfrm>
            <a:off x="1701800" y="2534940"/>
            <a:ext cx="127000" cy="1333500"/>
          </a:xfrm>
          <a:prstGeom prst="rect">
            <a:avLst/>
          </a:prstGeom>
        </p:spPr>
      </p:pic>
      <p:pic>
        <p:nvPicPr>
          <p:cNvPr id="11" name="Image 3" descr="connector">    </p:cNvPr>
          <p:cNvPicPr>
            <a:picLocks noChangeAspect="1"/>
          </p:cNvPicPr>
          <p:nvPr/>
        </p:nvPicPr>
        <p:blipFill>
          <a:blip r:embed="rId4"/>
          <a:srcRect l="0" r="0" t="0" b="0"/>
          <a:stretch/>
        </p:blipFill>
        <p:spPr>
          <a:xfrm>
            <a:off x="5638800" y="2534940"/>
            <a:ext cx="127000" cy="1333500"/>
          </a:xfrm>
          <a:prstGeom prst="rect">
            <a:avLst/>
          </a:prstGeom>
        </p:spPr>
      </p:pic>
      <p:sp>
        <p:nvSpPr>
          <p:cNvPr id="12" name="Text 6"/>
          <p:cNvSpPr/>
          <p:nvPr/>
        </p:nvSpPr>
        <p:spPr>
          <a:xfrm>
            <a:off x="2946400" y="197614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tem</a:t>
            </a:r>
            <a:endParaRPr lang="en-US" sz="1200" dirty="0">
              <a:latin typeface="IBM Plex Sans" charset="0"/>
              <a:ea typeface="IBM Plex Sans" charset="0"/>
              <a:cs typeface="IBM Plex Sans" charset="0"/>
            </a:endParaRPr>
          </a:p>
        </p:txBody>
      </p:sp>
      <p:sp>
        <p:nvSpPr>
          <p:cNvPr id="13" name="Text 7"/>
          <p:cNvSpPr/>
          <p:nvPr/>
        </p:nvSpPr>
        <p:spPr>
          <a:xfrm>
            <a:off x="2946400" y="388114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tem</a:t>
            </a:r>
            <a:endParaRPr lang="en-US" sz="1200" dirty="0">
              <a:latin typeface="IBM Plex Sans" charset="0"/>
              <a:ea typeface="IBM Plex Sans" charset="0"/>
              <a:cs typeface="IBM Plex Sans" charset="0"/>
            </a:endParaRPr>
          </a:p>
        </p:txBody>
      </p:sp>
      <p:sp>
        <p:nvSpPr>
          <p:cNvPr id="14" name="Text 8"/>
          <p:cNvSpPr/>
          <p:nvPr/>
        </p:nvSpPr>
        <p:spPr>
          <a:xfrm>
            <a:off x="1892300" y="3093740"/>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0612A"/>
                </a:solidFill>
                <a:latin typeface="IBM Plex Sans" pitchFamily="34" charset="0"/>
                <a:ea typeface="IBM Plex Sans" pitchFamily="34" charset="-122"/>
                <a:cs typeface="IBM Plex Sans" pitchFamily="34" charset="-120"/>
              </a:rPr>
              <a:t>espera</a:t>
            </a:r>
            <a:endParaRPr lang="en-US" sz="1200" dirty="0">
              <a:latin typeface="IBM Plex Sans" charset="0"/>
              <a:ea typeface="IBM Plex Sans" charset="0"/>
              <a:cs typeface="IBM Plex Sans" charset="0"/>
            </a:endParaRPr>
          </a:p>
        </p:txBody>
      </p:sp>
      <p:sp>
        <p:nvSpPr>
          <p:cNvPr id="15" name="Text 9"/>
          <p:cNvSpPr/>
          <p:nvPr/>
        </p:nvSpPr>
        <p:spPr>
          <a:xfrm>
            <a:off x="4254500" y="3093740"/>
            <a:ext cx="13208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D0612A"/>
                </a:solidFill>
                <a:latin typeface="IBM Plex Sans" pitchFamily="34" charset="0"/>
                <a:ea typeface="IBM Plex Sans" pitchFamily="34" charset="-122"/>
                <a:cs typeface="IBM Plex Sans" pitchFamily="34" charset="-120"/>
              </a:rPr>
              <a:t>espera</a:t>
            </a:r>
            <a:endParaRPr lang="en-US" sz="1200" dirty="0">
              <a:latin typeface="IBM Plex Sans" charset="0"/>
              <a:ea typeface="IBM Plex Sans" charset="0"/>
              <a:cs typeface="IBM Plex Sans" charset="0"/>
            </a:endParaRPr>
          </a:p>
        </p:txBody>
      </p:sp>
      <p:sp>
        <p:nvSpPr>
          <p:cNvPr id="16" name="Text 10"/>
          <p:cNvSpPr/>
          <p:nvPr/>
        </p:nvSpPr>
        <p:spPr>
          <a:xfrm>
            <a:off x="7010400" y="1899940"/>
            <a:ext cx="449986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Duas tasks que precisam dos mutexes X </a:t>
            </a:r>
            <a:r>
              <a:rPr lang="en-US" sz="1400" b="1" dirty="0">
                <a:solidFill>
                  <a:srgbClr val="44505C"/>
                </a:solidFill>
                <a:latin typeface="IBM Plex Sans" pitchFamily="34" charset="0"/>
                <a:ea typeface="IBM Plex Sans" pitchFamily="34" charset="-122"/>
                <a:cs typeface="IBM Plex Sans" pitchFamily="34" charset="-120"/>
              </a:rPr>
              <a:t>e</a:t>
            </a:r>
            <a:r>
              <a:rPr lang="en-US" sz="1400" dirty="0">
                <a:solidFill>
                  <a:srgbClr val="44505C"/>
                </a:solidFill>
                <a:latin typeface="IBM Plex Sans" pitchFamily="34" charset="0"/>
                <a:ea typeface="IBM Plex Sans" pitchFamily="34" charset="-122"/>
                <a:cs typeface="IBM Plex Sans" pitchFamily="34" charset="-120"/>
              </a:rPr>
              <a:t> Y:</a:t>
            </a:r>
            <a:endParaRPr lang="en-US" sz="1400" dirty="0">
              <a:latin typeface="IBM Plex Sans" charset="0"/>
              <a:ea typeface="IBM Plex Sans" charset="0"/>
              <a:cs typeface="IBM Plex Sans" charset="0"/>
            </a:endParaRPr>
          </a:p>
        </p:txBody>
      </p:sp>
      <p:sp>
        <p:nvSpPr>
          <p:cNvPr id="17" name="Text 11"/>
          <p:cNvSpPr/>
          <p:nvPr/>
        </p:nvSpPr>
        <p:spPr>
          <a:xfrm>
            <a:off x="7010400" y="226313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p:txBody>
      </p:sp>
      <p:sp>
        <p:nvSpPr>
          <p:cNvPr id="18" name="Text 12"/>
          <p:cNvSpPr/>
          <p:nvPr/>
        </p:nvSpPr>
        <p:spPr>
          <a:xfrm>
            <a:off x="7391400" y="2263130"/>
            <a:ext cx="41074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tira o mutex X.</a:t>
            </a:r>
            <a:endParaRPr lang="en-US" sz="1300" dirty="0">
              <a:latin typeface="IBM Plex Sans" charset="0"/>
              <a:ea typeface="IBM Plex Sans" charset="0"/>
              <a:cs typeface="IBM Plex Sans" charset="0"/>
            </a:endParaRPr>
          </a:p>
        </p:txBody>
      </p:sp>
      <p:sp>
        <p:nvSpPr>
          <p:cNvPr id="19" name="Text 13"/>
          <p:cNvSpPr/>
          <p:nvPr/>
        </p:nvSpPr>
        <p:spPr>
          <a:xfrm>
            <a:off x="7010400" y="265683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p:txBody>
      </p:sp>
      <p:sp>
        <p:nvSpPr>
          <p:cNvPr id="20" name="Text 14"/>
          <p:cNvSpPr/>
          <p:nvPr/>
        </p:nvSpPr>
        <p:spPr>
          <a:xfrm>
            <a:off x="7391400" y="2656830"/>
            <a:ext cx="41074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é preemptada por B.</a:t>
            </a:r>
            <a:endParaRPr lang="en-US" sz="1300" dirty="0">
              <a:latin typeface="IBM Plex Sans" charset="0"/>
              <a:ea typeface="IBM Plex Sans" charset="0"/>
              <a:cs typeface="IBM Plex Sans" charset="0"/>
            </a:endParaRPr>
          </a:p>
        </p:txBody>
      </p:sp>
      <p:sp>
        <p:nvSpPr>
          <p:cNvPr id="21" name="Text 15"/>
          <p:cNvSpPr/>
          <p:nvPr/>
        </p:nvSpPr>
        <p:spPr>
          <a:xfrm>
            <a:off x="7010400" y="305053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p:txBody>
      </p:sp>
      <p:sp>
        <p:nvSpPr>
          <p:cNvPr id="22" name="Text 16"/>
          <p:cNvSpPr/>
          <p:nvPr/>
        </p:nvSpPr>
        <p:spPr>
          <a:xfrm>
            <a:off x="7391400" y="3050530"/>
            <a:ext cx="41074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B tira Y, tenta X: está com A, bloqueia.</a:t>
            </a:r>
            <a:endParaRPr lang="en-US" sz="1300" dirty="0">
              <a:latin typeface="IBM Plex Sans" charset="0"/>
              <a:ea typeface="IBM Plex Sans" charset="0"/>
              <a:cs typeface="IBM Plex Sans" charset="0"/>
            </a:endParaRPr>
          </a:p>
        </p:txBody>
      </p:sp>
      <p:sp>
        <p:nvSpPr>
          <p:cNvPr id="23" name="Text 17"/>
          <p:cNvSpPr/>
          <p:nvPr/>
        </p:nvSpPr>
        <p:spPr>
          <a:xfrm>
            <a:off x="7010400" y="3444230"/>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14222E"/>
          </a:solidFill>
          <a:ln/>
        </p:spPr>
        <p:txBody>
          <a:bodyPr wrap="square" lIns="0" tIns="0" rIns="0" bIns="0" rtlCol="0" anchor="t">
            <a:normAutofit/>
          </a:bodyPr>
          <a:lstStyle/>
          <a:p>
            <a:pPr algn="ctr" indent="0" marL="0">
              <a:lnSpc>
                <a:spcPts val="2196"/>
              </a:lnSpc>
              <a:buNone/>
            </a:pPr>
            <a:r>
              <a:rPr lang="en-US" sz="1200" b="1" dirty="0">
                <a:solidFill>
                  <a:srgbClr val="F5F4EF"/>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p:txBody>
      </p:sp>
      <p:sp>
        <p:nvSpPr>
          <p:cNvPr id="24" name="Text 18"/>
          <p:cNvSpPr/>
          <p:nvPr/>
        </p:nvSpPr>
        <p:spPr>
          <a:xfrm>
            <a:off x="7391400" y="3444230"/>
            <a:ext cx="41074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tenta Y: está com B, bloqueia. Nenhuma avança.</a:t>
            </a:r>
            <a:endParaRPr lang="en-US" sz="1300" dirty="0">
              <a:latin typeface="IBM Plex Sans" charset="0"/>
              <a:ea typeface="IBM Plex Sans" charset="0"/>
              <a:cs typeface="IBM Plex Sans" charset="0"/>
            </a:endParaRPr>
          </a:p>
        </p:txBody>
      </p:sp>
      <p:sp>
        <p:nvSpPr>
          <p:cNvPr id="25" name="Text 19"/>
          <p:cNvSpPr/>
          <p:nvPr/>
        </p:nvSpPr>
        <p:spPr>
          <a:xfrm>
            <a:off x="7010400" y="3837930"/>
            <a:ext cx="4368800" cy="843280"/>
          </a:xfrm>
          <a:prstGeom prst="roundRect">
            <a:avLst>
              <a:gd name="adj" fmla="val 9036"/>
            </a:avLst>
          </a:prstGeom>
          <a:solidFill>
            <a:srgbClr val="E3EFEC"/>
          </a:solidFill>
          <a:ln/>
        </p:spPr>
        <p:txBody>
          <a:bodyPr wrap="square" lIns="104682" tIns="79282" rIns="0"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Evitar em design. Usar um timeout um pouco maior que a espera máxima prevista: falhar passa a ser sintoma de erro de design.</a:t>
            </a:r>
            <a:endParaRPr lang="en-US" sz="1200" dirty="0">
              <a:latin typeface="IBM Plex Sans" charset="0"/>
              <a:ea typeface="IBM Plex Sans" charset="0"/>
              <a:cs typeface="IBM Plex Sans" charset="0"/>
            </a:endParaRPr>
          </a:p>
        </p:txBody>
      </p:sp>
      <p:sp>
        <p:nvSpPr>
          <p:cNvPr id="26" name="Text 20"/>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27" name="Text 2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112</a:t>
            </a:r>
            <a:endParaRPr lang="en-US" sz="1200" dirty="0">
              <a:latin typeface="IBM Plex Sans" charset="0"/>
              <a:ea typeface="IBM Plex Sans" charset="0"/>
              <a:cs typeface="IBM Plex Sans"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Gatekeeper tasks</a:t>
            </a:r>
            <a:endParaRPr lang="en-US" sz="3200" dirty="0">
              <a:latin typeface="IBM Plex Sans" charset="0"/>
              <a:ea typeface="IBM Plex Sans" charset="0"/>
              <a:cs typeface="IBM Plex Sans" charset="0"/>
            </a:endParaRPr>
          </a:p>
        </p:txBody>
      </p:sp>
      <p:sp>
        <p:nvSpPr>
          <p:cNvPr id="4" name="Text 2"/>
          <p:cNvSpPr/>
          <p:nvPr/>
        </p:nvSpPr>
        <p:spPr>
          <a:xfrm>
            <a:off x="812800" y="17729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Uma task é a </a:t>
            </a:r>
            <a:r>
              <a:rPr lang="en-US" sz="1500" b="1" dirty="0">
                <a:solidFill>
                  <a:srgbClr val="44505C"/>
                </a:solidFill>
                <a:latin typeface="IBM Plex Sans" pitchFamily="34" charset="0"/>
                <a:ea typeface="IBM Plex Sans" pitchFamily="34" charset="-122"/>
                <a:cs typeface="IBM Plex Sans" pitchFamily="34" charset="-120"/>
              </a:rPr>
              <a:t>única dona</a:t>
            </a:r>
            <a:r>
              <a:rPr lang="en-US" sz="1500" dirty="0">
                <a:solidFill>
                  <a:srgbClr val="44505C"/>
                </a:solidFill>
                <a:latin typeface="IBM Plex Sans" pitchFamily="34" charset="0"/>
                <a:ea typeface="IBM Plex Sans" pitchFamily="34" charset="-122"/>
                <a:cs typeface="IBM Plex Sans" pitchFamily="34" charset="-120"/>
              </a:rPr>
              <a:t> do recurso; as outras usam-no indiretamente, pedindo-lhe por uma queue. Exclusão mútua sem risco de priority inversion nem de deadlock.</a:t>
            </a:r>
            <a:endParaRPr lang="en-US" sz="1500" dirty="0">
              <a:latin typeface="IBM Plex Sans" charset="0"/>
              <a:ea typeface="IBM Plex Sans" charset="0"/>
              <a:cs typeface="IBM Plex Sans" charset="0"/>
            </a:endParaRPr>
          </a:p>
        </p:txBody>
      </p:sp>
      <p:sp>
        <p:nvSpPr>
          <p:cNvPr id="5" name="Text 3"/>
          <p:cNvSpPr/>
          <p:nvPr/>
        </p:nvSpPr>
        <p:spPr>
          <a:xfrm>
            <a:off x="819150" y="2490490"/>
            <a:ext cx="2146300" cy="518160"/>
          </a:xfrm>
          <a:prstGeom prst="roundRect">
            <a:avLst>
              <a:gd name="adj" fmla="val 18382"/>
            </a:avLst>
          </a:prstGeom>
          <a:solidFill>
            <a:srgbClr val="FCFBF8"/>
          </a:solidFill>
          <a:ln w="12700">
            <a:solidFill>
              <a:srgbClr val="14222E"/>
            </a:solidFill>
            <a:prstDash val="solid"/>
          </a:ln>
        </p:spPr>
        <p:txBody>
          <a:bodyPr wrap="square" lIns="48480" tIns="115612" rIns="48480"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Print task 1</a:t>
            </a:r>
            <a:endParaRPr lang="en-US" sz="1400" dirty="0">
              <a:latin typeface="IBM Plex Sans" charset="0"/>
              <a:ea typeface="IBM Plex Sans" charset="0"/>
              <a:cs typeface="IBM Plex Sans" charset="0"/>
            </a:endParaRPr>
          </a:p>
        </p:txBody>
      </p:sp>
      <p:sp>
        <p:nvSpPr>
          <p:cNvPr id="6" name="Text 4"/>
          <p:cNvSpPr/>
          <p:nvPr/>
        </p:nvSpPr>
        <p:spPr>
          <a:xfrm>
            <a:off x="819150" y="3379490"/>
            <a:ext cx="2146300" cy="518160"/>
          </a:xfrm>
          <a:prstGeom prst="roundRect">
            <a:avLst>
              <a:gd name="adj" fmla="val 18382"/>
            </a:avLst>
          </a:prstGeom>
          <a:solidFill>
            <a:srgbClr val="FCFBF8"/>
          </a:solidFill>
          <a:ln w="12700">
            <a:solidFill>
              <a:srgbClr val="14222E"/>
            </a:solidFill>
            <a:prstDash val="solid"/>
          </a:ln>
        </p:spPr>
        <p:txBody>
          <a:bodyPr wrap="square" lIns="48480" tIns="115612" rIns="48480"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Print task 2</a:t>
            </a:r>
            <a:endParaRPr lang="en-US" sz="1400" dirty="0">
              <a:latin typeface="IBM Plex Sans" charset="0"/>
              <a:ea typeface="IBM Plex Sans" charset="0"/>
              <a:cs typeface="IBM Plex Sans" charset="0"/>
            </a:endParaRPr>
          </a:p>
        </p:txBody>
      </p:sp>
      <p:sp>
        <p:nvSpPr>
          <p:cNvPr id="7" name="Text 5"/>
          <p:cNvSpPr/>
          <p:nvPr/>
        </p:nvSpPr>
        <p:spPr>
          <a:xfrm>
            <a:off x="819150" y="4268490"/>
            <a:ext cx="2146300" cy="518160"/>
          </a:xfrm>
          <a:prstGeom prst="roundRect">
            <a:avLst>
              <a:gd name="adj" fmla="val 18382"/>
            </a:avLst>
          </a:prstGeom>
          <a:solidFill>
            <a:srgbClr val="F1EAF6"/>
          </a:solidFill>
          <a:ln w="12700">
            <a:solidFill>
              <a:srgbClr val="14222E"/>
            </a:solidFill>
            <a:prstDash val="solid"/>
          </a:ln>
        </p:spPr>
        <p:txBody>
          <a:bodyPr wrap="square" lIns="48480" tIns="115612" rIns="48480"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Tick hook (ISR)</a:t>
            </a:r>
            <a:endParaRPr lang="en-US" sz="1400" dirty="0">
              <a:latin typeface="IBM Plex Sans" charset="0"/>
              <a:ea typeface="IBM Plex Sans" charset="0"/>
              <a:cs typeface="IBM Plex Sans" charset="0"/>
            </a:endParaRPr>
          </a:p>
        </p:txBody>
      </p:sp>
      <p:sp>
        <p:nvSpPr>
          <p:cNvPr id="8" name="Shape 6"/>
          <p:cNvSpPr/>
          <p:nvPr/>
        </p:nvSpPr>
        <p:spPr>
          <a:xfrm>
            <a:off x="4756150" y="3379490"/>
            <a:ext cx="2400300" cy="558800"/>
          </a:xfrm>
          <a:prstGeom prst="roundRect">
            <a:avLst>
              <a:gd name="adj" fmla="val 12500"/>
            </a:avLst>
          </a:prstGeom>
          <a:solidFill>
            <a:srgbClr val="E3EFEC"/>
          </a:solidFill>
          <a:ln w="12700">
            <a:solidFill>
              <a:srgbClr val="17766A"/>
            </a:solidFill>
            <a:prstDash val="solid"/>
          </a:ln>
        </p:spPr>
      </p:sp>
      <p:sp>
        <p:nvSpPr>
          <p:cNvPr id="9" name="Text 7"/>
          <p:cNvSpPr/>
          <p:nvPr/>
        </p:nvSpPr>
        <p:spPr>
          <a:xfrm>
            <a:off x="4713605" y="3538240"/>
            <a:ext cx="2485390" cy="25654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7766A"/>
                </a:solidFill>
                <a:latin typeface="IBM Plex Sans" pitchFamily="34" charset="0"/>
                <a:ea typeface="IBM Plex Sans" pitchFamily="34" charset="-122"/>
                <a:cs typeface="IBM Plex Sans" pitchFamily="34" charset="-120"/>
              </a:rPr>
              <a:t>xPrintQueue</a:t>
            </a:r>
            <a:endParaRPr lang="en-US" sz="1300" dirty="0">
              <a:latin typeface="IBM Plex Sans" charset="0"/>
              <a:ea typeface="IBM Plex Sans" charset="0"/>
              <a:cs typeface="IBM Plex Sans" charset="0"/>
            </a:endParaRPr>
          </a:p>
        </p:txBody>
      </p:sp>
      <p:sp>
        <p:nvSpPr>
          <p:cNvPr id="10" name="Text 8"/>
          <p:cNvSpPr/>
          <p:nvPr/>
        </p:nvSpPr>
        <p:spPr>
          <a:xfrm>
            <a:off x="8058150" y="3315990"/>
            <a:ext cx="1892300" cy="518160"/>
          </a:xfrm>
          <a:prstGeom prst="roundRect">
            <a:avLst>
              <a:gd name="adj" fmla="val 18382"/>
            </a:avLst>
          </a:prstGeom>
          <a:solidFill>
            <a:srgbClr val="E3EFEC"/>
          </a:solidFill>
          <a:ln w="12700">
            <a:solidFill>
              <a:srgbClr val="14222E"/>
            </a:solidFill>
            <a:prstDash val="solid"/>
          </a:ln>
        </p:spPr>
        <p:txBody>
          <a:bodyPr wrap="square" lIns="52112" tIns="115612" rIns="52112" bIns="90212" rtlCol="0" anchor="t">
            <a:normAutofit/>
          </a:bodyPr>
          <a:lstStyle/>
          <a:p>
            <a:pPr algn="ctr" indent="0" marL="0">
              <a:lnSpc>
                <a:spcPts val="1820"/>
              </a:lnSpc>
              <a:buNone/>
            </a:pPr>
            <a:r>
              <a:rPr lang="en-US" sz="1400" b="1" dirty="0">
                <a:solidFill>
                  <a:srgbClr val="14222E"/>
                </a:solidFill>
                <a:latin typeface="IBM Plex Sans" pitchFamily="34" charset="0"/>
                <a:ea typeface="IBM Plex Sans" pitchFamily="34" charset="-122"/>
                <a:cs typeface="IBM Plex Sans" pitchFamily="34" charset="-120"/>
              </a:rPr>
              <a:t>Gatekeeper</a:t>
            </a:r>
            <a:endParaRPr lang="en-US" sz="1400" dirty="0">
              <a:latin typeface="IBM Plex Sans" charset="0"/>
              <a:ea typeface="IBM Plex Sans" charset="0"/>
              <a:cs typeface="IBM Plex Sans" charset="0"/>
            </a:endParaRPr>
          </a:p>
        </p:txBody>
      </p:sp>
      <p:sp>
        <p:nvSpPr>
          <p:cNvPr id="11" name="Text 9"/>
          <p:cNvSpPr/>
          <p:nvPr/>
        </p:nvSpPr>
        <p:spPr>
          <a:xfrm>
            <a:off x="10464800" y="3404890"/>
            <a:ext cx="914400" cy="482044"/>
          </a:xfrm>
          <a:custGeom>
            <a:avLst/>
            <a:gdLst/>
            <a:ahLst/>
            <a:cxnLst/>
            <a:rect l="l" t="t" r="r" b="b"/>
            <a:pathLst>
              <a:path w="914400" h="482044">
                <a:moveTo>
                  <a:pt x="76200" y="0"/>
                </a:moveTo>
                <a:lnTo>
                  <a:pt x="838200" y="0"/>
                </a:lnTo>
                <a:arcTo hR="76200" wR="76200" stAng="16200000" swAng="5400000"/>
                <a:lnTo>
                  <a:pt x="914400" y="405844"/>
                </a:lnTo>
                <a:arcTo hR="76200" wR="76200" stAng="0" swAng="5400000"/>
                <a:lnTo>
                  <a:pt x="76200" y="482044"/>
                </a:lnTo>
                <a:arcTo hR="76200" wR="76200" stAng="5400000" swAng="5400000"/>
                <a:lnTo>
                  <a:pt x="0" y="76200"/>
                </a:lnTo>
                <a:arcTo hR="76200" wR="76200" stAng="10800000" swAng="5400000"/>
                <a:close/>
              </a:path>
            </a:pathLst>
          </a:custGeom>
          <a:solidFill>
            <a:srgbClr val="14222E"/>
          </a:solidFill>
          <a:ln/>
        </p:spPr>
        <p:txBody>
          <a:bodyPr wrap="square" lIns="0" tIns="0" rIns="0" bIns="0" rtlCol="0" anchor="t">
            <a:normAutofit/>
          </a:bodyPr>
          <a:lstStyle/>
          <a:p>
            <a:pPr algn="ctr" indent="0" marL="0">
              <a:lnSpc>
                <a:spcPts val="3796"/>
              </a:lnSpc>
              <a:buNone/>
            </a:pPr>
            <a:r>
              <a:rPr lang="en-US" sz="1300" b="1" dirty="0">
                <a:solidFill>
                  <a:srgbClr val="F5F4EF"/>
                </a:solidFill>
                <a:latin typeface="JetBrains Mono" pitchFamily="49" charset="0"/>
                <a:ea typeface="JetBrains Mono" pitchFamily="49" charset="-122"/>
                <a:cs typeface="JetBrains Mono" pitchFamily="49" charset="-120"/>
              </a:rPr>
              <a:t>stdout</a:t>
            </a:r>
            <a:endParaRPr lang="en-US" sz="1300" dirty="0">
              <a:latin typeface="JetBrains Mono" charset="0"/>
              <a:ea typeface="JetBrains Mono" charset="0"/>
              <a:cs typeface="JetBrains Mono" charset="0"/>
            </a:endParaRPr>
          </a:p>
        </p:txBody>
      </p:sp>
      <p:pic>
        <p:nvPicPr>
          <p:cNvPr id="12" name="Image 0" descr="connector">    </p:cNvPr>
          <p:cNvPicPr>
            <a:picLocks noChangeAspect="1"/>
          </p:cNvPicPr>
          <p:nvPr/>
        </p:nvPicPr>
        <p:blipFill>
          <a:blip r:embed="rId1"/>
          <a:srcRect l="0" r="0" t="0" b="0"/>
          <a:stretch/>
        </p:blipFill>
        <p:spPr>
          <a:xfrm>
            <a:off x="2921000" y="2719090"/>
            <a:ext cx="2387600" cy="704850"/>
          </a:xfrm>
          <a:prstGeom prst="rect">
            <a:avLst/>
          </a:prstGeom>
        </p:spPr>
      </p:pic>
      <p:pic>
        <p:nvPicPr>
          <p:cNvPr id="13" name="Image 1" descr="connector">    </p:cNvPr>
          <p:cNvPicPr>
            <a:picLocks noChangeAspect="1"/>
          </p:cNvPicPr>
          <p:nvPr/>
        </p:nvPicPr>
        <p:blipFill>
          <a:blip r:embed="rId2"/>
          <a:srcRect l="0" r="0" t="0" b="0"/>
          <a:stretch/>
        </p:blipFill>
        <p:spPr>
          <a:xfrm>
            <a:off x="2921000" y="3608090"/>
            <a:ext cx="1879600" cy="101600"/>
          </a:xfrm>
          <a:prstGeom prst="rect">
            <a:avLst/>
          </a:prstGeom>
        </p:spPr>
      </p:pic>
      <p:pic>
        <p:nvPicPr>
          <p:cNvPr id="14" name="Image 2" descr="connector">    </p:cNvPr>
          <p:cNvPicPr>
            <a:picLocks noChangeAspect="1"/>
          </p:cNvPicPr>
          <p:nvPr/>
        </p:nvPicPr>
        <p:blipFill>
          <a:blip r:embed="rId3"/>
          <a:srcRect l="0" r="0" t="0" b="0"/>
          <a:stretch/>
        </p:blipFill>
        <p:spPr>
          <a:xfrm>
            <a:off x="2921000" y="3893840"/>
            <a:ext cx="2387600" cy="704850"/>
          </a:xfrm>
          <a:prstGeom prst="rect">
            <a:avLst/>
          </a:prstGeom>
        </p:spPr>
      </p:pic>
      <p:pic>
        <p:nvPicPr>
          <p:cNvPr id="15" name="Image 3" descr="connector">    </p:cNvPr>
          <p:cNvPicPr>
            <a:picLocks noChangeAspect="1"/>
          </p:cNvPicPr>
          <p:nvPr/>
        </p:nvPicPr>
        <p:blipFill>
          <a:blip r:embed="rId4"/>
          <a:srcRect l="0" r="0" t="0" b="0"/>
          <a:stretch/>
        </p:blipFill>
        <p:spPr>
          <a:xfrm>
            <a:off x="7112000" y="3608090"/>
            <a:ext cx="990600" cy="101600"/>
          </a:xfrm>
          <a:prstGeom prst="rect">
            <a:avLst/>
          </a:prstGeom>
        </p:spPr>
      </p:pic>
      <p:pic>
        <p:nvPicPr>
          <p:cNvPr id="16" name="Image 4" descr="connector">    </p:cNvPr>
          <p:cNvPicPr>
            <a:picLocks noChangeAspect="1"/>
          </p:cNvPicPr>
          <p:nvPr/>
        </p:nvPicPr>
        <p:blipFill>
          <a:blip r:embed="rId5"/>
          <a:srcRect l="0" r="0" t="0" b="0"/>
          <a:stretch/>
        </p:blipFill>
        <p:spPr>
          <a:xfrm>
            <a:off x="9906000" y="3608090"/>
            <a:ext cx="609600" cy="101600"/>
          </a:xfrm>
          <a:prstGeom prst="rect">
            <a:avLst/>
          </a:prstGeom>
        </p:spPr>
      </p:pic>
      <p:sp>
        <p:nvSpPr>
          <p:cNvPr id="17" name="Text 10"/>
          <p:cNvSpPr/>
          <p:nvPr/>
        </p:nvSpPr>
        <p:spPr>
          <a:xfrm>
            <a:off x="3225800" y="4611390"/>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…SendToFrontFromISR()</a:t>
            </a:r>
            <a:endParaRPr lang="en-US" sz="1200" dirty="0">
              <a:latin typeface="IBM Plex Sans" charset="0"/>
              <a:ea typeface="IBM Plex Sans" charset="0"/>
              <a:cs typeface="IBM Plex Sans" charset="0"/>
            </a:endParaRPr>
          </a:p>
        </p:txBody>
      </p:sp>
      <p:sp>
        <p:nvSpPr>
          <p:cNvPr id="18" name="Text 11"/>
          <p:cNvSpPr/>
          <p:nvPr/>
        </p:nvSpPr>
        <p:spPr>
          <a:xfrm>
            <a:off x="3225800" y="2484140"/>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xQueueSendToBack()</a:t>
            </a:r>
            <a:endParaRPr lang="en-US" sz="1200" dirty="0">
              <a:latin typeface="IBM Plex Sans" charset="0"/>
              <a:ea typeface="IBM Plex Sans" charset="0"/>
              <a:cs typeface="IBM Plex Sans" charset="0"/>
            </a:endParaRPr>
          </a:p>
        </p:txBody>
      </p:sp>
      <p:sp>
        <p:nvSpPr>
          <p:cNvPr id="19" name="Text 12"/>
          <p:cNvSpPr/>
          <p:nvPr/>
        </p:nvSpPr>
        <p:spPr>
          <a:xfrm>
            <a:off x="812800" y="507494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Passa quase todo o tempo em Blocked. As ISRs também podem enviar para a queue: aqui, um tick hook a cada 200 ticks.</a:t>
            </a:r>
            <a:endParaRPr lang="en-US" sz="1200" dirty="0">
              <a:latin typeface="IBM Plex Sans" charset="0"/>
              <a:ea typeface="IBM Plex Sans" charset="0"/>
              <a:cs typeface="IBM Plex Sans" charset="0"/>
            </a:endParaRPr>
          </a:p>
        </p:txBody>
      </p:sp>
      <p:sp>
        <p:nvSpPr>
          <p:cNvPr id="20" name="Text 13"/>
          <p:cNvSpPr/>
          <p:nvPr/>
        </p:nvSpPr>
        <p:spPr>
          <a:xfrm>
            <a:off x="6159500" y="5074940"/>
            <a:ext cx="5219700" cy="629920"/>
          </a:xfrm>
          <a:prstGeom prst="roundRect">
            <a:avLst>
              <a:gd name="adj" fmla="val 12097"/>
            </a:avLst>
          </a:prstGeom>
          <a:solidFill>
            <a:srgbClr val="FBEFE7"/>
          </a:solidFill>
          <a:ln/>
        </p:spPr>
        <p:txBody>
          <a:bodyPr wrap="square" lIns="104682" tIns="79282" rIns="0"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Prioridade baixa: não atrasa ninguém, mas as mensagens esperam. Alta: o contrário.</a:t>
            </a:r>
            <a:endParaRPr lang="en-US" sz="1200" dirty="0">
              <a:latin typeface="IBM Plex Sans" charset="0"/>
              <a:ea typeface="IBM Plex Sans" charset="0"/>
              <a:cs typeface="IBM Plex Sans" charset="0"/>
            </a:endParaRPr>
          </a:p>
        </p:txBody>
      </p:sp>
      <p:sp>
        <p:nvSpPr>
          <p:cNvPr id="21" name="Text 14"/>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22" name="Text 15"/>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113</a:t>
            </a:r>
            <a:endParaRPr lang="en-US" sz="1200" dirty="0">
              <a:latin typeface="IBM Plex Sans" charset="0"/>
              <a:ea typeface="IBM Plex Sans" charset="0"/>
              <a:cs typeface="IBM Plex Sans"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3" name="Text 1"/>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114</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36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373"/>
            <a:ext cx="10883392" cy="491887"/>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Exemplo: gatekeeper e tick hook</a:t>
            </a:r>
            <a:endParaRPr lang="en-US" sz="3190" dirty="0">
              <a:latin typeface="IBM Plex Sans" charset="0"/>
              <a:ea typeface="IBM Plex Sans" charset="0"/>
              <a:cs typeface="IBM Plex Sans" charset="0"/>
            </a:endParaRPr>
          </a:p>
        </p:txBody>
      </p:sp>
      <p:sp>
        <p:nvSpPr>
          <p:cNvPr id="6" name="Text 4"/>
          <p:cNvSpPr/>
          <p:nvPr/>
        </p:nvSpPr>
        <p:spPr>
          <a:xfrm>
            <a:off x="812800" y="177165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A GATEKEEPER TASK</a:t>
            </a:r>
            <a:endParaRPr lang="en-US" sz="1200" dirty="0">
              <a:latin typeface="IBM Plex Sans" charset="0"/>
              <a:ea typeface="IBM Plex Sans" charset="0"/>
              <a:cs typeface="IBM Plex Sans" charset="0"/>
            </a:endParaRPr>
          </a:p>
        </p:txBody>
      </p:sp>
      <p:sp>
        <p:nvSpPr>
          <p:cNvPr id="7" name="Text 5"/>
          <p:cNvSpPr/>
          <p:nvPr/>
        </p:nvSpPr>
        <p:spPr>
          <a:xfrm>
            <a:off x="812800" y="2061220"/>
            <a:ext cx="5181600" cy="2814320"/>
          </a:xfrm>
          <a:prstGeom prst="roundRect">
            <a:avLst>
              <a:gd name="adj" fmla="val 2708"/>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prvStdioGatekeeperTask(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char *pcMessageToPrint;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xQueueReceive( xPrintQueue, &amp;pcMessageToPrint,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printf( "%s", pcMessageToPrint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fflush( stdout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8" name="Text 6"/>
          <p:cNvSpPr/>
          <p:nvPr/>
        </p:nvSpPr>
        <p:spPr>
          <a:xfrm>
            <a:off x="6197600" y="177165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O tick hook · configUSE_TICK_HOOK = 1</a:t>
            </a:r>
            <a:endParaRPr lang="en-US" sz="1200" dirty="0">
              <a:latin typeface="IBM Plex Sans" charset="0"/>
              <a:ea typeface="IBM Plex Sans" charset="0"/>
              <a:cs typeface="IBM Plex Sans" charset="0"/>
            </a:endParaRPr>
          </a:p>
        </p:txBody>
      </p:sp>
      <p:sp>
        <p:nvSpPr>
          <p:cNvPr id="9" name="Text 7"/>
          <p:cNvSpPr/>
          <p:nvPr/>
        </p:nvSpPr>
        <p:spPr>
          <a:xfrm>
            <a:off x="6197600" y="2061220"/>
            <a:ext cx="5181600" cy="2387600"/>
          </a:xfrm>
          <a:prstGeom prst="roundRect">
            <a:avLst>
              <a:gd name="adj" fmla="val 3191"/>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vApplicationTickHook( void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 int iCount = 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if( ++iCount &gt;= 200 )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xQueueSendToFrontFromISR( xPrintQueue,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&amp;( pcStringsToPrint[ 2 ] ), NULL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iCount = 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0" name="Text 8"/>
          <p:cNvSpPr/>
          <p:nvPr/>
        </p:nvSpPr>
        <p:spPr>
          <a:xfrm>
            <a:off x="812800" y="5054600"/>
            <a:ext cx="10566400" cy="690880"/>
          </a:xfrm>
          <a:prstGeom prst="roundRect">
            <a:avLst>
              <a:gd name="adj" fmla="val 11029"/>
            </a:avLst>
          </a:prstGeom>
          <a:solidFill>
            <a:srgbClr val="E3EFEC"/>
          </a:solidFill>
          <a:ln/>
        </p:spPr>
        <p:txBody>
          <a:bodyPr wrap="square" lIns="130082" tIns="91982" rIns="0" bIns="66582"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O tick hook corre </a:t>
            </a:r>
            <a:r>
              <a:rPr lang="en-US" sz="1300" b="1" dirty="0">
                <a:solidFill>
                  <a:srgbClr val="14222E"/>
                </a:solidFill>
                <a:latin typeface="IBM Plex Sans" pitchFamily="34" charset="0"/>
                <a:ea typeface="IBM Plex Sans" pitchFamily="34" charset="-122"/>
                <a:cs typeface="IBM Plex Sans" pitchFamily="34" charset="-120"/>
              </a:rPr>
              <a:t>dentro do tick interrupt</a:t>
            </a:r>
            <a:r>
              <a:rPr lang="en-US" sz="1300" dirty="0">
                <a:solidFill>
                  <a:srgbClr val="14222E"/>
                </a:solidFill>
                <a:latin typeface="IBM Plex Sans" pitchFamily="34" charset="0"/>
                <a:ea typeface="IBM Plex Sans" pitchFamily="34" charset="-122"/>
                <a:cs typeface="IBM Plex Sans" pitchFamily="34" charset="-120"/>
              </a:rPr>
              <a:t>: muito curto, pouca stack, só API …FromISR(). Como o scheduler corre logo a seguir, pode passar NULL em pxHigherPriorityTaskWoken.</a:t>
            </a:r>
            <a:endParaRPr lang="en-US" sz="1300" dirty="0">
              <a:latin typeface="IBM Plex Sans" charset="0"/>
              <a:ea typeface="IBM Plex Sans" charset="0"/>
              <a:cs typeface="IBM Plex Sans"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GESTÃO DE RECURSOS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Qual usar?</a:t>
            </a:r>
            <a:endParaRPr lang="en-US" sz="3200" dirty="0">
              <a:latin typeface="IBM Plex Sans" charset="0"/>
              <a:ea typeface="IBM Plex Sans" charset="0"/>
              <a:cs typeface="IBM Plex Sans" charset="0"/>
            </a:endParaRPr>
          </a:p>
        </p:txBody>
      </p:sp>
      <p:sp>
        <p:nvSpPr>
          <p:cNvPr id="4" name="Shape 2"/>
          <p:cNvSpPr/>
          <p:nvPr/>
        </p:nvSpPr>
        <p:spPr>
          <a:xfrm>
            <a:off x="812800" y="1854220"/>
            <a:ext cx="10566400" cy="0"/>
          </a:xfrm>
          <a:prstGeom prst="line">
            <a:avLst/>
          </a:prstGeom>
          <a:noFill/>
          <a:ln w="10160">
            <a:solidFill>
              <a:srgbClr val="141413">
                <a:alpha val="22000"/>
              </a:srgbClr>
            </a:solidFill>
            <a:prstDash val="solid"/>
          </a:ln>
        </p:spPr>
      </p:sp>
      <p:sp>
        <p:nvSpPr>
          <p:cNvPr id="5" name="Shape 3"/>
          <p:cNvSpPr/>
          <p:nvPr/>
        </p:nvSpPr>
        <p:spPr>
          <a:xfrm>
            <a:off x="817880" y="1849140"/>
            <a:ext cx="0" cy="17881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922800"/>
          <a:ext cx="10353040" cy="1651000"/>
        </p:xfrm>
        <a:graphic>
          <a:graphicData uri="http://schemas.openxmlformats.org/drawingml/2006/table">
            <a:tbl>
              <a:tblPr/>
              <a:tblGrid>
                <a:gridCol w="2277669"/>
                <a:gridCol w="2691790"/>
                <a:gridCol w="2484730"/>
                <a:gridCol w="2898851"/>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Técnica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Protege 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Indicada para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Custo / risco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Critical section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Tasks e ISRs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Troços muito curtos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Atrasa as interrupções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Scheduler suspenso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Só tasks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Troços mais longos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Retomar pode demorar; sem 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Mutex</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Tasks (nunca em ISRs)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Recurso de várias tasks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Priority inversion, deadlock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Gatekeeper task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Tasks e ISRs (via queue)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Recurso com um só dono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Mais uma task e uma queue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Shape 4"/>
          <p:cNvSpPr/>
          <p:nvPr/>
        </p:nvSpPr>
        <p:spPr>
          <a:xfrm>
            <a:off x="812800" y="3891310"/>
            <a:ext cx="10566400" cy="609600"/>
          </a:xfrm>
          <a:prstGeom prst="roundRect">
            <a:avLst>
              <a:gd name="adj" fmla="val 16667"/>
            </a:avLst>
          </a:prstGeom>
          <a:solidFill>
            <a:srgbClr val="E3EFEC"/>
          </a:solidFill>
          <a:ln/>
        </p:spPr>
      </p:sp>
      <p:pic>
        <p:nvPicPr>
          <p:cNvPr id="8" name="Image 0" descr="Lightbulb">    </p:cNvPr>
          <p:cNvPicPr>
            <a:picLocks noChangeAspect="1"/>
          </p:cNvPicPr>
          <p:nvPr/>
        </p:nvPicPr>
        <p:blipFill>
          <a:blip r:embed="rId1"/>
          <a:srcRect l="0" r="0" t="0" b="0"/>
          <a:stretch/>
        </p:blipFill>
        <p:spPr>
          <a:xfrm>
            <a:off x="1016000" y="4043710"/>
            <a:ext cx="304800" cy="304800"/>
          </a:xfrm>
          <a:prstGeom prst="rect">
            <a:avLst/>
          </a:prstGeom>
        </p:spPr>
      </p:pic>
      <p:sp>
        <p:nvSpPr>
          <p:cNvPr id="9" name="Text 5"/>
          <p:cNvSpPr/>
          <p:nvPr/>
        </p:nvSpPr>
        <p:spPr>
          <a:xfrm>
            <a:off x="1473200" y="4071640"/>
            <a:ext cx="99938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Antes de escolher uma: dá para desenhar o sistema de forma a que o recurso </a:t>
            </a:r>
            <a:r>
              <a:rPr lang="en-US" sz="1400" b="1" dirty="0">
                <a:solidFill>
                  <a:srgbClr val="14222E"/>
                </a:solidFill>
                <a:latin typeface="IBM Plex Sans" pitchFamily="34" charset="0"/>
                <a:ea typeface="IBM Plex Sans" pitchFamily="34" charset="-122"/>
                <a:cs typeface="IBM Plex Sans" pitchFamily="34" charset="-120"/>
              </a:rPr>
              <a:t>não seja partilhado</a:t>
            </a:r>
            <a:r>
              <a:rPr lang="en-US" sz="1400" dirty="0">
                <a:solidFill>
                  <a:srgbClr val="1422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p:txBody>
      </p:sp>
      <p:sp>
        <p:nvSpPr>
          <p:cNvPr id="10" name="Text 6"/>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8</a:t>
            </a:r>
            <a:endParaRPr lang="en-US" sz="1200" dirty="0">
              <a:latin typeface="IBM Plex Sans" charset="0"/>
              <a:ea typeface="IBM Plex Sans" charset="0"/>
              <a:cs typeface="IBM Plex Sans" charset="0"/>
            </a:endParaRPr>
          </a:p>
        </p:txBody>
      </p:sp>
      <p:sp>
        <p:nvSpPr>
          <p:cNvPr id="11" name="Text 7"/>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115</a:t>
            </a:r>
            <a:endParaRPr lang="en-US" sz="1200" dirty="0">
              <a:latin typeface="IBM Plex Sans" charset="0"/>
              <a:ea typeface="IBM Plex Sans" charset="0"/>
              <a:cs typeface="IBM Plex Sans"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6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17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Proteger um recurso partilhado custa sempre alguma coisa. O mais barato é não o partilhar.</a:t>
            </a:r>
            <a:endParaRPr lang="en-US" sz="3200" dirty="0">
              <a:latin typeface="IBM Plex Sans" charset="0"/>
              <a:ea typeface="IBM Plex Sans" charset="0"/>
              <a:cs typeface="IBM Plex Sans" charset="0"/>
            </a:endParaRPr>
          </a:p>
        </p:txBody>
      </p:sp>
      <p:sp>
        <p:nvSpPr>
          <p:cNvPr id="4" name="Text 2"/>
          <p:cNvSpPr/>
          <p:nvPr/>
        </p:nvSpPr>
        <p:spPr>
          <a:xfrm>
            <a:off x="819150" y="2475260"/>
            <a:ext cx="187436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Read-modify-write</a:t>
            </a:r>
            <a:endParaRPr lang="en-US" sz="1400" dirty="0">
              <a:latin typeface="IBM Plex Sans" charset="0"/>
              <a:ea typeface="IBM Plex Sans" charset="0"/>
              <a:cs typeface="IBM Plex Sans" charset="0"/>
            </a:endParaRPr>
          </a:p>
        </p:txBody>
      </p:sp>
      <p:sp>
        <p:nvSpPr>
          <p:cNvPr id="5" name="Text 3"/>
          <p:cNvSpPr/>
          <p:nvPr/>
        </p:nvSpPr>
        <p:spPr>
          <a:xfrm>
            <a:off x="2807811" y="2475260"/>
            <a:ext cx="130865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Reentrância</a:t>
            </a:r>
            <a:endParaRPr lang="en-US" sz="1400" dirty="0">
              <a:latin typeface="IBM Plex Sans" charset="0"/>
              <a:ea typeface="IBM Plex Sans" charset="0"/>
              <a:cs typeface="IBM Plex Sans" charset="0"/>
            </a:endParaRPr>
          </a:p>
        </p:txBody>
      </p:sp>
      <p:sp>
        <p:nvSpPr>
          <p:cNvPr id="6" name="Text 4"/>
          <p:cNvSpPr/>
          <p:nvPr/>
        </p:nvSpPr>
        <p:spPr>
          <a:xfrm>
            <a:off x="4230767" y="2475260"/>
            <a:ext cx="212129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taskENTER_CRITICAL</a:t>
            </a:r>
            <a:endParaRPr lang="en-US" sz="1400" dirty="0">
              <a:latin typeface="IBM Plex Sans" charset="0"/>
              <a:ea typeface="IBM Plex Sans" charset="0"/>
              <a:cs typeface="IBM Plex Sans" charset="0"/>
            </a:endParaRPr>
          </a:p>
        </p:txBody>
      </p:sp>
      <p:sp>
        <p:nvSpPr>
          <p:cNvPr id="7" name="Text 5"/>
          <p:cNvSpPr/>
          <p:nvPr/>
        </p:nvSpPr>
        <p:spPr>
          <a:xfrm>
            <a:off x="6466364" y="2475260"/>
            <a:ext cx="172013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vTaskSuspendAll</a:t>
            </a:r>
            <a:endParaRPr lang="en-US" sz="1400" dirty="0">
              <a:latin typeface="IBM Plex Sans" charset="0"/>
              <a:ea typeface="IBM Plex Sans" charset="0"/>
              <a:cs typeface="IBM Plex Sans" charset="0"/>
            </a:endParaRPr>
          </a:p>
        </p:txBody>
      </p:sp>
      <p:sp>
        <p:nvSpPr>
          <p:cNvPr id="8" name="Text 6"/>
          <p:cNvSpPr/>
          <p:nvPr/>
        </p:nvSpPr>
        <p:spPr>
          <a:xfrm>
            <a:off x="8300800" y="2475260"/>
            <a:ext cx="240871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xSemaphoreCreateMutex</a:t>
            </a:r>
            <a:endParaRPr lang="en-US" sz="1400" dirty="0">
              <a:latin typeface="IBM Plex Sans" charset="0"/>
              <a:ea typeface="IBM Plex Sans" charset="0"/>
              <a:cs typeface="IBM Plex Sans" charset="0"/>
            </a:endParaRPr>
          </a:p>
        </p:txBody>
      </p:sp>
      <p:sp>
        <p:nvSpPr>
          <p:cNvPr id="9" name="Text 7"/>
          <p:cNvSpPr/>
          <p:nvPr/>
        </p:nvSpPr>
        <p:spPr>
          <a:xfrm>
            <a:off x="819150" y="2973090"/>
            <a:ext cx="171902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Priority inversion</a:t>
            </a:r>
            <a:endParaRPr lang="en-US" sz="1400" dirty="0">
              <a:latin typeface="IBM Plex Sans" charset="0"/>
              <a:ea typeface="IBM Plex Sans" charset="0"/>
              <a:cs typeface="IBM Plex Sans" charset="0"/>
            </a:endParaRPr>
          </a:p>
        </p:txBody>
      </p:sp>
      <p:sp>
        <p:nvSpPr>
          <p:cNvPr id="10" name="Text 8"/>
          <p:cNvSpPr/>
          <p:nvPr/>
        </p:nvSpPr>
        <p:spPr>
          <a:xfrm>
            <a:off x="2652474" y="2973090"/>
            <a:ext cx="189984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Priority inheritance</a:t>
            </a:r>
            <a:endParaRPr lang="en-US" sz="1400" dirty="0">
              <a:latin typeface="IBM Plex Sans" charset="0"/>
              <a:ea typeface="IBM Plex Sans" charset="0"/>
              <a:cs typeface="IBM Plex Sans" charset="0"/>
            </a:endParaRPr>
          </a:p>
        </p:txBody>
      </p:sp>
      <p:sp>
        <p:nvSpPr>
          <p:cNvPr id="11" name="Text 9"/>
          <p:cNvSpPr/>
          <p:nvPr/>
        </p:nvSpPr>
        <p:spPr>
          <a:xfrm>
            <a:off x="4666615" y="2973090"/>
            <a:ext cx="108378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Deadlock</a:t>
            </a:r>
            <a:endParaRPr lang="en-US" sz="1400" dirty="0">
              <a:latin typeface="IBM Plex Sans" charset="0"/>
              <a:ea typeface="IBM Plex Sans" charset="0"/>
              <a:cs typeface="IBM Plex Sans" charset="0"/>
            </a:endParaRPr>
          </a:p>
        </p:txBody>
      </p:sp>
      <p:sp>
        <p:nvSpPr>
          <p:cNvPr id="12" name="Text 10"/>
          <p:cNvSpPr/>
          <p:nvPr/>
        </p:nvSpPr>
        <p:spPr>
          <a:xfrm>
            <a:off x="5864701" y="2973090"/>
            <a:ext cx="127254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Gatekeeper</a:t>
            </a:r>
            <a:endParaRPr lang="en-US" sz="1400" dirty="0">
              <a:latin typeface="IBM Plex Sans" charset="0"/>
              <a:ea typeface="IBM Plex Sans" charset="0"/>
              <a:cs typeface="IBM Plex Sans" charset="0"/>
            </a:endParaRPr>
          </a:p>
        </p:txBody>
      </p:sp>
      <p:sp>
        <p:nvSpPr>
          <p:cNvPr id="13" name="Text 11"/>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no Módulo 7: software timers.</a:t>
            </a:r>
            <a:endParaRPr lang="en-US" sz="1600" dirty="0">
              <a:latin typeface="IBM Plex Sans" charset="0"/>
              <a:ea typeface="IBM Plex Sans" charset="0"/>
              <a:cs typeface="IBM Plex Sans" charset="0"/>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7</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4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Software timers</a:t>
            </a:r>
            <a:endParaRPr lang="en-US" sz="6000" dirty="0">
              <a:latin typeface="IBM Plex Sans" charset="0"/>
              <a:ea typeface="IBM Plex Sans" charset="0"/>
              <a:cs typeface="IBM Plex Sans" charset="0"/>
            </a:endParaRPr>
          </a:p>
        </p:txBody>
      </p:sp>
      <p:sp>
        <p:nvSpPr>
          <p:cNvPr id="4" name="Text 2"/>
          <p:cNvSpPr/>
          <p:nvPr/>
        </p:nvSpPr>
        <p:spPr>
          <a:xfrm>
            <a:off x="812800" y="2128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Gestão do tempo: executar funções no futuro ou periodicamente</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697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 QUE SÃO</a:t>
            </a:r>
            <a:endParaRPr lang="en-US" sz="1200" dirty="0">
              <a:latin typeface="IBM Plex Sans" charset="0"/>
              <a:ea typeface="IBM Plex Sans" charset="0"/>
              <a:cs typeface="IBM Plex Sans" charset="0"/>
            </a:endParaRPr>
          </a:p>
        </p:txBody>
      </p:sp>
      <p:sp>
        <p:nvSpPr>
          <p:cNvPr id="7" name="Text 5"/>
          <p:cNvSpPr/>
          <p:nvPr/>
        </p:nvSpPr>
        <p:spPr>
          <a:xfrm>
            <a:off x="812800" y="515114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Callbacks, one-shot e auto-reload, estados Dormant e Running</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COMO FUNCIONAM</a:t>
            </a:r>
            <a:endParaRPr lang="en-US" sz="1200" dirty="0">
              <a:latin typeface="IBM Plex Sans" charset="0"/>
              <a:ea typeface="IBM Plex Sans" charset="0"/>
              <a:cs typeface="IBM Plex Sans" charset="0"/>
            </a:endParaRPr>
          </a:p>
        </p:txBody>
      </p:sp>
      <p:sp>
        <p:nvSpPr>
          <p:cNvPr id="10" name="Text 8"/>
          <p:cNvSpPr/>
          <p:nvPr/>
        </p:nvSpPr>
        <p:spPr>
          <a:xfrm>
            <a:off x="4402614"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Daemon task e timer command queue</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69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A API</a:t>
            </a:r>
            <a:endParaRPr lang="en-US" sz="1200" dirty="0">
              <a:latin typeface="IBM Plex Sans" charset="0"/>
              <a:ea typeface="IBM Plex Sans" charset="0"/>
              <a:cs typeface="IBM Plex Sans" charset="0"/>
            </a:endParaRPr>
          </a:p>
        </p:txBody>
      </p:sp>
      <p:sp>
        <p:nvSpPr>
          <p:cNvPr id="13" name="Text 11"/>
          <p:cNvSpPr/>
          <p:nvPr/>
        </p:nvSpPr>
        <p:spPr>
          <a:xfrm>
            <a:off x="7992507"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Criar, iniciar, timer ID, mudar o período, reset</a:t>
            </a:r>
            <a:endParaRPr lang="en-US" sz="1200" dirty="0">
              <a:latin typeface="IBM Plex Sans" charset="0"/>
              <a:ea typeface="IBM Plex Sans" charset="0"/>
              <a:cs typeface="IBM Plex Sans" charset="0"/>
            </a:endParaRPr>
          </a:p>
        </p:txBody>
      </p:sp>
      <p:sp>
        <p:nvSpPr>
          <p:cNvPr id="14" name="Text 12"/>
          <p:cNvSpPr/>
          <p:nvPr/>
        </p:nvSpPr>
        <p:spPr>
          <a:xfrm>
            <a:off x="812800" y="583183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 6</a:t>
            </a:r>
            <a:endParaRPr lang="en-US" sz="1200" dirty="0">
              <a:latin typeface="IBM Plex Sans" charset="0"/>
              <a:ea typeface="IBM Plex Sans" charset="0"/>
              <a:cs typeface="IBM Plex Sans"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 que é um software timer</a:t>
            </a:r>
            <a:endParaRPr lang="en-US" sz="3200" dirty="0">
              <a:latin typeface="IBM Plex Sans" charset="0"/>
              <a:ea typeface="IBM Plex Sans" charset="0"/>
              <a:cs typeface="IBM Plex Sans" charset="0"/>
            </a:endParaRPr>
          </a:p>
        </p:txBody>
      </p:sp>
      <p:sp>
        <p:nvSpPr>
          <p:cNvPr id="4" name="Text 2"/>
          <p:cNvSpPr/>
          <p:nvPr/>
        </p:nvSpPr>
        <p:spPr>
          <a:xfrm>
            <a:off x="812800" y="1899940"/>
            <a:ext cx="418592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Agenda a execução de uma função, a </a:t>
            </a:r>
            <a:r>
              <a:rPr lang="en-US" sz="1500" b="1" dirty="0">
                <a:solidFill>
                  <a:srgbClr val="44505C"/>
                </a:solidFill>
                <a:latin typeface="IBM Plex Sans" pitchFamily="34" charset="0"/>
                <a:ea typeface="IBM Plex Sans" pitchFamily="34" charset="-122"/>
                <a:cs typeface="IBM Plex Sans" pitchFamily="34" charset="-120"/>
              </a:rPr>
              <a:t>callback</a:t>
            </a:r>
            <a:r>
              <a:rPr lang="en-US" sz="1500" dirty="0">
                <a:solidFill>
                  <a:srgbClr val="44505C"/>
                </a:solidFill>
                <a:latin typeface="IBM Plex Sans" pitchFamily="34" charset="0"/>
                <a:ea typeface="IBM Plex Sans" pitchFamily="34" charset="-122"/>
                <a:cs typeface="IBM Plex Sans" pitchFamily="34" charset="-120"/>
              </a:rPr>
              <a:t>, para um momento no futuro ou periodicamente.</a:t>
            </a:r>
            <a:endParaRPr lang="en-US" sz="1500" dirty="0">
              <a:latin typeface="IBM Plex Sans" charset="0"/>
              <a:ea typeface="IBM Plex Sans" charset="0"/>
              <a:cs typeface="IBM Plex Sans" charset="0"/>
            </a:endParaRPr>
          </a:p>
        </p:txBody>
      </p:sp>
      <p:sp>
        <p:nvSpPr>
          <p:cNvPr id="5" name="Text 3"/>
          <p:cNvSpPr/>
          <p:nvPr/>
        </p:nvSpPr>
        <p:spPr>
          <a:xfrm>
            <a:off x="812800" y="285244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É implementado e controlado pelo kernel: </a:t>
            </a:r>
            <a:r>
              <a:rPr lang="en-US" sz="1500" b="1" dirty="0">
                <a:solidFill>
                  <a:srgbClr val="44505C"/>
                </a:solidFill>
                <a:latin typeface="IBM Plex Sans" pitchFamily="34" charset="0"/>
                <a:ea typeface="IBM Plex Sans" pitchFamily="34" charset="-122"/>
                <a:cs typeface="IBM Plex Sans" pitchFamily="34" charset="-120"/>
              </a:rPr>
              <a:t>não usa</a:t>
            </a:r>
            <a:r>
              <a:rPr lang="en-US" sz="1500" dirty="0">
                <a:solidFill>
                  <a:srgbClr val="44505C"/>
                </a:solidFill>
                <a:latin typeface="IBM Plex Sans" pitchFamily="34" charset="0"/>
                <a:ea typeface="IBM Plex Sans" pitchFamily="34" charset="-122"/>
                <a:cs typeface="IBM Plex Sans" pitchFamily="34" charset="-120"/>
              </a:rPr>
              <a:t> hardware timers nem contadores.</a:t>
            </a:r>
            <a:endParaRPr lang="en-US" sz="1500" dirty="0">
              <a:latin typeface="IBM Plex Sans" charset="0"/>
              <a:ea typeface="IBM Plex Sans" charset="0"/>
              <a:cs typeface="IBM Plex Sans" charset="0"/>
            </a:endParaRPr>
          </a:p>
        </p:txBody>
      </p:sp>
      <p:sp>
        <p:nvSpPr>
          <p:cNvPr id="6" name="Text 4"/>
          <p:cNvSpPr/>
          <p:nvPr/>
        </p:nvSpPr>
        <p:spPr>
          <a:xfrm>
            <a:off x="812800" y="3538240"/>
            <a:ext cx="418592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Não gasta tempo de processamento, exceto enquanto uma callback está a executar.</a:t>
            </a:r>
            <a:endParaRPr lang="en-US" sz="1500" dirty="0">
              <a:latin typeface="IBM Plex Sans" charset="0"/>
              <a:ea typeface="IBM Plex Sans" charset="0"/>
              <a:cs typeface="IBM Plex Sans" charset="0"/>
            </a:endParaRPr>
          </a:p>
        </p:txBody>
      </p:sp>
      <p:sp>
        <p:nvSpPr>
          <p:cNvPr id="7" name="Text 5"/>
          <p:cNvSpPr/>
          <p:nvPr/>
        </p:nvSpPr>
        <p:spPr>
          <a:xfrm>
            <a:off x="5181600" y="1899940"/>
            <a:ext cx="638352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PARA ATIVAR: COMPILAR TIMERS.C E DEFINIR</a:t>
            </a:r>
            <a:endParaRPr lang="en-US" sz="1200" dirty="0">
              <a:latin typeface="IBM Plex Sans" charset="0"/>
              <a:ea typeface="IBM Plex Sans" charset="0"/>
              <a:cs typeface="IBM Plex Sans" charset="0"/>
            </a:endParaRPr>
          </a:p>
        </p:txBody>
      </p:sp>
      <p:sp>
        <p:nvSpPr>
          <p:cNvPr id="8" name="Shape 6"/>
          <p:cNvSpPr/>
          <p:nvPr/>
        </p:nvSpPr>
        <p:spPr>
          <a:xfrm>
            <a:off x="5181600" y="2219990"/>
            <a:ext cx="6197600" cy="0"/>
          </a:xfrm>
          <a:prstGeom prst="line">
            <a:avLst/>
          </a:prstGeom>
          <a:noFill/>
          <a:ln w="10160">
            <a:solidFill>
              <a:srgbClr val="141413">
                <a:alpha val="22000"/>
              </a:srgbClr>
            </a:solidFill>
            <a:prstDash val="solid"/>
          </a:ln>
        </p:spPr>
      </p:sp>
      <p:sp>
        <p:nvSpPr>
          <p:cNvPr id="9" name="Shape 7"/>
          <p:cNvSpPr/>
          <p:nvPr/>
        </p:nvSpPr>
        <p:spPr>
          <a:xfrm>
            <a:off x="5186680" y="2214910"/>
            <a:ext cx="0" cy="1884680"/>
          </a:xfrm>
          <a:prstGeom prst="line">
            <a:avLst/>
          </a:prstGeom>
          <a:noFill/>
          <a:ln w="10160">
            <a:solidFill>
              <a:srgbClr val="141413">
                <a:alpha val="22000"/>
              </a:srgbClr>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293360" y="2288570"/>
          <a:ext cx="5984240" cy="1747520"/>
        </p:xfrm>
        <a:graphic>
          <a:graphicData uri="http://schemas.openxmlformats.org/drawingml/2006/table">
            <a:tbl>
              <a:tblPr/>
              <a:tblGrid>
                <a:gridCol w="2752750"/>
                <a:gridCol w="3231490"/>
              </a:tblGrid>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configUSE_TIMERS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1 para incluir os software timers.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configTIMER_TASK_PRIORITY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Prioridade da daemon task (0 a configMAX_PRIORITIES − 1).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configTIMER_QUEUE_LENGTH</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Máximo de comandos por processar na timer command queue.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configTIMER_TASK_STACK_DEPTH</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Stack da daemon task, em words.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1" name="Text 8"/>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12" name="Text 9"/>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118</a:t>
            </a:r>
            <a:endParaRPr lang="en-US" sz="1200" dirty="0">
              <a:latin typeface="IBM Plex Sans" charset="0"/>
              <a:ea typeface="IBM Plex Sans" charset="0"/>
              <a:cs typeface="IBM Plex Sans"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callback</a:t>
            </a:r>
            <a:endParaRPr lang="en-US" sz="3200" dirty="0">
              <a:latin typeface="IBM Plex Sans" charset="0"/>
              <a:ea typeface="IBM Plex Sans" charset="0"/>
              <a:cs typeface="IBM Plex Sans" charset="0"/>
            </a:endParaRPr>
          </a:p>
        </p:txBody>
      </p:sp>
      <p:sp>
        <p:nvSpPr>
          <p:cNvPr id="4" name="Text 2"/>
          <p:cNvSpPr/>
          <p:nvPr/>
        </p:nvSpPr>
        <p:spPr>
          <a:xfrm>
            <a:off x="812800" y="1899940"/>
            <a:ext cx="5207000" cy="518160"/>
          </a:xfrm>
          <a:prstGeom prst="roundRect">
            <a:avLst>
              <a:gd name="adj" fmla="val 14706"/>
            </a:avLst>
          </a:prstGeom>
          <a:solidFill>
            <a:srgbClr val="14222E"/>
          </a:solidFill>
          <a:ln/>
        </p:spPr>
        <p:txBody>
          <a:bodyPr wrap="none" lIns="155482" tIns="130082" rIns="994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ATimerCallback( TimerHandle_t xTimer );</a:t>
            </a:r>
            <a:endParaRPr lang="en-US" sz="1200" dirty="0">
              <a:latin typeface="JetBrains Mono" charset="0"/>
              <a:ea typeface="JetBrains Mono" charset="0"/>
              <a:cs typeface="JetBrains Mono" charset="0"/>
            </a:endParaRPr>
          </a:p>
        </p:txBody>
      </p:sp>
      <p:sp>
        <p:nvSpPr>
          <p:cNvPr id="5" name="Text 3"/>
          <p:cNvSpPr/>
          <p:nvPr/>
        </p:nvSpPr>
        <p:spPr>
          <a:xfrm>
            <a:off x="812800" y="2545110"/>
            <a:ext cx="536321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Uma função C normal: devolve void e recebe o handle do timer que expirou. Executa do início ao fim e sai.</a:t>
            </a:r>
            <a:endParaRPr lang="en-US" sz="1400" dirty="0">
              <a:latin typeface="IBM Plex Sans" charset="0"/>
              <a:ea typeface="IBM Plex Sans" charset="0"/>
              <a:cs typeface="IBM Plex Sans" charset="0"/>
            </a:endParaRPr>
          </a:p>
        </p:txBody>
      </p:sp>
      <p:sp>
        <p:nvSpPr>
          <p:cNvPr id="6" name="Text 4"/>
          <p:cNvSpPr/>
          <p:nvPr/>
        </p:nvSpPr>
        <p:spPr>
          <a:xfrm>
            <a:off x="812800" y="3169940"/>
            <a:ext cx="536321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C"/>
                </a:solidFill>
                <a:latin typeface="IBM Plex Sans" pitchFamily="34" charset="0"/>
                <a:ea typeface="IBM Plex Sans" pitchFamily="34" charset="-122"/>
                <a:cs typeface="IBM Plex Sans" pitchFamily="34" charset="-120"/>
              </a:rPr>
              <a:t>Deve ser </a:t>
            </a:r>
            <a:r>
              <a:rPr lang="en-US" sz="1400" b="1" dirty="0">
                <a:solidFill>
                  <a:srgbClr val="44505C"/>
                </a:solidFill>
                <a:latin typeface="IBM Plex Sans" pitchFamily="34" charset="0"/>
                <a:ea typeface="IBM Plex Sans" pitchFamily="34" charset="-122"/>
                <a:cs typeface="IBM Plex Sans" pitchFamily="34" charset="-120"/>
              </a:rPr>
              <a:t>curta</a:t>
            </a:r>
            <a:r>
              <a:rPr lang="en-US" sz="1400" dirty="0">
                <a:solidFill>
                  <a:srgbClr val="44505C"/>
                </a:solidFill>
                <a:latin typeface="IBM Plex Sans" pitchFamily="34" charset="0"/>
                <a:ea typeface="IBM Plex Sans" pitchFamily="34" charset="-122"/>
                <a:cs typeface="IBM Plex Sans" pitchFamily="34" charset="-120"/>
              </a:rPr>
              <a:t> e </a:t>
            </a:r>
            <a:r>
              <a:rPr lang="en-US" sz="1400" b="1" dirty="0">
                <a:solidFill>
                  <a:srgbClr val="44505C"/>
                </a:solidFill>
                <a:latin typeface="IBM Plex Sans" pitchFamily="34" charset="0"/>
                <a:ea typeface="IBM Plex Sans" pitchFamily="34" charset="-122"/>
                <a:cs typeface="IBM Plex Sans" pitchFamily="34" charset="-120"/>
              </a:rPr>
              <a:t>nunca</a:t>
            </a:r>
            <a:r>
              <a:rPr lang="en-US" sz="1400" dirty="0">
                <a:solidFill>
                  <a:srgbClr val="44505C"/>
                </a:solidFill>
                <a:latin typeface="IBM Plex Sans" pitchFamily="34" charset="0"/>
                <a:ea typeface="IBM Plex Sans" pitchFamily="34" charset="-122"/>
                <a:cs typeface="IBM Plex Sans" pitchFamily="34" charset="-120"/>
              </a:rPr>
              <a:t> pode entrar em Blocked.</a:t>
            </a:r>
            <a:endParaRPr lang="en-US" sz="1400" dirty="0">
              <a:latin typeface="IBM Plex Sans" charset="0"/>
              <a:ea typeface="IBM Plex Sans" charset="0"/>
              <a:cs typeface="IBM Plex Sans" charset="0"/>
            </a:endParaRPr>
          </a:p>
        </p:txBody>
      </p:sp>
      <p:sp>
        <p:nvSpPr>
          <p:cNvPr id="7" name="Text 5"/>
          <p:cNvSpPr/>
          <p:nvPr/>
        </p:nvSpPr>
        <p:spPr>
          <a:xfrm>
            <a:off x="6324600" y="1899940"/>
            <a:ext cx="5054600" cy="716280"/>
          </a:xfrm>
          <a:custGeom>
            <a:avLst/>
            <a:gdLst/>
            <a:ahLst/>
            <a:cxnLst/>
            <a:rect l="l" t="t" r="r" b="b"/>
            <a:pathLst>
              <a:path w="5054600" h="716280">
                <a:moveTo>
                  <a:pt x="0" y="0"/>
                </a:moveTo>
                <a:lnTo>
                  <a:pt x="4978400" y="0"/>
                </a:lnTo>
                <a:arcTo hR="76200" wR="76200" stAng="16200000" swAng="5400000"/>
                <a:lnTo>
                  <a:pt x="5054600" y="640080"/>
                </a:lnTo>
                <a:arcTo hR="76200" wR="76200" stAng="0" swAng="5400000"/>
                <a:lnTo>
                  <a:pt x="0" y="716280"/>
                </a:lnTo>
                <a:lnTo>
                  <a:pt x="0" y="0"/>
                </a:lnTo>
                <a:close/>
              </a:path>
            </a:pathLst>
          </a:custGeom>
          <a:solidFill>
            <a:srgbClr val="FBEFE7"/>
          </a:solidFill>
          <a:ln/>
        </p:spPr>
        <p:txBody>
          <a:bodyPr wrap="square" lIns="187960" tIns="127000" rIns="10973" bIns="101600" rtlCol="0" anchor="t">
            <a:normAutofit/>
          </a:bodyPr>
          <a:lstStyle/>
          <a:p>
            <a:pPr algn="l" indent="0" marL="0">
              <a:lnSpc>
                <a:spcPts val="1820"/>
              </a:lnSpc>
              <a:buNone/>
            </a:pPr>
            <a:r>
              <a:rPr lang="en-US" sz="1300" dirty="0">
                <a:solidFill>
                  <a:srgbClr val="14222E"/>
                </a:solidFill>
                <a:latin typeface="IBM Plex Sans" pitchFamily="34" charset="0"/>
                <a:ea typeface="IBM Plex Sans" pitchFamily="34" charset="-122"/>
                <a:cs typeface="IBM Plex Sans" pitchFamily="34" charset="-120"/>
              </a:rPr>
              <a:t>Todas as callbacks correm no contexto da </a:t>
            </a:r>
            <a:r>
              <a:rPr lang="en-US" sz="1300" b="1" dirty="0">
                <a:solidFill>
                  <a:srgbClr val="14222E"/>
                </a:solidFill>
                <a:latin typeface="IBM Plex Sans" pitchFamily="34" charset="0"/>
                <a:ea typeface="IBM Plex Sans" pitchFamily="34" charset="-122"/>
                <a:cs typeface="IBM Plex Sans" pitchFamily="34" charset="-120"/>
              </a:rPr>
              <a:t>daemon task</a:t>
            </a:r>
            <a:r>
              <a:rPr lang="en-US" sz="1300" dirty="0">
                <a:solidFill>
                  <a:srgbClr val="14222E"/>
                </a:solidFill>
                <a:latin typeface="IBM Plex Sans" pitchFamily="34" charset="0"/>
                <a:ea typeface="IBM Plex Sans" pitchFamily="34" charset="-122"/>
                <a:cs typeface="IBM Plex Sans" pitchFamily="34" charset="-120"/>
              </a:rPr>
              <a:t>. Se uma bloquear, bloqueia a daemon task e todos os timers.</a:t>
            </a:r>
            <a:endParaRPr lang="en-US" sz="1300" dirty="0">
              <a:latin typeface="IBM Plex Sans" charset="0"/>
              <a:ea typeface="IBM Plex Sans" charset="0"/>
              <a:cs typeface="IBM Plex Sans" charset="0"/>
            </a:endParaRPr>
          </a:p>
        </p:txBody>
      </p:sp>
      <p:sp>
        <p:nvSpPr>
          <p:cNvPr id="8" name="Shape 6"/>
          <p:cNvSpPr/>
          <p:nvPr/>
        </p:nvSpPr>
        <p:spPr>
          <a:xfrm>
            <a:off x="6324600" y="1899940"/>
            <a:ext cx="5054600" cy="716280"/>
          </a:xfrm>
          <a:custGeom>
            <a:avLst/>
            <a:gdLst/>
            <a:ahLst/>
            <a:cxnLst/>
            <a:rect l="l" t="t" r="r" b="b"/>
            <a:pathLst>
              <a:path w="5054600" h="716280">
                <a:moveTo>
                  <a:pt x="38100" y="716280"/>
                </a:moveTo>
                <a:lnTo>
                  <a:pt x="0" y="716280"/>
                </a:lnTo>
                <a:lnTo>
                  <a:pt x="0" y="0"/>
                </a:lnTo>
                <a:lnTo>
                  <a:pt x="38100" y="0"/>
                </a:lnTo>
                <a:lnTo>
                  <a:pt x="38100" y="716280"/>
                </a:lnTo>
                <a:close/>
              </a:path>
            </a:pathLst>
          </a:custGeom>
          <a:solidFill>
            <a:srgbClr val="D0612A"/>
          </a:solidFill>
          <a:ln/>
        </p:spPr>
      </p:sp>
      <p:sp>
        <p:nvSpPr>
          <p:cNvPr id="9" name="Shape 7"/>
          <p:cNvSpPr/>
          <p:nvPr/>
        </p:nvSpPr>
        <p:spPr>
          <a:xfrm>
            <a:off x="6327775" y="2746375"/>
            <a:ext cx="5048250" cy="786130"/>
          </a:xfrm>
          <a:prstGeom prst="roundRect">
            <a:avLst>
              <a:gd name="adj" fmla="val 12520"/>
            </a:avLst>
          </a:prstGeom>
          <a:solidFill>
            <a:srgbClr val="FCFBF8"/>
          </a:solidFill>
          <a:ln w="6350">
            <a:solidFill>
              <a:srgbClr val="DCDAD2"/>
            </a:solidFill>
            <a:prstDash val="solid"/>
          </a:ln>
        </p:spPr>
      </p:sp>
      <p:sp>
        <p:nvSpPr>
          <p:cNvPr id="10" name="Text 8"/>
          <p:cNvSpPr/>
          <p:nvPr/>
        </p:nvSpPr>
        <p:spPr>
          <a:xfrm>
            <a:off x="6482080" y="2900710"/>
            <a:ext cx="488182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Pode</a:t>
            </a:r>
            <a:endParaRPr lang="en-US" sz="1400" dirty="0">
              <a:latin typeface="IBM Plex Sans" charset="0"/>
              <a:ea typeface="IBM Plex Sans" charset="0"/>
              <a:cs typeface="IBM Plex Sans" charset="0"/>
            </a:endParaRPr>
          </a:p>
        </p:txBody>
      </p:sp>
      <p:sp>
        <p:nvSpPr>
          <p:cNvPr id="11" name="Text 9"/>
          <p:cNvSpPr/>
          <p:nvPr/>
        </p:nvSpPr>
        <p:spPr>
          <a:xfrm>
            <a:off x="6482080" y="3164830"/>
            <a:ext cx="48818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xQueueReceive() com xTicksToWait = 0.</a:t>
            </a:r>
            <a:endParaRPr lang="en-US" sz="1200" dirty="0">
              <a:latin typeface="IBM Plex Sans" charset="0"/>
              <a:ea typeface="IBM Plex Sans" charset="0"/>
              <a:cs typeface="IBM Plex Sans" charset="0"/>
            </a:endParaRPr>
          </a:p>
        </p:txBody>
      </p:sp>
      <p:sp>
        <p:nvSpPr>
          <p:cNvPr id="12" name="Shape 10"/>
          <p:cNvSpPr/>
          <p:nvPr/>
        </p:nvSpPr>
        <p:spPr>
          <a:xfrm>
            <a:off x="6327775" y="3665885"/>
            <a:ext cx="5048250" cy="786130"/>
          </a:xfrm>
          <a:prstGeom prst="roundRect">
            <a:avLst>
              <a:gd name="adj" fmla="val 12520"/>
            </a:avLst>
          </a:prstGeom>
          <a:solidFill>
            <a:srgbClr val="FCFBF8"/>
          </a:solidFill>
          <a:ln w="6350">
            <a:solidFill>
              <a:srgbClr val="DCDAD2"/>
            </a:solidFill>
            <a:prstDash val="solid"/>
          </a:ln>
        </p:spPr>
      </p:sp>
      <p:sp>
        <p:nvSpPr>
          <p:cNvPr id="13" name="Text 11"/>
          <p:cNvSpPr/>
          <p:nvPr/>
        </p:nvSpPr>
        <p:spPr>
          <a:xfrm>
            <a:off x="6482080" y="3820170"/>
            <a:ext cx="488182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Não pode</a:t>
            </a:r>
            <a:endParaRPr lang="en-US" sz="1400" dirty="0">
              <a:latin typeface="IBM Plex Sans" charset="0"/>
              <a:ea typeface="IBM Plex Sans" charset="0"/>
              <a:cs typeface="IBM Plex Sans" charset="0"/>
            </a:endParaRPr>
          </a:p>
        </p:txBody>
      </p:sp>
      <p:sp>
        <p:nvSpPr>
          <p:cNvPr id="14" name="Text 12"/>
          <p:cNvSpPr/>
          <p:nvPr/>
        </p:nvSpPr>
        <p:spPr>
          <a:xfrm>
            <a:off x="6482080" y="4084340"/>
            <a:ext cx="48818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vTaskDelay(), ou qualquer chamada que ponha a task em Blocked.</a:t>
            </a:r>
            <a:endParaRPr lang="en-US" sz="1200" dirty="0">
              <a:latin typeface="IBM Plex Sans" charset="0"/>
              <a:ea typeface="IBM Plex Sans" charset="0"/>
              <a:cs typeface="IBM Plex Sans" charset="0"/>
            </a:endParaRPr>
          </a:p>
        </p:txBody>
      </p:sp>
      <p:sp>
        <p:nvSpPr>
          <p:cNvPr id="15" name="Text 13"/>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16" name="Text 14"/>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119</a:t>
            </a:r>
            <a:endParaRPr lang="en-US" sz="1200" dirty="0">
              <a:latin typeface="IBM Plex Sans" charset="0"/>
              <a:ea typeface="IBM Plex Sans" charset="0"/>
              <a:cs typeface="IBM Plex Sans"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One-shot e auto-reload</a:t>
            </a:r>
            <a:endParaRPr lang="en-US" sz="3200" dirty="0">
              <a:latin typeface="IBM Plex Sans" charset="0"/>
              <a:ea typeface="IBM Plex Sans" charset="0"/>
              <a:cs typeface="IBM Plex Sans" charset="0"/>
            </a:endParaRPr>
          </a:p>
        </p:txBody>
      </p:sp>
      <p:sp>
        <p:nvSpPr>
          <p:cNvPr id="4" name="Shape 2"/>
          <p:cNvSpPr/>
          <p:nvPr/>
        </p:nvSpPr>
        <p:spPr>
          <a:xfrm>
            <a:off x="815975" y="1776115"/>
            <a:ext cx="5175250" cy="1098550"/>
          </a:xfrm>
          <a:prstGeom prst="roundRect">
            <a:avLst>
              <a:gd name="adj" fmla="val 8960"/>
            </a:avLst>
          </a:prstGeom>
          <a:solidFill>
            <a:srgbClr val="FCFBF8"/>
          </a:solidFill>
          <a:ln w="6350">
            <a:solidFill>
              <a:srgbClr val="DCDAD2"/>
            </a:solidFill>
            <a:prstDash val="solid"/>
          </a:ln>
        </p:spPr>
      </p:sp>
      <p:sp>
        <p:nvSpPr>
          <p:cNvPr id="5" name="Text 3"/>
          <p:cNvSpPr/>
          <p:nvPr/>
        </p:nvSpPr>
        <p:spPr>
          <a:xfrm>
            <a:off x="995680" y="1955800"/>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ONE-SHOT</a:t>
            </a:r>
            <a:endParaRPr lang="en-US" sz="1200" dirty="0">
              <a:latin typeface="IBM Plex Sans" charset="0"/>
              <a:ea typeface="IBM Plex Sans" charset="0"/>
              <a:cs typeface="IBM Plex Sans" charset="0"/>
            </a:endParaRPr>
          </a:p>
        </p:txBody>
      </p:sp>
      <p:sp>
        <p:nvSpPr>
          <p:cNvPr id="6" name="Text 4"/>
          <p:cNvSpPr/>
          <p:nvPr/>
        </p:nvSpPr>
        <p:spPr>
          <a:xfrm>
            <a:off x="995680" y="2232670"/>
            <a:ext cx="49603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Depois de iniciado, executa a callback </a:t>
            </a:r>
            <a:r>
              <a:rPr lang="en-US" sz="1300" b="1" dirty="0">
                <a:solidFill>
                  <a:srgbClr val="44505C"/>
                </a:solidFill>
                <a:latin typeface="IBM Plex Sans" pitchFamily="34" charset="0"/>
                <a:ea typeface="IBM Plex Sans" pitchFamily="34" charset="-122"/>
                <a:cs typeface="IBM Plex Sans" pitchFamily="34" charset="-120"/>
              </a:rPr>
              <a:t>uma só vez</a:t>
            </a:r>
            <a:r>
              <a:rPr lang="en-US" sz="1300" dirty="0">
                <a:solidFill>
                  <a:srgbClr val="44505C"/>
                </a:solidFill>
                <a:latin typeface="IBM Plex Sans" pitchFamily="34" charset="0"/>
                <a:ea typeface="IBM Plex Sans" pitchFamily="34" charset="-122"/>
                <a:cs typeface="IBM Plex Sans" pitchFamily="34" charset="-120"/>
              </a:rPr>
              <a:t>. Pode ser reiniciado à mão, mas não se reinicia sozinho.</a:t>
            </a:r>
            <a:endParaRPr lang="en-US" sz="1300" dirty="0">
              <a:latin typeface="IBM Plex Sans" charset="0"/>
              <a:ea typeface="IBM Plex Sans" charset="0"/>
              <a:cs typeface="IBM Plex Sans" charset="0"/>
            </a:endParaRPr>
          </a:p>
        </p:txBody>
      </p:sp>
      <p:sp>
        <p:nvSpPr>
          <p:cNvPr id="7" name="Shape 5"/>
          <p:cNvSpPr/>
          <p:nvPr/>
        </p:nvSpPr>
        <p:spPr>
          <a:xfrm>
            <a:off x="6200775" y="1776115"/>
            <a:ext cx="5175250" cy="1098550"/>
          </a:xfrm>
          <a:prstGeom prst="roundRect">
            <a:avLst>
              <a:gd name="adj" fmla="val 8960"/>
            </a:avLst>
          </a:prstGeom>
          <a:solidFill>
            <a:srgbClr val="FCFBF8"/>
          </a:solidFill>
          <a:ln w="6350">
            <a:solidFill>
              <a:srgbClr val="DCDAD2"/>
            </a:solidFill>
            <a:prstDash val="solid"/>
          </a:ln>
        </p:spPr>
      </p:sp>
      <p:sp>
        <p:nvSpPr>
          <p:cNvPr id="8" name="Text 6"/>
          <p:cNvSpPr/>
          <p:nvPr/>
        </p:nvSpPr>
        <p:spPr>
          <a:xfrm>
            <a:off x="6380480" y="1955800"/>
            <a:ext cx="496031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0"/>
                </a:solidFill>
                <a:latin typeface="IBM Plex Sans" pitchFamily="34" charset="0"/>
                <a:ea typeface="IBM Plex Sans" pitchFamily="34" charset="-122"/>
                <a:cs typeface="IBM Plex Sans" pitchFamily="34" charset="-120"/>
              </a:rPr>
              <a:t>AUTO-RELOAD</a:t>
            </a:r>
            <a:endParaRPr lang="en-US" sz="1200" dirty="0">
              <a:latin typeface="IBM Plex Sans" charset="0"/>
              <a:ea typeface="IBM Plex Sans" charset="0"/>
              <a:cs typeface="IBM Plex Sans" charset="0"/>
            </a:endParaRPr>
          </a:p>
        </p:txBody>
      </p:sp>
      <p:sp>
        <p:nvSpPr>
          <p:cNvPr id="9" name="Text 7"/>
          <p:cNvSpPr/>
          <p:nvPr/>
        </p:nvSpPr>
        <p:spPr>
          <a:xfrm>
            <a:off x="6380480" y="2232670"/>
            <a:ext cx="496031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Reinicia-se sozinho sempre que expira: a callback executa </a:t>
            </a:r>
            <a:r>
              <a:rPr lang="en-US" sz="1300" b="1" dirty="0">
                <a:solidFill>
                  <a:srgbClr val="44505C"/>
                </a:solidFill>
                <a:latin typeface="IBM Plex Sans" pitchFamily="34" charset="0"/>
                <a:ea typeface="IBM Plex Sans" pitchFamily="34" charset="-122"/>
                <a:cs typeface="IBM Plex Sans" pitchFamily="34" charset="-120"/>
              </a:rPr>
              <a:t>periodicamente</a:t>
            </a:r>
            <a:r>
              <a:rPr lang="en-US" sz="1300" dirty="0">
                <a:solidFill>
                  <a:srgbClr val="44505C"/>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p:txBody>
      </p:sp>
      <p:pic>
        <p:nvPicPr>
          <p:cNvPr id="10" name="Image 0" descr="Linha temporal em ticks com os disparos de cada timer.">    </p:cNvPr>
          <p:cNvPicPr>
            <a:picLocks noChangeAspect="1"/>
          </p:cNvPicPr>
          <p:nvPr/>
        </p:nvPicPr>
        <p:blipFill>
          <a:blip r:embed="rId1"/>
          <a:srcRect l="-56" r="-56" t="0" b="0"/>
          <a:stretch/>
        </p:blipFill>
        <p:spPr>
          <a:xfrm>
            <a:off x="812800" y="3055640"/>
            <a:ext cx="10566400" cy="1778000"/>
          </a:xfrm>
          <a:prstGeom prst="rect">
            <a:avLst/>
          </a:prstGeom>
        </p:spPr>
      </p:pic>
      <p:sp>
        <p:nvSpPr>
          <p:cNvPr id="11" name="Text 8"/>
          <p:cNvSpPr/>
          <p:nvPr/>
        </p:nvSpPr>
        <p:spPr>
          <a:xfrm>
            <a:off x="812800" y="322709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D0612A"/>
                </a:solidFill>
                <a:latin typeface="IBM Plex Sans" pitchFamily="34" charset="0"/>
                <a:ea typeface="IBM Plex Sans" pitchFamily="34" charset="-122"/>
                <a:cs typeface="IBM Plex Sans" pitchFamily="34" charset="-120"/>
              </a:rPr>
              <a:t>Timer 1: one-shot, 6</a:t>
            </a:r>
            <a:endParaRPr lang="en-US" sz="1200" dirty="0">
              <a:latin typeface="IBM Plex Sans" charset="0"/>
              <a:ea typeface="IBM Plex Sans" charset="0"/>
              <a:cs typeface="IBM Plex Sans" charset="0"/>
            </a:endParaRPr>
          </a:p>
        </p:txBody>
      </p:sp>
      <p:sp>
        <p:nvSpPr>
          <p:cNvPr id="12" name="Text 9"/>
          <p:cNvSpPr/>
          <p:nvPr/>
        </p:nvSpPr>
        <p:spPr>
          <a:xfrm>
            <a:off x="812800" y="392559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2F6FD0"/>
                </a:solidFill>
                <a:latin typeface="IBM Plex Sans" pitchFamily="34" charset="0"/>
                <a:ea typeface="IBM Plex Sans" pitchFamily="34" charset="-122"/>
                <a:cs typeface="IBM Plex Sans" pitchFamily="34" charset="-120"/>
              </a:rPr>
              <a:t>Timer 2: auto-reload, 5</a:t>
            </a:r>
            <a:endParaRPr lang="en-US" sz="1200" dirty="0">
              <a:latin typeface="IBM Plex Sans" charset="0"/>
              <a:ea typeface="IBM Plex Sans" charset="0"/>
              <a:cs typeface="IBM Plex Sans" charset="0"/>
            </a:endParaRPr>
          </a:p>
        </p:txBody>
      </p:sp>
      <p:sp>
        <p:nvSpPr>
          <p:cNvPr id="13" name="Text 10"/>
          <p:cNvSpPr/>
          <p:nvPr/>
        </p:nvSpPr>
        <p:spPr>
          <a:xfrm>
            <a:off x="31750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14" name="Text 11"/>
          <p:cNvSpPr/>
          <p:nvPr/>
        </p:nvSpPr>
        <p:spPr>
          <a:xfrm>
            <a:off x="36576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p:txBody>
      </p:sp>
      <p:sp>
        <p:nvSpPr>
          <p:cNvPr id="15" name="Text 12"/>
          <p:cNvSpPr/>
          <p:nvPr/>
        </p:nvSpPr>
        <p:spPr>
          <a:xfrm>
            <a:off x="41465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p:txBody>
      </p:sp>
      <p:sp>
        <p:nvSpPr>
          <p:cNvPr id="16" name="Text 13"/>
          <p:cNvSpPr/>
          <p:nvPr/>
        </p:nvSpPr>
        <p:spPr>
          <a:xfrm>
            <a:off x="46291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t4</a:t>
            </a:r>
            <a:endParaRPr lang="en-US" sz="1200" dirty="0">
              <a:latin typeface="IBM Plex Sans" charset="0"/>
              <a:ea typeface="IBM Plex Sans" charset="0"/>
              <a:cs typeface="IBM Plex Sans" charset="0"/>
            </a:endParaRPr>
          </a:p>
        </p:txBody>
      </p:sp>
      <p:sp>
        <p:nvSpPr>
          <p:cNvPr id="17" name="Text 14"/>
          <p:cNvSpPr/>
          <p:nvPr/>
        </p:nvSpPr>
        <p:spPr>
          <a:xfrm>
            <a:off x="51181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t5</a:t>
            </a:r>
            <a:endParaRPr lang="en-US" sz="1200" dirty="0">
              <a:latin typeface="IBM Plex Sans" charset="0"/>
              <a:ea typeface="IBM Plex Sans" charset="0"/>
              <a:cs typeface="IBM Plex Sans" charset="0"/>
            </a:endParaRPr>
          </a:p>
        </p:txBody>
      </p:sp>
      <p:sp>
        <p:nvSpPr>
          <p:cNvPr id="18" name="Text 15"/>
          <p:cNvSpPr/>
          <p:nvPr/>
        </p:nvSpPr>
        <p:spPr>
          <a:xfrm>
            <a:off x="56007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t6</a:t>
            </a:r>
            <a:endParaRPr lang="en-US" sz="1200" dirty="0">
              <a:latin typeface="IBM Plex Sans" charset="0"/>
              <a:ea typeface="IBM Plex Sans" charset="0"/>
              <a:cs typeface="IBM Plex Sans" charset="0"/>
            </a:endParaRPr>
          </a:p>
        </p:txBody>
      </p:sp>
      <p:sp>
        <p:nvSpPr>
          <p:cNvPr id="19" name="Text 16"/>
          <p:cNvSpPr/>
          <p:nvPr/>
        </p:nvSpPr>
        <p:spPr>
          <a:xfrm>
            <a:off x="60896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t7</a:t>
            </a:r>
            <a:endParaRPr lang="en-US" sz="1200" dirty="0">
              <a:latin typeface="IBM Plex Sans" charset="0"/>
              <a:ea typeface="IBM Plex Sans" charset="0"/>
              <a:cs typeface="IBM Plex Sans" charset="0"/>
            </a:endParaRPr>
          </a:p>
        </p:txBody>
      </p:sp>
      <p:sp>
        <p:nvSpPr>
          <p:cNvPr id="20" name="Text 17"/>
          <p:cNvSpPr/>
          <p:nvPr/>
        </p:nvSpPr>
        <p:spPr>
          <a:xfrm>
            <a:off x="65722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t8</a:t>
            </a:r>
            <a:endParaRPr lang="en-US" sz="1200" dirty="0">
              <a:latin typeface="IBM Plex Sans" charset="0"/>
              <a:ea typeface="IBM Plex Sans" charset="0"/>
              <a:cs typeface="IBM Plex Sans" charset="0"/>
            </a:endParaRPr>
          </a:p>
        </p:txBody>
      </p:sp>
      <p:sp>
        <p:nvSpPr>
          <p:cNvPr id="21" name="Text 18"/>
          <p:cNvSpPr/>
          <p:nvPr/>
        </p:nvSpPr>
        <p:spPr>
          <a:xfrm>
            <a:off x="70612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t9</a:t>
            </a:r>
            <a:endParaRPr lang="en-US" sz="1200" dirty="0">
              <a:latin typeface="IBM Plex Sans" charset="0"/>
              <a:ea typeface="IBM Plex Sans" charset="0"/>
              <a:cs typeface="IBM Plex Sans" charset="0"/>
            </a:endParaRPr>
          </a:p>
        </p:txBody>
      </p:sp>
      <p:sp>
        <p:nvSpPr>
          <p:cNvPr id="22" name="Text 19"/>
          <p:cNvSpPr/>
          <p:nvPr/>
        </p:nvSpPr>
        <p:spPr>
          <a:xfrm>
            <a:off x="75438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t10</a:t>
            </a:r>
            <a:endParaRPr lang="en-US" sz="1200" dirty="0">
              <a:latin typeface="IBM Plex Sans" charset="0"/>
              <a:ea typeface="IBM Plex Sans" charset="0"/>
              <a:cs typeface="IBM Plex Sans" charset="0"/>
            </a:endParaRPr>
          </a:p>
        </p:txBody>
      </p:sp>
      <p:sp>
        <p:nvSpPr>
          <p:cNvPr id="23" name="Text 20"/>
          <p:cNvSpPr/>
          <p:nvPr/>
        </p:nvSpPr>
        <p:spPr>
          <a:xfrm>
            <a:off x="80327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t11</a:t>
            </a:r>
            <a:endParaRPr lang="en-US" sz="1200" dirty="0">
              <a:latin typeface="IBM Plex Sans" charset="0"/>
              <a:ea typeface="IBM Plex Sans" charset="0"/>
              <a:cs typeface="IBM Plex Sans" charset="0"/>
            </a:endParaRPr>
          </a:p>
        </p:txBody>
      </p:sp>
      <p:sp>
        <p:nvSpPr>
          <p:cNvPr id="24" name="Text 21"/>
          <p:cNvSpPr/>
          <p:nvPr/>
        </p:nvSpPr>
        <p:spPr>
          <a:xfrm>
            <a:off x="85153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t12</a:t>
            </a:r>
            <a:endParaRPr lang="en-US" sz="1200" dirty="0">
              <a:latin typeface="IBM Plex Sans" charset="0"/>
              <a:ea typeface="IBM Plex Sans" charset="0"/>
              <a:cs typeface="IBM Plex Sans" charset="0"/>
            </a:endParaRPr>
          </a:p>
        </p:txBody>
      </p:sp>
      <p:sp>
        <p:nvSpPr>
          <p:cNvPr id="25" name="Text 22"/>
          <p:cNvSpPr/>
          <p:nvPr/>
        </p:nvSpPr>
        <p:spPr>
          <a:xfrm>
            <a:off x="90043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t13</a:t>
            </a:r>
            <a:endParaRPr lang="en-US" sz="1200" dirty="0">
              <a:latin typeface="IBM Plex Sans" charset="0"/>
              <a:ea typeface="IBM Plex Sans" charset="0"/>
              <a:cs typeface="IBM Plex Sans" charset="0"/>
            </a:endParaRPr>
          </a:p>
        </p:txBody>
      </p:sp>
      <p:sp>
        <p:nvSpPr>
          <p:cNvPr id="26" name="Text 23"/>
          <p:cNvSpPr/>
          <p:nvPr/>
        </p:nvSpPr>
        <p:spPr>
          <a:xfrm>
            <a:off x="948690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t14</a:t>
            </a:r>
            <a:endParaRPr lang="en-US" sz="1200" dirty="0">
              <a:latin typeface="IBM Plex Sans" charset="0"/>
              <a:ea typeface="IBM Plex Sans" charset="0"/>
              <a:cs typeface="IBM Plex Sans" charset="0"/>
            </a:endParaRPr>
          </a:p>
        </p:txBody>
      </p:sp>
      <p:sp>
        <p:nvSpPr>
          <p:cNvPr id="27" name="Text 24"/>
          <p:cNvSpPr/>
          <p:nvPr/>
        </p:nvSpPr>
        <p:spPr>
          <a:xfrm>
            <a:off x="99758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t15</a:t>
            </a:r>
            <a:endParaRPr lang="en-US" sz="1200" dirty="0">
              <a:latin typeface="IBM Plex Sans" charset="0"/>
              <a:ea typeface="IBM Plex Sans" charset="0"/>
              <a:cs typeface="IBM Plex Sans" charset="0"/>
            </a:endParaRPr>
          </a:p>
        </p:txBody>
      </p:sp>
      <p:sp>
        <p:nvSpPr>
          <p:cNvPr id="28" name="Text 25"/>
          <p:cNvSpPr/>
          <p:nvPr/>
        </p:nvSpPr>
        <p:spPr>
          <a:xfrm>
            <a:off x="10458450" y="459234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t16</a:t>
            </a:r>
            <a:endParaRPr lang="en-US" sz="1200" dirty="0">
              <a:latin typeface="IBM Plex Sans" charset="0"/>
              <a:ea typeface="IBM Plex Sans" charset="0"/>
              <a:cs typeface="IBM Plex Sans" charset="0"/>
            </a:endParaRPr>
          </a:p>
        </p:txBody>
      </p:sp>
      <p:sp>
        <p:nvSpPr>
          <p:cNvPr id="29" name="Text 26"/>
          <p:cNvSpPr/>
          <p:nvPr/>
        </p:nvSpPr>
        <p:spPr>
          <a:xfrm>
            <a:off x="812800" y="50114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Triângulo = timer iniciado; quadrado = callback executa. Período = tempo entre o início do timer e a execução da callback.</a:t>
            </a:r>
            <a:endParaRPr lang="en-US" sz="1200" dirty="0">
              <a:latin typeface="IBM Plex Sans" charset="0"/>
              <a:ea typeface="IBM Plex Sans" charset="0"/>
              <a:cs typeface="IBM Plex Sans" charset="0"/>
            </a:endParaRPr>
          </a:p>
        </p:txBody>
      </p:sp>
      <p:sp>
        <p:nvSpPr>
          <p:cNvPr id="30" name="Text 27"/>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31" name="Text 28"/>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120</a:t>
            </a:r>
            <a:endParaRPr lang="en-US" sz="1200" dirty="0">
              <a:latin typeface="IBM Plex Sans" charset="0"/>
              <a:ea typeface="IBM Plex Sans" charset="0"/>
              <a:cs typeface="IBM Plex Sans"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Estados: Dormant e Running</a:t>
            </a:r>
            <a:endParaRPr lang="en-US" sz="3200" dirty="0">
              <a:latin typeface="IBM Plex Sans" charset="0"/>
              <a:ea typeface="IBM Plex Sans" charset="0"/>
              <a:cs typeface="IBM Plex Sans" charset="0"/>
            </a:endParaRPr>
          </a:p>
        </p:txBody>
      </p:sp>
      <p:sp>
        <p:nvSpPr>
          <p:cNvPr id="4" name="Text 2"/>
          <p:cNvSpPr/>
          <p:nvPr/>
        </p:nvSpPr>
        <p:spPr>
          <a:xfrm>
            <a:off x="812800" y="179834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D0"/>
                </a:solidFill>
                <a:latin typeface="IBM Plex Sans" pitchFamily="34" charset="0"/>
                <a:ea typeface="IBM Plex Sans" pitchFamily="34" charset="-122"/>
                <a:cs typeface="IBM Plex Sans" pitchFamily="34" charset="-120"/>
              </a:rPr>
              <a:t>AUTO-RELOAD</a:t>
            </a:r>
            <a:endParaRPr lang="en-US" sz="1200" dirty="0">
              <a:latin typeface="IBM Plex Sans" charset="0"/>
              <a:ea typeface="IBM Plex Sans" charset="0"/>
              <a:cs typeface="IBM Plex Sans" charset="0"/>
            </a:endParaRPr>
          </a:p>
        </p:txBody>
      </p:sp>
      <p:sp>
        <p:nvSpPr>
          <p:cNvPr id="5" name="Text 3"/>
          <p:cNvSpPr/>
          <p:nvPr/>
        </p:nvSpPr>
        <p:spPr>
          <a:xfrm>
            <a:off x="819150" y="3046760"/>
            <a:ext cx="1511300" cy="617220"/>
          </a:xfrm>
          <a:custGeom>
            <a:avLst/>
            <a:gdLst/>
            <a:ahLst/>
            <a:cxnLst/>
            <a:rect l="l" t="t" r="r" b="b"/>
            <a:pathLst>
              <a:path w="1511300" h="617220">
                <a:moveTo>
                  <a:pt x="107950" y="0"/>
                </a:moveTo>
                <a:lnTo>
                  <a:pt x="1403350" y="0"/>
                </a:lnTo>
                <a:arcTo hR="107950" wR="107950" stAng="16200000" swAng="5400000"/>
                <a:lnTo>
                  <a:pt x="1511300" y="509270"/>
                </a:lnTo>
                <a:arcTo hR="107950" wR="107950" stAng="0" swAng="5400000"/>
                <a:lnTo>
                  <a:pt x="107950" y="617220"/>
                </a:lnTo>
                <a:arcTo hR="107950" wR="107950" stAng="5400000" swAng="5400000"/>
                <a:lnTo>
                  <a:pt x="0" y="107950"/>
                </a:lnTo>
                <a:arcTo hR="107950" wR="107950" stAng="10800000" swAng="5400000"/>
                <a:close/>
              </a:path>
            </a:pathLst>
          </a:custGeom>
          <a:solidFill>
            <a:srgbClr val="FCFBF8"/>
          </a:solidFill>
          <a:ln w="12700">
            <a:solidFill>
              <a:srgbClr val="14222E"/>
            </a:solidFill>
            <a:prstDash val="solid"/>
          </a:ln>
        </p:spPr>
        <p:txBody>
          <a:bodyPr wrap="square" lIns="0" tIns="3810" rIns="0" bIns="0" rtlCol="0" anchor="t">
            <a:normAutofit/>
          </a:bodyPr>
          <a:lstStyle/>
          <a:p>
            <a:pPr algn="ctr" indent="0" marL="0">
              <a:lnSpc>
                <a:spcPts val="4800"/>
              </a:lnSpc>
              <a:buNone/>
            </a:pPr>
            <a:r>
              <a:rPr lang="en-US" sz="1500" b="1" dirty="0">
                <a:solidFill>
                  <a:srgbClr val="14222E"/>
                </a:solidFill>
                <a:latin typeface="IBM Plex Sans" pitchFamily="34" charset="0"/>
                <a:ea typeface="IBM Plex Sans" pitchFamily="34" charset="-122"/>
                <a:cs typeface="IBM Plex Sans" pitchFamily="34" charset="-120"/>
              </a:rPr>
              <a:t>Dormant</a:t>
            </a:r>
            <a:endParaRPr lang="en-US" sz="1500" dirty="0">
              <a:latin typeface="IBM Plex Sans" charset="0"/>
              <a:ea typeface="IBM Plex Sans" charset="0"/>
              <a:cs typeface="IBM Plex Sans" charset="0"/>
            </a:endParaRPr>
          </a:p>
        </p:txBody>
      </p:sp>
      <p:sp>
        <p:nvSpPr>
          <p:cNvPr id="6" name="Text 4"/>
          <p:cNvSpPr/>
          <p:nvPr/>
        </p:nvSpPr>
        <p:spPr>
          <a:xfrm>
            <a:off x="4127500" y="3053110"/>
            <a:ext cx="1498600" cy="610235"/>
          </a:xfrm>
          <a:custGeom>
            <a:avLst/>
            <a:gdLst/>
            <a:ahLst/>
            <a:cxnLst/>
            <a:rect l="l" t="t" r="r" b="b"/>
            <a:pathLst>
              <a:path w="1498600" h="610235">
                <a:moveTo>
                  <a:pt x="101600" y="0"/>
                </a:moveTo>
                <a:lnTo>
                  <a:pt x="1397000" y="0"/>
                </a:lnTo>
                <a:arcTo hR="101600" wR="101600" stAng="16200000" swAng="5400000"/>
                <a:lnTo>
                  <a:pt x="1498600" y="508635"/>
                </a:lnTo>
                <a:arcTo hR="101600" wR="101600" stAng="0" swAng="5400000"/>
                <a:lnTo>
                  <a:pt x="101600" y="610235"/>
                </a:lnTo>
                <a:arcTo hR="101600" wR="101600" stAng="5400000" swAng="5400000"/>
                <a:lnTo>
                  <a:pt x="0" y="101600"/>
                </a:lnTo>
                <a:arcTo hR="101600" wR="101600" stAng="10800000" swAng="5400000"/>
                <a:close/>
              </a:path>
            </a:pathLst>
          </a:custGeom>
          <a:solidFill>
            <a:srgbClr val="FCFBF8"/>
          </a:solidFill>
          <a:ln w="25400">
            <a:solidFill>
              <a:srgbClr val="14222E"/>
            </a:solidFill>
            <a:prstDash val="solid"/>
          </a:ln>
        </p:spPr>
        <p:txBody>
          <a:bodyPr wrap="square" lIns="0" tIns="12700" rIns="0" bIns="0" rtlCol="0" anchor="t">
            <a:normAutofit/>
          </a:bodyPr>
          <a:lstStyle/>
          <a:p>
            <a:pPr algn="ctr" indent="0" marL="0">
              <a:lnSpc>
                <a:spcPts val="4605"/>
              </a:lnSpc>
              <a:buNone/>
            </a:pPr>
            <a:r>
              <a:rPr lang="en-US" sz="1500" b="1" dirty="0">
                <a:solidFill>
                  <a:srgbClr val="14222E"/>
                </a:solidFill>
                <a:latin typeface="IBM Plex Sans" pitchFamily="34" charset="0"/>
                <a:ea typeface="IBM Plex Sans" pitchFamily="34" charset="-122"/>
                <a:cs typeface="IBM Plex Sans" pitchFamily="34" charset="-120"/>
              </a:rPr>
              <a:t>Running</a:t>
            </a:r>
            <a:endParaRPr lang="en-US" sz="1500" dirty="0">
              <a:latin typeface="IBM Plex Sans" charset="0"/>
              <a:ea typeface="IBM Plex Sans" charset="0"/>
              <a:cs typeface="IBM Plex Sans" charset="0"/>
            </a:endParaRPr>
          </a:p>
        </p:txBody>
      </p:sp>
      <p:pic>
        <p:nvPicPr>
          <p:cNvPr id="7" name="Image 0" descr="connector">    </p:cNvPr>
          <p:cNvPicPr>
            <a:picLocks noChangeAspect="1"/>
          </p:cNvPicPr>
          <p:nvPr/>
        </p:nvPicPr>
        <p:blipFill>
          <a:blip r:embed="rId1"/>
          <a:srcRect l="0" r="0" t="0" b="0"/>
          <a:stretch/>
        </p:blipFill>
        <p:spPr>
          <a:xfrm>
            <a:off x="2286000" y="3148360"/>
            <a:ext cx="1879600" cy="101600"/>
          </a:xfrm>
          <a:prstGeom prst="rect">
            <a:avLst/>
          </a:prstGeom>
        </p:spPr>
      </p:pic>
      <p:pic>
        <p:nvPicPr>
          <p:cNvPr id="8" name="Image 1" descr="connector">    </p:cNvPr>
          <p:cNvPicPr>
            <a:picLocks noChangeAspect="1"/>
          </p:cNvPicPr>
          <p:nvPr/>
        </p:nvPicPr>
        <p:blipFill>
          <a:blip r:embed="rId2"/>
          <a:srcRect l="0" r="0" t="0" b="0"/>
          <a:stretch/>
        </p:blipFill>
        <p:spPr>
          <a:xfrm>
            <a:off x="2286000" y="3465860"/>
            <a:ext cx="1879600" cy="101600"/>
          </a:xfrm>
          <a:prstGeom prst="rect">
            <a:avLst/>
          </a:prstGeom>
        </p:spPr>
      </p:pic>
      <p:sp>
        <p:nvSpPr>
          <p:cNvPr id="9" name="Text 5"/>
          <p:cNvSpPr/>
          <p:nvPr/>
        </p:nvSpPr>
        <p:spPr>
          <a:xfrm>
            <a:off x="2342832" y="2341910"/>
            <a:ext cx="1765935" cy="66548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xTimerStart()</a:t>
            </a:r>
            <a:endParaRPr lang="en-US" sz="1200" dirty="0">
              <a:latin typeface="IBM Plex Sans" charset="0"/>
              <a:ea typeface="IBM Plex Sans" charset="0"/>
              <a:cs typeface="IBM Plex Sans" charset="0"/>
            </a:endParaRPr>
          </a:p>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xTimerReset()</a:t>
            </a:r>
            <a:endParaRPr lang="en-US" sz="1200" dirty="0">
              <a:latin typeface="IBM Plex Sans" charset="0"/>
              <a:ea typeface="IBM Plex Sans" charset="0"/>
              <a:cs typeface="IBM Plex Sans" charset="0"/>
            </a:endParaRPr>
          </a:p>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xTimerChangePeriod()</a:t>
            </a:r>
            <a:endParaRPr lang="en-US" sz="1200" dirty="0">
              <a:latin typeface="IBM Plex Sans" charset="0"/>
              <a:ea typeface="IBM Plex Sans" charset="0"/>
              <a:cs typeface="IBM Plex Sans" charset="0"/>
            </a:endParaRPr>
          </a:p>
        </p:txBody>
      </p:sp>
      <p:sp>
        <p:nvSpPr>
          <p:cNvPr id="10" name="Text 6"/>
          <p:cNvSpPr/>
          <p:nvPr/>
        </p:nvSpPr>
        <p:spPr>
          <a:xfrm>
            <a:off x="2374900" y="3592860"/>
            <a:ext cx="170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xTimerStop()</a:t>
            </a:r>
            <a:endParaRPr lang="en-US" sz="1200" dirty="0">
              <a:latin typeface="IBM Plex Sans" charset="0"/>
              <a:ea typeface="IBM Plex Sans" charset="0"/>
              <a:cs typeface="IBM Plex Sans" charset="0"/>
            </a:endParaRPr>
          </a:p>
        </p:txBody>
      </p:sp>
      <p:pic>
        <p:nvPicPr>
          <p:cNvPr id="11" name="Image 2" descr="connector">    </p:cNvPr>
          <p:cNvPicPr>
            <a:picLocks noChangeAspect="1"/>
          </p:cNvPicPr>
          <p:nvPr/>
        </p:nvPicPr>
        <p:blipFill>
          <a:blip r:embed="rId3"/>
          <a:srcRect l="0" r="0" t="0" b="0"/>
          <a:stretch/>
        </p:blipFill>
        <p:spPr>
          <a:xfrm>
            <a:off x="4572000" y="2672110"/>
            <a:ext cx="101600" cy="419100"/>
          </a:xfrm>
          <a:prstGeom prst="rect">
            <a:avLst/>
          </a:prstGeom>
        </p:spPr>
      </p:pic>
      <p:pic>
        <p:nvPicPr>
          <p:cNvPr id="12" name="Image 3" descr="connector">    </p:cNvPr>
          <p:cNvPicPr>
            <a:picLocks noChangeAspect="1"/>
          </p:cNvPicPr>
          <p:nvPr/>
        </p:nvPicPr>
        <p:blipFill>
          <a:blip r:embed="rId4"/>
          <a:srcRect l="0" r="0" t="0" b="0"/>
          <a:stretch/>
        </p:blipFill>
        <p:spPr>
          <a:xfrm>
            <a:off x="4572000" y="2672110"/>
            <a:ext cx="736600" cy="101600"/>
          </a:xfrm>
          <a:prstGeom prst="rect">
            <a:avLst/>
          </a:prstGeom>
        </p:spPr>
      </p:pic>
      <p:pic>
        <p:nvPicPr>
          <p:cNvPr id="13" name="Image 4" descr="connector">    </p:cNvPr>
          <p:cNvPicPr>
            <a:picLocks noChangeAspect="1"/>
          </p:cNvPicPr>
          <p:nvPr/>
        </p:nvPicPr>
        <p:blipFill>
          <a:blip r:embed="rId5"/>
          <a:srcRect l="0" r="0" t="0" b="0"/>
          <a:stretch/>
        </p:blipFill>
        <p:spPr>
          <a:xfrm>
            <a:off x="5207000" y="2672110"/>
            <a:ext cx="101600" cy="419100"/>
          </a:xfrm>
          <a:prstGeom prst="rect">
            <a:avLst/>
          </a:prstGeom>
        </p:spPr>
      </p:pic>
      <p:sp>
        <p:nvSpPr>
          <p:cNvPr id="14" name="Text 7"/>
          <p:cNvSpPr/>
          <p:nvPr/>
        </p:nvSpPr>
        <p:spPr>
          <a:xfrm>
            <a:off x="4216400" y="2405410"/>
            <a:ext cx="1447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expira: callback</a:t>
            </a:r>
            <a:endParaRPr lang="en-US" sz="1200" dirty="0">
              <a:latin typeface="IBM Plex Sans" charset="0"/>
              <a:ea typeface="IBM Plex Sans" charset="0"/>
              <a:cs typeface="IBM Plex Sans" charset="0"/>
            </a:endParaRPr>
          </a:p>
        </p:txBody>
      </p:sp>
      <p:sp>
        <p:nvSpPr>
          <p:cNvPr id="15" name="Text 8"/>
          <p:cNvSpPr/>
          <p:nvPr/>
        </p:nvSpPr>
        <p:spPr>
          <a:xfrm>
            <a:off x="6553200" y="179834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ONE-SHOT</a:t>
            </a:r>
            <a:endParaRPr lang="en-US" sz="1200" dirty="0">
              <a:latin typeface="IBM Plex Sans" charset="0"/>
              <a:ea typeface="IBM Plex Sans" charset="0"/>
              <a:cs typeface="IBM Plex Sans" charset="0"/>
            </a:endParaRPr>
          </a:p>
        </p:txBody>
      </p:sp>
      <p:sp>
        <p:nvSpPr>
          <p:cNvPr id="16" name="Text 9"/>
          <p:cNvSpPr/>
          <p:nvPr/>
        </p:nvSpPr>
        <p:spPr>
          <a:xfrm>
            <a:off x="6559550" y="3046760"/>
            <a:ext cx="1511300" cy="617220"/>
          </a:xfrm>
          <a:custGeom>
            <a:avLst/>
            <a:gdLst/>
            <a:ahLst/>
            <a:cxnLst/>
            <a:rect l="l" t="t" r="r" b="b"/>
            <a:pathLst>
              <a:path w="1511300" h="617220">
                <a:moveTo>
                  <a:pt x="107950" y="0"/>
                </a:moveTo>
                <a:lnTo>
                  <a:pt x="1403350" y="0"/>
                </a:lnTo>
                <a:arcTo hR="107950" wR="107950" stAng="16200000" swAng="5400000"/>
                <a:lnTo>
                  <a:pt x="1511300" y="509270"/>
                </a:lnTo>
                <a:arcTo hR="107950" wR="107950" stAng="0" swAng="5400000"/>
                <a:lnTo>
                  <a:pt x="107950" y="617220"/>
                </a:lnTo>
                <a:arcTo hR="107950" wR="107950" stAng="5400000" swAng="5400000"/>
                <a:lnTo>
                  <a:pt x="0" y="107950"/>
                </a:lnTo>
                <a:arcTo hR="107950" wR="107950" stAng="10800000" swAng="5400000"/>
                <a:close/>
              </a:path>
            </a:pathLst>
          </a:custGeom>
          <a:solidFill>
            <a:srgbClr val="FCFBF8"/>
          </a:solidFill>
          <a:ln w="12700">
            <a:solidFill>
              <a:srgbClr val="14222E"/>
            </a:solidFill>
            <a:prstDash val="solid"/>
          </a:ln>
        </p:spPr>
        <p:txBody>
          <a:bodyPr wrap="square" lIns="0" tIns="3810" rIns="0" bIns="0" rtlCol="0" anchor="t">
            <a:normAutofit/>
          </a:bodyPr>
          <a:lstStyle/>
          <a:p>
            <a:pPr algn="ctr" indent="0" marL="0">
              <a:lnSpc>
                <a:spcPts val="4800"/>
              </a:lnSpc>
              <a:buNone/>
            </a:pPr>
            <a:r>
              <a:rPr lang="en-US" sz="1500" b="1" dirty="0">
                <a:solidFill>
                  <a:srgbClr val="14222E"/>
                </a:solidFill>
                <a:latin typeface="IBM Plex Sans" pitchFamily="34" charset="0"/>
                <a:ea typeface="IBM Plex Sans" pitchFamily="34" charset="-122"/>
                <a:cs typeface="IBM Plex Sans" pitchFamily="34" charset="-120"/>
              </a:rPr>
              <a:t>Dormant</a:t>
            </a:r>
            <a:endParaRPr lang="en-US" sz="1500" dirty="0">
              <a:latin typeface="IBM Plex Sans" charset="0"/>
              <a:ea typeface="IBM Plex Sans" charset="0"/>
              <a:cs typeface="IBM Plex Sans" charset="0"/>
            </a:endParaRPr>
          </a:p>
        </p:txBody>
      </p:sp>
      <p:sp>
        <p:nvSpPr>
          <p:cNvPr id="17" name="Text 10"/>
          <p:cNvSpPr/>
          <p:nvPr/>
        </p:nvSpPr>
        <p:spPr>
          <a:xfrm>
            <a:off x="9867900" y="3053110"/>
            <a:ext cx="1498600" cy="610235"/>
          </a:xfrm>
          <a:custGeom>
            <a:avLst/>
            <a:gdLst/>
            <a:ahLst/>
            <a:cxnLst/>
            <a:rect l="l" t="t" r="r" b="b"/>
            <a:pathLst>
              <a:path w="1498600" h="610235">
                <a:moveTo>
                  <a:pt x="101600" y="0"/>
                </a:moveTo>
                <a:lnTo>
                  <a:pt x="1397000" y="0"/>
                </a:lnTo>
                <a:arcTo hR="101600" wR="101600" stAng="16200000" swAng="5400000"/>
                <a:lnTo>
                  <a:pt x="1498600" y="508635"/>
                </a:lnTo>
                <a:arcTo hR="101600" wR="101600" stAng="0" swAng="5400000"/>
                <a:lnTo>
                  <a:pt x="101600" y="610235"/>
                </a:lnTo>
                <a:arcTo hR="101600" wR="101600" stAng="5400000" swAng="5400000"/>
                <a:lnTo>
                  <a:pt x="0" y="101600"/>
                </a:lnTo>
                <a:arcTo hR="101600" wR="101600" stAng="10800000" swAng="5400000"/>
                <a:close/>
              </a:path>
            </a:pathLst>
          </a:custGeom>
          <a:solidFill>
            <a:srgbClr val="FCFBF8"/>
          </a:solidFill>
          <a:ln w="25400">
            <a:solidFill>
              <a:srgbClr val="14222E"/>
            </a:solidFill>
            <a:prstDash val="solid"/>
          </a:ln>
        </p:spPr>
        <p:txBody>
          <a:bodyPr wrap="square" lIns="0" tIns="12700" rIns="0" bIns="0" rtlCol="0" anchor="t">
            <a:normAutofit/>
          </a:bodyPr>
          <a:lstStyle/>
          <a:p>
            <a:pPr algn="ctr" indent="0" marL="0">
              <a:lnSpc>
                <a:spcPts val="4605"/>
              </a:lnSpc>
              <a:buNone/>
            </a:pPr>
            <a:r>
              <a:rPr lang="en-US" sz="1500" b="1" dirty="0">
                <a:solidFill>
                  <a:srgbClr val="14222E"/>
                </a:solidFill>
                <a:latin typeface="IBM Plex Sans" pitchFamily="34" charset="0"/>
                <a:ea typeface="IBM Plex Sans" pitchFamily="34" charset="-122"/>
                <a:cs typeface="IBM Plex Sans" pitchFamily="34" charset="-120"/>
              </a:rPr>
              <a:t>Running</a:t>
            </a:r>
            <a:endParaRPr lang="en-US" sz="1500" dirty="0">
              <a:latin typeface="IBM Plex Sans" charset="0"/>
              <a:ea typeface="IBM Plex Sans" charset="0"/>
              <a:cs typeface="IBM Plex Sans" charset="0"/>
            </a:endParaRPr>
          </a:p>
        </p:txBody>
      </p:sp>
      <p:pic>
        <p:nvPicPr>
          <p:cNvPr id="18" name="Image 5" descr="connector">    </p:cNvPr>
          <p:cNvPicPr>
            <a:picLocks noChangeAspect="1"/>
          </p:cNvPicPr>
          <p:nvPr/>
        </p:nvPicPr>
        <p:blipFill>
          <a:blip r:embed="rId6"/>
          <a:srcRect l="0" r="0" t="0" b="0"/>
          <a:stretch/>
        </p:blipFill>
        <p:spPr>
          <a:xfrm>
            <a:off x="8026400" y="3148360"/>
            <a:ext cx="1879600" cy="101600"/>
          </a:xfrm>
          <a:prstGeom prst="rect">
            <a:avLst/>
          </a:prstGeom>
        </p:spPr>
      </p:pic>
      <p:pic>
        <p:nvPicPr>
          <p:cNvPr id="19" name="Image 6" descr="connector">    </p:cNvPr>
          <p:cNvPicPr>
            <a:picLocks noChangeAspect="1"/>
          </p:cNvPicPr>
          <p:nvPr/>
        </p:nvPicPr>
        <p:blipFill>
          <a:blip r:embed="rId7"/>
          <a:srcRect l="0" r="0" t="0" b="0"/>
          <a:stretch/>
        </p:blipFill>
        <p:spPr>
          <a:xfrm>
            <a:off x="8026400" y="3465860"/>
            <a:ext cx="1879600" cy="101600"/>
          </a:xfrm>
          <a:prstGeom prst="rect">
            <a:avLst/>
          </a:prstGeom>
        </p:spPr>
      </p:pic>
      <p:sp>
        <p:nvSpPr>
          <p:cNvPr id="20" name="Text 11"/>
          <p:cNvSpPr/>
          <p:nvPr/>
        </p:nvSpPr>
        <p:spPr>
          <a:xfrm>
            <a:off x="8083233" y="2341910"/>
            <a:ext cx="1765935" cy="66548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xTimerStart()</a:t>
            </a:r>
            <a:endParaRPr lang="en-US" sz="1200" dirty="0">
              <a:latin typeface="IBM Plex Sans" charset="0"/>
              <a:ea typeface="IBM Plex Sans" charset="0"/>
              <a:cs typeface="IBM Plex Sans" charset="0"/>
            </a:endParaRPr>
          </a:p>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xTimerReset()</a:t>
            </a:r>
            <a:endParaRPr lang="en-US" sz="1200" dirty="0">
              <a:latin typeface="IBM Plex Sans" charset="0"/>
              <a:ea typeface="IBM Plex Sans" charset="0"/>
              <a:cs typeface="IBM Plex Sans" charset="0"/>
            </a:endParaRPr>
          </a:p>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xTimerChangePeriod()</a:t>
            </a:r>
            <a:endParaRPr lang="en-US" sz="1200" dirty="0">
              <a:latin typeface="IBM Plex Sans" charset="0"/>
              <a:ea typeface="IBM Plex Sans" charset="0"/>
              <a:cs typeface="IBM Plex Sans" charset="0"/>
            </a:endParaRPr>
          </a:p>
        </p:txBody>
      </p:sp>
      <p:sp>
        <p:nvSpPr>
          <p:cNvPr id="21" name="Text 12"/>
          <p:cNvSpPr/>
          <p:nvPr/>
        </p:nvSpPr>
        <p:spPr>
          <a:xfrm>
            <a:off x="8115300" y="3592860"/>
            <a:ext cx="170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xTimerStop()</a:t>
            </a:r>
            <a:endParaRPr lang="en-US" sz="1200" dirty="0">
              <a:latin typeface="IBM Plex Sans" charset="0"/>
              <a:ea typeface="IBM Plex Sans" charset="0"/>
              <a:cs typeface="IBM Plex Sans" charset="0"/>
            </a:endParaRPr>
          </a:p>
        </p:txBody>
      </p:sp>
      <p:pic>
        <p:nvPicPr>
          <p:cNvPr id="22" name="Image 7" descr="connector">    </p:cNvPr>
          <p:cNvPicPr>
            <a:picLocks noChangeAspect="1"/>
          </p:cNvPicPr>
          <p:nvPr/>
        </p:nvPicPr>
        <p:blipFill>
          <a:blip r:embed="rId8"/>
          <a:srcRect l="0" r="0" t="0" b="0"/>
          <a:stretch/>
        </p:blipFill>
        <p:spPr>
          <a:xfrm>
            <a:off x="10566400" y="3624610"/>
            <a:ext cx="101600" cy="482600"/>
          </a:xfrm>
          <a:prstGeom prst="rect">
            <a:avLst/>
          </a:prstGeom>
        </p:spPr>
      </p:pic>
      <p:pic>
        <p:nvPicPr>
          <p:cNvPr id="23" name="Image 8" descr="connector">    </p:cNvPr>
          <p:cNvPicPr>
            <a:picLocks noChangeAspect="1"/>
          </p:cNvPicPr>
          <p:nvPr/>
        </p:nvPicPr>
        <p:blipFill>
          <a:blip r:embed="rId9"/>
          <a:srcRect l="0" r="0" t="0" b="0"/>
          <a:stretch/>
        </p:blipFill>
        <p:spPr>
          <a:xfrm>
            <a:off x="7264400" y="4005610"/>
            <a:ext cx="3403600" cy="101600"/>
          </a:xfrm>
          <a:prstGeom prst="rect">
            <a:avLst/>
          </a:prstGeom>
        </p:spPr>
      </p:pic>
      <p:pic>
        <p:nvPicPr>
          <p:cNvPr id="24" name="Image 9" descr="connector">    </p:cNvPr>
          <p:cNvPicPr>
            <a:picLocks noChangeAspect="1"/>
          </p:cNvPicPr>
          <p:nvPr/>
        </p:nvPicPr>
        <p:blipFill>
          <a:blip r:embed="rId10"/>
          <a:srcRect l="0" r="0" t="0" b="0"/>
          <a:stretch/>
        </p:blipFill>
        <p:spPr>
          <a:xfrm>
            <a:off x="7264400" y="3624610"/>
            <a:ext cx="101600" cy="482600"/>
          </a:xfrm>
          <a:prstGeom prst="rect">
            <a:avLst/>
          </a:prstGeom>
        </p:spPr>
      </p:pic>
      <p:sp>
        <p:nvSpPr>
          <p:cNvPr id="25" name="Text 13"/>
          <p:cNvSpPr/>
          <p:nvPr/>
        </p:nvSpPr>
        <p:spPr>
          <a:xfrm>
            <a:off x="7788910" y="4119910"/>
            <a:ext cx="235458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expira: callback</a:t>
            </a:r>
            <a:endParaRPr lang="en-US" sz="1200" dirty="0">
              <a:latin typeface="IBM Plex Sans" charset="0"/>
              <a:ea typeface="IBM Plex Sans" charset="0"/>
              <a:cs typeface="IBM Plex Sans" charset="0"/>
            </a:endParaRPr>
          </a:p>
        </p:txBody>
      </p:sp>
      <p:sp>
        <p:nvSpPr>
          <p:cNvPr id="26" name="Text 14"/>
          <p:cNvSpPr/>
          <p:nvPr/>
        </p:nvSpPr>
        <p:spPr>
          <a:xfrm>
            <a:off x="812800" y="470411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Dormant:</a:t>
            </a:r>
            <a:r>
              <a:rPr lang="en-US" sz="1200" dirty="0">
                <a:solidFill>
                  <a:srgbClr val="14222E"/>
                </a:solidFill>
                <a:latin typeface="IBM Plex Sans" pitchFamily="34" charset="0"/>
                <a:ea typeface="IBM Plex Sans" pitchFamily="34" charset="-122"/>
                <a:cs typeface="IBM Plex Sans" pitchFamily="34" charset="-120"/>
              </a:rPr>
              <a:t> existe e tem handle, mas não corre; a callback não executa.</a:t>
            </a:r>
            <a:endParaRPr lang="en-US" sz="1200" dirty="0">
              <a:latin typeface="IBM Plex Sans" charset="0"/>
              <a:ea typeface="IBM Plex Sans" charset="0"/>
              <a:cs typeface="IBM Plex Sans" charset="0"/>
            </a:endParaRPr>
          </a:p>
        </p:txBody>
      </p:sp>
      <p:sp>
        <p:nvSpPr>
          <p:cNvPr id="27" name="Text 15"/>
          <p:cNvSpPr/>
          <p:nvPr/>
        </p:nvSpPr>
        <p:spPr>
          <a:xfrm>
            <a:off x="6159500" y="470411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Running:</a:t>
            </a:r>
            <a:r>
              <a:rPr lang="en-US" sz="1200" dirty="0">
                <a:solidFill>
                  <a:srgbClr val="14222E"/>
                </a:solidFill>
                <a:latin typeface="IBM Plex Sans" pitchFamily="34" charset="0"/>
                <a:ea typeface="IBM Plex Sans" pitchFamily="34" charset="-122"/>
                <a:cs typeface="IBM Plex Sans" pitchFamily="34" charset="-120"/>
              </a:rPr>
              <a:t> executa a callback quando passa o período desde que entrou em Running ou desde o último reset.</a:t>
            </a:r>
            <a:endParaRPr lang="en-US" sz="1200" dirty="0">
              <a:latin typeface="IBM Plex Sans" charset="0"/>
              <a:ea typeface="IBM Plex Sans" charset="0"/>
              <a:cs typeface="IBM Plex Sans" charset="0"/>
            </a:endParaRPr>
          </a:p>
        </p:txBody>
      </p:sp>
      <p:sp>
        <p:nvSpPr>
          <p:cNvPr id="28" name="Text 16"/>
          <p:cNvSpPr/>
          <p:nvPr/>
        </p:nvSpPr>
        <p:spPr>
          <a:xfrm>
            <a:off x="812800" y="623823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29" name="Text 17"/>
          <p:cNvSpPr/>
          <p:nvPr/>
        </p:nvSpPr>
        <p:spPr>
          <a:xfrm>
            <a:off x="10058400" y="623823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121</a:t>
            </a:r>
            <a:endParaRPr lang="en-US" sz="1200" dirty="0">
              <a:latin typeface="IBM Plex Sans" charset="0"/>
              <a:ea typeface="IBM Plex Sans" charset="0"/>
              <a:cs typeface="IBM Plex Sans"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77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daemon task e a timer command queue</a:t>
            </a:r>
            <a:endParaRPr lang="en-US" sz="3200" dirty="0">
              <a:latin typeface="IBM Plex Sans" charset="0"/>
              <a:ea typeface="IBM Plex Sans" charset="0"/>
              <a:cs typeface="IBM Plex Sans" charset="0"/>
            </a:endParaRPr>
          </a:p>
        </p:txBody>
      </p:sp>
      <p:sp>
        <p:nvSpPr>
          <p:cNvPr id="4" name="Shape 2"/>
          <p:cNvSpPr/>
          <p:nvPr/>
        </p:nvSpPr>
        <p:spPr>
          <a:xfrm>
            <a:off x="1431925" y="1885305"/>
            <a:ext cx="2393950" cy="1047750"/>
          </a:xfrm>
          <a:prstGeom prst="roundRect">
            <a:avLst>
              <a:gd name="adj" fmla="val 8788"/>
            </a:avLst>
          </a:prstGeom>
          <a:solidFill>
            <a:srgbClr val="FCFBF8"/>
          </a:solidFill>
          <a:ln w="19050">
            <a:solidFill>
              <a:srgbClr val="2F6FD0"/>
            </a:solidFill>
            <a:prstDash val="solid"/>
          </a:ln>
        </p:spPr>
      </p:sp>
      <p:sp>
        <p:nvSpPr>
          <p:cNvPr id="5" name="Text 3"/>
          <p:cNvSpPr/>
          <p:nvPr/>
        </p:nvSpPr>
        <p:spPr>
          <a:xfrm>
            <a:off x="1692029" y="2043460"/>
            <a:ext cx="187366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2F6FD0"/>
                </a:solidFill>
                <a:latin typeface="IBM Plex Sans" pitchFamily="34" charset="0"/>
                <a:ea typeface="IBM Plex Sans" pitchFamily="34" charset="-122"/>
                <a:cs typeface="IBM Plex Sans" pitchFamily="34" charset="-120"/>
              </a:rPr>
              <a:t>Task da aplicação</a:t>
            </a:r>
            <a:endParaRPr lang="en-US" sz="1500" dirty="0">
              <a:latin typeface="IBM Plex Sans" charset="0"/>
              <a:ea typeface="IBM Plex Sans" charset="0"/>
              <a:cs typeface="IBM Plex Sans" charset="0"/>
            </a:endParaRPr>
          </a:p>
        </p:txBody>
      </p:sp>
      <p:sp>
        <p:nvSpPr>
          <p:cNvPr id="6" name="Text 4"/>
          <p:cNvSpPr/>
          <p:nvPr/>
        </p:nvSpPr>
        <p:spPr>
          <a:xfrm>
            <a:off x="1558874" y="2348260"/>
            <a:ext cx="2140052"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chama xTimerStart(), xTimerStop()…</a:t>
            </a:r>
            <a:endParaRPr lang="en-US" sz="1200" dirty="0">
              <a:latin typeface="IBM Plex Sans" charset="0"/>
              <a:ea typeface="IBM Plex Sans" charset="0"/>
              <a:cs typeface="IBM Plex Sans" charset="0"/>
            </a:endParaRPr>
          </a:p>
        </p:txBody>
      </p:sp>
      <p:sp>
        <p:nvSpPr>
          <p:cNvPr id="7" name="Text 5"/>
          <p:cNvSpPr/>
          <p:nvPr/>
        </p:nvSpPr>
        <p:spPr>
          <a:xfrm>
            <a:off x="4003866" y="2099320"/>
            <a:ext cx="780669"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comando</a:t>
            </a:r>
            <a:endParaRPr lang="en-US" sz="1200" dirty="0">
              <a:latin typeface="IBM Plex Sans" charset="0"/>
              <a:ea typeface="IBM Plex Sans" charset="0"/>
              <a:cs typeface="IBM Plex Sans" charset="0"/>
            </a:endParaRPr>
          </a:p>
        </p:txBody>
      </p:sp>
      <p:pic>
        <p:nvPicPr>
          <p:cNvPr id="8" name="Image 0" descr="arrow-right">    </p:cNvPr>
          <p:cNvPicPr>
            <a:picLocks noChangeAspect="1"/>
          </p:cNvPicPr>
          <p:nvPr/>
        </p:nvPicPr>
        <p:blipFill>
          <a:blip r:embed="rId1"/>
          <a:srcRect l="0" r="0" t="0" b="0"/>
          <a:stretch/>
        </p:blipFill>
        <p:spPr>
          <a:xfrm>
            <a:off x="4013200" y="2363490"/>
            <a:ext cx="762000" cy="355600"/>
          </a:xfrm>
          <a:prstGeom prst="rect">
            <a:avLst/>
          </a:prstGeom>
        </p:spPr>
      </p:pic>
      <p:sp>
        <p:nvSpPr>
          <p:cNvPr id="9" name="Shape 6"/>
          <p:cNvSpPr/>
          <p:nvPr/>
        </p:nvSpPr>
        <p:spPr>
          <a:xfrm>
            <a:off x="4962525" y="1858665"/>
            <a:ext cx="2266950" cy="1101090"/>
          </a:xfrm>
          <a:prstGeom prst="roundRect">
            <a:avLst>
              <a:gd name="adj" fmla="val 8362"/>
            </a:avLst>
          </a:prstGeom>
          <a:solidFill>
            <a:srgbClr val="FCFBF8"/>
          </a:solidFill>
          <a:ln w="19050">
            <a:solidFill>
              <a:srgbClr val="17766A"/>
            </a:solidFill>
            <a:prstDash val="solid"/>
          </a:ln>
        </p:spPr>
      </p:sp>
      <p:sp>
        <p:nvSpPr>
          <p:cNvPr id="10" name="Text 7"/>
          <p:cNvSpPr/>
          <p:nvPr/>
        </p:nvSpPr>
        <p:spPr>
          <a:xfrm>
            <a:off x="5091379" y="2016770"/>
            <a:ext cx="2009242" cy="5588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7766A"/>
                </a:solidFill>
                <a:latin typeface="IBM Plex Sans" pitchFamily="34" charset="0"/>
                <a:ea typeface="IBM Plex Sans" pitchFamily="34" charset="-122"/>
                <a:cs typeface="IBM Plex Sans" pitchFamily="34" charset="-120"/>
              </a:rPr>
              <a:t>Timer command queue</a:t>
            </a:r>
            <a:endParaRPr lang="en-US" sz="1500" dirty="0">
              <a:latin typeface="IBM Plex Sans" charset="0"/>
              <a:ea typeface="IBM Plex Sans" charset="0"/>
              <a:cs typeface="IBM Plex Sans" charset="0"/>
            </a:endParaRPr>
          </a:p>
        </p:txBody>
      </p:sp>
      <p:sp>
        <p:nvSpPr>
          <p:cNvPr id="11" name="Text 8"/>
          <p:cNvSpPr/>
          <p:nvPr/>
        </p:nvSpPr>
        <p:spPr>
          <a:xfrm>
            <a:off x="4972129" y="2588320"/>
            <a:ext cx="2247821"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configTIMER_QUEUE_LENGTH</a:t>
            </a:r>
            <a:endParaRPr lang="en-US" sz="1200" dirty="0">
              <a:latin typeface="IBM Plex Sans" charset="0"/>
              <a:ea typeface="IBM Plex Sans" charset="0"/>
              <a:cs typeface="IBM Plex Sans" charset="0"/>
            </a:endParaRPr>
          </a:p>
        </p:txBody>
      </p:sp>
      <p:pic>
        <p:nvPicPr>
          <p:cNvPr id="12" name="Image 1" descr="arrow-right">    </p:cNvPr>
          <p:cNvPicPr>
            <a:picLocks noChangeAspect="1"/>
          </p:cNvPicPr>
          <p:nvPr/>
        </p:nvPicPr>
        <p:blipFill>
          <a:blip r:embed="rId2"/>
          <a:srcRect l="0" r="0" t="0" b="0"/>
          <a:stretch/>
        </p:blipFill>
        <p:spPr>
          <a:xfrm>
            <a:off x="7416800" y="2256780"/>
            <a:ext cx="762000" cy="355600"/>
          </a:xfrm>
          <a:prstGeom prst="rect">
            <a:avLst/>
          </a:prstGeom>
        </p:spPr>
      </p:pic>
      <p:sp>
        <p:nvSpPr>
          <p:cNvPr id="13" name="Shape 9"/>
          <p:cNvSpPr/>
          <p:nvPr/>
        </p:nvSpPr>
        <p:spPr>
          <a:xfrm>
            <a:off x="8366125" y="1885305"/>
            <a:ext cx="2393950" cy="1047750"/>
          </a:xfrm>
          <a:prstGeom prst="roundRect">
            <a:avLst>
              <a:gd name="adj" fmla="val 8788"/>
            </a:avLst>
          </a:prstGeom>
          <a:solidFill>
            <a:srgbClr val="FCFBF8"/>
          </a:solidFill>
          <a:ln w="19050">
            <a:solidFill>
              <a:srgbClr val="D0612A"/>
            </a:solidFill>
            <a:prstDash val="solid"/>
          </a:ln>
        </p:spPr>
      </p:sp>
      <p:sp>
        <p:nvSpPr>
          <p:cNvPr id="14" name="Text 10"/>
          <p:cNvSpPr/>
          <p:nvPr/>
        </p:nvSpPr>
        <p:spPr>
          <a:xfrm>
            <a:off x="8868728" y="2043460"/>
            <a:ext cx="1388745"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D0612A"/>
                </a:solidFill>
                <a:latin typeface="IBM Plex Sans" pitchFamily="34" charset="0"/>
                <a:ea typeface="IBM Plex Sans" pitchFamily="34" charset="-122"/>
                <a:cs typeface="IBM Plex Sans" pitchFamily="34" charset="-120"/>
              </a:rPr>
              <a:t>Daemon task</a:t>
            </a:r>
            <a:endParaRPr lang="en-US" sz="1500" dirty="0">
              <a:latin typeface="IBM Plex Sans" charset="0"/>
              <a:ea typeface="IBM Plex Sans" charset="0"/>
              <a:cs typeface="IBM Plex Sans" charset="0"/>
            </a:endParaRPr>
          </a:p>
        </p:txBody>
      </p:sp>
      <p:sp>
        <p:nvSpPr>
          <p:cNvPr id="15" name="Text 11"/>
          <p:cNvSpPr/>
          <p:nvPr/>
        </p:nvSpPr>
        <p:spPr>
          <a:xfrm>
            <a:off x="8493074" y="2348260"/>
            <a:ext cx="2140052"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processa comandos e executa as callbacks</a:t>
            </a:r>
            <a:endParaRPr lang="en-US" sz="1200" dirty="0">
              <a:latin typeface="IBM Plex Sans" charset="0"/>
              <a:ea typeface="IBM Plex Sans" charset="0"/>
              <a:cs typeface="IBM Plex Sans" charset="0"/>
            </a:endParaRPr>
          </a:p>
        </p:txBody>
      </p:sp>
      <p:sp>
        <p:nvSpPr>
          <p:cNvPr id="16" name="Shape 12"/>
          <p:cNvSpPr/>
          <p:nvPr/>
        </p:nvSpPr>
        <p:spPr>
          <a:xfrm>
            <a:off x="815975" y="3226495"/>
            <a:ext cx="3414157" cy="1477010"/>
          </a:xfrm>
          <a:prstGeom prst="roundRect">
            <a:avLst>
              <a:gd name="adj" fmla="val 6664"/>
            </a:avLst>
          </a:prstGeom>
          <a:solidFill>
            <a:srgbClr val="FCFBF8"/>
          </a:solidFill>
          <a:ln w="6350">
            <a:solidFill>
              <a:srgbClr val="DCDAD2"/>
            </a:solidFill>
            <a:prstDash val="solid"/>
          </a:ln>
        </p:spPr>
      </p:sp>
      <p:sp>
        <p:nvSpPr>
          <p:cNvPr id="17" name="Text 13"/>
          <p:cNvSpPr/>
          <p:nvPr/>
        </p:nvSpPr>
        <p:spPr>
          <a:xfrm>
            <a:off x="995680" y="3406180"/>
            <a:ext cx="314638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Uma task normal</a:t>
            </a:r>
            <a:endParaRPr lang="en-US" sz="1400" dirty="0">
              <a:latin typeface="IBM Plex Sans" charset="0"/>
              <a:ea typeface="IBM Plex Sans" charset="0"/>
              <a:cs typeface="IBM Plex Sans" charset="0"/>
            </a:endParaRPr>
          </a:p>
        </p:txBody>
      </p:sp>
      <p:sp>
        <p:nvSpPr>
          <p:cNvPr id="18" name="Text 14"/>
          <p:cNvSpPr/>
          <p:nvPr/>
        </p:nvSpPr>
        <p:spPr>
          <a:xfrm>
            <a:off x="995680" y="3670300"/>
            <a:ext cx="31463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Criada automaticamente com o scheduler. Prioridade e stack: configTIMER_TASK_PRIORITY e configTIMER_TASK_STACK_DEPTH.</a:t>
            </a:r>
            <a:endParaRPr lang="en-US" sz="1200" dirty="0">
              <a:latin typeface="IBM Plex Sans" charset="0"/>
              <a:ea typeface="IBM Plex Sans" charset="0"/>
              <a:cs typeface="IBM Plex Sans" charset="0"/>
            </a:endParaRPr>
          </a:p>
        </p:txBody>
      </p:sp>
      <p:sp>
        <p:nvSpPr>
          <p:cNvPr id="19" name="Shape 15"/>
          <p:cNvSpPr/>
          <p:nvPr/>
        </p:nvSpPr>
        <p:spPr>
          <a:xfrm>
            <a:off x="4388882" y="3226495"/>
            <a:ext cx="3414236" cy="1477010"/>
          </a:xfrm>
          <a:prstGeom prst="roundRect">
            <a:avLst>
              <a:gd name="adj" fmla="val 6664"/>
            </a:avLst>
          </a:prstGeom>
          <a:solidFill>
            <a:srgbClr val="FCFBF8"/>
          </a:solidFill>
          <a:ln w="6350">
            <a:solidFill>
              <a:srgbClr val="DCDAD2"/>
            </a:solidFill>
            <a:prstDash val="solid"/>
          </a:ln>
        </p:spPr>
      </p:sp>
      <p:sp>
        <p:nvSpPr>
          <p:cNvPr id="20" name="Text 16"/>
          <p:cNvSpPr/>
          <p:nvPr/>
        </p:nvSpPr>
        <p:spPr>
          <a:xfrm>
            <a:off x="4568587" y="3406180"/>
            <a:ext cx="3146471"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Uma queue normal</a:t>
            </a:r>
            <a:endParaRPr lang="en-US" sz="1400" dirty="0">
              <a:latin typeface="IBM Plex Sans" charset="0"/>
              <a:ea typeface="IBM Plex Sans" charset="0"/>
              <a:cs typeface="IBM Plex Sans" charset="0"/>
            </a:endParaRPr>
          </a:p>
        </p:txBody>
      </p:sp>
      <p:sp>
        <p:nvSpPr>
          <p:cNvPr id="21" name="Text 17"/>
          <p:cNvSpPr/>
          <p:nvPr/>
        </p:nvSpPr>
        <p:spPr>
          <a:xfrm>
            <a:off x="4568587" y="3670300"/>
            <a:ext cx="314647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Também criada com o scheduler. Comandos como start, stop e reset seguem por ela.</a:t>
            </a:r>
            <a:endParaRPr lang="en-US" sz="1200" dirty="0">
              <a:latin typeface="IBM Plex Sans" charset="0"/>
              <a:ea typeface="IBM Plex Sans" charset="0"/>
              <a:cs typeface="IBM Plex Sans" charset="0"/>
            </a:endParaRPr>
          </a:p>
        </p:txBody>
      </p:sp>
      <p:sp>
        <p:nvSpPr>
          <p:cNvPr id="22" name="Shape 18"/>
          <p:cNvSpPr/>
          <p:nvPr/>
        </p:nvSpPr>
        <p:spPr>
          <a:xfrm>
            <a:off x="7961868" y="3226495"/>
            <a:ext cx="3414157" cy="1477010"/>
          </a:xfrm>
          <a:prstGeom prst="roundRect">
            <a:avLst>
              <a:gd name="adj" fmla="val 6664"/>
            </a:avLst>
          </a:prstGeom>
          <a:solidFill>
            <a:srgbClr val="FCFBF8"/>
          </a:solidFill>
          <a:ln w="6350">
            <a:solidFill>
              <a:srgbClr val="DCDAD2"/>
            </a:solidFill>
            <a:prstDash val="solid"/>
          </a:ln>
        </p:spPr>
      </p:sp>
      <p:sp>
        <p:nvSpPr>
          <p:cNvPr id="23" name="Text 19"/>
          <p:cNvSpPr/>
          <p:nvPr/>
        </p:nvSpPr>
        <p:spPr>
          <a:xfrm>
            <a:off x="8141574" y="3406180"/>
            <a:ext cx="314638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Chamava-se timer service task</a:t>
            </a:r>
            <a:endParaRPr lang="en-US" sz="1400" dirty="0">
              <a:latin typeface="IBM Plex Sans" charset="0"/>
              <a:ea typeface="IBM Plex Sans" charset="0"/>
              <a:cs typeface="IBM Plex Sans" charset="0"/>
            </a:endParaRPr>
          </a:p>
        </p:txBody>
      </p:sp>
      <p:sp>
        <p:nvSpPr>
          <p:cNvPr id="24" name="Text 20"/>
          <p:cNvSpPr/>
          <p:nvPr/>
        </p:nvSpPr>
        <p:spPr>
          <a:xfrm>
            <a:off x="8141574" y="3670300"/>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Hoje também faz outras coisas, como o processamento adiado do módulo 5.</a:t>
            </a:r>
            <a:endParaRPr lang="en-US" sz="1200" dirty="0">
              <a:latin typeface="IBM Plex Sans" charset="0"/>
              <a:ea typeface="IBM Plex Sans" charset="0"/>
              <a:cs typeface="IBM Plex Sans" charset="0"/>
            </a:endParaRPr>
          </a:p>
        </p:txBody>
      </p:sp>
      <p:sp>
        <p:nvSpPr>
          <p:cNvPr id="25" name="Text 21"/>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26" name="Text 22"/>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122</a:t>
            </a:r>
            <a:endParaRPr lang="en-US" sz="1200" dirty="0">
              <a:latin typeface="IBM Plex Sans" charset="0"/>
              <a:ea typeface="IBM Plex Sans" charset="0"/>
              <a:cs typeface="IBM Plex Sans"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prioridade da daemon task</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A daemon task é escalonada como qualquer outra: só processa comandos ou executa callbacks quando é a task de maior prioridade pronta a correr.</a:t>
            </a:r>
            <a:endParaRPr lang="en-US" sz="1500" dirty="0">
              <a:latin typeface="IBM Plex Sans" charset="0"/>
              <a:ea typeface="IBM Plex Sans" charset="0"/>
              <a:cs typeface="IBM Plex Sans" charset="0"/>
            </a:endParaRPr>
          </a:p>
        </p:txBody>
      </p:sp>
      <p:sp>
        <p:nvSpPr>
          <p:cNvPr id="5" name="Shape 3"/>
          <p:cNvSpPr/>
          <p:nvPr/>
        </p:nvSpPr>
        <p:spPr>
          <a:xfrm>
            <a:off x="815975" y="2538115"/>
            <a:ext cx="5175250" cy="1507490"/>
          </a:xfrm>
          <a:prstGeom prst="roundRect">
            <a:avLst>
              <a:gd name="adj" fmla="val 6529"/>
            </a:avLst>
          </a:prstGeom>
          <a:solidFill>
            <a:srgbClr val="FCFBF8"/>
          </a:solidFill>
          <a:ln w="6350">
            <a:solidFill>
              <a:srgbClr val="DCDAD2"/>
            </a:solidFill>
            <a:prstDash val="solid"/>
          </a:ln>
        </p:spPr>
      </p:sp>
      <p:sp>
        <p:nvSpPr>
          <p:cNvPr id="6" name="Text 4"/>
          <p:cNvSpPr/>
          <p:nvPr/>
        </p:nvSpPr>
        <p:spPr>
          <a:xfrm>
            <a:off x="1071880" y="27940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DAEMON COM PRIORIDADE MAIS BAIXA</a:t>
            </a:r>
            <a:endParaRPr lang="en-US" sz="1200" dirty="0">
              <a:latin typeface="IBM Plex Sans" charset="0"/>
              <a:ea typeface="IBM Plex Sans" charset="0"/>
              <a:cs typeface="IBM Plex Sans" charset="0"/>
            </a:endParaRPr>
          </a:p>
        </p:txBody>
      </p:sp>
      <p:sp>
        <p:nvSpPr>
          <p:cNvPr id="7" name="Text 5"/>
          <p:cNvSpPr/>
          <p:nvPr/>
        </p:nvSpPr>
        <p:spPr>
          <a:xfrm>
            <a:off x="1071880" y="3096320"/>
            <a:ext cx="480334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task que chama xTimerStart() continua a correr até ao fim da função. O comando fica na queue até essa task bloquear e a daemon ser a mais prioritária.</a:t>
            </a:r>
            <a:endParaRPr lang="en-US" sz="1300" dirty="0">
              <a:latin typeface="IBM Plex Sans" charset="0"/>
              <a:ea typeface="IBM Plex Sans" charset="0"/>
              <a:cs typeface="IBM Plex Sans" charset="0"/>
            </a:endParaRPr>
          </a:p>
        </p:txBody>
      </p:sp>
      <p:sp>
        <p:nvSpPr>
          <p:cNvPr id="8" name="Shape 6"/>
          <p:cNvSpPr/>
          <p:nvPr/>
        </p:nvSpPr>
        <p:spPr>
          <a:xfrm>
            <a:off x="6200775" y="2538115"/>
            <a:ext cx="5175250" cy="1507490"/>
          </a:xfrm>
          <a:prstGeom prst="roundRect">
            <a:avLst>
              <a:gd name="adj" fmla="val 6529"/>
            </a:avLst>
          </a:prstGeom>
          <a:solidFill>
            <a:srgbClr val="FCFBF8"/>
          </a:solidFill>
          <a:ln w="6350">
            <a:solidFill>
              <a:srgbClr val="DCDAD2"/>
            </a:solidFill>
            <a:prstDash val="solid"/>
          </a:ln>
        </p:spPr>
      </p:sp>
      <p:sp>
        <p:nvSpPr>
          <p:cNvPr id="9" name="Text 7"/>
          <p:cNvSpPr/>
          <p:nvPr/>
        </p:nvSpPr>
        <p:spPr>
          <a:xfrm>
            <a:off x="6456680" y="27940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DAEMON COM PRIORIDADE MAIS ALTA</a:t>
            </a:r>
            <a:endParaRPr lang="en-US" sz="1200" dirty="0">
              <a:latin typeface="IBM Plex Sans" charset="0"/>
              <a:ea typeface="IBM Plex Sans" charset="0"/>
              <a:cs typeface="IBM Plex Sans" charset="0"/>
            </a:endParaRPr>
          </a:p>
        </p:txBody>
      </p:sp>
      <p:sp>
        <p:nvSpPr>
          <p:cNvPr id="10" name="Text 8"/>
          <p:cNvSpPr/>
          <p:nvPr/>
        </p:nvSpPr>
        <p:spPr>
          <a:xfrm>
            <a:off x="6456680" y="3096320"/>
            <a:ext cx="480334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xTimerStart() acorda a daemon task, que preempta logo a task que chamou. O comando é processado </a:t>
            </a:r>
            <a:r>
              <a:rPr lang="en-US" sz="1300" b="1" dirty="0">
                <a:solidFill>
                  <a:srgbClr val="44505C"/>
                </a:solidFill>
                <a:latin typeface="IBM Plex Sans" pitchFamily="34" charset="0"/>
                <a:ea typeface="IBM Plex Sans" pitchFamily="34" charset="-122"/>
                <a:cs typeface="IBM Plex Sans" pitchFamily="34" charset="-120"/>
              </a:rPr>
              <a:t>antes</a:t>
            </a:r>
            <a:r>
              <a:rPr lang="en-US" sz="1300" dirty="0">
                <a:solidFill>
                  <a:srgbClr val="44505C"/>
                </a:solidFill>
                <a:latin typeface="IBM Plex Sans" pitchFamily="34" charset="0"/>
                <a:ea typeface="IBM Plex Sans" pitchFamily="34" charset="-122"/>
                <a:cs typeface="IBM Plex Sans" pitchFamily="34" charset="-120"/>
              </a:rPr>
              <a:t> de xTimerStart() retornar.</a:t>
            </a:r>
            <a:endParaRPr lang="en-US" sz="1300" dirty="0">
              <a:latin typeface="IBM Plex Sans" charset="0"/>
              <a:ea typeface="IBM Plex Sans" charset="0"/>
              <a:cs typeface="IBM Plex Sans" charset="0"/>
            </a:endParaRPr>
          </a:p>
        </p:txBody>
      </p:sp>
      <p:sp>
        <p:nvSpPr>
          <p:cNvPr id="11" name="Shape 9"/>
          <p:cNvSpPr/>
          <p:nvPr/>
        </p:nvSpPr>
        <p:spPr>
          <a:xfrm>
            <a:off x="812800" y="4252020"/>
            <a:ext cx="10566400" cy="802640"/>
          </a:xfrm>
          <a:prstGeom prst="roundRect">
            <a:avLst>
              <a:gd name="adj" fmla="val 12658"/>
            </a:avLst>
          </a:prstGeom>
          <a:solidFill>
            <a:srgbClr val="E3EFEC"/>
          </a:solidFill>
          <a:ln/>
        </p:spPr>
      </p:sp>
      <p:pic>
        <p:nvPicPr>
          <p:cNvPr id="12" name="Image 0" descr="Clock">    </p:cNvPr>
          <p:cNvPicPr>
            <a:picLocks noChangeAspect="1"/>
          </p:cNvPicPr>
          <p:nvPr/>
        </p:nvPicPr>
        <p:blipFill>
          <a:blip r:embed="rId1"/>
          <a:srcRect l="0" r="0" t="0" b="0"/>
          <a:stretch/>
        </p:blipFill>
        <p:spPr>
          <a:xfrm>
            <a:off x="1016000" y="4500860"/>
            <a:ext cx="304800" cy="304800"/>
          </a:xfrm>
          <a:prstGeom prst="rect">
            <a:avLst/>
          </a:prstGeom>
        </p:spPr>
      </p:pic>
      <p:sp>
        <p:nvSpPr>
          <p:cNvPr id="13" name="Text 10"/>
          <p:cNvSpPr/>
          <p:nvPr/>
        </p:nvSpPr>
        <p:spPr>
          <a:xfrm>
            <a:off x="1473200" y="4404420"/>
            <a:ext cx="99938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22E"/>
                </a:solidFill>
                <a:latin typeface="IBM Plex Sans" pitchFamily="34" charset="0"/>
                <a:ea typeface="IBM Plex Sans" pitchFamily="34" charset="-122"/>
                <a:cs typeface="IBM Plex Sans" pitchFamily="34" charset="-120"/>
              </a:rPr>
              <a:t>Os comandos levam um </a:t>
            </a:r>
            <a:r>
              <a:rPr lang="en-US" sz="1400" b="1" dirty="0">
                <a:solidFill>
                  <a:srgbClr val="14222E"/>
                </a:solidFill>
                <a:latin typeface="IBM Plex Sans" pitchFamily="34" charset="0"/>
                <a:ea typeface="IBM Plex Sans" pitchFamily="34" charset="-122"/>
                <a:cs typeface="IBM Plex Sans" pitchFamily="34" charset="-120"/>
              </a:rPr>
              <a:t>timestamp</a:t>
            </a:r>
            <a:r>
              <a:rPr lang="en-US" sz="1400" dirty="0">
                <a:solidFill>
                  <a:srgbClr val="14222E"/>
                </a:solidFill>
                <a:latin typeface="IBM Plex Sans" pitchFamily="34" charset="0"/>
                <a:ea typeface="IBM Plex Sans" pitchFamily="34" charset="-122"/>
                <a:cs typeface="IBM Plex Sans" pitchFamily="34" charset="-120"/>
              </a:rPr>
              <a:t>: um timer de 10 ticks expira 10 ticks depois de o comando ser </a:t>
            </a:r>
            <a:r>
              <a:rPr lang="en-US" sz="1400" b="1" dirty="0">
                <a:solidFill>
                  <a:srgbClr val="14222E"/>
                </a:solidFill>
                <a:latin typeface="IBM Plex Sans" pitchFamily="34" charset="0"/>
                <a:ea typeface="IBM Plex Sans" pitchFamily="34" charset="-122"/>
                <a:cs typeface="IBM Plex Sans" pitchFamily="34" charset="-120"/>
              </a:rPr>
              <a:t>enviado</a:t>
            </a:r>
            <a:r>
              <a:rPr lang="en-US" sz="1400" dirty="0">
                <a:solidFill>
                  <a:srgbClr val="14222E"/>
                </a:solidFill>
                <a:latin typeface="IBM Plex Sans" pitchFamily="34" charset="0"/>
                <a:ea typeface="IBM Plex Sans" pitchFamily="34" charset="-122"/>
                <a:cs typeface="IBM Plex Sans" pitchFamily="34" charset="-120"/>
              </a:rPr>
              <a:t>, não depois de ser processado.</a:t>
            </a:r>
            <a:endParaRPr lang="en-US" sz="1400" dirty="0">
              <a:latin typeface="IBM Plex Sans" charset="0"/>
              <a:ea typeface="IBM Plex Sans" charset="0"/>
              <a:cs typeface="IBM Plex Sans" charset="0"/>
            </a:endParaRPr>
          </a:p>
        </p:txBody>
      </p:sp>
      <p:sp>
        <p:nvSpPr>
          <p:cNvPr id="14" name="Text 11"/>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15" name="Text 12"/>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123</a:t>
            </a:r>
            <a:endParaRPr lang="en-US" sz="1200" dirty="0">
              <a:latin typeface="IBM Plex Sans" charset="0"/>
              <a:ea typeface="IBM Plex Sans" charset="0"/>
              <a:cs typeface="IBM Plex Sans"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xTimerCreate() e xTimerStart()</a:t>
            </a:r>
            <a:endParaRPr lang="en-US" sz="3200" dirty="0">
              <a:latin typeface="IBM Plex Sans" charset="0"/>
              <a:ea typeface="IBM Plex Sans" charset="0"/>
              <a:cs typeface="IBM Plex Sans" charset="0"/>
            </a:endParaRPr>
          </a:p>
        </p:txBody>
      </p:sp>
      <p:sp>
        <p:nvSpPr>
          <p:cNvPr id="4" name="Text 2"/>
          <p:cNvSpPr/>
          <p:nvPr/>
        </p:nvSpPr>
        <p:spPr>
          <a:xfrm>
            <a:off x="812800" y="1899940"/>
            <a:ext cx="5461000" cy="2174240"/>
          </a:xfrm>
          <a:prstGeom prst="roundRect">
            <a:avLst>
              <a:gd name="adj" fmla="val 3505"/>
            </a:avLst>
          </a:prstGeom>
          <a:solidFill>
            <a:srgbClr val="14222E"/>
          </a:solidFill>
          <a:ln/>
        </p:spPr>
        <p:txBody>
          <a:bodyPr wrap="none" lIns="1046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TimerHandle_t xTimerCreate(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char * const pcTimerName,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TickType_t xTimerPeriodInTicks,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const BaseType_t xAutoReload,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void * const pvTimerID,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TimerCallbackFunction_t pxCallbackFunction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xTimerStart( TimerHandle_t xTimer,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xTicksToWait );</a:t>
            </a:r>
            <a:endParaRPr lang="en-US" sz="1200" dirty="0">
              <a:latin typeface="JetBrains Mono" charset="0"/>
              <a:ea typeface="JetBrains Mono" charset="0"/>
              <a:cs typeface="JetBrains Mono" charset="0"/>
            </a:endParaRPr>
          </a:p>
        </p:txBody>
      </p:sp>
      <p:sp>
        <p:nvSpPr>
          <p:cNvPr id="5" name="Text 3"/>
          <p:cNvSpPr/>
          <p:nvPr/>
        </p:nvSpPr>
        <p:spPr>
          <a:xfrm>
            <a:off x="812800" y="4175820"/>
            <a:ext cx="562483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xTicksToWait: espera por espaço na timer command queue. pdPASS se o comando foi enviado; pdFAIL se a queue estava cheia.</a:t>
            </a:r>
            <a:endParaRPr lang="en-US" sz="1200" dirty="0">
              <a:latin typeface="IBM Plex Sans" charset="0"/>
              <a:ea typeface="IBM Plex Sans" charset="0"/>
              <a:cs typeface="IBM Plex Sans" charset="0"/>
            </a:endParaRPr>
          </a:p>
        </p:txBody>
      </p:sp>
      <p:sp>
        <p:nvSpPr>
          <p:cNvPr id="6" name="Shape 4"/>
          <p:cNvSpPr/>
          <p:nvPr/>
        </p:nvSpPr>
        <p:spPr>
          <a:xfrm>
            <a:off x="6527800" y="1905020"/>
            <a:ext cx="4851400" cy="0"/>
          </a:xfrm>
          <a:prstGeom prst="line">
            <a:avLst/>
          </a:prstGeom>
          <a:noFill/>
          <a:ln w="10160">
            <a:solidFill>
              <a:srgbClr val="141413">
                <a:alpha val="22000"/>
              </a:srgbClr>
            </a:solidFill>
            <a:prstDash val="solid"/>
          </a:ln>
        </p:spPr>
      </p:sp>
      <p:sp>
        <p:nvSpPr>
          <p:cNvPr id="7" name="Shape 5"/>
          <p:cNvSpPr/>
          <p:nvPr/>
        </p:nvSpPr>
        <p:spPr>
          <a:xfrm>
            <a:off x="6532880" y="1899940"/>
            <a:ext cx="0" cy="2971800"/>
          </a:xfrm>
          <a:prstGeom prst="line">
            <a:avLst/>
          </a:prstGeom>
          <a:noFill/>
          <a:ln w="10160">
            <a:solidFill>
              <a:srgbClr val="141413">
                <a:alpha val="22000"/>
              </a:srgbClr>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39560" y="1973600"/>
          <a:ext cx="4638040" cy="2834640"/>
        </p:xfrm>
        <a:graphic>
          <a:graphicData uri="http://schemas.openxmlformats.org/drawingml/2006/table">
            <a:tbl>
              <a:tblPr/>
              <a:tblGrid>
                <a:gridCol w="2133498"/>
                <a:gridCol w="2504542"/>
              </a:tblGrid>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pcTimerName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Nome, só para debug.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0" cap="flat" cmpd="sng" algn="ctr">
                      <a:noFill/>
                    </a:lnT>
                    <a:lnB w="12700" cap="flat" cmpd="sng" algn="ctr">
                      <a:solidFill>
                        <a:srgbClr val="C4C3BF"/>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xTimerPeriodInTicks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Período em ticks (pdMS_TO_TICKS). Não pode ser 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xAutoReload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pdTRUE: auto-reload. pdFALSE: one-shot.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pvTimerID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Valor inicial do timer ID (void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pxCallbackFunction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 callback.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Retorno</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Handle (TimerHandle_t), ou NULL sem heap.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9" name="Text 6"/>
          <p:cNvSpPr/>
          <p:nvPr/>
        </p:nvSpPr>
        <p:spPr>
          <a:xfrm>
            <a:off x="6527800" y="4973340"/>
            <a:ext cx="499694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O timer nasce em </a:t>
            </a:r>
            <a:r>
              <a:rPr lang="en-US" sz="1200" b="1" dirty="0">
                <a:solidFill>
                  <a:srgbClr val="14222E"/>
                </a:solidFill>
                <a:latin typeface="IBM Plex Sans" pitchFamily="34" charset="0"/>
                <a:ea typeface="IBM Plex Sans" pitchFamily="34" charset="-122"/>
                <a:cs typeface="IBM Plex Sans" pitchFamily="34" charset="-120"/>
              </a:rPr>
              <a:t>Dormant</a:t>
            </a:r>
            <a:r>
              <a:rPr lang="en-US" sz="1200" dirty="0">
                <a:solidFill>
                  <a:srgbClr val="14222E"/>
                </a:solidFill>
                <a:latin typeface="IBM Plex Sans" pitchFamily="34" charset="0"/>
                <a:ea typeface="IBM Plex Sans" pitchFamily="34" charset="-122"/>
                <a:cs typeface="IBM Plex Sans" pitchFamily="34" charset="-120"/>
              </a:rPr>
              <a:t>. Pode ser criado e iniciado antes do scheduler: só começa a contar quando o scheduler arranca. Numa ISR: xTimerStartFromISR().</a:t>
            </a:r>
            <a:endParaRPr lang="en-US" sz="1200" dirty="0">
              <a:latin typeface="IBM Plex Sans" charset="0"/>
              <a:ea typeface="IBM Plex Sans" charset="0"/>
              <a:cs typeface="IBM Plex Sans" charset="0"/>
            </a:endParaRPr>
          </a:p>
        </p:txBody>
      </p:sp>
      <p:sp>
        <p:nvSpPr>
          <p:cNvPr id="10" name="Text 7"/>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11" name="Text 8"/>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124</a:t>
            </a:r>
            <a:endParaRPr lang="en-US" sz="1200" dirty="0">
              <a:latin typeface="IBM Plex Sans" charset="0"/>
              <a:ea typeface="IBM Plex Sans" charset="0"/>
              <a:cs typeface="IBM Plex Sans"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3" name="Text 1"/>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125</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363"/>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423"/>
            <a:ext cx="10883392" cy="491887"/>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Exemplo: uma callback, dois timers, timer ID</a:t>
            </a:r>
            <a:endParaRPr lang="en-US" sz="3190" dirty="0">
              <a:latin typeface="IBM Plex Sans" charset="0"/>
              <a:ea typeface="IBM Plex Sans" charset="0"/>
              <a:cs typeface="IBM Plex Sans" charset="0"/>
            </a:endParaRPr>
          </a:p>
        </p:txBody>
      </p:sp>
      <p:sp>
        <p:nvSpPr>
          <p:cNvPr id="6" name="Text 4"/>
          <p:cNvSpPr/>
          <p:nvPr/>
        </p:nvSpPr>
        <p:spPr>
          <a:xfrm>
            <a:off x="812800" y="179705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6717C"/>
                </a:solidFill>
                <a:latin typeface="IBM Plex Sans" pitchFamily="34" charset="0"/>
                <a:ea typeface="IBM Plex Sans" pitchFamily="34" charset="-122"/>
                <a:cs typeface="IBM Plex Sans" pitchFamily="34" charset="-120"/>
              </a:rPr>
              <a:t>main(): criar e iniciar</a:t>
            </a:r>
            <a:endParaRPr lang="en-US" sz="1200" dirty="0">
              <a:latin typeface="IBM Plex Sans" charset="0"/>
              <a:ea typeface="IBM Plex Sans" charset="0"/>
              <a:cs typeface="IBM Plex Sans" charset="0"/>
            </a:endParaRPr>
          </a:p>
        </p:txBody>
      </p:sp>
      <p:sp>
        <p:nvSpPr>
          <p:cNvPr id="7" name="Text 5"/>
          <p:cNvSpPr/>
          <p:nvPr/>
        </p:nvSpPr>
        <p:spPr>
          <a:xfrm>
            <a:off x="812800" y="2086670"/>
            <a:ext cx="4826000" cy="2387600"/>
          </a:xfrm>
          <a:prstGeom prst="roundRect">
            <a:avLst>
              <a:gd name="adj" fmla="val 3191"/>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xOneShotTimer = xTimerCreate( "OneShot",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pdMS_TO_TICKS( 3333 ), pdFALSE,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NULL, prvTimerCallback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xAutoReloadTimer = xTimerCreate( "AutoReload",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pdMS_TO_TICKS( 500 ), pdTRUE,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NULL, prvTimerCallback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xTimerStart( xOneShotTimer,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xTimerStart( xAutoReloadTimer,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vTaskStartScheduler();</a:t>
            </a:r>
            <a:endParaRPr lang="en-US" sz="1200" dirty="0">
              <a:latin typeface="JetBrains Mono" charset="0"/>
              <a:ea typeface="JetBrains Mono" charset="0"/>
              <a:cs typeface="JetBrains Mono" charset="0"/>
            </a:endParaRPr>
          </a:p>
        </p:txBody>
      </p:sp>
      <p:sp>
        <p:nvSpPr>
          <p:cNvPr id="8" name="Text 6"/>
          <p:cNvSpPr/>
          <p:nvPr/>
        </p:nvSpPr>
        <p:spPr>
          <a:xfrm>
            <a:off x="5842000" y="1797050"/>
            <a:ext cx="5703316" cy="227171"/>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66717C"/>
                </a:solidFill>
                <a:latin typeface="IBM Plex Sans" pitchFamily="34" charset="0"/>
                <a:ea typeface="IBM Plex Sans" pitchFamily="34" charset="-122"/>
                <a:cs typeface="IBM Plex Sans" pitchFamily="34" charset="-120"/>
              </a:rPr>
              <a:t>A CALLBACK: O ID GUARDA UM CONTADOR</a:t>
            </a:r>
            <a:endParaRPr lang="en-US" sz="1159" dirty="0">
              <a:latin typeface="IBM Plex Sans" charset="0"/>
              <a:ea typeface="IBM Plex Sans" charset="0"/>
              <a:cs typeface="IBM Plex Sans" charset="0"/>
            </a:endParaRPr>
          </a:p>
        </p:txBody>
      </p:sp>
      <p:sp>
        <p:nvSpPr>
          <p:cNvPr id="9" name="Text 7"/>
          <p:cNvSpPr/>
          <p:nvPr/>
        </p:nvSpPr>
        <p:spPr>
          <a:xfrm>
            <a:off x="5842000" y="2075061"/>
            <a:ext cx="5537200" cy="2988707"/>
          </a:xfrm>
          <a:prstGeom prst="roundRect">
            <a:avLst>
              <a:gd name="adj" fmla="val 2550"/>
            </a:avLst>
          </a:prstGeom>
          <a:solidFill>
            <a:srgbClr val="14222E"/>
          </a:solidFill>
          <a:ln/>
        </p:spPr>
        <p:txBody>
          <a:bodyPr wrap="none" lIns="130082" tIns="66582" rIns="0" bIns="41182" rtlCol="0" anchor="t">
            <a:normAutofit/>
          </a:bodyPr>
          <a:lstStyle/>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static void prvTimerCallback( TimerHandle_t xTimer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uint32_t ulExecutionCount;</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ulExecutionCount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 uint32_t ) pvTimerGetTimerID( xTimer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ulExecutionCount++;</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vTimerSetTimerID( xTimer,</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 void * ) ulExecutionCount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if( ( xTimer == xAutoReloadTimer ) &amp;&amp;</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 ulExecutionCount == 5 )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 Na daemon task: nunca bloquear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xTimerStop( xTimer, 0 );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    }</a:t>
            </a:r>
            <a:endParaRPr lang="en-US" sz="1136" dirty="0">
              <a:latin typeface="JetBrains Mono" charset="0"/>
              <a:ea typeface="JetBrains Mono" charset="0"/>
              <a:cs typeface="JetBrains Mono" charset="0"/>
            </a:endParaRPr>
          </a:p>
          <a:p>
            <a:pPr algn="l" indent="0" marL="0">
              <a:lnSpc>
                <a:spcPts val="1477"/>
              </a:lnSpc>
              <a:buNone/>
            </a:pPr>
            <a:r>
              <a:rPr lang="en-US" sz="1136" dirty="0">
                <a:solidFill>
                  <a:srgbClr val="E6EAE8"/>
                </a:solidFill>
                <a:latin typeface="JetBrains Mono" pitchFamily="49" charset="0"/>
                <a:ea typeface="JetBrains Mono" pitchFamily="49" charset="-122"/>
                <a:cs typeface="JetBrains Mono" pitchFamily="49" charset="-120"/>
              </a:rPr>
              <a:t>}</a:t>
            </a:r>
            <a:endParaRPr lang="en-US" sz="1136" dirty="0">
              <a:latin typeface="JetBrains Mono" charset="0"/>
              <a:ea typeface="JetBrains Mono" charset="0"/>
              <a:cs typeface="JetBrains Mono" charset="0"/>
            </a:endParaRPr>
          </a:p>
        </p:txBody>
      </p:sp>
      <p:sp>
        <p:nvSpPr>
          <p:cNvPr id="10" name="Text 8"/>
          <p:cNvSpPr/>
          <p:nvPr/>
        </p:nvSpPr>
        <p:spPr>
          <a:xfrm>
            <a:off x="5842000" y="5139928"/>
            <a:ext cx="5703316" cy="429022"/>
          </a:xfrm>
          <a:prstGeom prst="rect">
            <a:avLst/>
          </a:prstGeom>
          <a:noFill/>
          <a:ln/>
        </p:spPr>
        <p:txBody>
          <a:bodyPr wrap="square" lIns="0" tIns="0" rIns="0" bIns="0" rtlCol="0" anchor="t">
            <a:normAutofit/>
          </a:bodyPr>
          <a:lstStyle/>
          <a:p>
            <a:pPr algn="l" indent="0" marL="0">
              <a:lnSpc>
                <a:spcPts val="1612"/>
              </a:lnSpc>
              <a:buNone/>
            </a:pPr>
            <a:r>
              <a:rPr lang="en-US" sz="1151" dirty="0">
                <a:solidFill>
                  <a:srgbClr val="66717C"/>
                </a:solidFill>
                <a:latin typeface="IBM Plex Sans" pitchFamily="34" charset="0"/>
                <a:ea typeface="IBM Plex Sans" pitchFamily="34" charset="-122"/>
                <a:cs typeface="IBM Plex Sans" pitchFamily="34" charset="-120"/>
              </a:rPr>
              <a:t>vTimerSetTimerID() e pvTimerGetTimerID() acedem ao timer diretamente, sem passar pela command queue.</a:t>
            </a:r>
            <a:endParaRPr lang="en-US" sz="1151" dirty="0">
              <a:latin typeface="IBM Plex Sans" charset="0"/>
              <a:ea typeface="IBM Plex Sans" charset="0"/>
              <a:cs typeface="IBM Plex Sans"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xTimerChangePeriod()</a:t>
            </a:r>
            <a:endParaRPr lang="en-US" sz="3200" dirty="0">
              <a:latin typeface="IBM Plex Sans" charset="0"/>
              <a:ea typeface="IBM Plex Sans" charset="0"/>
              <a:cs typeface="IBM Plex Sans" charset="0"/>
            </a:endParaRPr>
          </a:p>
        </p:txBody>
      </p:sp>
      <p:sp>
        <p:nvSpPr>
          <p:cNvPr id="4" name="Text 2"/>
          <p:cNvSpPr/>
          <p:nvPr/>
        </p:nvSpPr>
        <p:spPr>
          <a:xfrm>
            <a:off x="812800" y="1899940"/>
            <a:ext cx="4724400" cy="1107440"/>
          </a:xfrm>
          <a:prstGeom prst="roundRect">
            <a:avLst>
              <a:gd name="adj" fmla="val 6881"/>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xTimerChangePeriod(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TimerHandle_t xTimer,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xNewPeriod,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TickType_t xTicksToWait );</a:t>
            </a:r>
            <a:endParaRPr lang="en-US" sz="1200" dirty="0">
              <a:latin typeface="JetBrains Mono" charset="0"/>
              <a:ea typeface="JetBrains Mono" charset="0"/>
              <a:cs typeface="JetBrains Mono" charset="0"/>
            </a:endParaRPr>
          </a:p>
        </p:txBody>
      </p:sp>
      <p:sp>
        <p:nvSpPr>
          <p:cNvPr id="5" name="Shape 3"/>
          <p:cNvSpPr/>
          <p:nvPr/>
        </p:nvSpPr>
        <p:spPr>
          <a:xfrm>
            <a:off x="815975" y="3137595"/>
            <a:ext cx="4718050" cy="999490"/>
          </a:xfrm>
          <a:prstGeom prst="roundRect">
            <a:avLst>
              <a:gd name="adj" fmla="val 9848"/>
            </a:avLst>
          </a:prstGeom>
          <a:solidFill>
            <a:srgbClr val="FCFBF8"/>
          </a:solidFill>
          <a:ln w="6350">
            <a:solidFill>
              <a:srgbClr val="DCDAD2"/>
            </a:solidFill>
            <a:prstDash val="solid"/>
          </a:ln>
        </p:spPr>
      </p:sp>
      <p:sp>
        <p:nvSpPr>
          <p:cNvPr id="6" name="Text 4"/>
          <p:cNvSpPr/>
          <p:nvPr/>
        </p:nvSpPr>
        <p:spPr>
          <a:xfrm>
            <a:off x="970280" y="3291880"/>
            <a:ext cx="454172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Timer em Running</a:t>
            </a:r>
            <a:endParaRPr lang="en-US" sz="1400" dirty="0">
              <a:latin typeface="IBM Plex Sans" charset="0"/>
              <a:ea typeface="IBM Plex Sans" charset="0"/>
              <a:cs typeface="IBM Plex Sans" charset="0"/>
            </a:endParaRPr>
          </a:p>
        </p:txBody>
      </p:sp>
      <p:sp>
        <p:nvSpPr>
          <p:cNvPr id="7" name="Text 5"/>
          <p:cNvSpPr/>
          <p:nvPr/>
        </p:nvSpPr>
        <p:spPr>
          <a:xfrm>
            <a:off x="970280" y="3556000"/>
            <a:ext cx="45417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Recalcula a expiração com o novo período, a contar do momento da chamada.</a:t>
            </a:r>
            <a:endParaRPr lang="en-US" sz="1200" dirty="0">
              <a:latin typeface="IBM Plex Sans" charset="0"/>
              <a:ea typeface="IBM Plex Sans" charset="0"/>
              <a:cs typeface="IBM Plex Sans" charset="0"/>
            </a:endParaRPr>
          </a:p>
        </p:txBody>
      </p:sp>
      <p:sp>
        <p:nvSpPr>
          <p:cNvPr id="8" name="Shape 6"/>
          <p:cNvSpPr/>
          <p:nvPr/>
        </p:nvSpPr>
        <p:spPr>
          <a:xfrm>
            <a:off x="815975" y="4270375"/>
            <a:ext cx="4718050" cy="786130"/>
          </a:xfrm>
          <a:prstGeom prst="roundRect">
            <a:avLst>
              <a:gd name="adj" fmla="val 12520"/>
            </a:avLst>
          </a:prstGeom>
          <a:solidFill>
            <a:srgbClr val="FCFBF8"/>
          </a:solidFill>
          <a:ln w="6350">
            <a:solidFill>
              <a:srgbClr val="DCDAD2"/>
            </a:solidFill>
            <a:prstDash val="solid"/>
          </a:ln>
        </p:spPr>
      </p:sp>
      <p:sp>
        <p:nvSpPr>
          <p:cNvPr id="9" name="Text 7"/>
          <p:cNvSpPr/>
          <p:nvPr/>
        </p:nvSpPr>
        <p:spPr>
          <a:xfrm>
            <a:off x="970280" y="4424660"/>
            <a:ext cx="454172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Timer em Dormant</a:t>
            </a:r>
            <a:endParaRPr lang="en-US" sz="1400" dirty="0">
              <a:latin typeface="IBM Plex Sans" charset="0"/>
              <a:ea typeface="IBM Plex Sans" charset="0"/>
              <a:cs typeface="IBM Plex Sans" charset="0"/>
            </a:endParaRPr>
          </a:p>
        </p:txBody>
      </p:sp>
      <p:sp>
        <p:nvSpPr>
          <p:cNvPr id="10" name="Text 8"/>
          <p:cNvSpPr/>
          <p:nvPr/>
        </p:nvSpPr>
        <p:spPr>
          <a:xfrm>
            <a:off x="970280" y="4688880"/>
            <a:ext cx="45417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Calcula a expiração e passa a Running: o timer arranca.</a:t>
            </a:r>
            <a:endParaRPr lang="en-US" sz="1200" dirty="0">
              <a:latin typeface="IBM Plex Sans" charset="0"/>
              <a:ea typeface="IBM Plex Sans" charset="0"/>
              <a:cs typeface="IBM Plex Sans" charset="0"/>
            </a:endParaRPr>
          </a:p>
        </p:txBody>
      </p:sp>
      <p:sp>
        <p:nvSpPr>
          <p:cNvPr id="11" name="Text 9"/>
          <p:cNvSpPr/>
          <p:nvPr/>
        </p:nvSpPr>
        <p:spPr>
          <a:xfrm>
            <a:off x="5791200" y="1899940"/>
            <a:ext cx="575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DEMOS DO FREERTOS: O CHECK TIMER PISCA UM LED</a:t>
            </a:r>
            <a:endParaRPr lang="en-US" sz="1200" dirty="0">
              <a:latin typeface="IBM Plex Sans" charset="0"/>
              <a:ea typeface="IBM Plex Sans" charset="0"/>
              <a:cs typeface="IBM Plex Sans" charset="0"/>
            </a:endParaRPr>
          </a:p>
        </p:txBody>
      </p:sp>
      <p:sp>
        <p:nvSpPr>
          <p:cNvPr id="12" name="Text 10"/>
          <p:cNvSpPr/>
          <p:nvPr/>
        </p:nvSpPr>
        <p:spPr>
          <a:xfrm>
            <a:off x="5791200" y="2189460"/>
            <a:ext cx="5588000" cy="3454400"/>
          </a:xfrm>
          <a:prstGeom prst="roundRect">
            <a:avLst>
              <a:gd name="adj" fmla="val 2206"/>
            </a:avLst>
          </a:prstGeom>
          <a:solidFill>
            <a:srgbClr val="14222E"/>
          </a:solidFill>
          <a:ln/>
        </p:spPr>
        <p:txBody>
          <a:bodyPr wrap="none" lIns="1046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LED a cada 3 s se tudo bem; 200 ms se houver erro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const TickType_t xErrorTimerPeriod = pdMS_TO_TICKS( 200 );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prvCheckTimerCallbackFunction(</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TimerHandle_t xTimer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static BaseType_t xErrorDetected = pdFALSE;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if( xErrorDetected == pdFALSE &amp;&amp;</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CheckTasksAreRunningWithoutError() == pdFAIL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xTimerChangePeriod( xTimer,</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xErrorTimerPeriod, 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xErrorDetected = pdTRUE;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ToggleLED();</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3" name="Text 11"/>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14" name="Text 12"/>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126</a:t>
            </a:r>
            <a:endParaRPr lang="en-US" sz="1200" dirty="0">
              <a:latin typeface="IBM Plex Sans" charset="0"/>
              <a:ea typeface="IBM Plex Sans" charset="0"/>
              <a:cs typeface="IBM Plex Sans"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SOFTWARE TIMERS</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xTimerReset()</a:t>
            </a:r>
            <a:endParaRPr lang="en-US" sz="3200" dirty="0">
              <a:latin typeface="IBM Plex Sans" charset="0"/>
              <a:ea typeface="IBM Plex Sans" charset="0"/>
              <a:cs typeface="IBM Plex Sans" charset="0"/>
            </a:endParaRPr>
          </a:p>
        </p:txBody>
      </p:sp>
      <p:sp>
        <p:nvSpPr>
          <p:cNvPr id="4" name="Text 2"/>
          <p:cNvSpPr/>
          <p:nvPr/>
        </p:nvSpPr>
        <p:spPr>
          <a:xfrm>
            <a:off x="812800" y="177294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Reiniciar um timer: a expiração passa a contar a partir do </a:t>
            </a:r>
            <a:r>
              <a:rPr lang="en-US" sz="1500" b="1" dirty="0">
                <a:solidFill>
                  <a:srgbClr val="44505C"/>
                </a:solidFill>
                <a:latin typeface="IBM Plex Sans" pitchFamily="34" charset="0"/>
                <a:ea typeface="IBM Plex Sans" pitchFamily="34" charset="-122"/>
                <a:cs typeface="IBM Plex Sans" pitchFamily="34" charset="-120"/>
              </a:rPr>
              <a:t>reset</a:t>
            </a:r>
            <a:r>
              <a:rPr lang="en-US" sz="1500" dirty="0">
                <a:solidFill>
                  <a:srgbClr val="44505C"/>
                </a:solidFill>
                <a:latin typeface="IBM Plex Sans" pitchFamily="34" charset="0"/>
                <a:ea typeface="IBM Plex Sans" pitchFamily="34" charset="-122"/>
                <a:cs typeface="IBM Plex Sans" pitchFamily="34" charset="-120"/>
              </a:rPr>
              <a:t>, e não do início original. Também inicia um timer em Dormant.</a:t>
            </a:r>
            <a:endParaRPr lang="en-US" sz="1500" dirty="0">
              <a:latin typeface="IBM Plex Sans" charset="0"/>
              <a:ea typeface="IBM Plex Sans" charset="0"/>
              <a:cs typeface="IBM Plex Sans" charset="0"/>
            </a:endParaRPr>
          </a:p>
        </p:txBody>
      </p:sp>
      <p:sp>
        <p:nvSpPr>
          <p:cNvPr id="5" name="Text 3"/>
          <p:cNvSpPr/>
          <p:nvPr/>
        </p:nvSpPr>
        <p:spPr>
          <a:xfrm>
            <a:off x="812800" y="2484140"/>
            <a:ext cx="10566400" cy="518160"/>
          </a:xfrm>
          <a:prstGeom prst="roundRect">
            <a:avLst>
              <a:gd name="adj" fmla="val 14706"/>
            </a:avLst>
          </a:prstGeom>
          <a:solidFill>
            <a:srgbClr val="14222E"/>
          </a:solidFill>
          <a:ln/>
        </p:spPr>
        <p:txBody>
          <a:bodyPr wrap="none" lIns="155482" tIns="130082" rIns="0" bIns="1046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BaseType_t xTimerReset( TimerHandle_t xTimer, TickType_t xTicksToWait );</a:t>
            </a:r>
            <a:endParaRPr lang="en-US" sz="1200" dirty="0">
              <a:latin typeface="JetBrains Mono" charset="0"/>
              <a:ea typeface="JetBrains Mono" charset="0"/>
              <a:cs typeface="JetBrains Mono" charset="0"/>
            </a:endParaRPr>
          </a:p>
        </p:txBody>
      </p:sp>
      <p:pic>
        <p:nvPicPr>
          <p:cNvPr id="6" name="Image 0" descr="Linha temporal em ticks com os disparos de cada timer.">    </p:cNvPr>
          <p:cNvPicPr>
            <a:picLocks noChangeAspect="1"/>
          </p:cNvPicPr>
          <p:nvPr/>
        </p:nvPicPr>
        <p:blipFill>
          <a:blip r:embed="rId1"/>
          <a:srcRect l="0" r="0" t="-31" b="-31"/>
          <a:stretch/>
        </p:blipFill>
        <p:spPr>
          <a:xfrm>
            <a:off x="812800" y="3180060"/>
            <a:ext cx="10566400" cy="1270000"/>
          </a:xfrm>
          <a:prstGeom prst="rect">
            <a:avLst/>
          </a:prstGeom>
        </p:spPr>
      </p:pic>
      <p:sp>
        <p:nvSpPr>
          <p:cNvPr id="7" name="Text 4"/>
          <p:cNvSpPr/>
          <p:nvPr/>
        </p:nvSpPr>
        <p:spPr>
          <a:xfrm>
            <a:off x="812800" y="3478510"/>
            <a:ext cx="2092960" cy="241776"/>
          </a:xfrm>
          <a:prstGeom prst="rect">
            <a:avLst/>
          </a:prstGeom>
          <a:noFill/>
          <a:ln/>
        </p:spPr>
        <p:txBody>
          <a:bodyPr wrap="square" lIns="0" tIns="0" rIns="0" bIns="0" rtlCol="0" anchor="t">
            <a:normAutofit/>
          </a:bodyPr>
          <a:lstStyle/>
          <a:p>
            <a:pPr algn="l" indent="0" marL="0">
              <a:lnSpc>
                <a:spcPts val="1704"/>
              </a:lnSpc>
              <a:buNone/>
            </a:pPr>
            <a:r>
              <a:rPr lang="en-US" sz="1200" b="1" dirty="0">
                <a:solidFill>
                  <a:srgbClr val="D0612A"/>
                </a:solidFill>
                <a:latin typeface="IBM Plex Sans" pitchFamily="34" charset="0"/>
                <a:ea typeface="IBM Plex Sans" pitchFamily="34" charset="-122"/>
                <a:cs typeface="IBM Plex Sans" pitchFamily="34" charset="-120"/>
              </a:rPr>
              <a:t>Timer 1: período 6</a:t>
            </a:r>
            <a:endParaRPr lang="en-US" sz="1200" dirty="0">
              <a:latin typeface="IBM Plex Sans" charset="0"/>
              <a:ea typeface="IBM Plex Sans" charset="0"/>
              <a:cs typeface="IBM Plex Sans" charset="0"/>
            </a:endParaRPr>
          </a:p>
        </p:txBody>
      </p:sp>
      <p:sp>
        <p:nvSpPr>
          <p:cNvPr id="8" name="Text 5"/>
          <p:cNvSpPr/>
          <p:nvPr/>
        </p:nvSpPr>
        <p:spPr>
          <a:xfrm>
            <a:off x="31750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p:txBody>
      </p:sp>
      <p:sp>
        <p:nvSpPr>
          <p:cNvPr id="9" name="Text 6"/>
          <p:cNvSpPr/>
          <p:nvPr/>
        </p:nvSpPr>
        <p:spPr>
          <a:xfrm>
            <a:off x="36576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p:txBody>
      </p:sp>
      <p:sp>
        <p:nvSpPr>
          <p:cNvPr id="10" name="Text 7"/>
          <p:cNvSpPr/>
          <p:nvPr/>
        </p:nvSpPr>
        <p:spPr>
          <a:xfrm>
            <a:off x="41465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p:txBody>
      </p:sp>
      <p:sp>
        <p:nvSpPr>
          <p:cNvPr id="11" name="Text 8"/>
          <p:cNvSpPr/>
          <p:nvPr/>
        </p:nvSpPr>
        <p:spPr>
          <a:xfrm>
            <a:off x="46291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t4</a:t>
            </a:r>
            <a:endParaRPr lang="en-US" sz="1200" dirty="0">
              <a:latin typeface="IBM Plex Sans" charset="0"/>
              <a:ea typeface="IBM Plex Sans" charset="0"/>
              <a:cs typeface="IBM Plex Sans" charset="0"/>
            </a:endParaRPr>
          </a:p>
        </p:txBody>
      </p:sp>
      <p:sp>
        <p:nvSpPr>
          <p:cNvPr id="12" name="Text 9"/>
          <p:cNvSpPr/>
          <p:nvPr/>
        </p:nvSpPr>
        <p:spPr>
          <a:xfrm>
            <a:off x="51181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t5</a:t>
            </a:r>
            <a:endParaRPr lang="en-US" sz="1200" dirty="0">
              <a:latin typeface="IBM Plex Sans" charset="0"/>
              <a:ea typeface="IBM Plex Sans" charset="0"/>
              <a:cs typeface="IBM Plex Sans" charset="0"/>
            </a:endParaRPr>
          </a:p>
        </p:txBody>
      </p:sp>
      <p:sp>
        <p:nvSpPr>
          <p:cNvPr id="13" name="Text 10"/>
          <p:cNvSpPr/>
          <p:nvPr/>
        </p:nvSpPr>
        <p:spPr>
          <a:xfrm>
            <a:off x="56007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t6</a:t>
            </a:r>
            <a:endParaRPr lang="en-US" sz="1200" dirty="0">
              <a:latin typeface="IBM Plex Sans" charset="0"/>
              <a:ea typeface="IBM Plex Sans" charset="0"/>
              <a:cs typeface="IBM Plex Sans" charset="0"/>
            </a:endParaRPr>
          </a:p>
        </p:txBody>
      </p:sp>
      <p:sp>
        <p:nvSpPr>
          <p:cNvPr id="14" name="Text 11"/>
          <p:cNvSpPr/>
          <p:nvPr/>
        </p:nvSpPr>
        <p:spPr>
          <a:xfrm>
            <a:off x="60896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t7</a:t>
            </a:r>
            <a:endParaRPr lang="en-US" sz="1200" dirty="0">
              <a:latin typeface="IBM Plex Sans" charset="0"/>
              <a:ea typeface="IBM Plex Sans" charset="0"/>
              <a:cs typeface="IBM Plex Sans" charset="0"/>
            </a:endParaRPr>
          </a:p>
        </p:txBody>
      </p:sp>
      <p:sp>
        <p:nvSpPr>
          <p:cNvPr id="15" name="Text 12"/>
          <p:cNvSpPr/>
          <p:nvPr/>
        </p:nvSpPr>
        <p:spPr>
          <a:xfrm>
            <a:off x="65722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t8</a:t>
            </a:r>
            <a:endParaRPr lang="en-US" sz="1200" dirty="0">
              <a:latin typeface="IBM Plex Sans" charset="0"/>
              <a:ea typeface="IBM Plex Sans" charset="0"/>
              <a:cs typeface="IBM Plex Sans" charset="0"/>
            </a:endParaRPr>
          </a:p>
        </p:txBody>
      </p:sp>
      <p:sp>
        <p:nvSpPr>
          <p:cNvPr id="16" name="Text 13"/>
          <p:cNvSpPr/>
          <p:nvPr/>
        </p:nvSpPr>
        <p:spPr>
          <a:xfrm>
            <a:off x="70612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t9</a:t>
            </a:r>
            <a:endParaRPr lang="en-US" sz="1200" dirty="0">
              <a:latin typeface="IBM Plex Sans" charset="0"/>
              <a:ea typeface="IBM Plex Sans" charset="0"/>
              <a:cs typeface="IBM Plex Sans" charset="0"/>
            </a:endParaRPr>
          </a:p>
        </p:txBody>
      </p:sp>
      <p:sp>
        <p:nvSpPr>
          <p:cNvPr id="17" name="Text 14"/>
          <p:cNvSpPr/>
          <p:nvPr/>
        </p:nvSpPr>
        <p:spPr>
          <a:xfrm>
            <a:off x="75438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t10</a:t>
            </a:r>
            <a:endParaRPr lang="en-US" sz="1200" dirty="0">
              <a:latin typeface="IBM Plex Sans" charset="0"/>
              <a:ea typeface="IBM Plex Sans" charset="0"/>
              <a:cs typeface="IBM Plex Sans" charset="0"/>
            </a:endParaRPr>
          </a:p>
        </p:txBody>
      </p:sp>
      <p:sp>
        <p:nvSpPr>
          <p:cNvPr id="18" name="Text 15"/>
          <p:cNvSpPr/>
          <p:nvPr/>
        </p:nvSpPr>
        <p:spPr>
          <a:xfrm>
            <a:off x="80327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t11</a:t>
            </a:r>
            <a:endParaRPr lang="en-US" sz="1200" dirty="0">
              <a:latin typeface="IBM Plex Sans" charset="0"/>
              <a:ea typeface="IBM Plex Sans" charset="0"/>
              <a:cs typeface="IBM Plex Sans" charset="0"/>
            </a:endParaRPr>
          </a:p>
        </p:txBody>
      </p:sp>
      <p:sp>
        <p:nvSpPr>
          <p:cNvPr id="19" name="Text 16"/>
          <p:cNvSpPr/>
          <p:nvPr/>
        </p:nvSpPr>
        <p:spPr>
          <a:xfrm>
            <a:off x="85153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t12</a:t>
            </a:r>
            <a:endParaRPr lang="en-US" sz="1200" dirty="0">
              <a:latin typeface="IBM Plex Sans" charset="0"/>
              <a:ea typeface="IBM Plex Sans" charset="0"/>
              <a:cs typeface="IBM Plex Sans" charset="0"/>
            </a:endParaRPr>
          </a:p>
        </p:txBody>
      </p:sp>
      <p:sp>
        <p:nvSpPr>
          <p:cNvPr id="20" name="Text 17"/>
          <p:cNvSpPr/>
          <p:nvPr/>
        </p:nvSpPr>
        <p:spPr>
          <a:xfrm>
            <a:off x="90043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t13</a:t>
            </a:r>
            <a:endParaRPr lang="en-US" sz="1200" dirty="0">
              <a:latin typeface="IBM Plex Sans" charset="0"/>
              <a:ea typeface="IBM Plex Sans" charset="0"/>
              <a:cs typeface="IBM Plex Sans" charset="0"/>
            </a:endParaRPr>
          </a:p>
        </p:txBody>
      </p:sp>
      <p:sp>
        <p:nvSpPr>
          <p:cNvPr id="21" name="Text 18"/>
          <p:cNvSpPr/>
          <p:nvPr/>
        </p:nvSpPr>
        <p:spPr>
          <a:xfrm>
            <a:off x="948690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t14</a:t>
            </a:r>
            <a:endParaRPr lang="en-US" sz="1200" dirty="0">
              <a:latin typeface="IBM Plex Sans" charset="0"/>
              <a:ea typeface="IBM Plex Sans" charset="0"/>
              <a:cs typeface="IBM Plex Sans" charset="0"/>
            </a:endParaRPr>
          </a:p>
        </p:txBody>
      </p:sp>
      <p:sp>
        <p:nvSpPr>
          <p:cNvPr id="22" name="Text 19"/>
          <p:cNvSpPr/>
          <p:nvPr/>
        </p:nvSpPr>
        <p:spPr>
          <a:xfrm>
            <a:off x="99758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t15</a:t>
            </a:r>
            <a:endParaRPr lang="en-US" sz="1200" dirty="0">
              <a:latin typeface="IBM Plex Sans" charset="0"/>
              <a:ea typeface="IBM Plex Sans" charset="0"/>
              <a:cs typeface="IBM Plex Sans" charset="0"/>
            </a:endParaRPr>
          </a:p>
        </p:txBody>
      </p:sp>
      <p:sp>
        <p:nvSpPr>
          <p:cNvPr id="23" name="Text 20"/>
          <p:cNvSpPr/>
          <p:nvPr/>
        </p:nvSpPr>
        <p:spPr>
          <a:xfrm>
            <a:off x="10458450" y="4208760"/>
            <a:ext cx="431800" cy="241776"/>
          </a:xfrm>
          <a:prstGeom prst="rect">
            <a:avLst/>
          </a:prstGeom>
          <a:noFill/>
          <a:ln/>
        </p:spPr>
        <p:txBody>
          <a:bodyPr wrap="square" lIns="0" tIns="0" rIns="0" bIns="0" rtlCol="0" anchor="t">
            <a:normAutofit/>
          </a:bodyPr>
          <a:lstStyle/>
          <a:p>
            <a:pPr algn="ctr" indent="0" marL="0">
              <a:lnSpc>
                <a:spcPts val="1704"/>
              </a:lnSpc>
              <a:buNone/>
            </a:pPr>
            <a:r>
              <a:rPr lang="en-US" sz="1200" dirty="0">
                <a:solidFill>
                  <a:srgbClr val="66717C"/>
                </a:solidFill>
                <a:latin typeface="IBM Plex Sans" pitchFamily="34" charset="0"/>
                <a:ea typeface="IBM Plex Sans" pitchFamily="34" charset="-122"/>
                <a:cs typeface="IBM Plex Sans" pitchFamily="34" charset="-120"/>
              </a:rPr>
              <a:t>t16</a:t>
            </a:r>
            <a:endParaRPr lang="en-US" sz="1200" dirty="0">
              <a:latin typeface="IBM Plex Sans" charset="0"/>
              <a:ea typeface="IBM Plex Sans" charset="0"/>
              <a:cs typeface="IBM Plex Sans" charset="0"/>
            </a:endParaRPr>
          </a:p>
        </p:txBody>
      </p:sp>
      <p:sp>
        <p:nvSpPr>
          <p:cNvPr id="24" name="Text 21"/>
          <p:cNvSpPr/>
          <p:nvPr/>
        </p:nvSpPr>
        <p:spPr>
          <a:xfrm>
            <a:off x="812800" y="462786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Iniciado em t1 (expiraria em t7), reset em t5 (t11) e em t9: expira em </a:t>
            </a:r>
            <a:r>
              <a:rPr lang="en-US" sz="1200" b="1" dirty="0">
                <a:solidFill>
                  <a:srgbClr val="14222E"/>
                </a:solidFill>
                <a:latin typeface="IBM Plex Sans" pitchFamily="34" charset="0"/>
                <a:ea typeface="IBM Plex Sans" pitchFamily="34" charset="-122"/>
                <a:cs typeface="IBM Plex Sans" pitchFamily="34" charset="-120"/>
              </a:rPr>
              <a:t>t15</a:t>
            </a:r>
            <a:r>
              <a:rPr lang="en-US" sz="1200" dirty="0">
                <a:solidFill>
                  <a:srgbClr val="14222E"/>
                </a:solidFill>
                <a:latin typeface="IBM Plex Sans" pitchFamily="34" charset="0"/>
                <a:ea typeface="IBM Plex Sans" pitchFamily="34" charset="-122"/>
                <a:cs typeface="IBM Plex Sans" pitchFamily="34" charset="-120"/>
              </a:rPr>
              <a:t>. Tracejado = expiração que não chegou a acontecer.</a:t>
            </a:r>
            <a:endParaRPr lang="en-US" sz="1200" dirty="0">
              <a:latin typeface="IBM Plex Sans" charset="0"/>
              <a:ea typeface="IBM Plex Sans" charset="0"/>
              <a:cs typeface="IBM Plex Sans" charset="0"/>
            </a:endParaRPr>
          </a:p>
        </p:txBody>
      </p:sp>
      <p:sp>
        <p:nvSpPr>
          <p:cNvPr id="25" name="Text 22"/>
          <p:cNvSpPr/>
          <p:nvPr/>
        </p:nvSpPr>
        <p:spPr>
          <a:xfrm>
            <a:off x="6159500" y="4627860"/>
            <a:ext cx="5219700" cy="629920"/>
          </a:xfrm>
          <a:prstGeom prst="roundRect">
            <a:avLst>
              <a:gd name="adj" fmla="val 12097"/>
            </a:avLst>
          </a:prstGeom>
          <a:solidFill>
            <a:srgbClr val="E3EFEC"/>
          </a:solidFill>
          <a:ln/>
        </p:spPr>
        <p:txBody>
          <a:bodyPr wrap="square" lIns="104682" tIns="79282" rIns="0" bIns="53882" rtlCol="0" anchor="t">
            <a:normAutofit/>
          </a:bodyPr>
          <a:lstStyle/>
          <a:p>
            <a:pPr algn="l" indent="0" marL="0">
              <a:lnSpc>
                <a:spcPts val="1680"/>
              </a:lnSpc>
              <a:buNone/>
            </a:pPr>
            <a:r>
              <a:rPr lang="en-US" sz="1200" b="1" dirty="0">
                <a:solidFill>
                  <a:srgbClr val="14222E"/>
                </a:solidFill>
                <a:latin typeface="IBM Plex Sans" pitchFamily="34" charset="0"/>
                <a:ea typeface="IBM Plex Sans" pitchFamily="34" charset="-122"/>
                <a:cs typeface="IBM Plex Sans" pitchFamily="34" charset="-120"/>
              </a:rPr>
              <a:t>Exemplo:</a:t>
            </a:r>
            <a:r>
              <a:rPr lang="en-US" sz="1200" dirty="0">
                <a:solidFill>
                  <a:srgbClr val="14222E"/>
                </a:solidFill>
                <a:latin typeface="IBM Plex Sans" pitchFamily="34" charset="0"/>
                <a:ea typeface="IBM Plex Sans" pitchFamily="34" charset="-122"/>
                <a:cs typeface="IBM Plex Sans" pitchFamily="34" charset="-120"/>
              </a:rPr>
              <a:t> luz do ecrã de um telemóvel. Cada tecla liga a luz e faz reset a um one-shot; se nada for premido no período, a callback apaga a luz.</a:t>
            </a:r>
            <a:endParaRPr lang="en-US" sz="1200" dirty="0">
              <a:latin typeface="IBM Plex Sans" charset="0"/>
              <a:ea typeface="IBM Plex Sans" charset="0"/>
              <a:cs typeface="IBM Plex Sans" charset="0"/>
            </a:endParaRPr>
          </a:p>
        </p:txBody>
      </p:sp>
      <p:sp>
        <p:nvSpPr>
          <p:cNvPr id="26" name="Text 23"/>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6</a:t>
            </a:r>
            <a:endParaRPr lang="en-US" sz="1200" dirty="0">
              <a:latin typeface="IBM Plex Sans" charset="0"/>
              <a:ea typeface="IBM Plex Sans" charset="0"/>
              <a:cs typeface="IBM Plex Sans" charset="0"/>
            </a:endParaRPr>
          </a:p>
        </p:txBody>
      </p:sp>
      <p:sp>
        <p:nvSpPr>
          <p:cNvPr id="27" name="Text 2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127</a:t>
            </a:r>
            <a:endParaRPr lang="en-US" sz="1200" dirty="0">
              <a:latin typeface="IBM Plex Sans" charset="0"/>
              <a:ea typeface="IBM Plex Sans" charset="0"/>
              <a:cs typeface="IBM Plex Sans"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7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220"/>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Um software timer é um comando para a daemon task: executa uma callback curta, que nunca bloqueia, no momento certo.</a:t>
            </a:r>
            <a:endParaRPr lang="en-US" sz="3200" dirty="0">
              <a:latin typeface="IBM Plex Sans" charset="0"/>
              <a:ea typeface="IBM Plex Sans" charset="0"/>
              <a:cs typeface="IBM Plex Sans" charset="0"/>
            </a:endParaRPr>
          </a:p>
        </p:txBody>
      </p:sp>
      <p:sp>
        <p:nvSpPr>
          <p:cNvPr id="4" name="Text 2"/>
          <p:cNvSpPr/>
          <p:nvPr/>
        </p:nvSpPr>
        <p:spPr>
          <a:xfrm>
            <a:off x="819150" y="2942630"/>
            <a:ext cx="102647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Callback</a:t>
            </a:r>
            <a:endParaRPr lang="en-US" sz="1400" dirty="0">
              <a:latin typeface="IBM Plex Sans" charset="0"/>
              <a:ea typeface="IBM Plex Sans" charset="0"/>
              <a:cs typeface="IBM Plex Sans" charset="0"/>
            </a:endParaRPr>
          </a:p>
        </p:txBody>
      </p:sp>
      <p:sp>
        <p:nvSpPr>
          <p:cNvPr id="5" name="Text 3"/>
          <p:cNvSpPr/>
          <p:nvPr/>
        </p:nvSpPr>
        <p:spPr>
          <a:xfrm>
            <a:off x="1959927" y="2942630"/>
            <a:ext cx="1075769"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One-shot</a:t>
            </a:r>
            <a:endParaRPr lang="en-US" sz="1400" dirty="0">
              <a:latin typeface="IBM Plex Sans" charset="0"/>
              <a:ea typeface="IBM Plex Sans" charset="0"/>
              <a:cs typeface="IBM Plex Sans" charset="0"/>
            </a:endParaRPr>
          </a:p>
        </p:txBody>
      </p:sp>
      <p:sp>
        <p:nvSpPr>
          <p:cNvPr id="6" name="Text 4"/>
          <p:cNvSpPr/>
          <p:nvPr/>
        </p:nvSpPr>
        <p:spPr>
          <a:xfrm>
            <a:off x="3149997" y="2942630"/>
            <a:ext cx="130230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Auto-reload</a:t>
            </a:r>
            <a:endParaRPr lang="en-US" sz="1400" dirty="0">
              <a:latin typeface="IBM Plex Sans" charset="0"/>
              <a:ea typeface="IBM Plex Sans" charset="0"/>
              <a:cs typeface="IBM Plex Sans" charset="0"/>
            </a:endParaRPr>
          </a:p>
        </p:txBody>
      </p:sp>
      <p:sp>
        <p:nvSpPr>
          <p:cNvPr id="7" name="Text 5"/>
          <p:cNvSpPr/>
          <p:nvPr/>
        </p:nvSpPr>
        <p:spPr>
          <a:xfrm>
            <a:off x="4566603" y="2942630"/>
            <a:ext cx="186126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Dormant · Running</a:t>
            </a:r>
            <a:endParaRPr lang="en-US" sz="1400" dirty="0">
              <a:latin typeface="IBM Plex Sans" charset="0"/>
              <a:ea typeface="IBM Plex Sans" charset="0"/>
              <a:cs typeface="IBM Plex Sans" charset="0"/>
            </a:endParaRPr>
          </a:p>
        </p:txBody>
      </p:sp>
      <p:sp>
        <p:nvSpPr>
          <p:cNvPr id="8" name="Text 6"/>
          <p:cNvSpPr/>
          <p:nvPr/>
        </p:nvSpPr>
        <p:spPr>
          <a:xfrm>
            <a:off x="6542167" y="2942630"/>
            <a:ext cx="1392555"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Daemon task</a:t>
            </a:r>
            <a:endParaRPr lang="en-US" sz="1400" dirty="0">
              <a:latin typeface="IBM Plex Sans" charset="0"/>
              <a:ea typeface="IBM Plex Sans" charset="0"/>
              <a:cs typeface="IBM Plex Sans" charset="0"/>
            </a:endParaRPr>
          </a:p>
        </p:txBody>
      </p:sp>
      <p:sp>
        <p:nvSpPr>
          <p:cNvPr id="9" name="Text 7"/>
          <p:cNvSpPr/>
          <p:nvPr/>
        </p:nvSpPr>
        <p:spPr>
          <a:xfrm>
            <a:off x="8049022" y="2942630"/>
            <a:ext cx="220630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Timer command queue</a:t>
            </a:r>
            <a:endParaRPr lang="en-US" sz="1400" dirty="0">
              <a:latin typeface="IBM Plex Sans" charset="0"/>
              <a:ea typeface="IBM Plex Sans" charset="0"/>
              <a:cs typeface="IBM Plex Sans" charset="0"/>
            </a:endParaRPr>
          </a:p>
        </p:txBody>
      </p:sp>
      <p:sp>
        <p:nvSpPr>
          <p:cNvPr id="10" name="Text 8"/>
          <p:cNvSpPr/>
          <p:nvPr/>
        </p:nvSpPr>
        <p:spPr>
          <a:xfrm>
            <a:off x="819150" y="3440410"/>
            <a:ext cx="2571512"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xTimerCreate / xTimerStart</a:t>
            </a:r>
            <a:endParaRPr lang="en-US" sz="1400" dirty="0">
              <a:latin typeface="IBM Plex Sans" charset="0"/>
              <a:ea typeface="IBM Plex Sans" charset="0"/>
              <a:cs typeface="IBM Plex Sans" charset="0"/>
            </a:endParaRPr>
          </a:p>
        </p:txBody>
      </p:sp>
      <p:sp>
        <p:nvSpPr>
          <p:cNvPr id="11" name="Text 9"/>
          <p:cNvSpPr/>
          <p:nvPr/>
        </p:nvSpPr>
        <p:spPr>
          <a:xfrm>
            <a:off x="3504962" y="3440410"/>
            <a:ext cx="103116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Timer ID</a:t>
            </a:r>
            <a:endParaRPr lang="en-US" sz="1400" dirty="0">
              <a:latin typeface="IBM Plex Sans" charset="0"/>
              <a:ea typeface="IBM Plex Sans" charset="0"/>
              <a:cs typeface="IBM Plex Sans" charset="0"/>
            </a:endParaRPr>
          </a:p>
        </p:txBody>
      </p:sp>
      <p:sp>
        <p:nvSpPr>
          <p:cNvPr id="12" name="Text 10"/>
          <p:cNvSpPr/>
          <p:nvPr/>
        </p:nvSpPr>
        <p:spPr>
          <a:xfrm>
            <a:off x="4650423" y="3440410"/>
            <a:ext cx="203581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xTimerChangePeriod</a:t>
            </a:r>
            <a:endParaRPr lang="en-US" sz="1400" dirty="0">
              <a:latin typeface="IBM Plex Sans" charset="0"/>
              <a:ea typeface="IBM Plex Sans" charset="0"/>
              <a:cs typeface="IBM Plex Sans" charset="0"/>
            </a:endParaRPr>
          </a:p>
        </p:txBody>
      </p:sp>
      <p:sp>
        <p:nvSpPr>
          <p:cNvPr id="13" name="Text 11"/>
          <p:cNvSpPr/>
          <p:nvPr/>
        </p:nvSpPr>
        <p:spPr>
          <a:xfrm>
            <a:off x="6800533" y="3440410"/>
            <a:ext cx="1350169"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xTimerReset</a:t>
            </a:r>
            <a:endParaRPr lang="en-US" sz="1400" dirty="0">
              <a:latin typeface="IBM Plex Sans" charset="0"/>
              <a:ea typeface="IBM Plex Sans" charset="0"/>
              <a:cs typeface="IBM Plex Sans" charset="0"/>
            </a:endParaRPr>
          </a:p>
        </p:txBody>
      </p:sp>
      <p:sp>
        <p:nvSpPr>
          <p:cNvPr id="14" name="Text 12"/>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 seguir: troubleshooting e ferramentas de debug.</a:t>
            </a:r>
            <a:endParaRPr lang="en-US" sz="1600" dirty="0">
              <a:latin typeface="IBM Plex Sans" charset="0"/>
              <a:ea typeface="IBM Plex Sans" charset="0"/>
              <a:cs typeface="IBM Plex Sans"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MÓDULO 8</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40"/>
            <a:ext cx="10883392" cy="787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Troubleshooting e debug</a:t>
            </a:r>
            <a:endParaRPr lang="en-US" sz="6000" dirty="0">
              <a:latin typeface="IBM Plex Sans" charset="0"/>
              <a:ea typeface="IBM Plex Sans" charset="0"/>
              <a:cs typeface="IBM Plex Sans" charset="0"/>
            </a:endParaRPr>
          </a:p>
        </p:txBody>
      </p:sp>
      <p:sp>
        <p:nvSpPr>
          <p:cNvPr id="4" name="Text 2"/>
          <p:cNvSpPr/>
          <p:nvPr/>
        </p:nvSpPr>
        <p:spPr>
          <a:xfrm>
            <a:off x="812800" y="2128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Os erros mais comuns e as ferramentas para os encontrar</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702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OS 3 ERROS MAIS COMUNS</a:t>
            </a:r>
            <a:endParaRPr lang="en-US" sz="1200" dirty="0">
              <a:latin typeface="IBM Plex Sans" charset="0"/>
              <a:ea typeface="IBM Plex Sans" charset="0"/>
              <a:cs typeface="IBM Plex Sans" charset="0"/>
            </a:endParaRPr>
          </a:p>
        </p:txBody>
      </p:sp>
      <p:sp>
        <p:nvSpPr>
          <p:cNvPr id="7" name="Text 5"/>
          <p:cNvSpPr/>
          <p:nvPr/>
        </p:nvSpPr>
        <p:spPr>
          <a:xfrm>
            <a:off x="812800" y="515114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Prioridades de interrupção, stack overflow, printf()</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702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OUTROS SINTOMAS</a:t>
            </a:r>
            <a:endParaRPr lang="en-US" sz="1200" dirty="0">
              <a:latin typeface="IBM Plex Sans" charset="0"/>
              <a:ea typeface="IBM Plex Sans" charset="0"/>
              <a:cs typeface="IBM Plex Sans" charset="0"/>
            </a:endParaRPr>
          </a:p>
        </p:txBody>
      </p:sp>
      <p:sp>
        <p:nvSpPr>
          <p:cNvPr id="10" name="Text 8"/>
          <p:cNvSpPr/>
          <p:nvPr/>
        </p:nvSpPr>
        <p:spPr>
          <a:xfrm>
            <a:off x="4402614" y="515114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Crashes no arranque, em ISRs, interrupções desligadas</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702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AS FERRAMENTAS</a:t>
            </a:r>
            <a:endParaRPr lang="en-US" sz="1200" dirty="0">
              <a:latin typeface="IBM Plex Sans" charset="0"/>
              <a:ea typeface="IBM Plex Sans" charset="0"/>
              <a:cs typeface="IBM Plex Sans" charset="0"/>
            </a:endParaRPr>
          </a:p>
        </p:txBody>
      </p:sp>
      <p:sp>
        <p:nvSpPr>
          <p:cNvPr id="13" name="Text 11"/>
          <p:cNvSpPr/>
          <p:nvPr/>
        </p:nvSpPr>
        <p:spPr>
          <a:xfrm>
            <a:off x="7992507"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configASSERT, hooks, run-time stats, trace</a:t>
            </a:r>
            <a:endParaRPr lang="en-US" sz="1200" dirty="0">
              <a:latin typeface="IBM Plex Sans" charset="0"/>
              <a:ea typeface="IBM Plex Sans" charset="0"/>
              <a:cs typeface="IBM Plex Sans" charset="0"/>
            </a:endParaRPr>
          </a:p>
        </p:txBody>
      </p:sp>
      <p:sp>
        <p:nvSpPr>
          <p:cNvPr id="14" name="Text 12"/>
          <p:cNvSpPr/>
          <p:nvPr/>
        </p:nvSpPr>
        <p:spPr>
          <a:xfrm>
            <a:off x="812800" y="58318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capítulos 12 e 13</a:t>
            </a:r>
            <a:endParaRPr lang="en-US" sz="1200" dirty="0">
              <a:latin typeface="IBM Plex Sans" charset="0"/>
              <a:ea typeface="IBM Plex Sans" charset="0"/>
              <a:cs typeface="IBM Plex Sans"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TROUBLESHOOTING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Os três erros mais comuns com o FreeRTOS</a:t>
            </a:r>
            <a:endParaRPr lang="en-US" sz="3200" dirty="0">
              <a:latin typeface="IBM Plex Sans" charset="0"/>
              <a:ea typeface="IBM Plex Sans" charset="0"/>
              <a:cs typeface="IBM Plex Sans" charset="0"/>
            </a:endParaRPr>
          </a:p>
        </p:txBody>
      </p:sp>
      <p:sp>
        <p:nvSpPr>
          <p:cNvPr id="4" name="Shape 2"/>
          <p:cNvSpPr/>
          <p:nvPr/>
        </p:nvSpPr>
        <p:spPr>
          <a:xfrm>
            <a:off x="815975" y="1852315"/>
            <a:ext cx="3414157" cy="2498090"/>
          </a:xfrm>
          <a:prstGeom prst="roundRect">
            <a:avLst>
              <a:gd name="adj" fmla="val 3940"/>
            </a:avLst>
          </a:prstGeom>
          <a:solidFill>
            <a:srgbClr val="FCFBF8"/>
          </a:solidFill>
          <a:ln w="6350">
            <a:solidFill>
              <a:srgbClr val="DCDAD2"/>
            </a:solidFill>
            <a:prstDash val="solid"/>
          </a:ln>
        </p:spPr>
      </p:sp>
      <p:sp>
        <p:nvSpPr>
          <p:cNvPr id="5" name="Text 3"/>
          <p:cNvSpPr/>
          <p:nvPr/>
        </p:nvSpPr>
        <p:spPr>
          <a:xfrm>
            <a:off x="1071880" y="2108200"/>
            <a:ext cx="2989417"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7766A"/>
                </a:solidFill>
                <a:latin typeface="JetBrains Mono" pitchFamily="49" charset="0"/>
                <a:ea typeface="JetBrains Mono" pitchFamily="49" charset="-122"/>
                <a:cs typeface="JetBrains Mono" pitchFamily="49" charset="-120"/>
              </a:rPr>
              <a:t>01</a:t>
            </a:r>
            <a:endParaRPr lang="en-US" sz="2800" dirty="0">
              <a:latin typeface="JetBrains Mono" charset="0"/>
              <a:ea typeface="JetBrains Mono" charset="0"/>
              <a:cs typeface="JetBrains Mono" charset="0"/>
            </a:endParaRPr>
          </a:p>
        </p:txBody>
      </p:sp>
      <p:sp>
        <p:nvSpPr>
          <p:cNvPr id="6" name="Text 4"/>
          <p:cNvSpPr/>
          <p:nvPr/>
        </p:nvSpPr>
        <p:spPr>
          <a:xfrm>
            <a:off x="1071880" y="2682280"/>
            <a:ext cx="298941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Prioridades de interrupção</a:t>
            </a:r>
            <a:endParaRPr lang="en-US" sz="1700" dirty="0">
              <a:latin typeface="IBM Plex Sans" charset="0"/>
              <a:ea typeface="IBM Plex Sans" charset="0"/>
              <a:cs typeface="IBM Plex Sans" charset="0"/>
            </a:endParaRPr>
          </a:p>
        </p:txBody>
      </p:sp>
      <p:sp>
        <p:nvSpPr>
          <p:cNvPr id="7" name="Text 5"/>
          <p:cNvSpPr/>
          <p:nvPr/>
        </p:nvSpPr>
        <p:spPr>
          <a:xfrm>
            <a:off x="1071880" y="3017540"/>
            <a:ext cx="2989417"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causa número um. Com configASSERT() definido, a maioria dos ports apanha-a logo.</a:t>
            </a:r>
            <a:endParaRPr lang="en-US" sz="1300" dirty="0">
              <a:latin typeface="IBM Plex Sans" charset="0"/>
              <a:ea typeface="IBM Plex Sans" charset="0"/>
              <a:cs typeface="IBM Plex Sans" charset="0"/>
            </a:endParaRPr>
          </a:p>
        </p:txBody>
      </p:sp>
      <p:sp>
        <p:nvSpPr>
          <p:cNvPr id="8" name="Text 6"/>
          <p:cNvSpPr/>
          <p:nvPr/>
        </p:nvSpPr>
        <p:spPr>
          <a:xfrm>
            <a:off x="1071880" y="3787180"/>
            <a:ext cx="2902347" cy="307340"/>
          </a:xfrm>
          <a:prstGeom prst="roundRect">
            <a:avLst>
              <a:gd name="adj" fmla="val 20661"/>
            </a:avLst>
          </a:prstGeom>
          <a:solidFill>
            <a:srgbClr val="FBEFE7"/>
          </a:solidFill>
          <a:ln/>
        </p:spPr>
        <p:txBody>
          <a:bodyPr wrap="square" lIns="83001" tIns="32201" rIns="2027" bIns="6801" rtlCol="0" anchor="t">
            <a:normAutofit/>
          </a:bodyPr>
          <a:lstStyle/>
          <a:p>
            <a:pPr algn="l" indent="0" marL="0">
              <a:lnSpc>
                <a:spcPts val="1620"/>
              </a:lnSpc>
              <a:buNone/>
            </a:pPr>
            <a:r>
              <a:rPr lang="en-US" sz="1200" b="1" dirty="0">
                <a:solidFill>
                  <a:srgbClr val="A8491A"/>
                </a:solidFill>
                <a:latin typeface="IBM Plex Sans" pitchFamily="34" charset="0"/>
                <a:ea typeface="IBM Plex Sans" pitchFamily="34" charset="-122"/>
                <a:cs typeface="IBM Plex Sans" pitchFamily="34" charset="-120"/>
              </a:rPr>
              <a:t>Na Pico 2 (RISC-V): não se aplica</a:t>
            </a:r>
            <a:endParaRPr lang="en-US" sz="1200" dirty="0">
              <a:latin typeface="IBM Plex Sans" charset="0"/>
              <a:ea typeface="IBM Plex Sans" charset="0"/>
              <a:cs typeface="IBM Plex Sans" charset="0"/>
            </a:endParaRPr>
          </a:p>
        </p:txBody>
      </p:sp>
      <p:sp>
        <p:nvSpPr>
          <p:cNvPr id="9" name="Shape 7"/>
          <p:cNvSpPr/>
          <p:nvPr/>
        </p:nvSpPr>
        <p:spPr>
          <a:xfrm>
            <a:off x="4388882" y="1852315"/>
            <a:ext cx="3414236" cy="2498090"/>
          </a:xfrm>
          <a:prstGeom prst="roundRect">
            <a:avLst>
              <a:gd name="adj" fmla="val 3940"/>
            </a:avLst>
          </a:prstGeom>
          <a:solidFill>
            <a:srgbClr val="FCFBF8"/>
          </a:solidFill>
          <a:ln w="6350">
            <a:solidFill>
              <a:srgbClr val="DCDAD2"/>
            </a:solidFill>
            <a:prstDash val="solid"/>
          </a:ln>
        </p:spPr>
      </p:sp>
      <p:sp>
        <p:nvSpPr>
          <p:cNvPr id="10" name="Text 8"/>
          <p:cNvSpPr/>
          <p:nvPr/>
        </p:nvSpPr>
        <p:spPr>
          <a:xfrm>
            <a:off x="4644787" y="2108200"/>
            <a:ext cx="2989499"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7766A"/>
                </a:solidFill>
                <a:latin typeface="JetBrains Mono" pitchFamily="49" charset="0"/>
                <a:ea typeface="JetBrains Mono" pitchFamily="49" charset="-122"/>
                <a:cs typeface="JetBrains Mono" pitchFamily="49" charset="-120"/>
              </a:rPr>
              <a:t>02</a:t>
            </a:r>
            <a:endParaRPr lang="en-US" sz="2800" dirty="0">
              <a:latin typeface="JetBrains Mono" charset="0"/>
              <a:ea typeface="JetBrains Mono" charset="0"/>
              <a:cs typeface="JetBrains Mono" charset="0"/>
            </a:endParaRPr>
          </a:p>
        </p:txBody>
      </p:sp>
      <p:sp>
        <p:nvSpPr>
          <p:cNvPr id="11" name="Text 9"/>
          <p:cNvSpPr/>
          <p:nvPr/>
        </p:nvSpPr>
        <p:spPr>
          <a:xfrm>
            <a:off x="4644787" y="2682280"/>
            <a:ext cx="2989499"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Stack overflow</a:t>
            </a:r>
            <a:endParaRPr lang="en-US" sz="1700" dirty="0">
              <a:latin typeface="IBM Plex Sans" charset="0"/>
              <a:ea typeface="IBM Plex Sans" charset="0"/>
              <a:cs typeface="IBM Plex Sans" charset="0"/>
            </a:endParaRPr>
          </a:p>
        </p:txBody>
      </p:sp>
      <p:sp>
        <p:nvSpPr>
          <p:cNvPr id="12" name="Text 10"/>
          <p:cNvSpPr/>
          <p:nvPr/>
        </p:nvSpPr>
        <p:spPr>
          <a:xfrm>
            <a:off x="4644787" y="3017540"/>
            <a:ext cx="298949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A segunda causa. Há API e verificações em run time para a apanhar.</a:t>
            </a:r>
            <a:endParaRPr lang="en-US" sz="1300" dirty="0">
              <a:latin typeface="IBM Plex Sans" charset="0"/>
              <a:ea typeface="IBM Plex Sans" charset="0"/>
              <a:cs typeface="IBM Plex Sans" charset="0"/>
            </a:endParaRPr>
          </a:p>
        </p:txBody>
      </p:sp>
      <p:sp>
        <p:nvSpPr>
          <p:cNvPr id="13" name="Shape 11"/>
          <p:cNvSpPr/>
          <p:nvPr/>
        </p:nvSpPr>
        <p:spPr>
          <a:xfrm>
            <a:off x="7961868" y="1852315"/>
            <a:ext cx="3414157" cy="2498090"/>
          </a:xfrm>
          <a:prstGeom prst="roundRect">
            <a:avLst>
              <a:gd name="adj" fmla="val 3940"/>
            </a:avLst>
          </a:prstGeom>
          <a:solidFill>
            <a:srgbClr val="FCFBF8"/>
          </a:solidFill>
          <a:ln w="6350">
            <a:solidFill>
              <a:srgbClr val="DCDAD2"/>
            </a:solidFill>
            <a:prstDash val="solid"/>
          </a:ln>
        </p:spPr>
      </p:sp>
      <p:sp>
        <p:nvSpPr>
          <p:cNvPr id="14" name="Text 12"/>
          <p:cNvSpPr/>
          <p:nvPr/>
        </p:nvSpPr>
        <p:spPr>
          <a:xfrm>
            <a:off x="8217774" y="2108200"/>
            <a:ext cx="2989417"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7766A"/>
                </a:solidFill>
                <a:latin typeface="JetBrains Mono" pitchFamily="49" charset="0"/>
                <a:ea typeface="JetBrains Mono" pitchFamily="49" charset="-122"/>
                <a:cs typeface="JetBrains Mono" pitchFamily="49" charset="-120"/>
              </a:rPr>
              <a:t>03</a:t>
            </a:r>
            <a:endParaRPr lang="en-US" sz="2800" dirty="0">
              <a:latin typeface="JetBrains Mono" charset="0"/>
              <a:ea typeface="JetBrains Mono" charset="0"/>
              <a:cs typeface="JetBrains Mono" charset="0"/>
            </a:endParaRPr>
          </a:p>
        </p:txBody>
      </p:sp>
      <p:sp>
        <p:nvSpPr>
          <p:cNvPr id="15" name="Text 13"/>
          <p:cNvSpPr/>
          <p:nvPr/>
        </p:nvSpPr>
        <p:spPr>
          <a:xfrm>
            <a:off x="8217774" y="2682280"/>
            <a:ext cx="2989417"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22E"/>
                </a:solidFill>
                <a:latin typeface="IBM Plex Sans" pitchFamily="34" charset="0"/>
                <a:ea typeface="IBM Plex Sans" pitchFamily="34" charset="-122"/>
                <a:cs typeface="IBM Plex Sans" pitchFamily="34" charset="-120"/>
              </a:rPr>
              <a:t>printf() e sprintf()</a:t>
            </a:r>
            <a:endParaRPr lang="en-US" sz="1700" dirty="0">
              <a:latin typeface="IBM Plex Sans" charset="0"/>
              <a:ea typeface="IBM Plex Sans" charset="0"/>
              <a:cs typeface="IBM Plex Sans" charset="0"/>
            </a:endParaRPr>
          </a:p>
        </p:txBody>
      </p:sp>
      <p:sp>
        <p:nvSpPr>
          <p:cNvPr id="16" name="Text 14"/>
          <p:cNvSpPr/>
          <p:nvPr/>
        </p:nvSpPr>
        <p:spPr>
          <a:xfrm>
            <a:off x="8217774" y="3017540"/>
            <a:ext cx="298941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Usar printf() para depurar pode piorar o problema que se procura.</a:t>
            </a:r>
            <a:endParaRPr lang="en-US" sz="1300" dirty="0">
              <a:latin typeface="IBM Plex Sans" charset="0"/>
              <a:ea typeface="IBM Plex Sans" charset="0"/>
              <a:cs typeface="IBM Plex Sans" charset="0"/>
            </a:endParaRPr>
          </a:p>
        </p:txBody>
      </p:sp>
      <p:sp>
        <p:nvSpPr>
          <p:cNvPr id="17" name="Shape 15"/>
          <p:cNvSpPr/>
          <p:nvPr/>
        </p:nvSpPr>
        <p:spPr>
          <a:xfrm>
            <a:off x="812800" y="4607620"/>
            <a:ext cx="10566400" cy="711200"/>
          </a:xfrm>
          <a:prstGeom prst="roundRect">
            <a:avLst>
              <a:gd name="adj" fmla="val 14286"/>
            </a:avLst>
          </a:prstGeom>
          <a:solidFill>
            <a:srgbClr val="E3EFEC"/>
          </a:solidFill>
          <a:ln/>
        </p:spPr>
      </p:sp>
      <p:pic>
        <p:nvPicPr>
          <p:cNvPr id="18" name="Image 0" descr="Lightbulb">    </p:cNvPr>
          <p:cNvPicPr>
            <a:picLocks noChangeAspect="1"/>
          </p:cNvPicPr>
          <p:nvPr/>
        </p:nvPicPr>
        <p:blipFill>
          <a:blip r:embed="rId1"/>
          <a:srcRect l="0" r="0" t="0" b="0"/>
          <a:stretch/>
        </p:blipFill>
        <p:spPr>
          <a:xfrm>
            <a:off x="1016000" y="4785420"/>
            <a:ext cx="355600" cy="355600"/>
          </a:xfrm>
          <a:prstGeom prst="rect">
            <a:avLst/>
          </a:prstGeom>
        </p:spPr>
      </p:pic>
      <p:sp>
        <p:nvSpPr>
          <p:cNvPr id="19" name="Text 16"/>
          <p:cNvSpPr/>
          <p:nvPr/>
        </p:nvSpPr>
        <p:spPr>
          <a:xfrm>
            <a:off x="1524000" y="4829870"/>
            <a:ext cx="99415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22E"/>
                </a:solidFill>
                <a:latin typeface="IBM Plex Sans" pitchFamily="34" charset="0"/>
                <a:ea typeface="IBM Plex Sans" pitchFamily="34" charset="-122"/>
                <a:cs typeface="IBM Plex Sans" pitchFamily="34" charset="-120"/>
              </a:rPr>
              <a:t>Recomendação: ter </a:t>
            </a:r>
            <a:r>
              <a:rPr lang="en-US" sz="1500" b="1" dirty="0">
                <a:solidFill>
                  <a:srgbClr val="14222E"/>
                </a:solidFill>
                <a:latin typeface="IBM Plex Sans" pitchFamily="34" charset="0"/>
                <a:ea typeface="IBM Plex Sans" pitchFamily="34" charset="-122"/>
                <a:cs typeface="IBM Plex Sans" pitchFamily="34" charset="-120"/>
              </a:rPr>
              <a:t>configASSERT()</a:t>
            </a:r>
            <a:r>
              <a:rPr lang="en-US" sz="1500" dirty="0">
                <a:solidFill>
                  <a:srgbClr val="14222E"/>
                </a:solidFill>
                <a:latin typeface="IBM Plex Sans" pitchFamily="34" charset="0"/>
                <a:ea typeface="IBM Plex Sans" pitchFamily="34" charset="-122"/>
                <a:cs typeface="IBM Plex Sans" pitchFamily="34" charset="-120"/>
              </a:rPr>
              <a:t> sempre definido durante o desenvolvimento e o debug.</a:t>
            </a:r>
            <a:endParaRPr lang="en-US" sz="1500" dirty="0">
              <a:latin typeface="IBM Plex Sans" charset="0"/>
              <a:ea typeface="IBM Plex Sans" charset="0"/>
              <a:cs typeface="IBM Plex Sans" charset="0"/>
            </a:endParaRPr>
          </a:p>
        </p:txBody>
      </p:sp>
      <p:sp>
        <p:nvSpPr>
          <p:cNvPr id="20" name="Text 17"/>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13</a:t>
            </a:r>
            <a:endParaRPr lang="en-US" sz="1200" dirty="0">
              <a:latin typeface="IBM Plex Sans" charset="0"/>
              <a:ea typeface="IBM Plex Sans" charset="0"/>
              <a:cs typeface="IBM Plex Sans" charset="0"/>
            </a:endParaRPr>
          </a:p>
        </p:txBody>
      </p:sp>
      <p:sp>
        <p:nvSpPr>
          <p:cNvPr id="21" name="Text 18"/>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130</a:t>
            </a:r>
            <a:endParaRPr lang="en-US" sz="1200" dirty="0">
              <a:latin typeface="IBM Plex Sans" charset="0"/>
              <a:ea typeface="IBM Plex Sans" charset="0"/>
              <a:cs typeface="IBM Plex Sans"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FERRAMENTAS DE DEBUG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configASSERT()</a:t>
            </a:r>
            <a:endParaRPr lang="en-US" sz="3200" dirty="0">
              <a:latin typeface="IBM Plex Sans" charset="0"/>
              <a:ea typeface="IBM Plex Sans" charset="0"/>
              <a:cs typeface="IBM Plex Sans" charset="0"/>
            </a:endParaRPr>
          </a:p>
        </p:txBody>
      </p:sp>
      <p:sp>
        <p:nvSpPr>
          <p:cNvPr id="4" name="Text 2"/>
          <p:cNvSpPr/>
          <p:nvPr/>
        </p:nvSpPr>
        <p:spPr>
          <a:xfrm>
            <a:off x="812800" y="1899940"/>
            <a:ext cx="47091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Funciona como o assert() do C. O código do FreeRTOS chama-o em muitos pontos; a aplicação define-o no FreeRTOSConfig.h.</a:t>
            </a:r>
            <a:endParaRPr lang="en-US" sz="1300" dirty="0">
              <a:latin typeface="IBM Plex Sans" charset="0"/>
              <a:ea typeface="IBM Plex Sans" charset="0"/>
              <a:cs typeface="IBM Plex Sans" charset="0"/>
            </a:endParaRPr>
          </a:p>
        </p:txBody>
      </p:sp>
      <p:sp>
        <p:nvSpPr>
          <p:cNvPr id="5" name="Text 3"/>
          <p:cNvSpPr/>
          <p:nvPr/>
        </p:nvSpPr>
        <p:spPr>
          <a:xfrm>
            <a:off x="812800" y="2720380"/>
            <a:ext cx="47091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C"/>
                </a:solidFill>
                <a:latin typeface="IBM Plex Sans" pitchFamily="34" charset="0"/>
                <a:ea typeface="IBM Plex Sans" pitchFamily="34" charset="-122"/>
                <a:cs typeface="IBM Plex Sans" pitchFamily="34" charset="-120"/>
              </a:rPr>
              <a:t>Uma assertion falhada é um </a:t>
            </a:r>
            <a:r>
              <a:rPr lang="en-US" sz="1300" b="1" dirty="0">
                <a:solidFill>
                  <a:srgbClr val="44505C"/>
                </a:solidFill>
                <a:latin typeface="IBM Plex Sans" pitchFamily="34" charset="0"/>
                <a:ea typeface="IBM Plex Sans" pitchFamily="34" charset="-122"/>
                <a:cs typeface="IBM Plex Sans" pitchFamily="34" charset="-120"/>
              </a:rPr>
              <a:t>erro fatal</a:t>
            </a:r>
            <a:r>
              <a:rPr lang="en-US" sz="1300" dirty="0">
                <a:solidFill>
                  <a:srgbClr val="44505C"/>
                </a:solidFill>
                <a:latin typeface="IBM Plex Sans" pitchFamily="34" charset="0"/>
                <a:ea typeface="IBM Plex Sans" pitchFamily="34" charset="-122"/>
                <a:cs typeface="IBM Plex Sans" pitchFamily="34" charset="-120"/>
              </a:rPr>
              <a:t>: não continuar depois dessa linha.</a:t>
            </a:r>
            <a:endParaRPr lang="en-US" sz="1300" dirty="0">
              <a:latin typeface="IBM Plex Sans" charset="0"/>
              <a:ea typeface="IBM Plex Sans" charset="0"/>
              <a:cs typeface="IBM Plex Sans" charset="0"/>
            </a:endParaRPr>
          </a:p>
        </p:txBody>
      </p:sp>
      <p:sp>
        <p:nvSpPr>
          <p:cNvPr id="6" name="Text 4"/>
          <p:cNvSpPr/>
          <p:nvPr/>
        </p:nvSpPr>
        <p:spPr>
          <a:xfrm>
            <a:off x="812800" y="3309640"/>
            <a:ext cx="47091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6717C"/>
                </a:solidFill>
                <a:latin typeface="IBM Plex Sans" pitchFamily="34" charset="0"/>
                <a:ea typeface="IBM Plex Sans" pitchFamily="34" charset="-122"/>
                <a:cs typeface="IBM Plex Sans" pitchFamily="34" charset="-120"/>
              </a:rPr>
              <a:t>Custo: mais código e execução mais lenta. Sem definição, as chamadas desaparecem no pré-processador.</a:t>
            </a:r>
            <a:endParaRPr lang="en-US" sz="1300" dirty="0">
              <a:latin typeface="IBM Plex Sans" charset="0"/>
              <a:ea typeface="IBM Plex Sans" charset="0"/>
              <a:cs typeface="IBM Plex Sans" charset="0"/>
            </a:endParaRPr>
          </a:p>
        </p:txBody>
      </p:sp>
      <p:sp>
        <p:nvSpPr>
          <p:cNvPr id="7" name="Text 5"/>
          <p:cNvSpPr/>
          <p:nvPr/>
        </p:nvSpPr>
        <p:spPr>
          <a:xfrm>
            <a:off x="812800" y="3898900"/>
            <a:ext cx="47091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COM DEBUGGER: PARAR NA LINHA QUE FALHOU</a:t>
            </a:r>
            <a:endParaRPr lang="en-US" sz="1200" dirty="0">
              <a:latin typeface="IBM Plex Sans" charset="0"/>
              <a:ea typeface="IBM Plex Sans" charset="0"/>
              <a:cs typeface="IBM Plex Sans" charset="0"/>
            </a:endParaRPr>
          </a:p>
        </p:txBody>
      </p:sp>
      <p:sp>
        <p:nvSpPr>
          <p:cNvPr id="8" name="Text 6"/>
          <p:cNvSpPr/>
          <p:nvPr/>
        </p:nvSpPr>
        <p:spPr>
          <a:xfrm>
            <a:off x="812800" y="4239320"/>
            <a:ext cx="4572000" cy="894080"/>
          </a:xfrm>
          <a:prstGeom prst="roundRect">
            <a:avLst>
              <a:gd name="adj" fmla="val 8523"/>
            </a:avLst>
          </a:prstGeom>
          <a:solidFill>
            <a:srgbClr val="14222E"/>
          </a:solidFill>
          <a:ln/>
        </p:spPr>
        <p:txBody>
          <a:bodyPr wrap="none" lIns="130082" tIns="104682" rIns="2066"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configASSERT( x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if( ( x ) == 0 )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taskDISABLE_INTERRUPTS(); for( ;; ); }</a:t>
            </a:r>
            <a:endParaRPr lang="en-US" sz="1200" dirty="0">
              <a:latin typeface="JetBrains Mono" charset="0"/>
              <a:ea typeface="JetBrains Mono" charset="0"/>
              <a:cs typeface="JetBrains Mono" charset="0"/>
            </a:endParaRPr>
          </a:p>
        </p:txBody>
      </p:sp>
      <p:sp>
        <p:nvSpPr>
          <p:cNvPr id="9" name="Text 7"/>
          <p:cNvSpPr/>
          <p:nvPr/>
        </p:nvSpPr>
        <p:spPr>
          <a:xfrm>
            <a:off x="5638800" y="1899940"/>
            <a:ext cx="59126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SEM DEBUGGER: REGISTAR FICHEIRO E LINHA</a:t>
            </a:r>
            <a:endParaRPr lang="en-US" sz="1200" dirty="0">
              <a:latin typeface="IBM Plex Sans" charset="0"/>
              <a:ea typeface="IBM Plex Sans" charset="0"/>
              <a:cs typeface="IBM Plex Sans" charset="0"/>
            </a:endParaRPr>
          </a:p>
        </p:txBody>
      </p:sp>
      <p:sp>
        <p:nvSpPr>
          <p:cNvPr id="10" name="Text 8"/>
          <p:cNvSpPr/>
          <p:nvPr/>
        </p:nvSpPr>
        <p:spPr>
          <a:xfrm>
            <a:off x="5638800" y="2189460"/>
            <a:ext cx="5740400" cy="3027680"/>
          </a:xfrm>
          <a:prstGeom prst="roundRect">
            <a:avLst>
              <a:gd name="adj" fmla="val 2517"/>
            </a:avLst>
          </a:prstGeom>
          <a:solidFill>
            <a:srgbClr val="14222E"/>
          </a:solidFill>
          <a:ln/>
        </p:spPr>
        <p:txBody>
          <a:bodyPr wrap="none" lIns="1300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FreeRTOSConfig.h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extern void vAssertCalled( const char *pcFile,</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unsigned long ulLine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configASSERT( x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if( ( x ) == 0 ) vAssertCalled( __FILE__, __LINE__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Num ficheiro .c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vAssertCalled( const char *pcFile, uint32_t ulLine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RecordErrorInformationHere( pcFile, ulLine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taskDISABLE_INTERRUPTS();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1" name="Text 9"/>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12</a:t>
            </a:r>
            <a:endParaRPr lang="en-US" sz="1200" dirty="0">
              <a:latin typeface="IBM Plex Sans" charset="0"/>
              <a:ea typeface="IBM Plex Sans" charset="0"/>
              <a:cs typeface="IBM Plex Sans" charset="0"/>
            </a:endParaRPr>
          </a:p>
        </p:txBody>
      </p:sp>
      <p:sp>
        <p:nvSpPr>
          <p:cNvPr id="12" name="Text 10"/>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131</a:t>
            </a:r>
            <a:endParaRPr lang="en-US" sz="1200" dirty="0">
              <a:latin typeface="IBM Plex Sans" charset="0"/>
              <a:ea typeface="IBM Plex Sans" charset="0"/>
              <a:cs typeface="IBM Plex Sans"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21059"/>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17766A"/>
                </a:solidFill>
                <a:latin typeface="IBM Plex Sans" pitchFamily="34" charset="0"/>
                <a:ea typeface="IBM Plex Sans" pitchFamily="34" charset="-122"/>
                <a:cs typeface="IBM Plex Sans" pitchFamily="34" charset="-120"/>
              </a:rPr>
              <a:t>TROUBLESHOOTING</a:t>
            </a:r>
            <a:endParaRPr lang="en-US" sz="1121" dirty="0">
              <a:latin typeface="IBM Plex Sans" charset="0"/>
              <a:ea typeface="IBM Plex Sans" charset="0"/>
              <a:cs typeface="IBM Plex Sans" charset="0"/>
            </a:endParaRPr>
          </a:p>
        </p:txBody>
      </p:sp>
      <p:sp>
        <p:nvSpPr>
          <p:cNvPr id="3" name="Text 1"/>
          <p:cNvSpPr/>
          <p:nvPr>
            <p:ph type="title"/>
          </p:nvPr>
        </p:nvSpPr>
        <p:spPr>
          <a:xfrm>
            <a:off x="812800" y="1110059"/>
            <a:ext cx="10883392" cy="453866"/>
          </a:xfrm>
          <a:prstGeom prst="rect">
            <a:avLst/>
          </a:prstGeom>
          <a:noFill/>
          <a:ln/>
        </p:spPr>
        <p:txBody>
          <a:bodyPr wrap="square" lIns="0" tIns="0" rIns="0" bIns="0" rtlCol="0" anchor="t">
            <a:normAutofit/>
          </a:bodyPr>
          <a:lstStyle/>
          <a:p>
            <a:pPr algn="l" indent="0" marL="0">
              <a:lnSpc>
                <a:spcPts val="3370"/>
              </a:lnSpc>
              <a:buNone/>
            </a:pPr>
            <a:r>
              <a:rPr lang="en-US" sz="2930" b="1" i="0" dirty="0">
                <a:solidFill>
                  <a:srgbClr val="14222E"/>
                </a:solidFill>
                <a:latin typeface="IBM Plex Sans" pitchFamily="34" charset="0"/>
                <a:ea typeface="IBM Plex Sans" pitchFamily="34" charset="-122"/>
                <a:cs typeface="IBM Plex Sans" pitchFamily="34" charset="-120"/>
              </a:rPr>
              <a:t>01 · Prioridades de interrupção</a:t>
            </a:r>
            <a:endParaRPr lang="en-US" sz="2930" dirty="0">
              <a:latin typeface="IBM Plex Sans" charset="0"/>
              <a:ea typeface="IBM Plex Sans" charset="0"/>
              <a:cs typeface="IBM Plex Sans" charset="0"/>
            </a:endParaRPr>
          </a:p>
        </p:txBody>
      </p:sp>
      <p:sp>
        <p:nvSpPr>
          <p:cNvPr id="4" name="Text 2"/>
          <p:cNvSpPr/>
          <p:nvPr/>
        </p:nvSpPr>
        <p:spPr>
          <a:xfrm>
            <a:off x="812800" y="1741785"/>
            <a:ext cx="10883392" cy="487204"/>
          </a:xfrm>
          <a:prstGeom prst="rect">
            <a:avLst/>
          </a:prstGeom>
          <a:noFill/>
          <a:ln/>
        </p:spPr>
        <p:txBody>
          <a:bodyPr wrap="square" lIns="0" tIns="0" rIns="0" bIns="0" rtlCol="0" anchor="t">
            <a:normAutofit/>
          </a:bodyPr>
          <a:lstStyle/>
          <a:p>
            <a:pPr algn="l" indent="0" marL="0">
              <a:lnSpc>
                <a:spcPts val="1831"/>
              </a:lnSpc>
              <a:buNone/>
            </a:pPr>
            <a:r>
              <a:rPr lang="en-US" sz="1308" dirty="0">
                <a:solidFill>
                  <a:srgbClr val="44505C"/>
                </a:solidFill>
                <a:latin typeface="IBM Plex Sans" pitchFamily="34" charset="0"/>
                <a:ea typeface="IBM Plex Sans" pitchFamily="34" charset="-122"/>
                <a:cs typeface="IBM Plex Sans" pitchFamily="34" charset="-120"/>
              </a:rPr>
              <a:t>Com nesting, uma ISR que usa a API tem de ter prioridade </a:t>
            </a:r>
            <a:r>
              <a:rPr lang="en-US" sz="1308" b="1" dirty="0">
                <a:solidFill>
                  <a:srgbClr val="44505C"/>
                </a:solidFill>
                <a:latin typeface="IBM Plex Sans" pitchFamily="34" charset="0"/>
                <a:ea typeface="IBM Plex Sans" pitchFamily="34" charset="-122"/>
                <a:cs typeface="IBM Plex Sans" pitchFamily="34" charset="-120"/>
              </a:rPr>
              <a:t>igual ou inferior</a:t>
            </a:r>
            <a:r>
              <a:rPr lang="en-US" sz="1308" dirty="0">
                <a:solidFill>
                  <a:srgbClr val="44505C"/>
                </a:solidFill>
                <a:latin typeface="IBM Plex Sans" pitchFamily="34" charset="0"/>
                <a:ea typeface="IBM Plex Sans" pitchFamily="34" charset="-122"/>
                <a:cs typeface="IBM Plex Sans" pitchFamily="34" charset="-120"/>
              </a:rPr>
              <a:t> (logicamente) a </a:t>
            </a:r>
            <a:r>
              <a:rPr lang="en-US" sz="1308" b="1" dirty="0">
                <a:solidFill>
                  <a:srgbClr val="14222E"/>
                </a:solidFill>
                <a:latin typeface="IBM Plex Sans" pitchFamily="34" charset="0"/>
                <a:ea typeface="IBM Plex Sans" pitchFamily="34" charset="-122"/>
                <a:cs typeface="IBM Plex Sans" pitchFamily="34" charset="-120"/>
              </a:rPr>
              <a:t>configMAX_SYSCALL_INTERRUPT_PRIORITY</a:t>
            </a:r>
            <a:r>
              <a:rPr lang="en-US" sz="1308" dirty="0">
                <a:solidFill>
                  <a:srgbClr val="44505C"/>
                </a:solidFill>
                <a:latin typeface="IBM Plex Sans" pitchFamily="34" charset="0"/>
                <a:ea typeface="IBM Plex Sans" pitchFamily="34" charset="-122"/>
                <a:cs typeface="IBM Plex Sans" pitchFamily="34" charset="-120"/>
              </a:rPr>
              <a:t>. Senão interrompe o kernel a meio de uma critical section: falhas intermitentes.</a:t>
            </a:r>
            <a:endParaRPr lang="en-US" sz="1308" dirty="0">
              <a:latin typeface="IBM Plex Sans" charset="0"/>
              <a:ea typeface="IBM Plex Sans" charset="0"/>
              <a:cs typeface="IBM Plex Sans" charset="0"/>
            </a:endParaRPr>
          </a:p>
        </p:txBody>
      </p:sp>
      <p:sp>
        <p:nvSpPr>
          <p:cNvPr id="5" name="Shape 3"/>
          <p:cNvSpPr/>
          <p:nvPr/>
        </p:nvSpPr>
        <p:spPr>
          <a:xfrm>
            <a:off x="815975" y="2409924"/>
            <a:ext cx="5200650" cy="3428921"/>
          </a:xfrm>
          <a:prstGeom prst="roundRect">
            <a:avLst>
              <a:gd name="adj" fmla="val 2870"/>
            </a:avLst>
          </a:prstGeom>
          <a:solidFill>
            <a:srgbClr val="FCFBF8"/>
          </a:solidFill>
          <a:ln w="6350">
            <a:solidFill>
              <a:srgbClr val="DCDAD2"/>
            </a:solidFill>
            <a:prstDash val="solid"/>
          </a:ln>
        </p:spPr>
      </p:sp>
      <p:sp>
        <p:nvSpPr>
          <p:cNvPr id="6" name="Text 4"/>
          <p:cNvSpPr/>
          <p:nvPr/>
        </p:nvSpPr>
        <p:spPr>
          <a:xfrm>
            <a:off x="995680" y="2564209"/>
            <a:ext cx="4986477"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7766A"/>
                </a:solidFill>
                <a:latin typeface="IBM Plex Sans" pitchFamily="34" charset="0"/>
                <a:ea typeface="IBM Plex Sans" pitchFamily="34" charset="-122"/>
                <a:cs typeface="IBM Plex Sans" pitchFamily="34" charset="-120"/>
              </a:rPr>
              <a:t>CORTEX-M: O ERRO DO LIVRO</a:t>
            </a:r>
            <a:endParaRPr lang="en-US" sz="1100" dirty="0">
              <a:latin typeface="IBM Plex Sans" charset="0"/>
              <a:ea typeface="IBM Plex Sans" charset="0"/>
              <a:cs typeface="IBM Plex Sans" charset="0"/>
            </a:endParaRPr>
          </a:p>
        </p:txBody>
      </p:sp>
      <p:sp>
        <p:nvSpPr>
          <p:cNvPr id="7" name="Text 5"/>
          <p:cNvSpPr/>
          <p:nvPr/>
        </p:nvSpPr>
        <p:spPr>
          <a:xfrm>
            <a:off x="1160780" y="2823270"/>
            <a:ext cx="4816424" cy="2585720"/>
          </a:xfrm>
          <a:prstGeom prst="rect">
            <a:avLst/>
          </a:prstGeom>
          <a:noFill/>
          <a:ln/>
        </p:spPr>
        <p:txBody>
          <a:bodyPr wrap="square" lIns="0" tIns="0" rIns="0" bIns="0" rtlCol="0" anchor="t">
            <a:normAutofit/>
          </a:bodyPr>
          <a:lstStyle/>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Prioridade por omissão = a mais alta (0): uma ISR que usa a API não pode ficar por configurar</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Número alto = prioridade lógica baixa: com MAX_SYSCALL = 5, a ISR pode ter 5 ou 6, nunca 3</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Bits deslocados ou não, 3 ou 4 bits por fabricante: todos para preempção</a:t>
            </a:r>
            <a:endParaRPr lang="en-US" sz="1600" dirty="0">
              <a:latin typeface="IBM Plex Sans" charset="0"/>
              <a:ea typeface="IBM Plex Sans" charset="0"/>
              <a:cs typeface="IBM Plex Sans" charset="0"/>
            </a:endParaRPr>
          </a:p>
          <a:p>
            <a:pPr algn="l" marL="243840" indent="-196342">
              <a:lnSpc>
                <a:spcPts val="2240"/>
              </a:lnSpc>
              <a:buSzPct val="100000"/>
              <a:buChar char="•"/>
            </a:pPr>
            <a:r>
              <a:rPr lang="en-US" sz="1600" dirty="0">
                <a:solidFill>
                  <a:srgbClr val="14222E"/>
                </a:solidFill>
                <a:latin typeface="IBM Plex Sans" pitchFamily="34" charset="0"/>
                <a:ea typeface="IBM Plex Sans" pitchFamily="34" charset="-122"/>
                <a:cs typeface="IBM Plex Sans" pitchFamily="34" charset="-120"/>
              </a:rPr>
              <a:t>configASSERT() apanha-o em quase todos os ports</a:t>
            </a:r>
            <a:endParaRPr lang="en-US" sz="1600" dirty="0">
              <a:latin typeface="IBM Plex Sans" charset="0"/>
              <a:ea typeface="IBM Plex Sans" charset="0"/>
              <a:cs typeface="IBM Plex Sans" charset="0"/>
            </a:endParaRPr>
          </a:p>
        </p:txBody>
      </p:sp>
      <p:sp>
        <p:nvSpPr>
          <p:cNvPr id="8" name="Shape 6"/>
          <p:cNvSpPr/>
          <p:nvPr/>
        </p:nvSpPr>
        <p:spPr>
          <a:xfrm>
            <a:off x="6175375" y="2409924"/>
            <a:ext cx="5200650" cy="3428921"/>
          </a:xfrm>
          <a:prstGeom prst="roundRect">
            <a:avLst>
              <a:gd name="adj" fmla="val 2870"/>
            </a:avLst>
          </a:prstGeom>
          <a:solidFill>
            <a:srgbClr val="FCFBF8"/>
          </a:solidFill>
          <a:ln w="6350">
            <a:solidFill>
              <a:srgbClr val="DCDAD2"/>
            </a:solidFill>
            <a:prstDash val="solid"/>
          </a:ln>
        </p:spPr>
      </p:sp>
      <p:sp>
        <p:nvSpPr>
          <p:cNvPr id="9" name="Text 7"/>
          <p:cNvSpPr/>
          <p:nvPr/>
        </p:nvSpPr>
        <p:spPr>
          <a:xfrm>
            <a:off x="6355080" y="2564209"/>
            <a:ext cx="4986477" cy="205184"/>
          </a:xfrm>
          <a:prstGeom prst="rect">
            <a:avLst/>
          </a:prstGeom>
          <a:noFill/>
          <a:ln/>
        </p:spPr>
        <p:txBody>
          <a:bodyPr wrap="square" lIns="0" tIns="0" rIns="0" bIns="0" rtlCol="0" anchor="t">
            <a:normAutofit/>
          </a:bodyPr>
          <a:lstStyle/>
          <a:p>
            <a:pPr algn="l" indent="0" marL="0">
              <a:lnSpc>
                <a:spcPts val="1425"/>
              </a:lnSpc>
              <a:buNone/>
            </a:pPr>
            <a:r>
              <a:rPr lang="en-US" sz="1018" b="1" spc="100" kern="0" dirty="0">
                <a:solidFill>
                  <a:srgbClr val="D0612A"/>
                </a:solidFill>
                <a:latin typeface="IBM Plex Sans" pitchFamily="34" charset="0"/>
                <a:ea typeface="IBM Plex Sans" pitchFamily="34" charset="-122"/>
                <a:cs typeface="IBM Plex Sans" pitchFamily="34" charset="-120"/>
              </a:rPr>
              <a:t>PICO 2 (RISC-V): NESTING É OPCIONAL</a:t>
            </a:r>
            <a:endParaRPr lang="en-US" sz="1018" dirty="0">
              <a:latin typeface="IBM Plex Sans" charset="0"/>
              <a:ea typeface="IBM Plex Sans" charset="0"/>
              <a:cs typeface="IBM Plex Sans" charset="0"/>
            </a:endParaRPr>
          </a:p>
        </p:txBody>
      </p:sp>
      <p:sp>
        <p:nvSpPr>
          <p:cNvPr id="10" name="Text 8"/>
          <p:cNvSpPr/>
          <p:nvPr/>
        </p:nvSpPr>
        <p:spPr>
          <a:xfrm>
            <a:off x="6520180" y="2807494"/>
            <a:ext cx="4816424" cy="2902426"/>
          </a:xfrm>
          <a:prstGeom prst="rect">
            <a:avLst/>
          </a:prstGeom>
          <a:noFill/>
          <a:ln/>
        </p:spPr>
        <p:txBody>
          <a:bodyPr wrap="square" lIns="0" tIns="0" rIns="0" bIns="0" rtlCol="0" anchor="t">
            <a:normAutofit/>
          </a:bodyPr>
          <a:lstStyle/>
          <a:p>
            <a:pPr algn="l" marL="224028" indent="-182651">
              <a:lnSpc>
                <a:spcPts val="2058"/>
              </a:lnSpc>
              <a:buSzPct val="100000"/>
              <a:buChar char="•"/>
            </a:pPr>
            <a:r>
              <a:rPr lang="en-US" sz="1470" dirty="0">
                <a:solidFill>
                  <a:srgbClr val="14222E"/>
                </a:solidFill>
                <a:latin typeface="IBM Plex Sans" pitchFamily="34" charset="0"/>
                <a:ea typeface="IBM Plex Sans" pitchFamily="34" charset="-122"/>
                <a:cs typeface="IBM Plex Sans" pitchFamily="34" charset="-120"/>
              </a:rPr>
              <a:t>Por omissão, sem nesting: a prioridade só escolhe qual ISR pendente corre primeiro</a:t>
            </a:r>
            <a:endParaRPr lang="en-US" sz="1470" dirty="0">
              <a:latin typeface="IBM Plex Sans" charset="0"/>
              <a:ea typeface="IBM Plex Sans" charset="0"/>
              <a:cs typeface="IBM Plex Sans" charset="0"/>
            </a:endParaRPr>
          </a:p>
          <a:p>
            <a:pPr algn="l" marL="224028" indent="-182651">
              <a:lnSpc>
                <a:spcPts val="2058"/>
              </a:lnSpc>
              <a:buSzPct val="100000"/>
              <a:buChar char="•"/>
            </a:pPr>
            <a:r>
              <a:rPr lang="en-US" sz="1470" dirty="0">
                <a:solidFill>
                  <a:srgbClr val="14222E"/>
                </a:solidFill>
                <a:latin typeface="IBM Plex Sans" pitchFamily="34" charset="0"/>
                <a:ea typeface="IBM Plex Sans" pitchFamily="34" charset="-122"/>
                <a:cs typeface="IBM Plex Sans" pitchFamily="34" charset="-120"/>
              </a:rPr>
              <a:t>Com </a:t>
            </a:r>
            <a:r>
              <a:rPr lang="en-US" sz="1470" b="1" dirty="0">
                <a:solidFill>
                  <a:srgbClr val="14222E"/>
                </a:solidFill>
                <a:latin typeface="IBM Plex Sans" pitchFamily="34" charset="0"/>
                <a:ea typeface="IBM Plex Sans" pitchFamily="34" charset="-122"/>
                <a:cs typeface="IBM Plex Sans" pitchFamily="34" charset="-120"/>
              </a:rPr>
              <a:t>portcontextALLOW_NESTED_IRQs = 1</a:t>
            </a:r>
            <a:r>
              <a:rPr lang="en-US" sz="1470" dirty="0">
                <a:solidFill>
                  <a:srgbClr val="14222E"/>
                </a:solidFill>
                <a:latin typeface="IBM Plex Sans" pitchFamily="34" charset="0"/>
                <a:ea typeface="IBM Plex Sans" pitchFamily="34" charset="-122"/>
                <a:cs typeface="IBM Plex Sans" pitchFamily="34" charset="-120"/>
              </a:rPr>
              <a:t> e </a:t>
            </a:r>
            <a:r>
              <a:rPr lang="en-US" sz="1470" b="1" dirty="0">
                <a:solidFill>
                  <a:srgbClr val="14222E"/>
                </a:solidFill>
                <a:latin typeface="IBM Plex Sans" pitchFamily="34" charset="0"/>
                <a:ea typeface="IBM Plex Sans" pitchFamily="34" charset="-122"/>
                <a:cs typeface="IBM Plex Sans" pitchFamily="34" charset="-120"/>
              </a:rPr>
              <a:t>irq_set_priority()</a:t>
            </a:r>
            <a:r>
              <a:rPr lang="en-US" sz="1470" dirty="0">
                <a:solidFill>
                  <a:srgbClr val="14222E"/>
                </a:solidFill>
                <a:latin typeface="IBM Plex Sans" pitchFamily="34" charset="0"/>
                <a:ea typeface="IBM Plex Sans" pitchFamily="34" charset="-122"/>
                <a:cs typeface="IBM Plex Sans" pitchFamily="34" charset="-120"/>
              </a:rPr>
              <a:t>, uma ISR mais prioritária interrompe outra</a:t>
            </a:r>
            <a:endParaRPr lang="en-US" sz="1470" dirty="0">
              <a:latin typeface="IBM Plex Sans" charset="0"/>
              <a:ea typeface="IBM Plex Sans" charset="0"/>
              <a:cs typeface="IBM Plex Sans" charset="0"/>
            </a:endParaRPr>
          </a:p>
          <a:p>
            <a:pPr algn="l" marL="224028" indent="-182651">
              <a:lnSpc>
                <a:spcPts val="2058"/>
              </a:lnSpc>
              <a:buSzPct val="100000"/>
              <a:buChar char="•"/>
            </a:pPr>
            <a:r>
              <a:rPr lang="en-US" sz="1470" dirty="0">
                <a:solidFill>
                  <a:srgbClr val="14222E"/>
                </a:solidFill>
                <a:latin typeface="IBM Plex Sans" pitchFamily="34" charset="0"/>
                <a:ea typeface="IBM Plex Sans" pitchFamily="34" charset="-122"/>
                <a:cs typeface="IBM Plex Sans" pitchFamily="34" charset="-120"/>
              </a:rPr>
              <a:t>Mesmo assim, as critical sections desligam </a:t>
            </a:r>
            <a:r>
              <a:rPr lang="en-US" sz="1470" b="1" dirty="0">
                <a:solidFill>
                  <a:srgbClr val="14222E"/>
                </a:solidFill>
                <a:latin typeface="IBM Plex Sans" pitchFamily="34" charset="0"/>
                <a:ea typeface="IBM Plex Sans" pitchFamily="34" charset="-122"/>
                <a:cs typeface="IBM Plex Sans" pitchFamily="34" charset="-120"/>
              </a:rPr>
              <a:t>todas</a:t>
            </a:r>
            <a:r>
              <a:rPr lang="en-US" sz="1470" dirty="0">
                <a:solidFill>
                  <a:srgbClr val="14222E"/>
                </a:solidFill>
                <a:latin typeface="IBM Plex Sans" pitchFamily="34" charset="0"/>
                <a:ea typeface="IBM Plex Sans" pitchFamily="34" charset="-122"/>
                <a:cs typeface="IBM Plex Sans" pitchFamily="34" charset="-120"/>
              </a:rPr>
              <a:t> as interrupções: qualquer ISR pode usar FromISR, e este erro não existe</a:t>
            </a:r>
            <a:endParaRPr lang="en-US" sz="1470" dirty="0">
              <a:latin typeface="IBM Plex Sans" charset="0"/>
              <a:ea typeface="IBM Plex Sans" charset="0"/>
              <a:cs typeface="IBM Plex Sans" charset="0"/>
            </a:endParaRPr>
          </a:p>
          <a:p>
            <a:pPr algn="l" marL="224028" indent="-182651">
              <a:lnSpc>
                <a:spcPts val="2058"/>
              </a:lnSpc>
              <a:buSzPct val="100000"/>
              <a:buChar char="•"/>
            </a:pPr>
            <a:r>
              <a:rPr lang="en-US" sz="1470" dirty="0">
                <a:solidFill>
                  <a:srgbClr val="14222E"/>
                </a:solidFill>
                <a:latin typeface="IBM Plex Sans" pitchFamily="34" charset="0"/>
                <a:ea typeface="IBM Plex Sans" pitchFamily="34" charset="-122"/>
                <a:cs typeface="IBM Plex Sans" pitchFamily="34" charset="-120"/>
              </a:rPr>
              <a:t>Novos cuidados: stack das ISRs maior, dados partilhados entre ISRs; opção desligada por omissão no port</a:t>
            </a:r>
            <a:endParaRPr lang="en-US" sz="1470" dirty="0">
              <a:latin typeface="IBM Plex Sans" charset="0"/>
              <a:ea typeface="IBM Plex Sans" charset="0"/>
              <a:cs typeface="IBM Plex Sans" charset="0"/>
            </a:endParaRPr>
          </a:p>
        </p:txBody>
      </p:sp>
      <p:sp>
        <p:nvSpPr>
          <p:cNvPr id="11" name="Text 9"/>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13; port RP2350_RISC-V</a:t>
            </a:r>
            <a:endParaRPr lang="en-US" sz="1200" dirty="0">
              <a:latin typeface="IBM Plex Sans" charset="0"/>
              <a:ea typeface="IBM Plex Sans" charset="0"/>
              <a:cs typeface="IBM Plex Sans" charset="0"/>
            </a:endParaRPr>
          </a:p>
        </p:txBody>
      </p:sp>
      <p:sp>
        <p:nvSpPr>
          <p:cNvPr id="12" name="Text 10"/>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132</a:t>
            </a:r>
            <a:endParaRPr lang="en-US" sz="1200" dirty="0">
              <a:latin typeface="IBM Plex Sans" charset="0"/>
              <a:ea typeface="IBM Plex Sans" charset="0"/>
              <a:cs typeface="IBM Plex Sans"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TROUBLESHOOTING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02 · Stack overflow</a:t>
            </a:r>
            <a:endParaRPr lang="en-US" sz="3200" dirty="0">
              <a:latin typeface="IBM Plex Sans" charset="0"/>
              <a:ea typeface="IBM Plex Sans" charset="0"/>
              <a:cs typeface="IBM Plex Sans" charset="0"/>
            </a:endParaRPr>
          </a:p>
        </p:txBody>
      </p:sp>
      <p:sp>
        <p:nvSpPr>
          <p:cNvPr id="4" name="Text 2"/>
          <p:cNvSpPr/>
          <p:nvPr/>
        </p:nvSpPr>
        <p:spPr>
          <a:xfrm>
            <a:off x="812800" y="189994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QUANTO SOBROU, NO PIOR MOMENTO</a:t>
            </a:r>
            <a:endParaRPr lang="en-US" sz="1200" dirty="0">
              <a:latin typeface="IBM Plex Sans" charset="0"/>
              <a:ea typeface="IBM Plex Sans" charset="0"/>
              <a:cs typeface="IBM Plex Sans" charset="0"/>
            </a:endParaRPr>
          </a:p>
        </p:txBody>
      </p:sp>
      <p:sp>
        <p:nvSpPr>
          <p:cNvPr id="5" name="Text 3"/>
          <p:cNvSpPr/>
          <p:nvPr/>
        </p:nvSpPr>
        <p:spPr>
          <a:xfrm>
            <a:off x="812800" y="2214860"/>
            <a:ext cx="4826000" cy="680720"/>
          </a:xfrm>
          <a:prstGeom prst="roundRect">
            <a:avLst>
              <a:gd name="adj" fmla="val 11194"/>
            </a:avLst>
          </a:prstGeom>
          <a:solidFill>
            <a:srgbClr val="14222E"/>
          </a:solidFill>
          <a:ln/>
        </p:spPr>
        <p:txBody>
          <a:bodyPr wrap="none" lIns="1046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UBaseType_t uxTaskGetStackHighWaterMark(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TaskHandle_t xTask );</a:t>
            </a:r>
            <a:endParaRPr lang="en-US" sz="1200" dirty="0">
              <a:latin typeface="JetBrains Mono" charset="0"/>
              <a:ea typeface="JetBrains Mono" charset="0"/>
              <a:cs typeface="JetBrains Mono" charset="0"/>
            </a:endParaRPr>
          </a:p>
        </p:txBody>
      </p:sp>
      <p:sp>
        <p:nvSpPr>
          <p:cNvPr id="6" name="Text 4"/>
          <p:cNvSpPr/>
          <p:nvPr/>
        </p:nvSpPr>
        <p:spPr>
          <a:xfrm>
            <a:off x="812800" y="2997200"/>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Devolve o mínimo de stack livre desde que a task começou. Quanto mais perto de 0, mais perto do overflow. NULL = a própria task.</a:t>
            </a:r>
            <a:endParaRPr lang="en-US" sz="1200" dirty="0">
              <a:latin typeface="IBM Plex Sans" charset="0"/>
              <a:ea typeface="IBM Plex Sans" charset="0"/>
              <a:cs typeface="IBM Plex Sans" charset="0"/>
            </a:endParaRPr>
          </a:p>
        </p:txBody>
      </p:sp>
      <p:sp>
        <p:nvSpPr>
          <p:cNvPr id="7" name="Text 5"/>
          <p:cNvSpPr/>
          <p:nvPr/>
        </p:nvSpPr>
        <p:spPr>
          <a:xfrm>
            <a:off x="812800" y="3525540"/>
            <a:ext cx="4970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HOOK CHAMADO QUANDO É DETETADO</a:t>
            </a:r>
            <a:endParaRPr lang="en-US" sz="1200" dirty="0">
              <a:latin typeface="IBM Plex Sans" charset="0"/>
              <a:ea typeface="IBM Plex Sans" charset="0"/>
              <a:cs typeface="IBM Plex Sans" charset="0"/>
            </a:endParaRPr>
          </a:p>
        </p:txBody>
      </p:sp>
      <p:sp>
        <p:nvSpPr>
          <p:cNvPr id="8" name="Text 6"/>
          <p:cNvSpPr/>
          <p:nvPr/>
        </p:nvSpPr>
        <p:spPr>
          <a:xfrm>
            <a:off x="812800" y="3840460"/>
            <a:ext cx="4826000" cy="680720"/>
          </a:xfrm>
          <a:prstGeom prst="roundRect">
            <a:avLst>
              <a:gd name="adj" fmla="val 11194"/>
            </a:avLst>
          </a:prstGeom>
          <a:solidFill>
            <a:srgbClr val="14222E"/>
          </a:solidFill>
          <a:ln/>
        </p:spPr>
        <p:txBody>
          <a:bodyPr wrap="none" lIns="104682" tIns="104682" rIns="0" bIns="792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void vApplicationStackOverflowHook(</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TaskHandle_t xTask, char *pcTaskName );</a:t>
            </a:r>
            <a:endParaRPr lang="en-US" sz="1200" dirty="0">
              <a:latin typeface="JetBrains Mono" charset="0"/>
              <a:ea typeface="JetBrains Mono" charset="0"/>
              <a:cs typeface="JetBrains Mono" charset="0"/>
            </a:endParaRPr>
          </a:p>
        </p:txBody>
      </p:sp>
      <p:sp>
        <p:nvSpPr>
          <p:cNvPr id="9" name="Text 7"/>
          <p:cNvSpPr/>
          <p:nvPr/>
        </p:nvSpPr>
        <p:spPr>
          <a:xfrm>
            <a:off x="812800" y="4622800"/>
            <a:ext cx="497078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Serve para apanhar e depurar; não há forma real de recuperar. Alguns MCUs dão fault antes de o hook ser chamado.</a:t>
            </a:r>
            <a:endParaRPr lang="en-US" sz="1200" dirty="0">
              <a:latin typeface="IBM Plex Sans" charset="0"/>
              <a:ea typeface="IBM Plex Sans" charset="0"/>
              <a:cs typeface="IBM Plex Sans" charset="0"/>
            </a:endParaRPr>
          </a:p>
        </p:txBody>
      </p:sp>
      <p:sp>
        <p:nvSpPr>
          <p:cNvPr id="10" name="Text 8"/>
          <p:cNvSpPr/>
          <p:nvPr/>
        </p:nvSpPr>
        <p:spPr>
          <a:xfrm>
            <a:off x="5892800" y="1899940"/>
            <a:ext cx="56509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766A"/>
                </a:solidFill>
                <a:latin typeface="IBM Plex Sans" pitchFamily="34" charset="0"/>
                <a:ea typeface="IBM Plex Sans" pitchFamily="34" charset="-122"/>
                <a:cs typeface="IBM Plex Sans" pitchFamily="34" charset="-120"/>
              </a:rPr>
              <a:t>configCHECK_FOR_STACK_OVERFLOW</a:t>
            </a:r>
            <a:endParaRPr lang="en-US" sz="1200" dirty="0">
              <a:latin typeface="IBM Plex Sans" charset="0"/>
              <a:ea typeface="IBM Plex Sans" charset="0"/>
              <a:cs typeface="IBM Plex Sans" charset="0"/>
            </a:endParaRPr>
          </a:p>
        </p:txBody>
      </p:sp>
      <p:sp>
        <p:nvSpPr>
          <p:cNvPr id="11" name="Shape 9"/>
          <p:cNvSpPr/>
          <p:nvPr/>
        </p:nvSpPr>
        <p:spPr>
          <a:xfrm>
            <a:off x="5892800" y="2219940"/>
            <a:ext cx="5486400" cy="0"/>
          </a:xfrm>
          <a:prstGeom prst="line">
            <a:avLst/>
          </a:prstGeom>
          <a:noFill/>
          <a:ln w="10160">
            <a:solidFill>
              <a:srgbClr val="141413">
                <a:alpha val="22000"/>
              </a:srgbClr>
            </a:solidFill>
            <a:prstDash val="solid"/>
          </a:ln>
        </p:spPr>
      </p:sp>
      <p:sp>
        <p:nvSpPr>
          <p:cNvPr id="12" name="Shape 10"/>
          <p:cNvSpPr/>
          <p:nvPr/>
        </p:nvSpPr>
        <p:spPr>
          <a:xfrm>
            <a:off x="5897880" y="2214860"/>
            <a:ext cx="0" cy="2524760"/>
          </a:xfrm>
          <a:prstGeom prst="line">
            <a:avLst/>
          </a:prstGeom>
          <a:noFill/>
          <a:ln w="10160">
            <a:solidFill>
              <a:srgbClr val="141413">
                <a:alpha val="22000"/>
              </a:srgbClr>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04560" y="2288520"/>
          <a:ext cx="5273040" cy="2387600"/>
        </p:xfrm>
        <a:graphic>
          <a:graphicData uri="http://schemas.openxmlformats.org/drawingml/2006/table">
            <a:tbl>
              <a:tblPr/>
              <a:tblGrid>
                <a:gridCol w="527304"/>
                <a:gridCol w="2900172"/>
                <a:gridCol w="1845564"/>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Método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Custo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75692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Depois de guardar o contexto numa troca de task, verifica se o stack pointer está dentro da stack.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Rápido; pode falhar overflows entre trocas.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Também verifica se os últimos 20 bytes da stack mantêm o padrão com que foi preenchida.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 pouco mais lento; apanha quase todos.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Verifica a stack das ISRs (só alguns ports). Dispara um assert, não o hook.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Específico do port.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14" name="Text 11"/>
          <p:cNvSpPr/>
          <p:nvPr/>
        </p:nvSpPr>
        <p:spPr>
          <a:xfrm>
            <a:off x="5892800" y="4841280"/>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Os métodos aumentam o tempo de cada troca de contexto.</a:t>
            </a:r>
            <a:endParaRPr lang="en-US" sz="1200" dirty="0">
              <a:latin typeface="IBM Plex Sans" charset="0"/>
              <a:ea typeface="IBM Plex Sans" charset="0"/>
              <a:cs typeface="IBM Plex Sans" charset="0"/>
            </a:endParaRPr>
          </a:p>
        </p:txBody>
      </p:sp>
      <p:sp>
        <p:nvSpPr>
          <p:cNvPr id="15"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13</a:t>
            </a:r>
            <a:endParaRPr lang="en-US" sz="1200" dirty="0">
              <a:latin typeface="IBM Plex Sans" charset="0"/>
              <a:ea typeface="IBM Plex Sans" charset="0"/>
              <a:cs typeface="IBM Plex Sans" charset="0"/>
            </a:endParaRPr>
          </a:p>
        </p:txBody>
      </p:sp>
      <p:sp>
        <p:nvSpPr>
          <p:cNvPr id="16"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133</a:t>
            </a:r>
            <a:endParaRPr lang="en-US" sz="1200" dirty="0">
              <a:latin typeface="IBM Plex Sans" charset="0"/>
              <a:ea typeface="IBM Plex Sans" charset="0"/>
              <a:cs typeface="IBM Plex Sans"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TROUBLESHOOTING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03 · printf() e sprintf()</a:t>
            </a:r>
            <a:endParaRPr lang="en-US" sz="3200" dirty="0">
              <a:latin typeface="IBM Plex Sans" charset="0"/>
              <a:ea typeface="IBM Plex Sans" charset="0"/>
              <a:cs typeface="IBM Plex Sans" charset="0"/>
            </a:endParaRPr>
          </a:p>
        </p:txBody>
      </p:sp>
      <p:sp>
        <p:nvSpPr>
          <p:cNvPr id="4" name="Text 2"/>
          <p:cNvSpPr/>
          <p:nvPr/>
        </p:nvSpPr>
        <p:spPr>
          <a:xfrm>
            <a:off x="812800" y="179834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4505C"/>
                </a:solidFill>
                <a:latin typeface="IBM Plex Sans" pitchFamily="34" charset="0"/>
                <a:ea typeface="IBM Plex Sans" pitchFamily="34" charset="-122"/>
                <a:cs typeface="IBM Plex Sans" pitchFamily="34" charset="-120"/>
              </a:rPr>
              <a:t>Um erro frequente: o printf() causa o problema, e para o depurar acrescentam-se mais printf().</a:t>
            </a:r>
            <a:endParaRPr lang="en-US" sz="1500" dirty="0">
              <a:latin typeface="IBM Plex Sans" charset="0"/>
              <a:ea typeface="IBM Plex Sans" charset="0"/>
              <a:cs typeface="IBM Plex Sans" charset="0"/>
            </a:endParaRPr>
          </a:p>
        </p:txBody>
      </p:sp>
      <p:sp>
        <p:nvSpPr>
          <p:cNvPr id="5" name="Shape 3"/>
          <p:cNvSpPr/>
          <p:nvPr/>
        </p:nvSpPr>
        <p:spPr>
          <a:xfrm>
            <a:off x="815975" y="2271415"/>
            <a:ext cx="2520950" cy="1644650"/>
          </a:xfrm>
          <a:prstGeom prst="roundRect">
            <a:avLst>
              <a:gd name="adj" fmla="val 5985"/>
            </a:avLst>
          </a:prstGeom>
          <a:solidFill>
            <a:srgbClr val="FCFBF8"/>
          </a:solidFill>
          <a:ln w="6350">
            <a:solidFill>
              <a:srgbClr val="DCDAD2"/>
            </a:solidFill>
            <a:prstDash val="solid"/>
          </a:ln>
        </p:spPr>
      </p:sp>
      <p:pic>
        <p:nvPicPr>
          <p:cNvPr id="6" name="Image 0" descr="Users">    </p:cNvPr>
          <p:cNvPicPr>
            <a:picLocks noChangeAspect="1"/>
          </p:cNvPicPr>
          <p:nvPr/>
        </p:nvPicPr>
        <p:blipFill>
          <a:blip r:embed="rId1"/>
          <a:srcRect l="0" r="0" t="0" b="0"/>
          <a:stretch/>
        </p:blipFill>
        <p:spPr>
          <a:xfrm>
            <a:off x="995680" y="2451100"/>
            <a:ext cx="304800" cy="304800"/>
          </a:xfrm>
          <a:prstGeom prst="rect">
            <a:avLst/>
          </a:prstGeom>
        </p:spPr>
      </p:pic>
      <p:sp>
        <p:nvSpPr>
          <p:cNvPr id="7" name="Text 4"/>
          <p:cNvSpPr/>
          <p:nvPr/>
        </p:nvSpPr>
        <p:spPr>
          <a:xfrm>
            <a:off x="995680" y="2819400"/>
            <a:ext cx="222638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Pode não ser thread-safe</a:t>
            </a:r>
            <a:endParaRPr lang="en-US" sz="1400" dirty="0">
              <a:latin typeface="IBM Plex Sans" charset="0"/>
              <a:ea typeface="IBM Plex Sans" charset="0"/>
              <a:cs typeface="IBM Plex Sans" charset="0"/>
            </a:endParaRPr>
          </a:p>
        </p:txBody>
      </p:sp>
      <p:sp>
        <p:nvSpPr>
          <p:cNvPr id="8" name="Text 5"/>
          <p:cNvSpPr/>
          <p:nvPr/>
        </p:nvSpPr>
        <p:spPr>
          <a:xfrm>
            <a:off x="995680" y="3096320"/>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Nem adequado a ISRs, e pode demorar muito, conforme o destino do output.</a:t>
            </a:r>
            <a:endParaRPr lang="en-US" sz="1200" dirty="0">
              <a:latin typeface="IBM Plex Sans" charset="0"/>
              <a:ea typeface="IBM Plex Sans" charset="0"/>
              <a:cs typeface="IBM Plex Sans" charset="0"/>
            </a:endParaRPr>
          </a:p>
        </p:txBody>
      </p:sp>
      <p:sp>
        <p:nvSpPr>
          <p:cNvPr id="9" name="Shape 6"/>
          <p:cNvSpPr/>
          <p:nvPr/>
        </p:nvSpPr>
        <p:spPr>
          <a:xfrm>
            <a:off x="3495675" y="2271415"/>
            <a:ext cx="2520950" cy="1644650"/>
          </a:xfrm>
          <a:prstGeom prst="roundRect">
            <a:avLst>
              <a:gd name="adj" fmla="val 5985"/>
            </a:avLst>
          </a:prstGeom>
          <a:solidFill>
            <a:srgbClr val="FCFBF8"/>
          </a:solidFill>
          <a:ln w="6350">
            <a:solidFill>
              <a:srgbClr val="DCDAD2"/>
            </a:solidFill>
            <a:prstDash val="solid"/>
          </a:ln>
        </p:spPr>
      </p:sp>
      <p:pic>
        <p:nvPicPr>
          <p:cNvPr id="10" name="Image 1" descr="Code">    </p:cNvPr>
          <p:cNvPicPr>
            <a:picLocks noChangeAspect="1"/>
          </p:cNvPicPr>
          <p:nvPr/>
        </p:nvPicPr>
        <p:blipFill>
          <a:blip r:embed="rId2"/>
          <a:srcRect l="0" r="0" t="0" b="0"/>
          <a:stretch/>
        </p:blipFill>
        <p:spPr>
          <a:xfrm>
            <a:off x="3675380" y="2451100"/>
            <a:ext cx="304800" cy="304800"/>
          </a:xfrm>
          <a:prstGeom prst="rect">
            <a:avLst/>
          </a:prstGeom>
        </p:spPr>
      </p:pic>
      <p:sp>
        <p:nvSpPr>
          <p:cNvPr id="11" name="Text 7"/>
          <p:cNvSpPr/>
          <p:nvPr/>
        </p:nvSpPr>
        <p:spPr>
          <a:xfrm>
            <a:off x="3675380" y="2819400"/>
            <a:ext cx="222638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Executável muito maior</a:t>
            </a:r>
            <a:endParaRPr lang="en-US" sz="1400" dirty="0">
              <a:latin typeface="IBM Plex Sans" charset="0"/>
              <a:ea typeface="IBM Plex Sans" charset="0"/>
              <a:cs typeface="IBM Plex Sans" charset="0"/>
            </a:endParaRPr>
          </a:p>
        </p:txBody>
      </p:sp>
      <p:sp>
        <p:nvSpPr>
          <p:cNvPr id="12" name="Text 8"/>
          <p:cNvSpPr/>
          <p:nvPr/>
        </p:nvSpPr>
        <p:spPr>
          <a:xfrm>
            <a:off x="3675380" y="3096320"/>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Uma implementação genérica pode aumentar muito o tamanho do código.</a:t>
            </a:r>
            <a:endParaRPr lang="en-US" sz="1200" dirty="0">
              <a:latin typeface="IBM Plex Sans" charset="0"/>
              <a:ea typeface="IBM Plex Sans" charset="0"/>
              <a:cs typeface="IBM Plex Sans" charset="0"/>
            </a:endParaRPr>
          </a:p>
        </p:txBody>
      </p:sp>
      <p:sp>
        <p:nvSpPr>
          <p:cNvPr id="13" name="Shape 9"/>
          <p:cNvSpPr/>
          <p:nvPr/>
        </p:nvSpPr>
        <p:spPr>
          <a:xfrm>
            <a:off x="6175375" y="2271415"/>
            <a:ext cx="2520950" cy="1644650"/>
          </a:xfrm>
          <a:prstGeom prst="roundRect">
            <a:avLst>
              <a:gd name="adj" fmla="val 5985"/>
            </a:avLst>
          </a:prstGeom>
          <a:solidFill>
            <a:srgbClr val="FCFBF8"/>
          </a:solidFill>
          <a:ln w="6350">
            <a:solidFill>
              <a:srgbClr val="DCDAD2"/>
            </a:solidFill>
            <a:prstDash val="solid"/>
          </a:ln>
        </p:spPr>
      </p:sp>
      <p:pic>
        <p:nvPicPr>
          <p:cNvPr id="14" name="Image 2" descr="Database">    </p:cNvPr>
          <p:cNvPicPr>
            <a:picLocks noChangeAspect="1"/>
          </p:cNvPicPr>
          <p:nvPr/>
        </p:nvPicPr>
        <p:blipFill>
          <a:blip r:embed="rId3"/>
          <a:srcRect l="0" r="0" t="0" b="0"/>
          <a:stretch/>
        </p:blipFill>
        <p:spPr>
          <a:xfrm>
            <a:off x="6355080" y="2451100"/>
            <a:ext cx="304800" cy="304800"/>
          </a:xfrm>
          <a:prstGeom prst="rect">
            <a:avLst/>
          </a:prstGeom>
        </p:spPr>
      </p:pic>
      <p:sp>
        <p:nvSpPr>
          <p:cNvPr id="15" name="Text 10"/>
          <p:cNvSpPr/>
          <p:nvPr/>
        </p:nvSpPr>
        <p:spPr>
          <a:xfrm>
            <a:off x="6355080" y="2819400"/>
            <a:ext cx="2226386"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Pode chamar malloc()</a:t>
            </a:r>
            <a:endParaRPr lang="en-US" sz="1400" dirty="0">
              <a:latin typeface="IBM Plex Sans" charset="0"/>
              <a:ea typeface="IBM Plex Sans" charset="0"/>
              <a:cs typeface="IBM Plex Sans" charset="0"/>
            </a:endParaRPr>
          </a:p>
        </p:txBody>
      </p:sp>
      <p:sp>
        <p:nvSpPr>
          <p:cNvPr id="16" name="Text 11"/>
          <p:cNvSpPr/>
          <p:nvPr/>
        </p:nvSpPr>
        <p:spPr>
          <a:xfrm>
            <a:off x="6355080" y="309632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Inválido se o esquema de heap não for o heap_3.</a:t>
            </a:r>
            <a:endParaRPr lang="en-US" sz="1200" dirty="0">
              <a:latin typeface="IBM Plex Sans" charset="0"/>
              <a:ea typeface="IBM Plex Sans" charset="0"/>
              <a:cs typeface="IBM Plex Sans" charset="0"/>
            </a:endParaRPr>
          </a:p>
        </p:txBody>
      </p:sp>
      <p:sp>
        <p:nvSpPr>
          <p:cNvPr id="17" name="Shape 12"/>
          <p:cNvSpPr/>
          <p:nvPr/>
        </p:nvSpPr>
        <p:spPr>
          <a:xfrm>
            <a:off x="8855075" y="2271415"/>
            <a:ext cx="2520950" cy="1644650"/>
          </a:xfrm>
          <a:prstGeom prst="roundRect">
            <a:avLst>
              <a:gd name="adj" fmla="val 5985"/>
            </a:avLst>
          </a:prstGeom>
          <a:solidFill>
            <a:srgbClr val="FCFBF8"/>
          </a:solidFill>
          <a:ln w="6350">
            <a:solidFill>
              <a:srgbClr val="DCDAD2"/>
            </a:solidFill>
            <a:prstDash val="solid"/>
          </a:ln>
        </p:spPr>
      </p:sp>
      <p:pic>
        <p:nvPicPr>
          <p:cNvPr id="18" name="Image 3" descr="Warning">    </p:cNvPr>
          <p:cNvPicPr>
            <a:picLocks noChangeAspect="1"/>
          </p:cNvPicPr>
          <p:nvPr/>
        </p:nvPicPr>
        <p:blipFill>
          <a:blip r:embed="rId4"/>
          <a:srcRect l="0" r="0" t="0" b="0"/>
          <a:stretch/>
        </p:blipFill>
        <p:spPr>
          <a:xfrm>
            <a:off x="9034780" y="2451100"/>
            <a:ext cx="304800" cy="304800"/>
          </a:xfrm>
          <a:prstGeom prst="rect">
            <a:avLst/>
          </a:prstGeom>
        </p:spPr>
      </p:pic>
      <p:sp>
        <p:nvSpPr>
          <p:cNvPr id="19" name="Text 13"/>
          <p:cNvSpPr/>
          <p:nvPr/>
        </p:nvSpPr>
        <p:spPr>
          <a:xfrm>
            <a:off x="9034780" y="2819400"/>
            <a:ext cx="233807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Stack muitas vezes maior</a:t>
            </a:r>
            <a:endParaRPr lang="en-US" sz="1400" dirty="0">
              <a:latin typeface="IBM Plex Sans" charset="0"/>
              <a:ea typeface="IBM Plex Sans" charset="0"/>
              <a:cs typeface="IBM Plex Sans" charset="0"/>
            </a:endParaRPr>
          </a:p>
        </p:txBody>
      </p:sp>
      <p:sp>
        <p:nvSpPr>
          <p:cNvPr id="20" name="Text 14"/>
          <p:cNvSpPr/>
          <p:nvPr/>
        </p:nvSpPr>
        <p:spPr>
          <a:xfrm>
            <a:off x="9034780" y="3096320"/>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Muito mais do que a task precisaria de outra forma.</a:t>
            </a:r>
            <a:endParaRPr lang="en-US" sz="1200" dirty="0">
              <a:latin typeface="IBM Plex Sans" charset="0"/>
              <a:ea typeface="IBM Plex Sans" charset="0"/>
              <a:cs typeface="IBM Plex Sans" charset="0"/>
            </a:endParaRPr>
          </a:p>
        </p:txBody>
      </p:sp>
      <p:sp>
        <p:nvSpPr>
          <p:cNvPr id="21" name="Text 15"/>
          <p:cNvSpPr/>
          <p:nvPr/>
        </p:nvSpPr>
        <p:spPr>
          <a:xfrm>
            <a:off x="812800" y="4122440"/>
            <a:ext cx="10566400" cy="751840"/>
          </a:xfrm>
          <a:prstGeom prst="roundRect">
            <a:avLst>
              <a:gd name="adj" fmla="val 10135"/>
            </a:avLst>
          </a:prstGeom>
          <a:solidFill>
            <a:srgbClr val="E3EFEC"/>
          </a:solidFill>
          <a:ln/>
        </p:spPr>
        <p:txBody>
          <a:bodyPr wrap="square" lIns="155482" tIns="104682" rIns="0" bIns="79282" rtlCol="0" anchor="t">
            <a:normAutofit/>
          </a:bodyPr>
          <a:lstStyle/>
          <a:p>
            <a:pPr algn="l" indent="0" marL="0">
              <a:lnSpc>
                <a:spcPts val="1960"/>
              </a:lnSpc>
              <a:buNone/>
            </a:pPr>
            <a:r>
              <a:rPr lang="en-US" sz="1400" b="1" dirty="0">
                <a:solidFill>
                  <a:srgbClr val="14222E"/>
                </a:solidFill>
                <a:latin typeface="IBM Plex Sans" pitchFamily="34" charset="0"/>
                <a:ea typeface="IBM Plex Sans" pitchFamily="34" charset="-122"/>
                <a:cs typeface="IBM Plex Sans" pitchFamily="34" charset="-120"/>
              </a:rPr>
              <a:t>printf-stdarg.c</a:t>
            </a:r>
            <a:r>
              <a:rPr lang="en-US" sz="1400" dirty="0">
                <a:solidFill>
                  <a:srgbClr val="14222E"/>
                </a:solidFill>
                <a:latin typeface="IBM Plex Sans" pitchFamily="34" charset="0"/>
                <a:ea typeface="IBM Plex Sans" pitchFamily="34" charset="-122"/>
                <a:cs typeface="IBM Plex Sans" pitchFamily="34" charset="-120"/>
              </a:rPr>
              <a:t>, usado em muitas demos: um sprintf() mínimo e económico em stack. Atenção: nem todas as cópias implementam snprintf(), e tem licença própria.</a:t>
            </a:r>
            <a:endParaRPr lang="en-US" sz="1400" dirty="0">
              <a:latin typeface="IBM Plex Sans" charset="0"/>
              <a:ea typeface="IBM Plex Sans" charset="0"/>
              <a:cs typeface="IBM Plex Sans" charset="0"/>
            </a:endParaRPr>
          </a:p>
        </p:txBody>
      </p:sp>
      <p:sp>
        <p:nvSpPr>
          <p:cNvPr id="22" name="Text 16"/>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13</a:t>
            </a:r>
            <a:endParaRPr lang="en-US" sz="1200" dirty="0">
              <a:latin typeface="IBM Plex Sans" charset="0"/>
              <a:ea typeface="IBM Plex Sans" charset="0"/>
              <a:cs typeface="IBM Plex Sans" charset="0"/>
            </a:endParaRPr>
          </a:p>
        </p:txBody>
      </p:sp>
      <p:sp>
        <p:nvSpPr>
          <p:cNvPr id="23" name="Text 17"/>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134</a:t>
            </a:r>
            <a:endParaRPr lang="en-US" sz="1200" dirty="0">
              <a:latin typeface="IBM Plex Sans" charset="0"/>
              <a:ea typeface="IBM Plex Sans" charset="0"/>
              <a:cs typeface="IBM Plex Sans"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TROUBLESHOOTING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Outros sintomas comuns</a:t>
            </a:r>
            <a:endParaRPr lang="en-US" sz="3200" dirty="0">
              <a:latin typeface="IBM Plex Sans" charset="0"/>
              <a:ea typeface="IBM Plex Sans" charset="0"/>
              <a:cs typeface="IBM Plex Sans" charset="0"/>
            </a:endParaRPr>
          </a:p>
        </p:txBody>
      </p:sp>
      <p:sp>
        <p:nvSpPr>
          <p:cNvPr id="4" name="Shape 2"/>
          <p:cNvSpPr/>
          <p:nvPr/>
        </p:nvSpPr>
        <p:spPr>
          <a:xfrm>
            <a:off x="812800" y="1803420"/>
            <a:ext cx="10566400" cy="0"/>
          </a:xfrm>
          <a:prstGeom prst="line">
            <a:avLst/>
          </a:prstGeom>
          <a:noFill/>
          <a:ln w="10160">
            <a:solidFill>
              <a:srgbClr val="141413">
                <a:alpha val="22000"/>
              </a:srgbClr>
            </a:solidFill>
            <a:prstDash val="solid"/>
          </a:ln>
        </p:spPr>
      </p:sp>
      <p:sp>
        <p:nvSpPr>
          <p:cNvPr id="5" name="Shape 3"/>
          <p:cNvSpPr/>
          <p:nvPr/>
        </p:nvSpPr>
        <p:spPr>
          <a:xfrm>
            <a:off x="817880" y="1798340"/>
            <a:ext cx="0" cy="27787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72000"/>
          <a:ext cx="10353040" cy="2641600"/>
        </p:xfrm>
        <a:graphic>
          <a:graphicData uri="http://schemas.openxmlformats.org/drawingml/2006/table">
            <a:tbl>
              <a:tblPr/>
              <a:tblGrid>
                <a:gridCol w="3727094"/>
                <a:gridCol w="6625946"/>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Sintoma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Causa provável / o que fazer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Juntar uma task e a demo crasha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Heap à justa: vTaskStartScheduler() só retorna se faltar heap.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Crash ao usar a API numa ISR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Só …FromISR(); nenhuma API em ISRs acima de MAX_SYSCALL.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Crash ocasional dentro de uma ISR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Stack overflow na ISR; sintaxe do port; prioridades de interrupção.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Crash ao iniciar a primeira task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Handlers do FreeRTOS não instalados; CPU sem modo privilegiado.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Interrupções ficam desligadas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API antes do scheduler desliga-as de propósito; só mexer com as macros.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Crash antes de o scheduler arrancar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ISRs a usar objetos do kernel ou a pedir trocas antes do arranque.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Crash ao usar a API em zona protegida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Nada de API com o scheduler suspenso ou numa critical section.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13</a:t>
            </a:r>
            <a:endParaRPr lang="en-US" sz="1200" dirty="0">
              <a:latin typeface="IBM Plex Sans" charset="0"/>
              <a:ea typeface="IBM Plex Sans" charset="0"/>
              <a:cs typeface="IBM Plex Sans" charset="0"/>
            </a:endParaRPr>
          </a:p>
        </p:txBody>
      </p:sp>
      <p:sp>
        <p:nvSpPr>
          <p:cNvPr id="8" name="Text 5"/>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135</a:t>
            </a:r>
            <a:endParaRPr lang="en-US" sz="1200" dirty="0">
              <a:latin typeface="IBM Plex Sans" charset="0"/>
              <a:ea typeface="IBM Plex Sans" charset="0"/>
              <a:cs typeface="IBM Plex Sans"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FERRAMENTAS DE DEBUG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Estado das tasks e run-time stats</a:t>
            </a:r>
            <a:endParaRPr lang="en-US" sz="3200" dirty="0">
              <a:latin typeface="IBM Plex Sans" charset="0"/>
              <a:ea typeface="IBM Plex Sans" charset="0"/>
              <a:cs typeface="IBM Plex Sans" charset="0"/>
            </a:endParaRPr>
          </a:p>
        </p:txBody>
      </p:sp>
      <p:sp>
        <p:nvSpPr>
          <p:cNvPr id="4" name="Shape 2"/>
          <p:cNvSpPr/>
          <p:nvPr/>
        </p:nvSpPr>
        <p:spPr>
          <a:xfrm>
            <a:off x="815975" y="1903115"/>
            <a:ext cx="5353050" cy="948690"/>
          </a:xfrm>
          <a:prstGeom prst="roundRect">
            <a:avLst>
              <a:gd name="adj" fmla="val 10375"/>
            </a:avLst>
          </a:prstGeom>
          <a:solidFill>
            <a:srgbClr val="FCFBF8"/>
          </a:solidFill>
          <a:ln w="6350">
            <a:solidFill>
              <a:srgbClr val="DCDAD2"/>
            </a:solidFill>
            <a:prstDash val="solid"/>
          </a:ln>
        </p:spPr>
      </p:sp>
      <p:sp>
        <p:nvSpPr>
          <p:cNvPr id="5" name="Text 3"/>
          <p:cNvSpPr/>
          <p:nvPr/>
        </p:nvSpPr>
        <p:spPr>
          <a:xfrm>
            <a:off x="944880" y="2032000"/>
            <a:ext cx="524809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uxTaskGetSystemState()</a:t>
            </a:r>
            <a:endParaRPr lang="en-US" sz="1400" dirty="0">
              <a:latin typeface="IBM Plex Sans" charset="0"/>
              <a:ea typeface="IBM Plex Sans" charset="0"/>
              <a:cs typeface="IBM Plex Sans" charset="0"/>
            </a:endParaRPr>
          </a:p>
        </p:txBody>
      </p:sp>
      <p:sp>
        <p:nvSpPr>
          <p:cNvPr id="6" name="Text 4"/>
          <p:cNvSpPr/>
          <p:nvPr/>
        </p:nvSpPr>
        <p:spPr>
          <a:xfrm>
            <a:off x="944880" y="2296220"/>
            <a:ext cx="524809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Array de TaskStatus_t, uma por task: nome, estado, prioridade atual e base, run time, high water mark da stack…</a:t>
            </a:r>
            <a:endParaRPr lang="en-US" sz="1200" dirty="0">
              <a:latin typeface="IBM Plex Sans" charset="0"/>
              <a:ea typeface="IBM Plex Sans" charset="0"/>
              <a:cs typeface="IBM Plex Sans" charset="0"/>
            </a:endParaRPr>
          </a:p>
        </p:txBody>
      </p:sp>
      <p:sp>
        <p:nvSpPr>
          <p:cNvPr id="7" name="Shape 5"/>
          <p:cNvSpPr/>
          <p:nvPr/>
        </p:nvSpPr>
        <p:spPr>
          <a:xfrm>
            <a:off x="815975" y="2959795"/>
            <a:ext cx="5353050" cy="999490"/>
          </a:xfrm>
          <a:prstGeom prst="roundRect">
            <a:avLst>
              <a:gd name="adj" fmla="val 9848"/>
            </a:avLst>
          </a:prstGeom>
          <a:solidFill>
            <a:srgbClr val="FCFBF8"/>
          </a:solidFill>
          <a:ln w="6350">
            <a:solidFill>
              <a:srgbClr val="DCDAD2"/>
            </a:solidFill>
            <a:prstDash val="solid"/>
          </a:ln>
        </p:spPr>
      </p:sp>
      <p:sp>
        <p:nvSpPr>
          <p:cNvPr id="8" name="Text 6"/>
          <p:cNvSpPr/>
          <p:nvPr/>
        </p:nvSpPr>
        <p:spPr>
          <a:xfrm>
            <a:off x="970280" y="3114080"/>
            <a:ext cx="51957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vTaskListTasks()</a:t>
            </a:r>
            <a:endParaRPr lang="en-US" sz="1400" dirty="0">
              <a:latin typeface="IBM Plex Sans" charset="0"/>
              <a:ea typeface="IBM Plex Sans" charset="0"/>
              <a:cs typeface="IBM Plex Sans" charset="0"/>
            </a:endParaRPr>
          </a:p>
        </p:txBody>
      </p:sp>
      <p:sp>
        <p:nvSpPr>
          <p:cNvPr id="9" name="Text 7"/>
          <p:cNvSpPr/>
          <p:nvPr/>
        </p:nvSpPr>
        <p:spPr>
          <a:xfrm>
            <a:off x="970280" y="3378200"/>
            <a:ext cx="519577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 mesma informação numa tabela de texto. Estado: X Running, R Ready, B Blocked, S Suspended, D Deleted.</a:t>
            </a:r>
            <a:endParaRPr lang="en-US" sz="1200" dirty="0">
              <a:latin typeface="IBM Plex Sans" charset="0"/>
              <a:ea typeface="IBM Plex Sans" charset="0"/>
              <a:cs typeface="IBM Plex Sans" charset="0"/>
            </a:endParaRPr>
          </a:p>
        </p:txBody>
      </p:sp>
      <p:sp>
        <p:nvSpPr>
          <p:cNvPr id="10" name="Shape 8"/>
          <p:cNvSpPr/>
          <p:nvPr/>
        </p:nvSpPr>
        <p:spPr>
          <a:xfrm>
            <a:off x="815975" y="4067175"/>
            <a:ext cx="5353050" cy="786130"/>
          </a:xfrm>
          <a:prstGeom prst="roundRect">
            <a:avLst>
              <a:gd name="adj" fmla="val 12520"/>
            </a:avLst>
          </a:prstGeom>
          <a:solidFill>
            <a:srgbClr val="FCFBF8"/>
          </a:solidFill>
          <a:ln w="6350">
            <a:solidFill>
              <a:srgbClr val="DCDAD2"/>
            </a:solidFill>
            <a:prstDash val="solid"/>
          </a:ln>
        </p:spPr>
      </p:sp>
      <p:sp>
        <p:nvSpPr>
          <p:cNvPr id="11" name="Text 9"/>
          <p:cNvSpPr/>
          <p:nvPr/>
        </p:nvSpPr>
        <p:spPr>
          <a:xfrm>
            <a:off x="970280" y="4221460"/>
            <a:ext cx="519577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vTaskGetRunTimeStatistics()</a:t>
            </a:r>
            <a:endParaRPr lang="en-US" sz="1400" dirty="0">
              <a:latin typeface="IBM Plex Sans" charset="0"/>
              <a:ea typeface="IBM Plex Sans" charset="0"/>
              <a:cs typeface="IBM Plex Sans" charset="0"/>
            </a:endParaRPr>
          </a:p>
        </p:txBody>
      </p:sp>
      <p:sp>
        <p:nvSpPr>
          <p:cNvPr id="12" name="Text 10"/>
          <p:cNvSpPr/>
          <p:nvPr/>
        </p:nvSpPr>
        <p:spPr>
          <a:xfrm>
            <a:off x="970280" y="4485680"/>
            <a:ext cx="51957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Tempo em Running por task, em valor absoluto e em percentagem.</a:t>
            </a:r>
            <a:endParaRPr lang="en-US" sz="1200" dirty="0">
              <a:latin typeface="IBM Plex Sans" charset="0"/>
              <a:ea typeface="IBM Plex Sans" charset="0"/>
              <a:cs typeface="IBM Plex Sans" charset="0"/>
            </a:endParaRPr>
          </a:p>
        </p:txBody>
      </p:sp>
      <p:sp>
        <p:nvSpPr>
          <p:cNvPr id="13" name="Text 11"/>
          <p:cNvSpPr/>
          <p:nvPr/>
        </p:nvSpPr>
        <p:spPr>
          <a:xfrm>
            <a:off x="812800" y="4958060"/>
            <a:ext cx="5359400" cy="629920"/>
          </a:xfrm>
          <a:custGeom>
            <a:avLst/>
            <a:gdLst/>
            <a:ahLst/>
            <a:cxnLst/>
            <a:rect l="l" t="t" r="r" b="b"/>
            <a:pathLst>
              <a:path w="5359400" h="629920">
                <a:moveTo>
                  <a:pt x="0" y="0"/>
                </a:moveTo>
                <a:lnTo>
                  <a:pt x="5283200" y="0"/>
                </a:lnTo>
                <a:arcTo hR="76200" wR="76200" stAng="16200000" swAng="5400000"/>
                <a:lnTo>
                  <a:pt x="5359400" y="553720"/>
                </a:lnTo>
                <a:arcTo hR="76200" wR="76200" stAng="0" swAng="5400000"/>
                <a:lnTo>
                  <a:pt x="0" y="629920"/>
                </a:lnTo>
                <a:lnTo>
                  <a:pt x="0" y="0"/>
                </a:lnTo>
                <a:close/>
              </a:path>
            </a:pathLst>
          </a:custGeom>
          <a:solidFill>
            <a:srgbClr val="FBEFE7"/>
          </a:solidFill>
          <a:ln/>
        </p:spPr>
        <p:txBody>
          <a:bodyPr wrap="square" lIns="162560" tIns="101600" rIns="0" bIns="7620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As funções de texto são pesadas e suspendem o scheduler: </a:t>
            </a:r>
            <a:r>
              <a:rPr lang="en-US" sz="1200" b="1" dirty="0">
                <a:solidFill>
                  <a:srgbClr val="14222E"/>
                </a:solidFill>
                <a:latin typeface="IBM Plex Sans" pitchFamily="34" charset="0"/>
                <a:ea typeface="IBM Plex Sans" pitchFamily="34" charset="-122"/>
                <a:cs typeface="IBM Plex Sans" pitchFamily="34" charset="-120"/>
              </a:rPr>
              <a:t>só para debug</a:t>
            </a:r>
            <a:r>
              <a:rPr lang="en-US" sz="1200" dirty="0">
                <a:solidFill>
                  <a:srgbClr val="14222E"/>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p:txBody>
      </p:sp>
      <p:sp>
        <p:nvSpPr>
          <p:cNvPr id="14" name="Shape 12"/>
          <p:cNvSpPr/>
          <p:nvPr/>
        </p:nvSpPr>
        <p:spPr>
          <a:xfrm>
            <a:off x="812800" y="4958060"/>
            <a:ext cx="5359400" cy="629920"/>
          </a:xfrm>
          <a:custGeom>
            <a:avLst/>
            <a:gdLst/>
            <a:ahLst/>
            <a:cxnLst/>
            <a:rect l="l" t="t" r="r" b="b"/>
            <a:pathLst>
              <a:path w="5359400" h="629920">
                <a:moveTo>
                  <a:pt x="38100" y="629920"/>
                </a:moveTo>
                <a:lnTo>
                  <a:pt x="0" y="629920"/>
                </a:lnTo>
                <a:lnTo>
                  <a:pt x="0" y="0"/>
                </a:lnTo>
                <a:lnTo>
                  <a:pt x="38100" y="0"/>
                </a:lnTo>
                <a:lnTo>
                  <a:pt x="38100" y="629920"/>
                </a:lnTo>
                <a:close/>
              </a:path>
            </a:pathLst>
          </a:custGeom>
          <a:solidFill>
            <a:srgbClr val="D0612A"/>
          </a:solidFill>
          <a:ln/>
        </p:spPr>
      </p:sp>
      <p:sp>
        <p:nvSpPr>
          <p:cNvPr id="15" name="Text 13"/>
          <p:cNvSpPr/>
          <p:nvPr/>
        </p:nvSpPr>
        <p:spPr>
          <a:xfrm>
            <a:off x="6426200" y="1899940"/>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NO FREERTOSCONFIG.H</a:t>
            </a:r>
            <a:endParaRPr lang="en-US" sz="1200" dirty="0">
              <a:latin typeface="IBM Plex Sans" charset="0"/>
              <a:ea typeface="IBM Plex Sans" charset="0"/>
              <a:cs typeface="IBM Plex Sans" charset="0"/>
            </a:endParaRPr>
          </a:p>
        </p:txBody>
      </p:sp>
      <p:sp>
        <p:nvSpPr>
          <p:cNvPr id="16" name="Text 14"/>
          <p:cNvSpPr/>
          <p:nvPr/>
        </p:nvSpPr>
        <p:spPr>
          <a:xfrm>
            <a:off x="6426200" y="2189460"/>
            <a:ext cx="4953000" cy="1671320"/>
          </a:xfrm>
          <a:prstGeom prst="roundRect">
            <a:avLst>
              <a:gd name="adj" fmla="val 4559"/>
            </a:avLst>
          </a:prstGeom>
          <a:solidFill>
            <a:srgbClr val="14222E"/>
          </a:solidFill>
          <a:ln/>
        </p:spPr>
        <p:txBody>
          <a:bodyPr wrap="none" lIns="104682" tIns="66582" rIns="0" bIns="411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configUSE_TRACE_FACILITY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configUSE_STATS_FORMATTING_FUNCTIONS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configGENERATE_RUN_TIME_STATS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portCONFIGURE_TIMER_FOR_RUN_TIME_STATS()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vSetupTimerForRunTimeStats()</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portGET_RUN_TIME_COUNTER_VALUE()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ulReadRunTimeCounter()</a:t>
            </a:r>
            <a:endParaRPr lang="en-US" sz="1200" dirty="0">
              <a:latin typeface="JetBrains Mono" charset="0"/>
              <a:ea typeface="JetBrains Mono" charset="0"/>
              <a:cs typeface="JetBrains Mono" charset="0"/>
            </a:endParaRPr>
          </a:p>
        </p:txBody>
      </p:sp>
      <p:sp>
        <p:nvSpPr>
          <p:cNvPr id="17" name="Text 15"/>
          <p:cNvSpPr/>
          <p:nvPr/>
        </p:nvSpPr>
        <p:spPr>
          <a:xfrm>
            <a:off x="6426200" y="3937000"/>
            <a:ext cx="51015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Relógio </a:t>
            </a:r>
            <a:r>
              <a:rPr lang="en-US" sz="1200" b="1" dirty="0">
                <a:solidFill>
                  <a:srgbClr val="44505C"/>
                </a:solidFill>
                <a:latin typeface="IBM Plex Sans" pitchFamily="34" charset="0"/>
                <a:ea typeface="IBM Plex Sans" pitchFamily="34" charset="-122"/>
                <a:cs typeface="IBM Plex Sans" pitchFamily="34" charset="-120"/>
              </a:rPr>
              <a:t>10 a 100×</a:t>
            </a:r>
            <a:r>
              <a:rPr lang="en-US" sz="1200" dirty="0">
                <a:solidFill>
                  <a:srgbClr val="44505C"/>
                </a:solidFill>
                <a:latin typeface="IBM Plex Sans" pitchFamily="34" charset="0"/>
                <a:ea typeface="IBM Plex Sans" pitchFamily="34" charset="-122"/>
                <a:cs typeface="IBM Plex Sans" pitchFamily="34" charset="-120"/>
              </a:rPr>
              <a:t> mais rápido que o tick.</a:t>
            </a:r>
            <a:endParaRPr lang="en-US" sz="1200" dirty="0">
              <a:latin typeface="IBM Plex Sans" charset="0"/>
              <a:ea typeface="IBM Plex Sans" charset="0"/>
              <a:cs typeface="IBM Plex Sans" charset="0"/>
            </a:endParaRPr>
          </a:p>
        </p:txBody>
      </p:sp>
      <p:sp>
        <p:nvSpPr>
          <p:cNvPr id="18" name="Text 16"/>
          <p:cNvSpPr/>
          <p:nvPr/>
        </p:nvSpPr>
        <p:spPr>
          <a:xfrm>
            <a:off x="6426200" y="4226620"/>
            <a:ext cx="510159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EXEMPLO DE OUTPUT (ILUSTRATIVO)</a:t>
            </a:r>
            <a:endParaRPr lang="en-US" sz="1200" dirty="0">
              <a:latin typeface="IBM Plex Sans" charset="0"/>
              <a:ea typeface="IBM Plex Sans" charset="0"/>
              <a:cs typeface="IBM Plex Sans" charset="0"/>
            </a:endParaRPr>
          </a:p>
        </p:txBody>
      </p:sp>
      <p:sp>
        <p:nvSpPr>
          <p:cNvPr id="19" name="Text 17"/>
          <p:cNvSpPr/>
          <p:nvPr/>
        </p:nvSpPr>
        <p:spPr>
          <a:xfrm>
            <a:off x="6426200" y="4516140"/>
            <a:ext cx="4953000" cy="1168400"/>
          </a:xfrm>
          <a:prstGeom prst="roundRect">
            <a:avLst>
              <a:gd name="adj" fmla="val 6522"/>
            </a:avLst>
          </a:prstGeom>
          <a:solidFill>
            <a:srgbClr val="14222E"/>
          </a:solidFill>
          <a:ln/>
        </p:spPr>
        <p:txBody>
          <a:bodyPr wrap="none" lIns="104682" tIns="66582" rIns="0" bIns="41182" rtlCol="0" anchor="t">
            <a:normAutofit/>
          </a:bodyPr>
          <a:lstStyle/>
          <a:p>
            <a:pPr algn="l" indent="0" marL="0">
              <a:lnSpc>
                <a:spcPts val="1560"/>
              </a:lnSpc>
              <a:buNone/>
            </a:pPr>
            <a:r>
              <a:rPr lang="en-US" sz="1200" dirty="0">
                <a:solidFill>
                  <a:srgbClr val="E6EAE8"/>
                </a:solidFill>
                <a:latin typeface="JetBrains Mono" pitchFamily="49" charset="0"/>
                <a:ea typeface="JetBrains Mono" pitchFamily="49" charset="-122"/>
                <a:cs typeface="JetBrains Mono" pitchFamily="49" charset="-120"/>
              </a:rPr>
              <a:t>Sensor           41230      4%</a:t>
            </a:r>
            <a:endParaRPr lang="en-US" sz="1200" dirty="0">
              <a:latin typeface="JetBrains Mono" charset="0"/>
              <a:ea typeface="JetBrains Mono" charset="0"/>
              <a:cs typeface="JetBrains Mono" charset="0"/>
            </a:endParaRPr>
          </a:p>
          <a:p>
            <a:pPr algn="l" indent="0" marL="0">
              <a:lnSpc>
                <a:spcPts val="1560"/>
              </a:lnSpc>
              <a:buNone/>
            </a:pPr>
            <a:r>
              <a:rPr lang="en-US" sz="1200" dirty="0">
                <a:solidFill>
                  <a:srgbClr val="E6EAE8"/>
                </a:solidFill>
                <a:latin typeface="JetBrains Mono" pitchFamily="49" charset="0"/>
                <a:ea typeface="JetBrains Mono" pitchFamily="49" charset="-122"/>
                <a:cs typeface="JetBrains Mono" pitchFamily="49" charset="-120"/>
              </a:rPr>
              <a:t>Leds              8215     &lt;1%</a:t>
            </a:r>
            <a:endParaRPr lang="en-US" sz="1200" dirty="0">
              <a:latin typeface="JetBrains Mono" charset="0"/>
              <a:ea typeface="JetBrains Mono" charset="0"/>
              <a:cs typeface="JetBrains Mono" charset="0"/>
            </a:endParaRPr>
          </a:p>
          <a:p>
            <a:pPr algn="l" indent="0" marL="0">
              <a:lnSpc>
                <a:spcPts val="1560"/>
              </a:lnSpc>
              <a:buNone/>
            </a:pPr>
            <a:r>
              <a:rPr lang="en-US" sz="1200" dirty="0">
                <a:solidFill>
                  <a:srgbClr val="E6EAE8"/>
                </a:solidFill>
                <a:latin typeface="JetBrains Mono" pitchFamily="49" charset="0"/>
                <a:ea typeface="JetBrains Mono" pitchFamily="49" charset="-122"/>
                <a:cs typeface="JetBrains Mono" pitchFamily="49" charset="-120"/>
              </a:rPr>
              <a:t>Uart            152870     15%</a:t>
            </a:r>
            <a:endParaRPr lang="en-US" sz="1200" dirty="0">
              <a:latin typeface="JetBrains Mono" charset="0"/>
              <a:ea typeface="JetBrains Mono" charset="0"/>
              <a:cs typeface="JetBrains Mono" charset="0"/>
            </a:endParaRPr>
          </a:p>
          <a:p>
            <a:pPr algn="l" indent="0" marL="0">
              <a:lnSpc>
                <a:spcPts val="1560"/>
              </a:lnSpc>
              <a:buNone/>
            </a:pPr>
            <a:r>
              <a:rPr lang="en-US" sz="1200" dirty="0">
                <a:solidFill>
                  <a:srgbClr val="E6EAE8"/>
                </a:solidFill>
                <a:latin typeface="JetBrains Mono" pitchFamily="49" charset="0"/>
                <a:ea typeface="JetBrains Mono" pitchFamily="49" charset="-122"/>
                <a:cs typeface="JetBrains Mono" pitchFamily="49" charset="-120"/>
              </a:rPr>
              <a:t>Tmr Svc           3120     &lt;1%</a:t>
            </a:r>
            <a:endParaRPr lang="en-US" sz="1200" dirty="0">
              <a:latin typeface="JetBrains Mono" charset="0"/>
              <a:ea typeface="JetBrains Mono" charset="0"/>
              <a:cs typeface="JetBrains Mono" charset="0"/>
            </a:endParaRPr>
          </a:p>
          <a:p>
            <a:pPr algn="l" indent="0" marL="0">
              <a:lnSpc>
                <a:spcPts val="1560"/>
              </a:lnSpc>
              <a:buNone/>
            </a:pPr>
            <a:r>
              <a:rPr lang="en-US" sz="1200" dirty="0">
                <a:solidFill>
                  <a:srgbClr val="E6EAE8"/>
                </a:solidFill>
                <a:latin typeface="JetBrains Mono" pitchFamily="49" charset="0"/>
                <a:ea typeface="JetBrains Mono" pitchFamily="49" charset="-122"/>
                <a:cs typeface="JetBrains Mono" pitchFamily="49" charset="-120"/>
              </a:rPr>
              <a:t>IDLE            795400     79%</a:t>
            </a:r>
            <a:endParaRPr lang="en-US" sz="1200" dirty="0">
              <a:latin typeface="JetBrains Mono" charset="0"/>
              <a:ea typeface="JetBrains Mono" charset="0"/>
              <a:cs typeface="JetBrains Mono" charset="0"/>
            </a:endParaRPr>
          </a:p>
        </p:txBody>
      </p:sp>
      <p:sp>
        <p:nvSpPr>
          <p:cNvPr id="20" name="Text 18"/>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12</a:t>
            </a:r>
            <a:endParaRPr lang="en-US" sz="1200" dirty="0">
              <a:latin typeface="IBM Plex Sans" charset="0"/>
              <a:ea typeface="IBM Plex Sans" charset="0"/>
              <a:cs typeface="IBM Plex Sans" charset="0"/>
            </a:endParaRPr>
          </a:p>
        </p:txBody>
      </p:sp>
      <p:sp>
        <p:nvSpPr>
          <p:cNvPr id="21" name="Text 19"/>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136</a:t>
            </a:r>
            <a:endParaRPr lang="en-US" sz="1200" dirty="0">
              <a:latin typeface="IBM Plex Sans" charset="0"/>
              <a:ea typeface="IBM Plex Sans" charset="0"/>
              <a:cs typeface="IBM Plex Sans"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FERRAMENTAS DE DEBUG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Trace hooks, Tracealyzer e debuggers</a:t>
            </a:r>
            <a:endParaRPr lang="en-US" sz="3200" dirty="0">
              <a:latin typeface="IBM Plex Sans" charset="0"/>
              <a:ea typeface="IBM Plex Sans" charset="0"/>
              <a:cs typeface="IBM Plex Sans" charset="0"/>
            </a:endParaRPr>
          </a:p>
        </p:txBody>
      </p:sp>
      <p:sp>
        <p:nvSpPr>
          <p:cNvPr id="4" name="Shape 2"/>
          <p:cNvSpPr/>
          <p:nvPr/>
        </p:nvSpPr>
        <p:spPr>
          <a:xfrm>
            <a:off x="815975" y="1776115"/>
            <a:ext cx="3414157" cy="890270"/>
          </a:xfrm>
          <a:prstGeom prst="roundRect">
            <a:avLst>
              <a:gd name="adj" fmla="val 11056"/>
            </a:avLst>
          </a:prstGeom>
          <a:solidFill>
            <a:srgbClr val="FCFBF8"/>
          </a:solidFill>
          <a:ln w="6350">
            <a:solidFill>
              <a:srgbClr val="DCDAD2"/>
            </a:solidFill>
            <a:prstDash val="solid"/>
          </a:ln>
        </p:spPr>
      </p:sp>
      <p:sp>
        <p:nvSpPr>
          <p:cNvPr id="5" name="Text 3"/>
          <p:cNvSpPr/>
          <p:nvPr/>
        </p:nvSpPr>
        <p:spPr>
          <a:xfrm>
            <a:off x="970280" y="1892300"/>
            <a:ext cx="3198713"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7766A"/>
                </a:solidFill>
                <a:latin typeface="IBM Plex Sans" pitchFamily="34" charset="0"/>
                <a:ea typeface="IBM Plex Sans" pitchFamily="34" charset="-122"/>
                <a:cs typeface="IBM Plex Sans" pitchFamily="34" charset="-120"/>
              </a:rPr>
              <a:t>TRACE HOOK MACROS</a:t>
            </a:r>
            <a:endParaRPr lang="en-US" sz="1100" dirty="0">
              <a:latin typeface="IBM Plex Sans" charset="0"/>
              <a:ea typeface="IBM Plex Sans" charset="0"/>
              <a:cs typeface="IBM Plex Sans" charset="0"/>
            </a:endParaRPr>
          </a:p>
        </p:txBody>
      </p:sp>
      <p:sp>
        <p:nvSpPr>
          <p:cNvPr id="6" name="Text 4"/>
          <p:cNvSpPr/>
          <p:nvPr/>
        </p:nvSpPr>
        <p:spPr>
          <a:xfrm>
            <a:off x="970280" y="2138660"/>
            <a:ext cx="319871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Macros vazias no kernel, redefinidas no FreeRTOSConfig.h para inserir código.</a:t>
            </a:r>
            <a:endParaRPr lang="en-US" sz="1200" dirty="0">
              <a:latin typeface="IBM Plex Sans" charset="0"/>
              <a:ea typeface="IBM Plex Sans" charset="0"/>
              <a:cs typeface="IBM Plex Sans" charset="0"/>
            </a:endParaRPr>
          </a:p>
        </p:txBody>
      </p:sp>
      <p:sp>
        <p:nvSpPr>
          <p:cNvPr id="7" name="Shape 5"/>
          <p:cNvSpPr/>
          <p:nvPr/>
        </p:nvSpPr>
        <p:spPr>
          <a:xfrm>
            <a:off x="4388882" y="1776115"/>
            <a:ext cx="3414236" cy="890270"/>
          </a:xfrm>
          <a:prstGeom prst="roundRect">
            <a:avLst>
              <a:gd name="adj" fmla="val 11056"/>
            </a:avLst>
          </a:prstGeom>
          <a:solidFill>
            <a:srgbClr val="FCFBF8"/>
          </a:solidFill>
          <a:ln w="6350">
            <a:solidFill>
              <a:srgbClr val="DCDAD2"/>
            </a:solidFill>
            <a:prstDash val="solid"/>
          </a:ln>
        </p:spPr>
      </p:sp>
      <p:sp>
        <p:nvSpPr>
          <p:cNvPr id="8" name="Text 6"/>
          <p:cNvSpPr/>
          <p:nvPr/>
        </p:nvSpPr>
        <p:spPr>
          <a:xfrm>
            <a:off x="4543187" y="1892300"/>
            <a:ext cx="3198795"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7766A"/>
                </a:solidFill>
                <a:latin typeface="IBM Plex Sans" pitchFamily="34" charset="0"/>
                <a:ea typeface="IBM Plex Sans" pitchFamily="34" charset="-122"/>
                <a:cs typeface="IBM Plex Sans" pitchFamily="34" charset="-120"/>
              </a:rPr>
              <a:t>TRACEALYZER FOR FREERTOS</a:t>
            </a:r>
            <a:endParaRPr lang="en-US" sz="1100" dirty="0">
              <a:latin typeface="IBM Plex Sans" charset="0"/>
              <a:ea typeface="IBM Plex Sans" charset="0"/>
              <a:cs typeface="IBM Plex Sans" charset="0"/>
            </a:endParaRPr>
          </a:p>
        </p:txBody>
      </p:sp>
      <p:sp>
        <p:nvSpPr>
          <p:cNvPr id="9" name="Text 7"/>
          <p:cNvSpPr/>
          <p:nvPr/>
        </p:nvSpPr>
        <p:spPr>
          <a:xfrm>
            <a:off x="4543187" y="2138660"/>
            <a:ext cx="3198795"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Da Percepio: captura o run time e mostra-o em mais de 20 vistas gráficas ligadas.</a:t>
            </a:r>
            <a:endParaRPr lang="en-US" sz="1200" dirty="0">
              <a:latin typeface="IBM Plex Sans" charset="0"/>
              <a:ea typeface="IBM Plex Sans" charset="0"/>
              <a:cs typeface="IBM Plex Sans" charset="0"/>
            </a:endParaRPr>
          </a:p>
        </p:txBody>
      </p:sp>
      <p:sp>
        <p:nvSpPr>
          <p:cNvPr id="10" name="Shape 8"/>
          <p:cNvSpPr/>
          <p:nvPr/>
        </p:nvSpPr>
        <p:spPr>
          <a:xfrm>
            <a:off x="7961868" y="1776115"/>
            <a:ext cx="3414157" cy="890270"/>
          </a:xfrm>
          <a:prstGeom prst="roundRect">
            <a:avLst>
              <a:gd name="adj" fmla="val 11056"/>
            </a:avLst>
          </a:prstGeom>
          <a:solidFill>
            <a:srgbClr val="FCFBF8"/>
          </a:solidFill>
          <a:ln w="6350">
            <a:solidFill>
              <a:srgbClr val="DCDAD2"/>
            </a:solidFill>
            <a:prstDash val="solid"/>
          </a:ln>
        </p:spPr>
      </p:sp>
      <p:sp>
        <p:nvSpPr>
          <p:cNvPr id="11" name="Text 9"/>
          <p:cNvSpPr/>
          <p:nvPr/>
        </p:nvSpPr>
        <p:spPr>
          <a:xfrm>
            <a:off x="8116174" y="1892300"/>
            <a:ext cx="3198713" cy="22098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17766A"/>
                </a:solidFill>
                <a:latin typeface="IBM Plex Sans" pitchFamily="34" charset="0"/>
                <a:ea typeface="IBM Plex Sans" pitchFamily="34" charset="-122"/>
                <a:cs typeface="IBM Plex Sans" pitchFamily="34" charset="-120"/>
              </a:rPr>
              <a:t>PLUG-INS DE DEBUGGER</a:t>
            </a:r>
            <a:endParaRPr lang="en-US" sz="1100" dirty="0">
              <a:latin typeface="IBM Plex Sans" charset="0"/>
              <a:ea typeface="IBM Plex Sans" charset="0"/>
              <a:cs typeface="IBM Plex Sans" charset="0"/>
            </a:endParaRPr>
          </a:p>
        </p:txBody>
      </p:sp>
      <p:sp>
        <p:nvSpPr>
          <p:cNvPr id="12" name="Text 10"/>
          <p:cNvSpPr/>
          <p:nvPr/>
        </p:nvSpPr>
        <p:spPr>
          <a:xfrm>
            <a:off x="8116174" y="2138660"/>
            <a:ext cx="3198713"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05C"/>
                </a:solidFill>
                <a:latin typeface="IBM Plex Sans" pitchFamily="34" charset="0"/>
                <a:ea typeface="IBM Plex Sans" pitchFamily="34" charset="-122"/>
                <a:cs typeface="IBM Plex Sans" pitchFamily="34" charset="-120"/>
              </a:rPr>
              <a:t>Na Pico 2: </a:t>
            </a:r>
            <a:r>
              <a:rPr lang="en-US" sz="1200" b="1" dirty="0">
                <a:solidFill>
                  <a:srgbClr val="44505C"/>
                </a:solidFill>
                <a:latin typeface="IBM Plex Sans" pitchFamily="34" charset="0"/>
                <a:ea typeface="IBM Plex Sans" pitchFamily="34" charset="-122"/>
                <a:cs typeface="IBM Plex Sans" pitchFamily="34" charset="-120"/>
              </a:rPr>
              <a:t>RTOS Views</a:t>
            </a:r>
            <a:r>
              <a:rPr lang="en-US" sz="1200" dirty="0">
                <a:solidFill>
                  <a:srgbClr val="44505C"/>
                </a:solidFill>
                <a:latin typeface="IBM Plex Sans" pitchFamily="34" charset="0"/>
                <a:ea typeface="IBM Plex Sans" pitchFamily="34" charset="-122"/>
                <a:cs typeface="IBM Plex Sans" pitchFamily="34" charset="-120"/>
              </a:rPr>
              <a:t> do Cortex-Debug no VS Code (a testar em RISC-V).</a:t>
            </a:r>
            <a:endParaRPr lang="en-US" sz="1200" dirty="0">
              <a:latin typeface="IBM Plex Sans" charset="0"/>
              <a:ea typeface="IBM Plex Sans" charset="0"/>
              <a:cs typeface="IBM Plex Sans" charset="0"/>
            </a:endParaRPr>
          </a:p>
        </p:txBody>
      </p:sp>
      <p:pic>
        <p:nvPicPr>
          <p:cNvPr id="13" name="Image 0" descr="Captura do Tracealyzer com várias vistas: eventos, trace, carga de CPU e comunicação entre tasks e queues.">    </p:cNvPr>
          <p:cNvPicPr>
            <a:picLocks noChangeAspect="1"/>
          </p:cNvPicPr>
          <p:nvPr/>
        </p:nvPicPr>
        <p:blipFill>
          <a:blip r:embed="rId1"/>
          <a:srcRect l="0" r="0" t="32" b="32"/>
          <a:stretch/>
        </p:blipFill>
        <p:spPr>
          <a:xfrm>
            <a:off x="1481376" y="2853730"/>
            <a:ext cx="9229249" cy="2767013"/>
          </a:xfrm>
          <a:prstGeom prst="roundRect">
            <a:avLst>
              <a:gd name="adj" fmla="val 1606"/>
            </a:avLst>
          </a:prstGeom>
        </p:spPr>
      </p:pic>
      <p:sp>
        <p:nvSpPr>
          <p:cNvPr id="14" name="Shape 11"/>
          <p:cNvSpPr/>
          <p:nvPr/>
        </p:nvSpPr>
        <p:spPr>
          <a:xfrm>
            <a:off x="1478201" y="2850555"/>
            <a:ext cx="9235599" cy="2773363"/>
          </a:xfrm>
          <a:prstGeom prst="roundRect">
            <a:avLst>
              <a:gd name="adj" fmla="val 1717"/>
            </a:avLst>
          </a:prstGeom>
          <a:noFill/>
          <a:ln w="6350">
            <a:solidFill>
              <a:srgbClr val="DCDAD2"/>
            </a:solidFill>
            <a:prstDash val="solid"/>
          </a:ln>
        </p:spPr>
      </p:sp>
      <p:sp>
        <p:nvSpPr>
          <p:cNvPr id="15" name="Text 12"/>
          <p:cNvSpPr/>
          <p:nvPr/>
        </p:nvSpPr>
        <p:spPr>
          <a:xfrm>
            <a:off x="4582009" y="5665192"/>
            <a:ext cx="3027902" cy="202248"/>
          </a:xfrm>
          <a:prstGeom prst="rect">
            <a:avLst/>
          </a:prstGeom>
          <a:noFill/>
          <a:ln/>
        </p:spPr>
        <p:txBody>
          <a:bodyPr wrap="square" lIns="0" tIns="0" rIns="0" bIns="0" rtlCol="0" anchor="t">
            <a:normAutofit/>
          </a:bodyPr>
          <a:lstStyle/>
          <a:p>
            <a:pPr algn="ctr" indent="0" marL="0">
              <a:lnSpc>
                <a:spcPts val="1400"/>
              </a:lnSpc>
              <a:buNone/>
            </a:pPr>
            <a:r>
              <a:rPr lang="en-US" sz="1000" dirty="0">
                <a:solidFill>
                  <a:srgbClr val="66717C"/>
                </a:solidFill>
                <a:latin typeface="IBM Plex Sans" pitchFamily="34" charset="0"/>
                <a:ea typeface="IBM Plex Sans" pitchFamily="34" charset="-122"/>
                <a:cs typeface="IBM Plex Sans" pitchFamily="34" charset="-120"/>
              </a:rPr>
              <a:t>Imagem: freertos.org / Percepio Tracealyzer.</a:t>
            </a:r>
            <a:endParaRPr lang="en-US" sz="1000" dirty="0">
              <a:latin typeface="IBM Plex Sans" charset="0"/>
              <a:ea typeface="IBM Plex Sans" charset="0"/>
              <a:cs typeface="IBM Plex Sans" charset="0"/>
            </a:endParaRPr>
          </a:p>
        </p:txBody>
      </p:sp>
      <p:sp>
        <p:nvSpPr>
          <p:cNvPr id="16" name="Text 13"/>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12</a:t>
            </a:r>
            <a:endParaRPr lang="en-US" sz="1200" dirty="0">
              <a:latin typeface="IBM Plex Sans" charset="0"/>
              <a:ea typeface="IBM Plex Sans" charset="0"/>
              <a:cs typeface="IBM Plex Sans" charset="0"/>
            </a:endParaRPr>
          </a:p>
        </p:txBody>
      </p:sp>
      <p:sp>
        <p:nvSpPr>
          <p:cNvPr id="17" name="Text 1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137</a:t>
            </a:r>
            <a:endParaRPr lang="en-US" sz="1200" dirty="0">
              <a:latin typeface="IBM Plex Sans" charset="0"/>
              <a:ea typeface="IBM Plex Sans" charset="0"/>
              <a:cs typeface="IBM Plex Sans"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TROUBLESHOOTING</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Checklist quando algo corre mal</a:t>
            </a:r>
            <a:endParaRPr lang="en-US" sz="3200" dirty="0">
              <a:latin typeface="IBM Plex Sans" charset="0"/>
              <a:ea typeface="IBM Plex Sans" charset="0"/>
              <a:cs typeface="IBM Plex Sans" charset="0"/>
            </a:endParaRPr>
          </a:p>
        </p:txBody>
      </p:sp>
      <p:sp>
        <p:nvSpPr>
          <p:cNvPr id="4" name="Shape 2"/>
          <p:cNvSpPr/>
          <p:nvPr/>
        </p:nvSpPr>
        <p:spPr>
          <a:xfrm>
            <a:off x="812800" y="1801515"/>
            <a:ext cx="5130800" cy="0"/>
          </a:xfrm>
          <a:prstGeom prst="line">
            <a:avLst/>
          </a:prstGeom>
          <a:noFill/>
          <a:ln w="6350">
            <a:solidFill>
              <a:srgbClr val="DCDAD2"/>
            </a:solidFill>
            <a:prstDash val="solid"/>
          </a:ln>
        </p:spPr>
      </p:sp>
      <p:pic>
        <p:nvPicPr>
          <p:cNvPr id="5" name="Image 0" descr="CheckCircle">    </p:cNvPr>
          <p:cNvPicPr>
            <a:picLocks noChangeAspect="1"/>
          </p:cNvPicPr>
          <p:nvPr/>
        </p:nvPicPr>
        <p:blipFill>
          <a:blip r:embed="rId1"/>
          <a:srcRect l="0" r="0" t="0" b="0"/>
          <a:stretch/>
        </p:blipFill>
        <p:spPr>
          <a:xfrm>
            <a:off x="812800" y="1905000"/>
            <a:ext cx="254000" cy="254000"/>
          </a:xfrm>
          <a:prstGeom prst="rect">
            <a:avLst/>
          </a:prstGeom>
        </p:spPr>
      </p:pic>
      <p:sp>
        <p:nvSpPr>
          <p:cNvPr id="6" name="Text 3"/>
          <p:cNvSpPr/>
          <p:nvPr/>
        </p:nvSpPr>
        <p:spPr>
          <a:xfrm>
            <a:off x="1193800" y="1905000"/>
            <a:ext cx="489229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Definir configASSERT()</a:t>
            </a:r>
            <a:endParaRPr lang="en-US" sz="1400" dirty="0">
              <a:latin typeface="IBM Plex Sans" charset="0"/>
              <a:ea typeface="IBM Plex Sans" charset="0"/>
              <a:cs typeface="IBM Plex Sans" charset="0"/>
            </a:endParaRPr>
          </a:p>
        </p:txBody>
      </p:sp>
      <p:sp>
        <p:nvSpPr>
          <p:cNvPr id="7" name="Text 4"/>
          <p:cNvSpPr/>
          <p:nvPr/>
        </p:nvSpPr>
        <p:spPr>
          <a:xfrm>
            <a:off x="1193800" y="2143820"/>
            <a:ext cx="4892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Apanha os erros mais comuns no ponto onde acontecem.</a:t>
            </a:r>
            <a:endParaRPr lang="en-US" sz="1200" dirty="0">
              <a:latin typeface="IBM Plex Sans" charset="0"/>
              <a:ea typeface="IBM Plex Sans" charset="0"/>
              <a:cs typeface="IBM Plex Sans" charset="0"/>
            </a:endParaRPr>
          </a:p>
        </p:txBody>
      </p:sp>
      <p:sp>
        <p:nvSpPr>
          <p:cNvPr id="8" name="Shape 5"/>
          <p:cNvSpPr/>
          <p:nvPr/>
        </p:nvSpPr>
        <p:spPr>
          <a:xfrm>
            <a:off x="6248400" y="1801515"/>
            <a:ext cx="5130800" cy="0"/>
          </a:xfrm>
          <a:prstGeom prst="line">
            <a:avLst/>
          </a:prstGeom>
          <a:noFill/>
          <a:ln w="6350">
            <a:solidFill>
              <a:srgbClr val="DCDAD2"/>
            </a:solidFill>
            <a:prstDash val="solid"/>
          </a:ln>
        </p:spPr>
      </p:sp>
      <p:pic>
        <p:nvPicPr>
          <p:cNvPr id="9" name="Image 1" descr="CheckCircle">    </p:cNvPr>
          <p:cNvPicPr>
            <a:picLocks noChangeAspect="1"/>
          </p:cNvPicPr>
          <p:nvPr/>
        </p:nvPicPr>
        <p:blipFill>
          <a:blip r:embed="rId2"/>
          <a:srcRect l="0" r="0" t="0" b="0"/>
          <a:stretch/>
        </p:blipFill>
        <p:spPr>
          <a:xfrm>
            <a:off x="6248400" y="1905000"/>
            <a:ext cx="254000" cy="254000"/>
          </a:xfrm>
          <a:prstGeom prst="rect">
            <a:avLst/>
          </a:prstGeom>
        </p:spPr>
      </p:pic>
      <p:sp>
        <p:nvSpPr>
          <p:cNvPr id="10" name="Text 6"/>
          <p:cNvSpPr/>
          <p:nvPr/>
        </p:nvSpPr>
        <p:spPr>
          <a:xfrm>
            <a:off x="6629400" y="1905000"/>
            <a:ext cx="489229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Ativar o malloc failed hook</a:t>
            </a:r>
            <a:endParaRPr lang="en-US" sz="1400" dirty="0">
              <a:latin typeface="IBM Plex Sans" charset="0"/>
              <a:ea typeface="IBM Plex Sans" charset="0"/>
              <a:cs typeface="IBM Plex Sans" charset="0"/>
            </a:endParaRPr>
          </a:p>
        </p:txBody>
      </p:sp>
      <p:sp>
        <p:nvSpPr>
          <p:cNvPr id="11" name="Text 7"/>
          <p:cNvSpPr/>
          <p:nvPr/>
        </p:nvSpPr>
        <p:spPr>
          <a:xfrm>
            <a:off x="6629400" y="2143820"/>
            <a:ext cx="4892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configUSE_MALLOC_FAILED_HOOK = 1: saber logo quando a criação de um objeto falha.</a:t>
            </a:r>
            <a:endParaRPr lang="en-US" sz="1200" dirty="0">
              <a:latin typeface="IBM Plex Sans" charset="0"/>
              <a:ea typeface="IBM Plex Sans" charset="0"/>
              <a:cs typeface="IBM Plex Sans" charset="0"/>
            </a:endParaRPr>
          </a:p>
        </p:txBody>
      </p:sp>
      <p:sp>
        <p:nvSpPr>
          <p:cNvPr id="12" name="Shape 8"/>
          <p:cNvSpPr/>
          <p:nvPr/>
        </p:nvSpPr>
        <p:spPr>
          <a:xfrm>
            <a:off x="812800" y="2624435"/>
            <a:ext cx="5130800" cy="0"/>
          </a:xfrm>
          <a:prstGeom prst="line">
            <a:avLst/>
          </a:prstGeom>
          <a:noFill/>
          <a:ln w="6350">
            <a:solidFill>
              <a:srgbClr val="DCDAD2"/>
            </a:solidFill>
            <a:prstDash val="solid"/>
          </a:ln>
        </p:spPr>
      </p:sp>
      <p:pic>
        <p:nvPicPr>
          <p:cNvPr id="13" name="Image 2" descr="CheckCircle">    </p:cNvPr>
          <p:cNvPicPr>
            <a:picLocks noChangeAspect="1"/>
          </p:cNvPicPr>
          <p:nvPr/>
        </p:nvPicPr>
        <p:blipFill>
          <a:blip r:embed="rId3"/>
          <a:srcRect l="0" r="0" t="0" b="0"/>
          <a:stretch/>
        </p:blipFill>
        <p:spPr>
          <a:xfrm>
            <a:off x="812800" y="2728020"/>
            <a:ext cx="254000" cy="254000"/>
          </a:xfrm>
          <a:prstGeom prst="rect">
            <a:avLst/>
          </a:prstGeom>
        </p:spPr>
      </p:pic>
      <p:sp>
        <p:nvSpPr>
          <p:cNvPr id="14" name="Text 9"/>
          <p:cNvSpPr/>
          <p:nvPr/>
        </p:nvSpPr>
        <p:spPr>
          <a:xfrm>
            <a:off x="1193800" y="2728020"/>
            <a:ext cx="489229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Ativar a verificação de stack</a:t>
            </a:r>
            <a:endParaRPr lang="en-US" sz="1400" dirty="0">
              <a:latin typeface="IBM Plex Sans" charset="0"/>
              <a:ea typeface="IBM Plex Sans" charset="0"/>
              <a:cs typeface="IBM Plex Sans" charset="0"/>
            </a:endParaRPr>
          </a:p>
        </p:txBody>
      </p:sp>
      <p:sp>
        <p:nvSpPr>
          <p:cNvPr id="15" name="Text 10"/>
          <p:cNvSpPr/>
          <p:nvPr/>
        </p:nvSpPr>
        <p:spPr>
          <a:xfrm>
            <a:off x="1193800" y="2966740"/>
            <a:ext cx="4892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configCHECK_FOR_STACK_OVERFLOW = 1 ou 2, com o stack overflow hook.</a:t>
            </a:r>
            <a:endParaRPr lang="en-US" sz="1200" dirty="0">
              <a:latin typeface="IBM Plex Sans" charset="0"/>
              <a:ea typeface="IBM Plex Sans" charset="0"/>
              <a:cs typeface="IBM Plex Sans" charset="0"/>
            </a:endParaRPr>
          </a:p>
        </p:txBody>
      </p:sp>
      <p:sp>
        <p:nvSpPr>
          <p:cNvPr id="16" name="Shape 11"/>
          <p:cNvSpPr/>
          <p:nvPr/>
        </p:nvSpPr>
        <p:spPr>
          <a:xfrm>
            <a:off x="6248400" y="2624435"/>
            <a:ext cx="5130800" cy="0"/>
          </a:xfrm>
          <a:prstGeom prst="line">
            <a:avLst/>
          </a:prstGeom>
          <a:noFill/>
          <a:ln w="6350">
            <a:solidFill>
              <a:srgbClr val="DCDAD2"/>
            </a:solidFill>
            <a:prstDash val="solid"/>
          </a:ln>
        </p:spPr>
      </p:sp>
      <p:pic>
        <p:nvPicPr>
          <p:cNvPr id="17" name="Image 3" descr="CheckCircle">    </p:cNvPr>
          <p:cNvPicPr>
            <a:picLocks noChangeAspect="1"/>
          </p:cNvPicPr>
          <p:nvPr/>
        </p:nvPicPr>
        <p:blipFill>
          <a:blip r:embed="rId4"/>
          <a:srcRect l="0" r="0" t="0" b="0"/>
          <a:stretch/>
        </p:blipFill>
        <p:spPr>
          <a:xfrm>
            <a:off x="6248400" y="2728020"/>
            <a:ext cx="254000" cy="254000"/>
          </a:xfrm>
          <a:prstGeom prst="rect">
            <a:avLst/>
          </a:prstGeom>
        </p:spPr>
      </p:pic>
      <p:sp>
        <p:nvSpPr>
          <p:cNvPr id="18" name="Text 12"/>
          <p:cNvSpPr/>
          <p:nvPr/>
        </p:nvSpPr>
        <p:spPr>
          <a:xfrm>
            <a:off x="6629400" y="2728020"/>
            <a:ext cx="489229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Verificar os valores de retorno</a:t>
            </a:r>
            <a:endParaRPr lang="en-US" sz="1400" dirty="0">
              <a:latin typeface="IBM Plex Sans" charset="0"/>
              <a:ea typeface="IBM Plex Sans" charset="0"/>
              <a:cs typeface="IBM Plex Sans" charset="0"/>
            </a:endParaRPr>
          </a:p>
        </p:txBody>
      </p:sp>
      <p:sp>
        <p:nvSpPr>
          <p:cNvPr id="19" name="Text 13"/>
          <p:cNvSpPr/>
          <p:nvPr/>
        </p:nvSpPr>
        <p:spPr>
          <a:xfrm>
            <a:off x="6629400" y="2966740"/>
            <a:ext cx="4892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xTaskCreate(), xQueueCreate(), xSemaphoreTake()…</a:t>
            </a:r>
            <a:endParaRPr lang="en-US" sz="1200" dirty="0">
              <a:latin typeface="IBM Plex Sans" charset="0"/>
              <a:ea typeface="IBM Plex Sans" charset="0"/>
              <a:cs typeface="IBM Plex Sans" charset="0"/>
            </a:endParaRPr>
          </a:p>
        </p:txBody>
      </p:sp>
      <p:sp>
        <p:nvSpPr>
          <p:cNvPr id="20" name="Shape 14"/>
          <p:cNvSpPr/>
          <p:nvPr/>
        </p:nvSpPr>
        <p:spPr>
          <a:xfrm>
            <a:off x="812800" y="3447455"/>
            <a:ext cx="5130800" cy="0"/>
          </a:xfrm>
          <a:prstGeom prst="line">
            <a:avLst/>
          </a:prstGeom>
          <a:noFill/>
          <a:ln w="6350">
            <a:solidFill>
              <a:srgbClr val="DCDAD2"/>
            </a:solidFill>
            <a:prstDash val="solid"/>
          </a:ln>
        </p:spPr>
      </p:sp>
      <p:pic>
        <p:nvPicPr>
          <p:cNvPr id="21" name="Image 4" descr="CheckCircle">    </p:cNvPr>
          <p:cNvPicPr>
            <a:picLocks noChangeAspect="1"/>
          </p:cNvPicPr>
          <p:nvPr/>
        </p:nvPicPr>
        <p:blipFill>
          <a:blip r:embed="rId5"/>
          <a:srcRect l="0" r="0" t="0" b="0"/>
          <a:stretch/>
        </p:blipFill>
        <p:spPr>
          <a:xfrm>
            <a:off x="812800" y="3550940"/>
            <a:ext cx="254000" cy="254000"/>
          </a:xfrm>
          <a:prstGeom prst="rect">
            <a:avLst/>
          </a:prstGeom>
        </p:spPr>
      </p:pic>
      <p:sp>
        <p:nvSpPr>
          <p:cNvPr id="22" name="Text 15"/>
          <p:cNvSpPr/>
          <p:nvPr/>
        </p:nvSpPr>
        <p:spPr>
          <a:xfrm>
            <a:off x="1193800" y="3550940"/>
            <a:ext cx="489229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Rever a configuração do scheduler</a:t>
            </a:r>
            <a:endParaRPr lang="en-US" sz="1400" dirty="0">
              <a:latin typeface="IBM Plex Sans" charset="0"/>
              <a:ea typeface="IBM Plex Sans" charset="0"/>
              <a:cs typeface="IBM Plex Sans" charset="0"/>
            </a:endParaRPr>
          </a:p>
        </p:txBody>
      </p:sp>
      <p:sp>
        <p:nvSpPr>
          <p:cNvPr id="23" name="Text 16"/>
          <p:cNvSpPr/>
          <p:nvPr/>
        </p:nvSpPr>
        <p:spPr>
          <a:xfrm>
            <a:off x="1193800" y="3789660"/>
            <a:ext cx="4892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configUSE_PREEMPTION e configUSE_TIME_SLICING de acordo com a aplicação.</a:t>
            </a:r>
            <a:endParaRPr lang="en-US" sz="1200" dirty="0">
              <a:latin typeface="IBM Plex Sans" charset="0"/>
              <a:ea typeface="IBM Plex Sans" charset="0"/>
              <a:cs typeface="IBM Plex Sans" charset="0"/>
            </a:endParaRPr>
          </a:p>
        </p:txBody>
      </p:sp>
      <p:sp>
        <p:nvSpPr>
          <p:cNvPr id="24" name="Shape 17"/>
          <p:cNvSpPr/>
          <p:nvPr/>
        </p:nvSpPr>
        <p:spPr>
          <a:xfrm>
            <a:off x="6248400" y="3447455"/>
            <a:ext cx="5130800" cy="0"/>
          </a:xfrm>
          <a:prstGeom prst="line">
            <a:avLst/>
          </a:prstGeom>
          <a:noFill/>
          <a:ln w="6350">
            <a:solidFill>
              <a:srgbClr val="DCDAD2"/>
            </a:solidFill>
            <a:prstDash val="solid"/>
          </a:ln>
        </p:spPr>
      </p:sp>
      <p:pic>
        <p:nvPicPr>
          <p:cNvPr id="25" name="Image 5" descr="CheckCircle">    </p:cNvPr>
          <p:cNvPicPr>
            <a:picLocks noChangeAspect="1"/>
          </p:cNvPicPr>
          <p:nvPr/>
        </p:nvPicPr>
        <p:blipFill>
          <a:blip r:embed="rId6"/>
          <a:srcRect l="0" r="0" t="0" b="0"/>
          <a:stretch/>
        </p:blipFill>
        <p:spPr>
          <a:xfrm>
            <a:off x="6248400" y="3550940"/>
            <a:ext cx="254000" cy="254000"/>
          </a:xfrm>
          <a:prstGeom prst="rect">
            <a:avLst/>
          </a:prstGeom>
        </p:spPr>
      </p:pic>
      <p:sp>
        <p:nvSpPr>
          <p:cNvPr id="26" name="Text 18"/>
          <p:cNvSpPr/>
          <p:nvPr/>
        </p:nvSpPr>
        <p:spPr>
          <a:xfrm>
            <a:off x="6629400" y="3550940"/>
            <a:ext cx="4892294"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Exceções na Pico 2 (RISC-V)</a:t>
            </a:r>
            <a:endParaRPr lang="en-US" sz="1400" dirty="0">
              <a:latin typeface="IBM Plex Sans" charset="0"/>
              <a:ea typeface="IBM Plex Sans" charset="0"/>
              <a:cs typeface="IBM Plex Sans" charset="0"/>
            </a:endParaRPr>
          </a:p>
        </p:txBody>
      </p:sp>
      <p:sp>
        <p:nvSpPr>
          <p:cNvPr id="27" name="Text 19"/>
          <p:cNvSpPr/>
          <p:nvPr/>
        </p:nvSpPr>
        <p:spPr>
          <a:xfrm>
            <a:off x="6629400" y="3789660"/>
            <a:ext cx="4892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Numa exceção, o CPU fica parado num ciclo infinito. Pausar no debugger: </a:t>
            </a:r>
            <a:r>
              <a:rPr lang="en-US" sz="1200" b="1" dirty="0">
                <a:solidFill>
                  <a:srgbClr val="44505C"/>
                </a:solidFill>
                <a:latin typeface="IBM Plex Sans" pitchFamily="34" charset="0"/>
                <a:ea typeface="IBM Plex Sans" pitchFamily="34" charset="-122"/>
                <a:cs typeface="IBM Plex Sans" pitchFamily="34" charset="-120"/>
              </a:rPr>
              <a:t>mcause</a:t>
            </a:r>
            <a:r>
              <a:rPr lang="en-US" sz="1200" dirty="0">
                <a:solidFill>
                  <a:srgbClr val="44505C"/>
                </a:solidFill>
                <a:latin typeface="IBM Plex Sans" pitchFamily="34" charset="0"/>
                <a:ea typeface="IBM Plex Sans" pitchFamily="34" charset="-122"/>
                <a:cs typeface="IBM Plex Sans" pitchFamily="34" charset="-120"/>
              </a:rPr>
              <a:t> diz o tipo, </a:t>
            </a:r>
            <a:r>
              <a:rPr lang="en-US" sz="1200" b="1" dirty="0">
                <a:solidFill>
                  <a:srgbClr val="44505C"/>
                </a:solidFill>
                <a:latin typeface="IBM Plex Sans" pitchFamily="34" charset="0"/>
                <a:ea typeface="IBM Plex Sans" pitchFamily="34" charset="-122"/>
                <a:cs typeface="IBM Plex Sans" pitchFamily="34" charset="-120"/>
              </a:rPr>
              <a:t>mepc</a:t>
            </a:r>
            <a:r>
              <a:rPr lang="en-US" sz="1200" dirty="0">
                <a:solidFill>
                  <a:srgbClr val="44505C"/>
                </a:solidFill>
                <a:latin typeface="IBM Plex Sans" pitchFamily="34" charset="0"/>
                <a:ea typeface="IBM Plex Sans" pitchFamily="34" charset="-122"/>
                <a:cs typeface="IBM Plex Sans" pitchFamily="34" charset="-120"/>
              </a:rPr>
              <a:t> onde falhou.</a:t>
            </a:r>
            <a:endParaRPr lang="en-US" sz="1200" dirty="0">
              <a:latin typeface="IBM Plex Sans" charset="0"/>
              <a:ea typeface="IBM Plex Sans" charset="0"/>
              <a:cs typeface="IBM Plex Sans" charset="0"/>
            </a:endParaRPr>
          </a:p>
        </p:txBody>
      </p:sp>
      <p:sp>
        <p:nvSpPr>
          <p:cNvPr id="28" name="Text 20"/>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Mastering the FreeRTOS Real Time Kernel (V1.1.0), cap. 13</a:t>
            </a:r>
            <a:endParaRPr lang="en-US" sz="1200" dirty="0">
              <a:latin typeface="IBM Plex Sans" charset="0"/>
              <a:ea typeface="IBM Plex Sans" charset="0"/>
              <a:cs typeface="IBM Plex Sans" charset="0"/>
            </a:endParaRPr>
          </a:p>
        </p:txBody>
      </p:sp>
      <p:sp>
        <p:nvSpPr>
          <p:cNvPr id="29" name="Text 21"/>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138</a:t>
            </a:r>
            <a:endParaRPr lang="en-US" sz="1200" dirty="0">
              <a:latin typeface="IBM Plex Sans" charset="0"/>
              <a:ea typeface="IBM Plex Sans" charset="0"/>
              <a:cs typeface="IBM Plex Sans"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MÓDULO 8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22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Ativar as verificações do kernel desde o primeiro dia: é mais barato do que procurar o erro depois.</a:t>
            </a:r>
            <a:endParaRPr lang="en-US" sz="3200" dirty="0">
              <a:latin typeface="IBM Plex Sans" charset="0"/>
              <a:ea typeface="IBM Plex Sans" charset="0"/>
              <a:cs typeface="IBM Plex Sans" charset="0"/>
            </a:endParaRPr>
          </a:p>
        </p:txBody>
      </p:sp>
      <p:sp>
        <p:nvSpPr>
          <p:cNvPr id="4" name="Text 2"/>
          <p:cNvSpPr/>
          <p:nvPr/>
        </p:nvSpPr>
        <p:spPr>
          <a:xfrm>
            <a:off x="819150" y="2475210"/>
            <a:ext cx="147701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configASSERT</a:t>
            </a:r>
            <a:endParaRPr lang="en-US" sz="1400" dirty="0">
              <a:latin typeface="IBM Plex Sans" charset="0"/>
              <a:ea typeface="IBM Plex Sans" charset="0"/>
              <a:cs typeface="IBM Plex Sans" charset="0"/>
            </a:endParaRPr>
          </a:p>
        </p:txBody>
      </p:sp>
      <p:sp>
        <p:nvSpPr>
          <p:cNvPr id="5" name="Text 3"/>
          <p:cNvSpPr/>
          <p:nvPr/>
        </p:nvSpPr>
        <p:spPr>
          <a:xfrm>
            <a:off x="2410460" y="2475210"/>
            <a:ext cx="155440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mcause · mepc</a:t>
            </a:r>
            <a:endParaRPr lang="en-US" sz="1400" dirty="0">
              <a:latin typeface="IBM Plex Sans" charset="0"/>
              <a:ea typeface="IBM Plex Sans" charset="0"/>
              <a:cs typeface="IBM Plex Sans" charset="0"/>
            </a:endParaRPr>
          </a:p>
        </p:txBody>
      </p:sp>
      <p:sp>
        <p:nvSpPr>
          <p:cNvPr id="6" name="Text 4"/>
          <p:cNvSpPr/>
          <p:nvPr/>
        </p:nvSpPr>
        <p:spPr>
          <a:xfrm>
            <a:off x="4079161" y="2475210"/>
            <a:ext cx="167854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High water mark</a:t>
            </a:r>
            <a:endParaRPr lang="en-US" sz="1400" dirty="0">
              <a:latin typeface="IBM Plex Sans" charset="0"/>
              <a:ea typeface="IBM Plex Sans" charset="0"/>
              <a:cs typeface="IBM Plex Sans" charset="0"/>
            </a:endParaRPr>
          </a:p>
        </p:txBody>
      </p:sp>
      <p:sp>
        <p:nvSpPr>
          <p:cNvPr id="7" name="Text 5"/>
          <p:cNvSpPr/>
          <p:nvPr/>
        </p:nvSpPr>
        <p:spPr>
          <a:xfrm>
            <a:off x="5872004" y="2475210"/>
            <a:ext cx="350067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configCHECK_FOR_STACK_OVERFLOW</a:t>
            </a:r>
            <a:endParaRPr lang="en-US" sz="1400" dirty="0">
              <a:latin typeface="IBM Plex Sans" charset="0"/>
              <a:ea typeface="IBM Plex Sans" charset="0"/>
              <a:cs typeface="IBM Plex Sans" charset="0"/>
            </a:endParaRPr>
          </a:p>
        </p:txBody>
      </p:sp>
      <p:sp>
        <p:nvSpPr>
          <p:cNvPr id="8" name="Text 6"/>
          <p:cNvSpPr/>
          <p:nvPr/>
        </p:nvSpPr>
        <p:spPr>
          <a:xfrm>
            <a:off x="9486980" y="2475210"/>
            <a:ext cx="153614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vTaskListTasks</a:t>
            </a:r>
            <a:endParaRPr lang="en-US" sz="1400" dirty="0">
              <a:latin typeface="IBM Plex Sans" charset="0"/>
              <a:ea typeface="IBM Plex Sans" charset="0"/>
              <a:cs typeface="IBM Plex Sans" charset="0"/>
            </a:endParaRPr>
          </a:p>
        </p:txBody>
      </p:sp>
      <p:sp>
        <p:nvSpPr>
          <p:cNvPr id="9" name="Text 7"/>
          <p:cNvSpPr/>
          <p:nvPr/>
        </p:nvSpPr>
        <p:spPr>
          <a:xfrm>
            <a:off x="819150" y="2973090"/>
            <a:ext cx="153320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Run-time stats</a:t>
            </a:r>
            <a:endParaRPr lang="en-US" sz="1400" dirty="0">
              <a:latin typeface="IBM Plex Sans" charset="0"/>
              <a:ea typeface="IBM Plex Sans" charset="0"/>
              <a:cs typeface="IBM Plex Sans" charset="0"/>
            </a:endParaRPr>
          </a:p>
        </p:txBody>
      </p:sp>
      <p:sp>
        <p:nvSpPr>
          <p:cNvPr id="10" name="Text 8"/>
          <p:cNvSpPr/>
          <p:nvPr/>
        </p:nvSpPr>
        <p:spPr>
          <a:xfrm>
            <a:off x="2466658" y="2973090"/>
            <a:ext cx="129794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Trace hooks</a:t>
            </a:r>
            <a:endParaRPr lang="en-US" sz="1400" dirty="0">
              <a:latin typeface="IBM Plex Sans" charset="0"/>
              <a:ea typeface="IBM Plex Sans" charset="0"/>
              <a:cs typeface="IBM Plex Sans" charset="0"/>
            </a:endParaRPr>
          </a:p>
        </p:txBody>
      </p:sp>
      <p:sp>
        <p:nvSpPr>
          <p:cNvPr id="11" name="Text 9"/>
          <p:cNvSpPr/>
          <p:nvPr/>
        </p:nvSpPr>
        <p:spPr>
          <a:xfrm>
            <a:off x="3878898" y="2973090"/>
            <a:ext cx="1263729"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Tracealyzer</a:t>
            </a:r>
            <a:endParaRPr lang="en-US" sz="1400" dirty="0">
              <a:latin typeface="IBM Plex Sans" charset="0"/>
              <a:ea typeface="IBM Plex Sans" charset="0"/>
              <a:cs typeface="IBM Plex Sans" charset="0"/>
            </a:endParaRPr>
          </a:p>
        </p:txBody>
      </p:sp>
      <p:sp>
        <p:nvSpPr>
          <p:cNvPr id="12" name="Text 10"/>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Obrigado. Perguntas?</a:t>
            </a:r>
            <a:endParaRPr lang="en-US" sz="1600" dirty="0">
              <a:latin typeface="IBM Plex Sans" charset="0"/>
              <a:ea typeface="IBM Plex Sans" charset="0"/>
              <a:cs typeface="IBM Plex Sans"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SESSÃO PRÁTICA 3</a:t>
            </a:r>
            <a:endParaRPr lang="en-US" sz="1400" dirty="0">
              <a:latin typeface="IBM Plex Sans" charset="0"/>
              <a:ea typeface="IBM Plex Sans" charset="0"/>
              <a:cs typeface="IBM Plex Sans" charset="0"/>
            </a:endParaRPr>
          </a:p>
        </p:txBody>
      </p:sp>
      <p:sp>
        <p:nvSpPr>
          <p:cNvPr id="3" name="Text 1"/>
          <p:cNvSpPr/>
          <p:nvPr>
            <p:ph type="title"/>
          </p:nvPr>
        </p:nvSpPr>
        <p:spPr>
          <a:xfrm>
            <a:off x="812800" y="1214140"/>
            <a:ext cx="10883392" cy="1549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Interrupções, recursos, timers e debug</a:t>
            </a:r>
            <a:endParaRPr lang="en-US" sz="6000" dirty="0">
              <a:latin typeface="IBM Plex Sans" charset="0"/>
              <a:ea typeface="IBM Plex Sans" charset="0"/>
              <a:cs typeface="IBM Plex Sans" charset="0"/>
            </a:endParaRPr>
          </a:p>
        </p:txBody>
      </p:sp>
      <p:sp>
        <p:nvSpPr>
          <p:cNvPr id="4" name="Text 2"/>
          <p:cNvSpPr/>
          <p:nvPr/>
        </p:nvSpPr>
        <p:spPr>
          <a:xfrm>
            <a:off x="812800" y="2890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O essencial, com os exemplos oficiais do livro numa Pico 2</a:t>
            </a:r>
            <a:endParaRPr lang="en-US" sz="2000" dirty="0">
              <a:latin typeface="IBM Plex Sans" charset="0"/>
              <a:ea typeface="IBM Plex Sans" charset="0"/>
              <a:cs typeface="IBM Plex Sans" charset="0"/>
            </a:endParaRPr>
          </a:p>
        </p:txBody>
      </p:sp>
      <p:sp>
        <p:nvSpPr>
          <p:cNvPr id="5" name="Shape 3"/>
          <p:cNvSpPr/>
          <p:nvPr/>
        </p:nvSpPr>
        <p:spPr>
          <a:xfrm>
            <a:off x="812800" y="4730750"/>
            <a:ext cx="3386614" cy="0"/>
          </a:xfrm>
          <a:prstGeom prst="line">
            <a:avLst/>
          </a:prstGeom>
          <a:noFill/>
          <a:ln w="12700">
            <a:solidFill>
              <a:srgbClr val="3C5566"/>
            </a:solidFill>
            <a:prstDash val="solid"/>
          </a:ln>
        </p:spPr>
      </p:sp>
      <p:sp>
        <p:nvSpPr>
          <p:cNvPr id="6" name="Text 4"/>
          <p:cNvSpPr/>
          <p:nvPr/>
        </p:nvSpPr>
        <p:spPr>
          <a:xfrm>
            <a:off x="812800" y="488702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INTERRUPÇÕES (CAP. 7)</a:t>
            </a:r>
            <a:endParaRPr lang="en-US" sz="1200" dirty="0">
              <a:latin typeface="IBM Plex Sans" charset="0"/>
              <a:ea typeface="IBM Plex Sans" charset="0"/>
              <a:cs typeface="IBM Plex Sans" charset="0"/>
            </a:endParaRPr>
          </a:p>
        </p:txBody>
      </p:sp>
      <p:sp>
        <p:nvSpPr>
          <p:cNvPr id="7" name="Text 5"/>
          <p:cNvSpPr/>
          <p:nvPr/>
        </p:nvSpPr>
        <p:spPr>
          <a:xfrm>
            <a:off x="812800" y="515114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Semáforo binário, counting semaphore e queues a partir de uma ISR</a:t>
            </a:r>
            <a:endParaRPr lang="en-US" sz="1200" dirty="0">
              <a:latin typeface="IBM Plex Sans" charset="0"/>
              <a:ea typeface="IBM Plex Sans" charset="0"/>
              <a:cs typeface="IBM Plex Sans" charset="0"/>
            </a:endParaRPr>
          </a:p>
        </p:txBody>
      </p:sp>
      <p:sp>
        <p:nvSpPr>
          <p:cNvPr id="8" name="Shape 6"/>
          <p:cNvSpPr/>
          <p:nvPr/>
        </p:nvSpPr>
        <p:spPr>
          <a:xfrm>
            <a:off x="4402614" y="4730750"/>
            <a:ext cx="3386693" cy="0"/>
          </a:xfrm>
          <a:prstGeom prst="line">
            <a:avLst/>
          </a:prstGeom>
          <a:noFill/>
          <a:ln w="12700">
            <a:solidFill>
              <a:srgbClr val="3C5566"/>
            </a:solidFill>
            <a:prstDash val="solid"/>
          </a:ln>
        </p:spPr>
      </p:sp>
      <p:sp>
        <p:nvSpPr>
          <p:cNvPr id="9" name="Text 7"/>
          <p:cNvSpPr/>
          <p:nvPr/>
        </p:nvSpPr>
        <p:spPr>
          <a:xfrm>
            <a:off x="4402614" y="488702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RECURSOS E TIMERS (CAPS. 8 E 6)</a:t>
            </a:r>
            <a:endParaRPr lang="en-US" sz="1200" dirty="0">
              <a:latin typeface="IBM Plex Sans" charset="0"/>
              <a:ea typeface="IBM Plex Sans" charset="0"/>
              <a:cs typeface="IBM Plex Sans" charset="0"/>
            </a:endParaRPr>
          </a:p>
        </p:txBody>
      </p:sp>
      <p:sp>
        <p:nvSpPr>
          <p:cNvPr id="10" name="Text 8"/>
          <p:cNvSpPr/>
          <p:nvPr/>
        </p:nvSpPr>
        <p:spPr>
          <a:xfrm>
            <a:off x="4402614"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Mutex, gatekeeper, one-shot, auto-reload e reset</a:t>
            </a:r>
            <a:endParaRPr lang="en-US" sz="1200" dirty="0">
              <a:latin typeface="IBM Plex Sans" charset="0"/>
              <a:ea typeface="IBM Plex Sans" charset="0"/>
              <a:cs typeface="IBM Plex Sans" charset="0"/>
            </a:endParaRPr>
          </a:p>
        </p:txBody>
      </p:sp>
      <p:sp>
        <p:nvSpPr>
          <p:cNvPr id="11" name="Shape 9"/>
          <p:cNvSpPr/>
          <p:nvPr/>
        </p:nvSpPr>
        <p:spPr>
          <a:xfrm>
            <a:off x="7992507" y="4730750"/>
            <a:ext cx="3386693" cy="0"/>
          </a:xfrm>
          <a:prstGeom prst="line">
            <a:avLst/>
          </a:prstGeom>
          <a:noFill/>
          <a:ln w="12700">
            <a:solidFill>
              <a:srgbClr val="3C5566"/>
            </a:solidFill>
            <a:prstDash val="solid"/>
          </a:ln>
        </p:spPr>
      </p:sp>
      <p:sp>
        <p:nvSpPr>
          <p:cNvPr id="12" name="Text 10"/>
          <p:cNvSpPr/>
          <p:nvPr/>
        </p:nvSpPr>
        <p:spPr>
          <a:xfrm>
            <a:off x="7992507" y="488702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DEBUG (CAPS. 12 E 13)</a:t>
            </a:r>
            <a:endParaRPr lang="en-US" sz="1200" dirty="0">
              <a:latin typeface="IBM Plex Sans" charset="0"/>
              <a:ea typeface="IBM Plex Sans" charset="0"/>
              <a:cs typeface="IBM Plex Sans" charset="0"/>
            </a:endParaRPr>
          </a:p>
        </p:txBody>
      </p:sp>
      <p:sp>
        <p:nvSpPr>
          <p:cNvPr id="13" name="Text 11"/>
          <p:cNvSpPr/>
          <p:nvPr/>
        </p:nvSpPr>
        <p:spPr>
          <a:xfrm>
            <a:off x="7992507"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configASSERT a funcionar e stack overflow</a:t>
            </a:r>
            <a:endParaRPr lang="en-US" sz="1200" dirty="0">
              <a:latin typeface="IBM Plex Sans" charset="0"/>
              <a:ea typeface="IBM Plex Sans" charset="0"/>
              <a:cs typeface="IBM Plex Sans" charset="0"/>
            </a:endParaRPr>
          </a:p>
        </p:txBody>
      </p:sp>
      <p:sp>
        <p:nvSpPr>
          <p:cNvPr id="14" name="Text 12"/>
          <p:cNvSpPr/>
          <p:nvPr/>
        </p:nvSpPr>
        <p:spPr>
          <a:xfrm>
            <a:off x="812800" y="58318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caps. 6, 7, 8, 12 e 13, e exemplos do repositório FreeRTOS-Kernel-Book</a:t>
            </a:r>
            <a:endParaRPr lang="en-US" sz="1200" dirty="0">
              <a:latin typeface="IBM Plex Sans" charset="0"/>
              <a:ea typeface="IBM Plex Sans" charset="0"/>
              <a:cs typeface="IBM Plex Sans"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3</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Os exemplos oficiais que vamos usar</a:t>
            </a:r>
            <a:endParaRPr lang="en-US" sz="3200" dirty="0">
              <a:latin typeface="IBM Plex Sans" charset="0"/>
              <a:ea typeface="IBM Plex Sans" charset="0"/>
              <a:cs typeface="IBM Plex Sans" charset="0"/>
            </a:endParaRPr>
          </a:p>
        </p:txBody>
      </p:sp>
      <p:sp>
        <p:nvSpPr>
          <p:cNvPr id="4" name="Text 2"/>
          <p:cNvSpPr/>
          <p:nvPr/>
        </p:nvSpPr>
        <p:spPr>
          <a:xfrm>
            <a:off x="812800" y="16967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Livro: </a:t>
            </a:r>
            <a:r>
              <a:rPr lang="en-US" sz="1200" i="1" dirty="0">
                <a:solidFill>
                  <a:srgbClr val="44505C"/>
                </a:solidFill>
                <a:latin typeface="IBM Plex Sans" pitchFamily="34" charset="0"/>
                <a:ea typeface="IBM Plex Sans" pitchFamily="34" charset="-122"/>
                <a:cs typeface="IBM Plex Sans" pitchFamily="34" charset="-120"/>
              </a:rPr>
              <a:t>Mastering the FreeRTOS Real Time Kernel</a:t>
            </a:r>
            <a:r>
              <a:rPr lang="en-US" sz="1200" dirty="0">
                <a:solidFill>
                  <a:srgbClr val="44505C"/>
                </a:solidFill>
                <a:latin typeface="IBM Plex Sans" pitchFamily="34" charset="0"/>
                <a:ea typeface="IBM Plex Sans" pitchFamily="34" charset="-122"/>
                <a:cs typeface="IBM Plex Sans" pitchFamily="34" charset="-120"/>
              </a:rPr>
              <a:t> (V1.1.0) · </a:t>
            </a:r>
            <a:r>
              <a:rPr lang="en-US" sz="1200" u="sng" dirty="0">
                <a:solidFill>
                  <a:srgbClr val="17766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github.com/FreeRTOS/FreeRTOS-Kernel-Book</a:t>
            </a:r>
            <a:endParaRPr lang="en-US" sz="1200" dirty="0">
              <a:latin typeface="IBM Plex Sans" charset="0"/>
              <a:ea typeface="IBM Plex Sans" charset="0"/>
              <a:cs typeface="IBM Plex Sans" charset="0"/>
            </a:endParaRPr>
          </a:p>
        </p:txBody>
      </p:sp>
      <p:sp>
        <p:nvSpPr>
          <p:cNvPr id="5" name="Shape 3"/>
          <p:cNvSpPr/>
          <p:nvPr/>
        </p:nvSpPr>
        <p:spPr>
          <a:xfrm>
            <a:off x="812800" y="2219940"/>
            <a:ext cx="6350000" cy="0"/>
          </a:xfrm>
          <a:prstGeom prst="line">
            <a:avLst/>
          </a:prstGeom>
          <a:noFill/>
          <a:ln w="10160">
            <a:solidFill>
              <a:srgbClr val="141413">
                <a:alpha val="22000"/>
              </a:srgbClr>
            </a:solidFill>
            <a:prstDash val="solid"/>
          </a:ln>
        </p:spPr>
      </p:sp>
      <p:sp>
        <p:nvSpPr>
          <p:cNvPr id="6" name="Shape 4"/>
          <p:cNvSpPr/>
          <p:nvPr/>
        </p:nvSpPr>
        <p:spPr>
          <a:xfrm>
            <a:off x="817880" y="2214860"/>
            <a:ext cx="0" cy="3627120"/>
          </a:xfrm>
          <a:prstGeom prst="line">
            <a:avLst/>
          </a:prstGeom>
          <a:noFill/>
          <a:ln w="1016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4560" y="2288520"/>
          <a:ext cx="6136640" cy="3489960"/>
        </p:xfrm>
        <a:graphic>
          <a:graphicData uri="http://schemas.openxmlformats.org/drawingml/2006/table">
            <a:tbl>
              <a:tblPr/>
              <a:tblGrid>
                <a:gridCol w="1043229"/>
                <a:gridCol w="2209190"/>
                <a:gridCol w="1902358"/>
                <a:gridCol w="981862"/>
              </a:tblGrid>
              <a:tr h="495141">
                <a:tc>
                  <a:txBody>
                    <a:bodyPr/>
                    <a:lstStyle/>
                    <a:p>
                      <a:pPr indent="0" marL="0">
                        <a:lnSpc>
                          <a:spcPts val="1523"/>
                        </a:lnSpc>
                        <a:buNone/>
                      </a:pPr>
                      <a:r>
                        <a:rPr lang="en-US" sz="1088" b="1" dirty="0">
                          <a:solidFill>
                            <a:srgbClr val="44505C"/>
                          </a:solidFill>
                          <a:latin typeface="IBM Plex Sans" pitchFamily="34" charset="0"/>
                          <a:ea typeface="IBM Plex Sans" pitchFamily="34" charset="-122"/>
                          <a:cs typeface="IBM Plex Sans" pitchFamily="34" charset="-120"/>
                        </a:rPr>
                        <a:t>Exemplo do livro</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523"/>
                        </a:lnSpc>
                        <a:buNone/>
                      </a:pPr>
                      <a:r>
                        <a:rPr lang="en-US" sz="1088" b="1" dirty="0">
                          <a:solidFill>
                            <a:srgbClr val="44505C"/>
                          </a:solidFill>
                          <a:latin typeface="IBM Plex Sans" pitchFamily="34" charset="0"/>
                          <a:ea typeface="IBM Plex Sans" pitchFamily="34" charset="-122"/>
                          <a:cs typeface="IBM Plex Sans" pitchFamily="34" charset="-120"/>
                        </a:rPr>
                        <a:t>O que faz</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523"/>
                        </a:lnSpc>
                        <a:buNone/>
                      </a:pPr>
                      <a:r>
                        <a:rPr lang="en-US" sz="1088" b="1" dirty="0">
                          <a:solidFill>
                            <a:srgbClr val="44505C"/>
                          </a:solidFill>
                          <a:latin typeface="IBM Plex Sans" pitchFamily="34" charset="0"/>
                          <a:ea typeface="IBM Plex Sans" pitchFamily="34" charset="-122"/>
                          <a:cs typeface="IBM Plex Sans" pitchFamily="34" charset="-120"/>
                        </a:rPr>
                        <a:t>O que mostra</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523"/>
                        </a:lnSpc>
                        <a:buNone/>
                      </a:pPr>
                      <a:r>
                        <a:rPr lang="en-US" sz="1088" b="1" dirty="0">
                          <a:solidFill>
                            <a:srgbClr val="44505C"/>
                          </a:solidFill>
                          <a:latin typeface="IBM Plex Sans" pitchFamily="34" charset="0"/>
                          <a:ea typeface="IBM Plex Sans" pitchFamily="34" charset="-122"/>
                          <a:cs typeface="IBM Plex Sans" pitchFamily="34" charset="-120"/>
                        </a:rPr>
                        <a:t>Exercício</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01784">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6.1, 6.2</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One-shot e auto-reload; timer ID</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Callbacks na daemon task</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6</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95141">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6.3</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Reset de um timer (backlight)</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xTimerReset recomeça a contagem</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7</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95221">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7.1</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Semáforo binário a partir de uma ISR</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Processamento diferido</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1</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01863">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7.2</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Counting semaphore</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Não perder eventos</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2</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495221">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7.4</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Queues a partir de uma ISR</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Dados da ISR para uma task</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3</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01863">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8.1</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Mutex a proteger a saída</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Exclusão mútua</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4</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01863">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8.2</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Gatekeeper task e tick hook</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Um só dono, sem mutex</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5</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01863">
                <a:tc>
                  <a:txBody>
                    <a:bodyPr/>
                    <a:lstStyle/>
                    <a:p>
                      <a:pPr indent="0" marL="0">
                        <a:lnSpc>
                          <a:spcPts val="1523"/>
                        </a:lnSpc>
                        <a:buNone/>
                      </a:pPr>
                      <a:r>
                        <a:rPr lang="en-US" sz="1088" dirty="0">
                          <a:solidFill>
                            <a:srgbClr val="17766A"/>
                          </a:solidFill>
                          <a:latin typeface="IBM Plex Sans" pitchFamily="34" charset="0"/>
                          <a:ea typeface="IBM Plex Sans" pitchFamily="34" charset="-122"/>
                          <a:cs typeface="IBM Plex Sans" pitchFamily="34" charset="-120"/>
                        </a:rPr>
                        <a:t>Caps. 12 e 13</a:t>
                      </a:r>
                      <a:endParaRPr lang="en-US" sz="1088" dirty="0">
                        <a:latin typeface="IBM Plex Sans" charset="0"/>
                        <a:ea typeface="IBM Plex Sans" charset="0"/>
                        <a:cs typeface="IBM Plex Sans" charset="0"/>
                      </a:endParaRPr>
                    </a:p>
                  </a:txBody>
                  <a:tcPr marL="48339" marR="48339" marT="48339" marB="48339"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configASSERT e stack overflow</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Apanhar o erro cedo</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23"/>
                        </a:lnSpc>
                        <a:buNone/>
                      </a:pPr>
                      <a:r>
                        <a:rPr lang="en-US" sz="1088" dirty="0">
                          <a:solidFill>
                            <a:srgbClr val="44505C"/>
                          </a:solidFill>
                          <a:latin typeface="IBM Plex Sans" pitchFamily="34" charset="0"/>
                          <a:ea typeface="IBM Plex Sans" pitchFamily="34" charset="-122"/>
                          <a:cs typeface="IBM Plex Sans" pitchFamily="34" charset="-120"/>
                        </a:rPr>
                        <a:t>8, 9</a:t>
                      </a:r>
                      <a:endParaRPr lang="en-US" sz="1088" dirty="0">
                        <a:latin typeface="IBM Plex Sans" charset="0"/>
                        <a:ea typeface="IBM Plex Sans" charset="0"/>
                        <a:cs typeface="IBM Plex Sans" charset="0"/>
                      </a:endParaRPr>
                    </a:p>
                  </a:txBody>
                  <a:tcPr marL="48339" marR="48339" marT="48339" marB="48339"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Shape 5"/>
          <p:cNvSpPr/>
          <p:nvPr/>
        </p:nvSpPr>
        <p:spPr>
          <a:xfrm>
            <a:off x="7419975" y="2218035"/>
            <a:ext cx="3956050" cy="1427480"/>
          </a:xfrm>
          <a:prstGeom prst="roundRect">
            <a:avLst>
              <a:gd name="adj" fmla="val 6895"/>
            </a:avLst>
          </a:prstGeom>
          <a:solidFill>
            <a:srgbClr val="FCFBF8"/>
          </a:solidFill>
          <a:ln w="6350">
            <a:solidFill>
              <a:srgbClr val="DCDAD2"/>
            </a:solidFill>
            <a:prstDash val="solid"/>
          </a:ln>
        </p:spPr>
      </p:sp>
      <p:sp>
        <p:nvSpPr>
          <p:cNvPr id="9" name="Text 6"/>
          <p:cNvSpPr/>
          <p:nvPr/>
        </p:nvSpPr>
        <p:spPr>
          <a:xfrm>
            <a:off x="7574280" y="2372420"/>
            <a:ext cx="37568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 mesmo repositório</a:t>
            </a:r>
            <a:endParaRPr lang="en-US" sz="1400" dirty="0">
              <a:latin typeface="IBM Plex Sans" charset="0"/>
              <a:ea typeface="IBM Plex Sans" charset="0"/>
              <a:cs typeface="IBM Plex Sans" charset="0"/>
            </a:endParaRPr>
          </a:p>
        </p:txBody>
      </p:sp>
      <p:sp>
        <p:nvSpPr>
          <p:cNvPr id="10" name="Text 7"/>
          <p:cNvSpPr/>
          <p:nvPr/>
        </p:nvSpPr>
        <p:spPr>
          <a:xfrm>
            <a:off x="7574280" y="2636540"/>
            <a:ext cx="37568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Como na sessão 2. Ler o main.c de cada exemplo antes de o portar.</a:t>
            </a:r>
            <a:endParaRPr lang="en-US" sz="1200" dirty="0">
              <a:latin typeface="IBM Plex Sans" charset="0"/>
              <a:ea typeface="IBM Plex Sans" charset="0"/>
              <a:cs typeface="IBM Plex Sans" charset="0"/>
            </a:endParaRPr>
          </a:p>
        </p:txBody>
      </p:sp>
      <p:sp>
        <p:nvSpPr>
          <p:cNvPr id="11" name="Text 8"/>
          <p:cNvSpPr/>
          <p:nvPr/>
        </p:nvSpPr>
        <p:spPr>
          <a:xfrm>
            <a:off x="7574280" y="3114080"/>
            <a:ext cx="3756863" cy="402590"/>
          </a:xfrm>
          <a:prstGeom prst="rect">
            <a:avLst/>
          </a:prstGeom>
          <a:noFill/>
          <a:ln/>
        </p:spPr>
        <p:txBody>
          <a:bodyPr wrap="square" lIns="0" tIns="0" rIns="0" bIns="0" rtlCol="0" anchor="t">
            <a:normAutofit/>
          </a:bodyPr>
          <a:lstStyle/>
          <a:p>
            <a:pPr algn="l" indent="0" marL="0">
              <a:lnSpc>
                <a:spcPts val="1485"/>
              </a:lnSpc>
              <a:buNone/>
            </a:pPr>
            <a:r>
              <a:rPr lang="en-US" sz="1100" u="sng" dirty="0">
                <a:solidFill>
                  <a:srgbClr val="17766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github.com/FreeRTOS/FreeRTOS-Kernel-Book/</a:t>
            </a:r>
            <a:endParaRPr lang="en-US" sz="1100" dirty="0">
              <a:latin typeface="IBM Plex Sans" charset="0"/>
              <a:ea typeface="IBM Plex Sans" charset="0"/>
              <a:cs typeface="IBM Plex Sans" charset="0"/>
            </a:endParaRPr>
          </a:p>
          <a:p>
            <a:pPr algn="l" indent="0" marL="0">
              <a:lnSpc>
                <a:spcPts val="1485"/>
              </a:lnSpc>
              <a:buNone/>
            </a:pPr>
            <a:r>
              <a:rPr lang="en-US" sz="1100" u="sng" dirty="0">
                <a:solidFill>
                  <a:srgbClr val="17766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tree/main/examples/Win32-simulator-MSVC</a:t>
            </a:r>
            <a:endParaRPr lang="en-US" sz="1100" dirty="0">
              <a:latin typeface="IBM Plex Sans" charset="0"/>
              <a:ea typeface="IBM Plex Sans" charset="0"/>
              <a:cs typeface="IBM Plex Sans" charset="0"/>
            </a:endParaRPr>
          </a:p>
        </p:txBody>
      </p:sp>
      <p:sp>
        <p:nvSpPr>
          <p:cNvPr id="12" name="Shape 9"/>
          <p:cNvSpPr/>
          <p:nvPr/>
        </p:nvSpPr>
        <p:spPr>
          <a:xfrm>
            <a:off x="7419975" y="3778945"/>
            <a:ext cx="3956050" cy="1212850"/>
          </a:xfrm>
          <a:prstGeom prst="roundRect">
            <a:avLst>
              <a:gd name="adj" fmla="val 8115"/>
            </a:avLst>
          </a:prstGeom>
          <a:solidFill>
            <a:srgbClr val="FCFBF8"/>
          </a:solidFill>
          <a:ln w="6350">
            <a:solidFill>
              <a:srgbClr val="DCDAD2"/>
            </a:solidFill>
            <a:prstDash val="solid"/>
          </a:ln>
        </p:spPr>
      </p:sp>
      <p:sp>
        <p:nvSpPr>
          <p:cNvPr id="13" name="Text 10"/>
          <p:cNvSpPr/>
          <p:nvPr/>
        </p:nvSpPr>
        <p:spPr>
          <a:xfrm>
            <a:off x="7574280" y="3933230"/>
            <a:ext cx="37568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 essencial</a:t>
            </a:r>
            <a:endParaRPr lang="en-US" sz="1400" dirty="0">
              <a:latin typeface="IBM Plex Sans" charset="0"/>
              <a:ea typeface="IBM Plex Sans" charset="0"/>
              <a:cs typeface="IBM Plex Sans" charset="0"/>
            </a:endParaRPr>
          </a:p>
        </p:txBody>
      </p:sp>
      <p:sp>
        <p:nvSpPr>
          <p:cNvPr id="14" name="Text 11"/>
          <p:cNvSpPr/>
          <p:nvPr/>
        </p:nvSpPr>
        <p:spPr>
          <a:xfrm>
            <a:off x="7574280" y="4197350"/>
            <a:ext cx="375686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mínimo para usar ISRs, recursos partilhados e timers sem surpresas, e para saber o que fazer quando algo pára.</a:t>
            </a:r>
            <a:endParaRPr lang="en-US" sz="1200" dirty="0">
              <a:latin typeface="IBM Plex Sans" charset="0"/>
              <a:ea typeface="IBM Plex Sans" charset="0"/>
              <a:cs typeface="IBM Plex Sans" charset="0"/>
            </a:endParaRPr>
          </a:p>
        </p:txBody>
      </p:sp>
      <p:sp>
        <p:nvSpPr>
          <p:cNvPr id="15" name="Text 12"/>
          <p:cNvSpPr/>
          <p:nvPr/>
        </p:nvSpPr>
        <p:spPr>
          <a:xfrm>
            <a:off x="7416800" y="5121970"/>
            <a:ext cx="40812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Os timers (6.x) ficam para o fim: precisam da daemon task.</a:t>
            </a:r>
            <a:endParaRPr lang="en-US" sz="1200" dirty="0">
              <a:latin typeface="IBM Plex Sans" charset="0"/>
              <a:ea typeface="IBM Plex Sans" charset="0"/>
              <a:cs typeface="IBM Plex Sans" charset="0"/>
            </a:endParaRPr>
          </a:p>
        </p:txBody>
      </p:sp>
      <p:sp>
        <p:nvSpPr>
          <p:cNvPr id="16" name="Text 13"/>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7" name="Text 1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141</a:t>
            </a:r>
            <a:endParaRPr lang="en-US" sz="1200" dirty="0">
              <a:latin typeface="IBM Plex Sans" charset="0"/>
              <a:ea typeface="IBM Plex Sans" charset="0"/>
              <a:cs typeface="IBM Plex Sans"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3</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Portar os exemplos do simulador para a Pico 2</a:t>
            </a:r>
            <a:endParaRPr lang="en-US" sz="3200" dirty="0">
              <a:latin typeface="IBM Plex Sans" charset="0"/>
              <a:ea typeface="IBM Plex Sans" charset="0"/>
              <a:cs typeface="IBM Plex Sans" charset="0"/>
            </a:endParaRPr>
          </a:p>
        </p:txBody>
      </p:sp>
      <p:sp>
        <p:nvSpPr>
          <p:cNvPr id="4" name="Shape 2"/>
          <p:cNvSpPr/>
          <p:nvPr/>
        </p:nvSpPr>
        <p:spPr>
          <a:xfrm>
            <a:off x="812800" y="1778020"/>
            <a:ext cx="10566400" cy="0"/>
          </a:xfrm>
          <a:prstGeom prst="line">
            <a:avLst/>
          </a:prstGeom>
          <a:noFill/>
          <a:ln w="10160">
            <a:solidFill>
              <a:srgbClr val="141413">
                <a:alpha val="22000"/>
              </a:srgbClr>
            </a:solidFill>
            <a:prstDash val="solid"/>
          </a:ln>
        </p:spPr>
      </p:sp>
      <p:sp>
        <p:nvSpPr>
          <p:cNvPr id="5" name="Shape 3"/>
          <p:cNvSpPr/>
          <p:nvPr/>
        </p:nvSpPr>
        <p:spPr>
          <a:xfrm>
            <a:off x="817880" y="1772940"/>
            <a:ext cx="0" cy="2118360"/>
          </a:xfrm>
          <a:prstGeom prst="line">
            <a:avLst/>
          </a:prstGeom>
          <a:noFill/>
          <a:ln w="1016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24560" y="1846600"/>
          <a:ext cx="10353040" cy="1981200"/>
        </p:xfrm>
        <a:graphic>
          <a:graphicData uri="http://schemas.openxmlformats.org/drawingml/2006/table">
            <a:tbl>
              <a:tblPr/>
              <a:tblGrid>
                <a:gridCol w="5176520"/>
                <a:gridCol w="5176520"/>
              </a:tblGrid>
              <a:tr h="330200">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No simulador Windows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680"/>
                        </a:lnSpc>
                        <a:buNone/>
                      </a:pPr>
                      <a:r>
                        <a:rPr lang="en-US" sz="1200" b="1" dirty="0">
                          <a:solidFill>
                            <a:srgbClr val="44505C"/>
                          </a:solidFill>
                          <a:latin typeface="IBM Plex Sans" pitchFamily="34" charset="0"/>
                          <a:ea typeface="IBM Plex Sans" pitchFamily="34" charset="-122"/>
                          <a:cs typeface="IBM Plex Sans" pitchFamily="34" charset="-120"/>
                        </a:rPr>
                        <a:t>Na Pico 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vPortGenerateSimulatedInterrupt( 3 )</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Carregar no botão do GP0: interrupção de GPIO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vPortSetInterruptHandler( 3, ulExampleInterruptHandler )</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gpio_set_irq_enabled_with_callback( … vButtonISR )</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vPrintString(), vPrintStringAndNumber()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Duas macros sobre o printf (RTT); no Ex. 4, uma versão lenta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_kbhit()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Um botão no GP0, ligado ao GND (pull-up interno)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766A"/>
                          </a:solidFill>
                          <a:latin typeface="IBM Plex Sans" pitchFamily="34" charset="0"/>
                          <a:ea typeface="IBM Plex Sans" pitchFamily="34" charset="-122"/>
                          <a:cs typeface="IBM Plex Sans" pitchFamily="34" charset="-120"/>
                        </a:rPr>
                        <a:t>printf() dentro do tick hook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Nunca: só FromISR (o Ex. 8.2 já faz assim)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7" name="Text 4"/>
          <p:cNvSpPr/>
          <p:nvPr/>
        </p:nvSpPr>
        <p:spPr>
          <a:xfrm>
            <a:off x="812800" y="4069060"/>
            <a:ext cx="6731000" cy="1031240"/>
          </a:xfrm>
          <a:prstGeom prst="roundRect">
            <a:avLst>
              <a:gd name="adj" fmla="val 7389"/>
            </a:avLst>
          </a:prstGeom>
          <a:solidFill>
            <a:srgbClr val="14222E"/>
          </a:solidFill>
          <a:ln/>
        </p:spPr>
        <p:txBody>
          <a:bodyPr wrap="none" lIns="104682" tIns="66582" rIns="0" bIns="411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Ex. 1–3 e 5–9: as funções do livro sobre o printf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vPrintString( s ) printf( "%s", ( s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vPrintStringAndNumber( s, n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printf( "%s %lu\r\n", ( s ), ( unsigned long )( n ) )</a:t>
            </a:r>
            <a:endParaRPr lang="en-US" sz="1200" dirty="0">
              <a:latin typeface="JetBrains Mono" charset="0"/>
              <a:ea typeface="JetBrains Mono" charset="0"/>
              <a:cs typeface="JetBrains Mono" charset="0"/>
            </a:endParaRPr>
          </a:p>
        </p:txBody>
      </p:sp>
      <p:sp>
        <p:nvSpPr>
          <p:cNvPr id="8" name="Text 5"/>
          <p:cNvSpPr/>
          <p:nvPr/>
        </p:nvSpPr>
        <p:spPr>
          <a:xfrm>
            <a:off x="7747000" y="4069060"/>
            <a:ext cx="3632200" cy="629920"/>
          </a:xfrm>
          <a:prstGeom prst="roundRect">
            <a:avLst>
              <a:gd name="adj" fmla="val 12097"/>
            </a:avLst>
          </a:prstGeom>
          <a:solidFill>
            <a:srgbClr val="E3EFEC"/>
          </a:solidFill>
          <a:ln/>
        </p:spPr>
        <p:txBody>
          <a:bodyPr wrap="square" lIns="104682" tIns="79282" rIns="3336" bIns="53882"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O Ex. 4 tem a sua vPrintString: lenta e sem proteção, de propósito.</a:t>
            </a:r>
            <a:endParaRPr lang="en-US" sz="1200" dirty="0">
              <a:latin typeface="IBM Plex Sans" charset="0"/>
              <a:ea typeface="IBM Plex Sans" charset="0"/>
              <a:cs typeface="IBM Plex Sans" charset="0"/>
            </a:endParaRPr>
          </a:p>
        </p:txBody>
      </p:sp>
      <p:sp>
        <p:nvSpPr>
          <p:cNvPr id="9" name="Text 6"/>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0" name="Text 7"/>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142</a:t>
            </a:r>
            <a:endParaRPr lang="en-US" sz="1200" dirty="0">
              <a:latin typeface="IBM Plex Sans" charset="0"/>
              <a:ea typeface="IBM Plex Sans" charset="0"/>
              <a:cs typeface="IBM Plex Sans"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3" name="Text 1"/>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143</a:t>
            </a:r>
            <a:endParaRPr lang="en-US" sz="1200" dirty="0">
              <a:latin typeface="IBM Plex Sans" charset="0"/>
              <a:ea typeface="IBM Plex Sans" charset="0"/>
              <a:cs typeface="IBM Plex Sans" charset="0"/>
            </a:endParaRPr>
          </a:p>
        </p:txBody>
      </p:sp>
      <p:sp>
        <p:nvSpPr>
          <p:cNvPr id="4" name="Text 2"/>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3</a:t>
            </a:r>
            <a:endParaRPr lang="en-US" sz="1200" dirty="0">
              <a:latin typeface="IBM Plex Sans" charset="0"/>
              <a:ea typeface="IBM Plex Sans" charset="0"/>
              <a:cs typeface="IBM Plex Sans" charset="0"/>
            </a:endParaRPr>
          </a:p>
        </p:txBody>
      </p:sp>
      <p:sp>
        <p:nvSpPr>
          <p:cNvPr id="5" name="Text 3"/>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A interrupção e a configuração</a:t>
            </a:r>
            <a:endParaRPr lang="en-US" sz="3200" dirty="0">
              <a:latin typeface="IBM Plex Sans" charset="0"/>
              <a:ea typeface="IBM Plex Sans" charset="0"/>
              <a:cs typeface="IBM Plex Sans" charset="0"/>
            </a:endParaRPr>
          </a:p>
        </p:txBody>
      </p:sp>
      <p:sp>
        <p:nvSpPr>
          <p:cNvPr id="6" name="Text 4"/>
          <p:cNvSpPr/>
          <p:nvPr/>
        </p:nvSpPr>
        <p:spPr>
          <a:xfrm>
            <a:off x="812800" y="1809750"/>
            <a:ext cx="297283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A INTERRUPÇÃO: O BOTÃO DO GP0</a:t>
            </a:r>
            <a:endParaRPr lang="en-US" sz="1200" dirty="0">
              <a:latin typeface="IBM Plex Sans" charset="0"/>
              <a:ea typeface="IBM Plex Sans" charset="0"/>
              <a:cs typeface="IBM Plex Sans" charset="0"/>
            </a:endParaRPr>
          </a:p>
        </p:txBody>
      </p:sp>
      <p:sp>
        <p:nvSpPr>
          <p:cNvPr id="7" name="Text 5"/>
          <p:cNvSpPr/>
          <p:nvPr/>
        </p:nvSpPr>
        <p:spPr>
          <a:xfrm>
            <a:off x="3785632" y="1797050"/>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8" name="Text 6"/>
          <p:cNvSpPr/>
          <p:nvPr/>
        </p:nvSpPr>
        <p:spPr>
          <a:xfrm>
            <a:off x="812800" y="2112070"/>
            <a:ext cx="5715000" cy="3195320"/>
          </a:xfrm>
          <a:prstGeom prst="roundRect">
            <a:avLst>
              <a:gd name="adj" fmla="val 2385"/>
            </a:avLst>
          </a:prstGeom>
          <a:solidFill>
            <a:srgbClr val="14222E"/>
          </a:solidFill>
          <a:ln/>
        </p:spPr>
        <p:txBody>
          <a:bodyPr wrap="none" lIns="117382" tIns="66582" rIns="0" bIns="41182" rtlCol="0" anchor="t">
            <a:normAutofit/>
          </a:bodyPr>
          <a:lstStyle/>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#define BUTTON_PIN 0 /* ao GND, pull-up interno */</a:t>
            </a:r>
            <a:endParaRPr lang="en-US" sz="1100" dirty="0">
              <a:latin typeface="JetBrains Mono" charset="0"/>
              <a:ea typeface="JetBrains Mono" charset="0"/>
              <a:cs typeface="JetBrains Mono" charset="0"/>
            </a:endParaRPr>
          </a:p>
          <a:p>
            <a:pPr algn="l" indent="0" marL="0">
              <a:lnSpc>
                <a:spcPts val="1485"/>
              </a:lnSpc>
              <a:buNone/>
            </a:pP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no main(), antes de vTaskStartScheduler()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gpio_init( BUTTON_PIN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gpio_set_dir( BUTTON_PIN, GPIO_IN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gpio_pull_up( BUTTON_PIN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gpio_set_irq_enabled_with_callback( BUTTON_PIN,</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GPIO_IRQ_EDGE_FALL, true, vButtonISR );</a:t>
            </a:r>
            <a:endParaRPr lang="en-US" sz="1100" dirty="0">
              <a:latin typeface="JetBrains Mono" charset="0"/>
              <a:ea typeface="JetBrains Mono" charset="0"/>
              <a:cs typeface="JetBrains Mono" charset="0"/>
            </a:endParaRPr>
          </a:p>
          <a:p>
            <a:pPr algn="l" indent="0" marL="0">
              <a:lnSpc>
                <a:spcPts val="1485"/>
              </a:lnSpc>
              <a:buNone/>
            </a:pP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corre na interrupção do GPIO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static void vButtonISR( uint gpio, uint32_t events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BaseType_t xHigherPriorityTaskWoken = pdFALSE;</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 … chamadas FromISR( …, &amp;xHigher… ) …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portYIELD_FROM_ISR( xHigherPriorityTaskWoken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a:t>
            </a:r>
            <a:endParaRPr lang="en-US" sz="1100" dirty="0">
              <a:latin typeface="JetBrains Mono" charset="0"/>
              <a:ea typeface="JetBrains Mono" charset="0"/>
              <a:cs typeface="JetBrains Mono" charset="0"/>
            </a:endParaRPr>
          </a:p>
        </p:txBody>
      </p:sp>
      <p:sp>
        <p:nvSpPr>
          <p:cNvPr id="9" name="Text 7"/>
          <p:cNvSpPr/>
          <p:nvPr/>
        </p:nvSpPr>
        <p:spPr>
          <a:xfrm>
            <a:off x="6731000" y="1797050"/>
            <a:ext cx="478764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6717C"/>
                </a:solidFill>
                <a:latin typeface="IBM Plex Sans" pitchFamily="34" charset="0"/>
                <a:ea typeface="IBM Plex Sans" pitchFamily="34" charset="-122"/>
                <a:cs typeface="IBM Plex Sans" pitchFamily="34" charset="-120"/>
              </a:rPr>
              <a:t>ACRESCENTAR AO FREERTOSCONFIG.H</a:t>
            </a:r>
            <a:endParaRPr lang="en-US" sz="1200" dirty="0">
              <a:latin typeface="IBM Plex Sans" charset="0"/>
              <a:ea typeface="IBM Plex Sans" charset="0"/>
              <a:cs typeface="IBM Plex Sans" charset="0"/>
            </a:endParaRPr>
          </a:p>
        </p:txBody>
      </p:sp>
      <p:sp>
        <p:nvSpPr>
          <p:cNvPr id="10" name="Text 8"/>
          <p:cNvSpPr/>
          <p:nvPr/>
        </p:nvSpPr>
        <p:spPr>
          <a:xfrm>
            <a:off x="6731000" y="2086670"/>
            <a:ext cx="4648200" cy="2148840"/>
          </a:xfrm>
          <a:prstGeom prst="roundRect">
            <a:avLst>
              <a:gd name="adj" fmla="val 3546"/>
            </a:avLst>
          </a:prstGeom>
          <a:solidFill>
            <a:srgbClr val="14222E"/>
          </a:solidFill>
          <a:ln/>
        </p:spPr>
        <p:txBody>
          <a:bodyPr wrap="none" lIns="117382" tIns="91982" rIns="0" bIns="665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configUSE_MUTEXES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configUSE_COUNTING_SEMAPHORES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configUSE_TICK_HOOK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configUSE_TIMERS 1</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configTIMER_TASK_PRIORITY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configMAX_PRIORITIES - 1 )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configTIMER_QUEUE_LENGTH 10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configTIMER_TASK_STACK_DEPTH 1024</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INCLUDE_xTimerPendFunctionCall 1</a:t>
            </a:r>
            <a:endParaRPr lang="en-US" sz="1200" dirty="0">
              <a:latin typeface="JetBrains Mono" charset="0"/>
              <a:ea typeface="JetBrains Mono" charset="0"/>
              <a:cs typeface="JetBrains Mono" charset="0"/>
            </a:endParaRPr>
          </a:p>
        </p:txBody>
      </p:sp>
      <p:sp>
        <p:nvSpPr>
          <p:cNvPr id="11" name="Text 9"/>
          <p:cNvSpPr/>
          <p:nvPr/>
        </p:nvSpPr>
        <p:spPr>
          <a:xfrm>
            <a:off x="6731000" y="4311650"/>
            <a:ext cx="4648200" cy="604520"/>
          </a:xfrm>
          <a:custGeom>
            <a:avLst/>
            <a:gdLst/>
            <a:ahLst/>
            <a:cxnLst/>
            <a:rect l="l" t="t" r="r" b="b"/>
            <a:pathLst>
              <a:path w="4648200" h="604520">
                <a:moveTo>
                  <a:pt x="0" y="0"/>
                </a:moveTo>
                <a:lnTo>
                  <a:pt x="4572000" y="0"/>
                </a:lnTo>
                <a:arcTo hR="76200" wR="76200" stAng="16200000" swAng="5400000"/>
                <a:lnTo>
                  <a:pt x="4648200" y="528320"/>
                </a:lnTo>
                <a:arcTo hR="76200" wR="76200" stAng="0" swAng="5400000"/>
                <a:lnTo>
                  <a:pt x="0" y="604520"/>
                </a:lnTo>
                <a:lnTo>
                  <a:pt x="0" y="0"/>
                </a:lnTo>
                <a:close/>
              </a:path>
            </a:pathLst>
          </a:custGeom>
          <a:solidFill>
            <a:srgbClr val="FBEFE7"/>
          </a:solidFill>
          <a:ln/>
        </p:spPr>
        <p:txBody>
          <a:bodyPr wrap="square" lIns="162560" tIns="88900" rIns="0" bIns="63500" rtlCol="0" anchor="t">
            <a:normAutofit/>
          </a:bodyPr>
          <a:lstStyle/>
          <a:p>
            <a:pPr algn="l" indent="0" marL="0">
              <a:lnSpc>
                <a:spcPts val="1680"/>
              </a:lnSpc>
              <a:buNone/>
            </a:pPr>
            <a:r>
              <a:rPr lang="en-US" sz="1200" dirty="0">
                <a:solidFill>
                  <a:srgbClr val="14222E"/>
                </a:solidFill>
                <a:latin typeface="IBM Plex Sans" pitchFamily="34" charset="0"/>
                <a:ea typeface="IBM Plex Sans" pitchFamily="34" charset="-122"/>
                <a:cs typeface="IBM Plex Sans" pitchFamily="34" charset="-120"/>
              </a:rPr>
              <a:t>Sem prioridades a acertar: neste port qualquer ISR pode usar a API FromISR, e não há nesting (módulo 5).</a:t>
            </a:r>
            <a:endParaRPr lang="en-US" sz="1200" dirty="0">
              <a:latin typeface="IBM Plex Sans" charset="0"/>
              <a:ea typeface="IBM Plex Sans" charset="0"/>
              <a:cs typeface="IBM Plex Sans" charset="0"/>
            </a:endParaRPr>
          </a:p>
        </p:txBody>
      </p:sp>
      <p:sp>
        <p:nvSpPr>
          <p:cNvPr id="12" name="Shape 10"/>
          <p:cNvSpPr/>
          <p:nvPr/>
        </p:nvSpPr>
        <p:spPr>
          <a:xfrm>
            <a:off x="6731000" y="4311650"/>
            <a:ext cx="4648200" cy="604520"/>
          </a:xfrm>
          <a:custGeom>
            <a:avLst/>
            <a:gdLst/>
            <a:ahLst/>
            <a:cxnLst/>
            <a:rect l="l" t="t" r="r" b="b"/>
            <a:pathLst>
              <a:path w="4648200" h="604520">
                <a:moveTo>
                  <a:pt x="38100" y="604520"/>
                </a:moveTo>
                <a:lnTo>
                  <a:pt x="0" y="604520"/>
                </a:lnTo>
                <a:lnTo>
                  <a:pt x="0" y="0"/>
                </a:lnTo>
                <a:lnTo>
                  <a:pt x="38100" y="0"/>
                </a:lnTo>
                <a:lnTo>
                  <a:pt x="38100" y="604520"/>
                </a:lnTo>
                <a:close/>
              </a:path>
            </a:pathLst>
          </a:custGeom>
          <a:solidFill>
            <a:srgbClr val="D0612A"/>
          </a:solidFill>
          <a:ln/>
        </p:spPr>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23813"/>
            <a:ext cx="262286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1 · EXEMPLO 7.1</a:t>
            </a:r>
            <a:endParaRPr lang="en-US" sz="1200" dirty="0">
              <a:latin typeface="IBM Plex Sans" charset="0"/>
              <a:ea typeface="IBM Plex Sans" charset="0"/>
              <a:cs typeface="IBM Plex Sans" charset="0"/>
            </a:endParaRPr>
          </a:p>
        </p:txBody>
      </p:sp>
      <p:sp>
        <p:nvSpPr>
          <p:cNvPr id="3" name="Text 1"/>
          <p:cNvSpPr/>
          <p:nvPr/>
        </p:nvSpPr>
        <p:spPr>
          <a:xfrm>
            <a:off x="3435667" y="811213"/>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4" name="Text 2"/>
          <p:cNvSpPr/>
          <p:nvPr>
            <p:ph type="title"/>
          </p:nvPr>
        </p:nvSpPr>
        <p:spPr>
          <a:xfrm>
            <a:off x="812800" y="1149945"/>
            <a:ext cx="10883392" cy="486331"/>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Uma ISR sincroniza uma task</a:t>
            </a:r>
            <a:endParaRPr lang="en-US" sz="3190" dirty="0">
              <a:latin typeface="IBM Plex Sans" charset="0"/>
              <a:ea typeface="IBM Plex Sans" charset="0"/>
              <a:cs typeface="IBM Plex Sans" charset="0"/>
            </a:endParaRPr>
          </a:p>
        </p:txBody>
      </p:sp>
      <p:sp>
        <p:nvSpPr>
          <p:cNvPr id="5" name="Shape 3"/>
          <p:cNvSpPr/>
          <p:nvPr/>
        </p:nvSpPr>
        <p:spPr>
          <a:xfrm>
            <a:off x="815975" y="1817191"/>
            <a:ext cx="5200650" cy="1957070"/>
          </a:xfrm>
          <a:prstGeom prst="roundRect">
            <a:avLst>
              <a:gd name="adj" fmla="val 5029"/>
            </a:avLst>
          </a:prstGeom>
          <a:solidFill>
            <a:srgbClr val="FCFBF8"/>
          </a:solidFill>
          <a:ln w="6350">
            <a:solidFill>
              <a:srgbClr val="DCDAD2"/>
            </a:solidFill>
            <a:prstDash val="solid"/>
          </a:ln>
        </p:spPr>
      </p:sp>
      <p:sp>
        <p:nvSpPr>
          <p:cNvPr id="6" name="Text 4"/>
          <p:cNvSpPr/>
          <p:nvPr/>
        </p:nvSpPr>
        <p:spPr>
          <a:xfrm>
            <a:off x="944880" y="1946176"/>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7" name="Text 5"/>
          <p:cNvSpPr/>
          <p:nvPr/>
        </p:nvSpPr>
        <p:spPr>
          <a:xfrm>
            <a:off x="1148080" y="2222996"/>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Handler task com prioridade 3. A interrupção vem do botão do GP0.</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A ISR só faz give do semáforo binário.</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Carregar no botão e ler o RTT Viewer; depois tirar o portYIELD_FROM_ISR e comparar.</a:t>
            </a:r>
            <a:endParaRPr lang="en-US" sz="1600" dirty="0">
              <a:latin typeface="IBM Plex Sans" charset="0"/>
              <a:ea typeface="IBM Plex Sans" charset="0"/>
              <a:cs typeface="IBM Plex Sans" charset="0"/>
            </a:endParaRPr>
          </a:p>
        </p:txBody>
      </p:sp>
      <p:sp>
        <p:nvSpPr>
          <p:cNvPr id="8" name="Shape 6"/>
          <p:cNvSpPr/>
          <p:nvPr/>
        </p:nvSpPr>
        <p:spPr>
          <a:xfrm>
            <a:off x="815975" y="3882231"/>
            <a:ext cx="5200650" cy="735330"/>
          </a:xfrm>
          <a:prstGeom prst="roundRect">
            <a:avLst>
              <a:gd name="adj" fmla="val 13385"/>
            </a:avLst>
          </a:prstGeom>
          <a:solidFill>
            <a:srgbClr val="FBEFE7"/>
          </a:solidFill>
          <a:ln w="6350">
            <a:solidFill>
              <a:srgbClr val="DCDAD2"/>
            </a:solidFill>
            <a:prstDash val="solid"/>
          </a:ln>
        </p:spPr>
      </p:sp>
      <p:sp>
        <p:nvSpPr>
          <p:cNvPr id="9" name="Text 7"/>
          <p:cNvSpPr/>
          <p:nvPr/>
        </p:nvSpPr>
        <p:spPr>
          <a:xfrm>
            <a:off x="944880" y="4011116"/>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10" name="Text 8"/>
          <p:cNvSpPr/>
          <p:nvPr/>
        </p:nvSpPr>
        <p:spPr>
          <a:xfrm>
            <a:off x="944880" y="4275336"/>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Quantos µs entre a ISR e o handler, com e sem portYIELD_FROM_ISR?</a:t>
            </a:r>
            <a:endParaRPr lang="en-US" sz="1200" dirty="0">
              <a:latin typeface="IBM Plex Sans" charset="0"/>
              <a:ea typeface="IBM Plex Sans" charset="0"/>
              <a:cs typeface="IBM Plex Sans" charset="0"/>
            </a:endParaRPr>
          </a:p>
        </p:txBody>
      </p:sp>
      <p:sp>
        <p:nvSpPr>
          <p:cNvPr id="11" name="Shape 9"/>
          <p:cNvSpPr/>
          <p:nvPr/>
        </p:nvSpPr>
        <p:spPr>
          <a:xfrm>
            <a:off x="815975" y="4725491"/>
            <a:ext cx="5200650" cy="1162050"/>
          </a:xfrm>
          <a:prstGeom prst="roundRect">
            <a:avLst>
              <a:gd name="adj" fmla="val 8470"/>
            </a:avLst>
          </a:prstGeom>
          <a:solidFill>
            <a:srgbClr val="FCFBF8"/>
          </a:solidFill>
          <a:ln w="6350">
            <a:solidFill>
              <a:srgbClr val="DCDAD2"/>
            </a:solidFill>
            <a:prstDash val="solid"/>
          </a:ln>
        </p:spPr>
      </p:sp>
      <p:sp>
        <p:nvSpPr>
          <p:cNvPr id="12" name="Text 10"/>
          <p:cNvSpPr/>
          <p:nvPr/>
        </p:nvSpPr>
        <p:spPr>
          <a:xfrm>
            <a:off x="944880" y="4854476"/>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3" name="Text 11"/>
          <p:cNvSpPr/>
          <p:nvPr/>
        </p:nvSpPr>
        <p:spPr>
          <a:xfrm>
            <a:off x="944880" y="5118596"/>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 o yield: poucos µs, sempre parecido. O handler corre à saída da ISR. Sem ele: entre 0 e ~1000 µs, diferente a cada toque, porque a troca espera pelo tick seguinte. Várias linhas por toque: ressaltos do botão.</a:t>
            </a:r>
            <a:endParaRPr lang="en-US" sz="1200" dirty="0">
              <a:latin typeface="IBM Plex Sans" charset="0"/>
              <a:ea typeface="IBM Plex Sans" charset="0"/>
              <a:cs typeface="IBM Plex Sans" charset="0"/>
            </a:endParaRPr>
          </a:p>
        </p:txBody>
      </p:sp>
      <p:sp>
        <p:nvSpPr>
          <p:cNvPr id="14" name="Text 12"/>
          <p:cNvSpPr/>
          <p:nvPr/>
        </p:nvSpPr>
        <p:spPr>
          <a:xfrm>
            <a:off x="6223000" y="1814016"/>
            <a:ext cx="5156200" cy="3803650"/>
          </a:xfrm>
          <a:prstGeom prst="roundRect">
            <a:avLst>
              <a:gd name="adj" fmla="val 2003"/>
            </a:avLst>
          </a:prstGeom>
          <a:solidFill>
            <a:srgbClr val="14222E"/>
          </a:solidFill>
          <a:ln/>
        </p:spPr>
        <p:txBody>
          <a:bodyPr wrap="none" lIns="104682" tIns="79282" rIns="0" bIns="53882" rtlCol="0" anchor="t">
            <a:normAutofit/>
          </a:bodyPr>
          <a:lstStyle/>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SemaphoreHandle_t xBinarySemaphore;</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volatile uint32_t ulIsrTime;</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no main(), antes de vTaskStartScheduler()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xBinarySemaphore = xSemaphoreCreateBinary();</a:t>
            </a:r>
            <a:endParaRPr lang="en-US" sz="1000" dirty="0">
              <a:latin typeface="JetBrains Mono" charset="0"/>
              <a:ea typeface="JetBrains Mono" charset="0"/>
              <a:cs typeface="JetBrains Mono" charset="0"/>
            </a:endParaRPr>
          </a:p>
          <a:p>
            <a:pPr algn="l" indent="0" marL="0">
              <a:lnSpc>
                <a:spcPts val="1350"/>
              </a:lnSpc>
              <a:buNone/>
            </a:pP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void vHandlerTask( void *pvParameters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for( ;;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xSemaphoreTake( xBinarySemaphore, portMAX_DELAY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uint32_t ulUs = time_us_32() - ulIsrTime;</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printf( "Handler: %u us depois da ISR\r\n",</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 unsigned ) ulUs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busy_wait_ms( 500 );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a:t>
            </a:r>
            <a:endParaRPr lang="en-US" sz="1000" dirty="0">
              <a:latin typeface="JetBrains Mono" charset="0"/>
              <a:ea typeface="JetBrains Mono" charset="0"/>
              <a:cs typeface="JetBrains Mono" charset="0"/>
            </a:endParaRPr>
          </a:p>
          <a:p>
            <a:pPr algn="l" indent="0" marL="0">
              <a:lnSpc>
                <a:spcPts val="1350"/>
              </a:lnSpc>
              <a:buNone/>
            </a:pP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na vButtonISR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ulIsrTime = time_us_32();</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xSemaphoreGiveFromISR( xBinarySemaphore,</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&amp;xHigherPriorityTaskWoken );</a:t>
            </a:r>
            <a:endParaRPr lang="en-US" sz="1000" dirty="0">
              <a:latin typeface="JetBrains Mono" charset="0"/>
              <a:ea typeface="JetBrains Mono" charset="0"/>
              <a:cs typeface="JetBrains Mono" charset="0"/>
            </a:endParaRPr>
          </a:p>
        </p:txBody>
      </p:sp>
      <p:sp>
        <p:nvSpPr>
          <p:cNvPr id="15" name="Text 13"/>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6" name="Text 1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144</a:t>
            </a:r>
            <a:endParaRPr lang="en-US" sz="1200" dirty="0">
              <a:latin typeface="IBM Plex Sans" charset="0"/>
              <a:ea typeface="IBM Plex Sans" charset="0"/>
              <a:cs typeface="IBM Plex Sans"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25500"/>
            <a:ext cx="262286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2 · EXEMPLO 7.2</a:t>
            </a:r>
            <a:endParaRPr lang="en-US" sz="1200" dirty="0">
              <a:latin typeface="IBM Plex Sans" charset="0"/>
              <a:ea typeface="IBM Plex Sans" charset="0"/>
              <a:cs typeface="IBM Plex Sans" charset="0"/>
            </a:endParaRPr>
          </a:p>
        </p:txBody>
      </p:sp>
      <p:sp>
        <p:nvSpPr>
          <p:cNvPr id="3" name="Text 1"/>
          <p:cNvSpPr/>
          <p:nvPr/>
        </p:nvSpPr>
        <p:spPr>
          <a:xfrm>
            <a:off x="3435667" y="812800"/>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4" name="Text 2"/>
          <p:cNvSpPr/>
          <p:nvPr>
            <p:ph type="title"/>
          </p:nvPr>
        </p:nvSpPr>
        <p:spPr>
          <a:xfrm>
            <a:off x="812800" y="11532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Vários eventos antes de a task correr</a:t>
            </a:r>
            <a:endParaRPr lang="en-US" sz="3200" dirty="0">
              <a:latin typeface="IBM Plex Sans" charset="0"/>
              <a:ea typeface="IBM Plex Sans" charset="0"/>
              <a:cs typeface="IBM Plex Sans" charset="0"/>
            </a:endParaRPr>
          </a:p>
        </p:txBody>
      </p:sp>
      <p:sp>
        <p:nvSpPr>
          <p:cNvPr id="5" name="Shape 3"/>
          <p:cNvSpPr/>
          <p:nvPr/>
        </p:nvSpPr>
        <p:spPr>
          <a:xfrm>
            <a:off x="815975" y="1826915"/>
            <a:ext cx="5200650" cy="1388110"/>
          </a:xfrm>
          <a:prstGeom prst="roundRect">
            <a:avLst>
              <a:gd name="adj" fmla="val 7091"/>
            </a:avLst>
          </a:prstGeom>
          <a:solidFill>
            <a:srgbClr val="FCFBF8"/>
          </a:solidFill>
          <a:ln w="6350">
            <a:solidFill>
              <a:srgbClr val="DCDAD2"/>
            </a:solidFill>
            <a:prstDash val="solid"/>
          </a:ln>
        </p:spPr>
      </p:sp>
      <p:sp>
        <p:nvSpPr>
          <p:cNvPr id="6" name="Text 4"/>
          <p:cNvSpPr/>
          <p:nvPr/>
        </p:nvSpPr>
        <p:spPr>
          <a:xfrm>
            <a:off x="944880" y="19558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7" name="Text 5"/>
          <p:cNvSpPr/>
          <p:nvPr/>
        </p:nvSpPr>
        <p:spPr>
          <a:xfrm>
            <a:off x="1148080" y="2232720"/>
            <a:ext cx="4881829" cy="878840"/>
          </a:xfrm>
          <a:prstGeom prst="rect">
            <a:avLst/>
          </a:prstGeom>
          <a:noFill/>
          <a:ln/>
        </p:spPr>
        <p:txBody>
          <a:bodyPr wrap="square" lIns="0" tIns="0" rIns="0" bIns="0" rtlCol="0" anchor="t">
            <a:normAutofit/>
          </a:bodyPr>
          <a:lstStyle/>
          <a:p>
            <a:pPr algn="l" marL="182880" indent="-182880">
              <a:lnSpc>
                <a:spcPts val="1680"/>
              </a:lnSpc>
              <a:buSzPct val="100000"/>
              <a:buFontTx/>
              <a:buAutoNum type="arabicPeriod" startAt="1"/>
            </a:pPr>
            <a:r>
              <a:rPr lang="en-US" sz="1200" dirty="0">
                <a:solidFill>
                  <a:srgbClr val="44505C"/>
                </a:solidFill>
                <a:latin typeface="IBM Plex Sans" pitchFamily="34" charset="0"/>
                <a:ea typeface="IBM Plex Sans" pitchFamily="34" charset="-122"/>
                <a:cs typeface="IBM Plex Sans" pitchFamily="34" charset="-120"/>
              </a:rPr>
              <a:t>Primeiro: a ISR do Ex. 1 com três gives seguidos, ainda com o semáforo binário (no caso do botão ter debounce por hardware).</a:t>
            </a:r>
            <a:endParaRPr lang="en-US" sz="1200" dirty="0">
              <a:latin typeface="IBM Plex Sans" charset="0"/>
              <a:ea typeface="IBM Plex Sans" charset="0"/>
              <a:cs typeface="IBM Plex Sans" charset="0"/>
            </a:endParaRPr>
          </a:p>
          <a:p>
            <a:pPr algn="l" marL="182880" indent="-182880">
              <a:lnSpc>
                <a:spcPts val="1680"/>
              </a:lnSpc>
              <a:buSzPct val="100000"/>
              <a:buFontTx/>
              <a:buAutoNum type="arabicPeriod" startAt="1"/>
            </a:pPr>
            <a:r>
              <a:rPr lang="en-US" sz="1200" dirty="0">
                <a:solidFill>
                  <a:srgbClr val="44505C"/>
                </a:solidFill>
                <a:latin typeface="IBM Plex Sans" pitchFamily="34" charset="0"/>
                <a:ea typeface="IBM Plex Sans" pitchFamily="34" charset="-122"/>
                <a:cs typeface="IBM Plex Sans" pitchFamily="34" charset="-120"/>
              </a:rPr>
              <a:t>Depois: trocar por xSemaphoreCreateCounting( 10, 0 ).</a:t>
            </a:r>
            <a:endParaRPr lang="en-US" sz="1200" dirty="0">
              <a:latin typeface="IBM Plex Sans" charset="0"/>
              <a:ea typeface="IBM Plex Sans" charset="0"/>
              <a:cs typeface="IBM Plex Sans" charset="0"/>
            </a:endParaRPr>
          </a:p>
          <a:p>
            <a:pPr algn="l" marL="182880" indent="-182880">
              <a:lnSpc>
                <a:spcPts val="1680"/>
              </a:lnSpc>
              <a:buSzPct val="100000"/>
              <a:buFontTx/>
              <a:buAutoNum type="arabicPeriod" startAt="1"/>
            </a:pPr>
            <a:r>
              <a:rPr lang="en-US" sz="1200" dirty="0">
                <a:solidFill>
                  <a:srgbClr val="44505C"/>
                </a:solidFill>
                <a:latin typeface="IBM Plex Sans" pitchFamily="34" charset="0"/>
                <a:ea typeface="IBM Plex Sans" pitchFamily="34" charset="-122"/>
                <a:cs typeface="IBM Plex Sans" pitchFamily="34" charset="-120"/>
              </a:rPr>
              <a:t>Contar as mensagens do handler por interrupção.</a:t>
            </a:r>
            <a:endParaRPr lang="en-US" sz="1200" dirty="0">
              <a:latin typeface="IBM Plex Sans" charset="0"/>
              <a:ea typeface="IBM Plex Sans" charset="0"/>
              <a:cs typeface="IBM Plex Sans" charset="0"/>
            </a:endParaRPr>
          </a:p>
        </p:txBody>
      </p:sp>
      <p:sp>
        <p:nvSpPr>
          <p:cNvPr id="8" name="Shape 6"/>
          <p:cNvSpPr/>
          <p:nvPr/>
        </p:nvSpPr>
        <p:spPr>
          <a:xfrm>
            <a:off x="815975" y="3322935"/>
            <a:ext cx="5200650" cy="948690"/>
          </a:xfrm>
          <a:prstGeom prst="roundRect">
            <a:avLst>
              <a:gd name="adj" fmla="val 10375"/>
            </a:avLst>
          </a:prstGeom>
          <a:solidFill>
            <a:srgbClr val="FBEFE7"/>
          </a:solidFill>
          <a:ln w="6350">
            <a:solidFill>
              <a:srgbClr val="DCDAD2"/>
            </a:solidFill>
            <a:prstDash val="solid"/>
          </a:ln>
        </p:spPr>
      </p:sp>
      <p:sp>
        <p:nvSpPr>
          <p:cNvPr id="9" name="Text 7"/>
          <p:cNvSpPr/>
          <p:nvPr/>
        </p:nvSpPr>
        <p:spPr>
          <a:xfrm>
            <a:off x="944880" y="345192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10" name="Text 8"/>
          <p:cNvSpPr/>
          <p:nvPr/>
        </p:nvSpPr>
        <p:spPr>
          <a:xfrm>
            <a:off x="944880" y="3716040"/>
            <a:ext cx="50911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Quantas vezes corre o handler por interrupção, com o binário e com o counting semaphore?</a:t>
            </a:r>
            <a:endParaRPr lang="en-US" sz="1200" dirty="0">
              <a:latin typeface="IBM Plex Sans" charset="0"/>
              <a:ea typeface="IBM Plex Sans" charset="0"/>
              <a:cs typeface="IBM Plex Sans" charset="0"/>
            </a:endParaRPr>
          </a:p>
        </p:txBody>
      </p:sp>
      <p:sp>
        <p:nvSpPr>
          <p:cNvPr id="11" name="Shape 9"/>
          <p:cNvSpPr/>
          <p:nvPr/>
        </p:nvSpPr>
        <p:spPr>
          <a:xfrm>
            <a:off x="815975" y="4379615"/>
            <a:ext cx="5200650" cy="1162050"/>
          </a:xfrm>
          <a:prstGeom prst="roundRect">
            <a:avLst>
              <a:gd name="adj" fmla="val 8470"/>
            </a:avLst>
          </a:prstGeom>
          <a:solidFill>
            <a:srgbClr val="FCFBF8"/>
          </a:solidFill>
          <a:ln w="6350">
            <a:solidFill>
              <a:srgbClr val="DCDAD2"/>
            </a:solidFill>
            <a:prstDash val="solid"/>
          </a:ln>
        </p:spPr>
      </p:sp>
      <p:sp>
        <p:nvSpPr>
          <p:cNvPr id="12" name="Text 10"/>
          <p:cNvSpPr/>
          <p:nvPr/>
        </p:nvSpPr>
        <p:spPr>
          <a:xfrm>
            <a:off x="944880" y="45085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3" name="Text 11"/>
          <p:cNvSpPr/>
          <p:nvPr/>
        </p:nvSpPr>
        <p:spPr>
          <a:xfrm>
            <a:off x="944880" y="4772720"/>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Binário: uma. O segundo e o terceiro give falham, porque o semáforo já está disponível. Counting: três (mais, se o botão ressaltar). O semáforo guarda quantos eventos faltam processar (até 10).</a:t>
            </a:r>
            <a:endParaRPr lang="en-US" sz="1200" dirty="0">
              <a:latin typeface="IBM Plex Sans" charset="0"/>
              <a:ea typeface="IBM Plex Sans" charset="0"/>
              <a:cs typeface="IBM Plex Sans" charset="0"/>
            </a:endParaRPr>
          </a:p>
        </p:txBody>
      </p:sp>
      <p:sp>
        <p:nvSpPr>
          <p:cNvPr id="14" name="Text 12"/>
          <p:cNvSpPr/>
          <p:nvPr/>
        </p:nvSpPr>
        <p:spPr>
          <a:xfrm>
            <a:off x="6223000" y="1823740"/>
            <a:ext cx="5156200" cy="3597910"/>
          </a:xfrm>
          <a:prstGeom prst="roundRect">
            <a:avLst>
              <a:gd name="adj" fmla="val 2118"/>
            </a:avLst>
          </a:prstGeom>
          <a:solidFill>
            <a:srgbClr val="14222E"/>
          </a:solidFill>
          <a:ln/>
        </p:spPr>
        <p:txBody>
          <a:bodyPr wrap="none" lIns="104682" tIns="79282" rIns="0" bIns="53882" rtlCol="0" anchor="t">
            <a:normAutofit/>
          </a:bodyPr>
          <a:lstStyle/>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static SemaphoreHandle_t xCountingSemaphore;</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no main(), antes de vTaskStartScheduler()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xCountingSemaphore = xSemaphoreCreateCounting( 10, 0 );</a:t>
            </a:r>
            <a:endParaRPr lang="en-US" sz="1100" dirty="0">
              <a:latin typeface="JetBrains Mono" charset="0"/>
              <a:ea typeface="JetBrains Mono" charset="0"/>
              <a:cs typeface="JetBrains Mono" charset="0"/>
            </a:endParaRPr>
          </a:p>
          <a:p>
            <a:pPr algn="l" indent="0" marL="0">
              <a:lnSpc>
                <a:spcPts val="1485"/>
              </a:lnSpc>
              <a:buNone/>
            </a:pP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static void vButtonISR( uint gpio, uint32_t events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BaseType_t xWoken = pdFALSE;</a:t>
            </a:r>
            <a:endParaRPr lang="en-US" sz="1100" dirty="0">
              <a:latin typeface="JetBrains Mono" charset="0"/>
              <a:ea typeface="JetBrains Mono" charset="0"/>
              <a:cs typeface="JetBrains Mono" charset="0"/>
            </a:endParaRPr>
          </a:p>
          <a:p>
            <a:pPr algn="l" indent="0" marL="0">
              <a:lnSpc>
                <a:spcPts val="1485"/>
              </a:lnSpc>
              <a:buNone/>
            </a:pP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 três eventos na mesma interrupção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xSemaphoreGiveFromISR( xCountingSemaphore,</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&amp;xWoken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xSemaphoreGiveFromISR( xCountingSemaphore,</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&amp;xWoken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xSemaphoreGiveFromISR( xCountingSemaphore,</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&amp;xWoken );</a:t>
            </a:r>
            <a:endParaRPr lang="en-US" sz="1100" dirty="0">
              <a:latin typeface="JetBrains Mono" charset="0"/>
              <a:ea typeface="JetBrains Mono" charset="0"/>
              <a:cs typeface="JetBrains Mono" charset="0"/>
            </a:endParaRPr>
          </a:p>
          <a:p>
            <a:pPr algn="l" indent="0" marL="0">
              <a:lnSpc>
                <a:spcPts val="1485"/>
              </a:lnSpc>
              <a:buNone/>
            </a:pP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    portYIELD_FROM_ISR( xWoken );</a:t>
            </a:r>
            <a:endParaRPr lang="en-US" sz="1100" dirty="0">
              <a:latin typeface="JetBrains Mono" charset="0"/>
              <a:ea typeface="JetBrains Mono" charset="0"/>
              <a:cs typeface="JetBrains Mono" charset="0"/>
            </a:endParaRPr>
          </a:p>
          <a:p>
            <a:pPr algn="l" indent="0" marL="0">
              <a:lnSpc>
                <a:spcPts val="1485"/>
              </a:lnSpc>
              <a:buNone/>
            </a:pPr>
            <a:r>
              <a:rPr lang="en-US" sz="1100" dirty="0">
                <a:solidFill>
                  <a:srgbClr val="E6EAE8"/>
                </a:solidFill>
                <a:latin typeface="JetBrains Mono" pitchFamily="49" charset="0"/>
                <a:ea typeface="JetBrains Mono" pitchFamily="49" charset="-122"/>
                <a:cs typeface="JetBrains Mono" pitchFamily="49" charset="-120"/>
              </a:rPr>
              <a:t>}</a:t>
            </a:r>
            <a:endParaRPr lang="en-US" sz="1100" dirty="0">
              <a:latin typeface="JetBrains Mono" charset="0"/>
              <a:ea typeface="JetBrains Mono" charset="0"/>
              <a:cs typeface="JetBrains Mono" charset="0"/>
            </a:endParaRPr>
          </a:p>
        </p:txBody>
      </p:sp>
      <p:sp>
        <p:nvSpPr>
          <p:cNvPr id="15" name="Text 13"/>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6" name="Text 1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145</a:t>
            </a:r>
            <a:endParaRPr lang="en-US" sz="1200" dirty="0">
              <a:latin typeface="IBM Plex Sans" charset="0"/>
              <a:ea typeface="IBM Plex Sans" charset="0"/>
              <a:cs typeface="IBM Plex Sans"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3" name="Text 1"/>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146</a:t>
            </a:r>
            <a:endParaRPr lang="en-US" sz="1200" dirty="0">
              <a:latin typeface="IBM Plex Sans" charset="0"/>
              <a:ea typeface="IBM Plex Sans" charset="0"/>
              <a:cs typeface="IBM Plex Sans" charset="0"/>
            </a:endParaRPr>
          </a:p>
        </p:txBody>
      </p:sp>
      <p:sp>
        <p:nvSpPr>
          <p:cNvPr id="4" name="Text 2"/>
          <p:cNvSpPr/>
          <p:nvPr/>
        </p:nvSpPr>
        <p:spPr>
          <a:xfrm>
            <a:off x="812800" y="816670"/>
            <a:ext cx="262286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3 · EXEMPLO 7.4</a:t>
            </a:r>
            <a:endParaRPr lang="en-US" sz="1200" dirty="0">
              <a:latin typeface="IBM Plex Sans" charset="0"/>
              <a:ea typeface="IBM Plex Sans" charset="0"/>
              <a:cs typeface="IBM Plex Sans" charset="0"/>
            </a:endParaRPr>
          </a:p>
        </p:txBody>
      </p:sp>
      <p:sp>
        <p:nvSpPr>
          <p:cNvPr id="5" name="Text 3"/>
          <p:cNvSpPr/>
          <p:nvPr/>
        </p:nvSpPr>
        <p:spPr>
          <a:xfrm>
            <a:off x="3435667" y="803970"/>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6" name="Text 4"/>
          <p:cNvSpPr/>
          <p:nvPr>
            <p:ph type="title"/>
          </p:nvPr>
        </p:nvSpPr>
        <p:spPr>
          <a:xfrm>
            <a:off x="812800" y="1135559"/>
            <a:ext cx="10883392" cy="458311"/>
          </a:xfrm>
          <a:prstGeom prst="rect">
            <a:avLst/>
          </a:prstGeom>
          <a:noFill/>
          <a:ln/>
        </p:spPr>
        <p:txBody>
          <a:bodyPr wrap="square" lIns="0" tIns="0" rIns="0" bIns="0" rtlCol="0" anchor="t">
            <a:normAutofit/>
          </a:bodyPr>
          <a:lstStyle/>
          <a:p>
            <a:pPr algn="l" indent="0" marL="0">
              <a:lnSpc>
                <a:spcPts val="3416"/>
              </a:lnSpc>
              <a:buNone/>
            </a:pPr>
            <a:r>
              <a:rPr lang="en-US" sz="2970" b="1" i="0" dirty="0">
                <a:solidFill>
                  <a:srgbClr val="14222E"/>
                </a:solidFill>
                <a:latin typeface="IBM Plex Sans" pitchFamily="34" charset="0"/>
                <a:ea typeface="IBM Plex Sans" pitchFamily="34" charset="-122"/>
                <a:cs typeface="IBM Plex Sans" pitchFamily="34" charset="-120"/>
              </a:rPr>
              <a:t>Queues a partir de uma ISR</a:t>
            </a:r>
            <a:endParaRPr lang="en-US" sz="2970" dirty="0">
              <a:latin typeface="IBM Plex Sans" charset="0"/>
              <a:ea typeface="IBM Plex Sans" charset="0"/>
              <a:cs typeface="IBM Plex Sans" charset="0"/>
            </a:endParaRPr>
          </a:p>
        </p:txBody>
      </p:sp>
      <p:sp>
        <p:nvSpPr>
          <p:cNvPr id="7" name="Shape 5"/>
          <p:cNvSpPr/>
          <p:nvPr/>
        </p:nvSpPr>
        <p:spPr>
          <a:xfrm>
            <a:off x="815975" y="1774825"/>
            <a:ext cx="5200650" cy="2241550"/>
          </a:xfrm>
          <a:prstGeom prst="roundRect">
            <a:avLst>
              <a:gd name="adj" fmla="val 4391"/>
            </a:avLst>
          </a:prstGeom>
          <a:solidFill>
            <a:srgbClr val="FCFBF8"/>
          </a:solidFill>
          <a:ln w="6350">
            <a:solidFill>
              <a:srgbClr val="DCDAD2"/>
            </a:solidFill>
            <a:prstDash val="solid"/>
          </a:ln>
        </p:spPr>
      </p:sp>
      <p:sp>
        <p:nvSpPr>
          <p:cNvPr id="8" name="Text 6"/>
          <p:cNvSpPr/>
          <p:nvPr/>
        </p:nvSpPr>
        <p:spPr>
          <a:xfrm>
            <a:off x="944880" y="190371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9" name="Text 7"/>
          <p:cNvSpPr/>
          <p:nvPr/>
        </p:nvSpPr>
        <p:spPr>
          <a:xfrm>
            <a:off x="1148080" y="2180630"/>
            <a:ext cx="4881829" cy="173228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vIntegerGenerator (prio 1): a cada 200 ms envia 5 inteiros para a queue.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Ao carregar no botão, a ISR converte cada inteiro num ponteiro para uma string e envia-o para outra queue.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vStringPrinter (prio 2) imprime.</a:t>
            </a:r>
            <a:endParaRPr lang="en-US" sz="1600" dirty="0">
              <a:latin typeface="IBM Plex Sans" charset="0"/>
              <a:ea typeface="IBM Plex Sans" charset="0"/>
              <a:cs typeface="IBM Plex Sans" charset="0"/>
            </a:endParaRPr>
          </a:p>
        </p:txBody>
      </p:sp>
      <p:sp>
        <p:nvSpPr>
          <p:cNvPr id="10" name="Shape 8"/>
          <p:cNvSpPr/>
          <p:nvPr/>
        </p:nvSpPr>
        <p:spPr>
          <a:xfrm>
            <a:off x="815975" y="4124325"/>
            <a:ext cx="5200650" cy="735330"/>
          </a:xfrm>
          <a:prstGeom prst="roundRect">
            <a:avLst>
              <a:gd name="adj" fmla="val 13385"/>
            </a:avLst>
          </a:prstGeom>
          <a:solidFill>
            <a:srgbClr val="FBEFE7"/>
          </a:solidFill>
          <a:ln w="6350">
            <a:solidFill>
              <a:srgbClr val="DCDAD2"/>
            </a:solidFill>
            <a:prstDash val="solid"/>
          </a:ln>
        </p:spPr>
      </p:sp>
      <p:sp>
        <p:nvSpPr>
          <p:cNvPr id="11" name="Text 9"/>
          <p:cNvSpPr/>
          <p:nvPr/>
        </p:nvSpPr>
        <p:spPr>
          <a:xfrm>
            <a:off x="944880" y="425321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12" name="Text 10"/>
          <p:cNvSpPr/>
          <p:nvPr/>
        </p:nvSpPr>
        <p:spPr>
          <a:xfrm>
            <a:off x="944880" y="451743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Quantas strings por toque no botão?</a:t>
            </a:r>
            <a:endParaRPr lang="en-US" sz="1200" dirty="0">
              <a:latin typeface="IBM Plex Sans" charset="0"/>
              <a:ea typeface="IBM Plex Sans" charset="0"/>
              <a:cs typeface="IBM Plex Sans" charset="0"/>
            </a:endParaRPr>
          </a:p>
        </p:txBody>
      </p:sp>
      <p:sp>
        <p:nvSpPr>
          <p:cNvPr id="13" name="Shape 11"/>
          <p:cNvSpPr/>
          <p:nvPr/>
        </p:nvSpPr>
        <p:spPr>
          <a:xfrm>
            <a:off x="815975" y="4967585"/>
            <a:ext cx="5200650" cy="1162050"/>
          </a:xfrm>
          <a:prstGeom prst="roundRect">
            <a:avLst>
              <a:gd name="adj" fmla="val 8470"/>
            </a:avLst>
          </a:prstGeom>
          <a:solidFill>
            <a:srgbClr val="FCFBF8"/>
          </a:solidFill>
          <a:ln w="6350">
            <a:solidFill>
              <a:srgbClr val="DCDAD2"/>
            </a:solidFill>
            <a:prstDash val="solid"/>
          </a:ln>
        </p:spPr>
      </p:sp>
      <p:sp>
        <p:nvSpPr>
          <p:cNvPr id="14" name="Text 12"/>
          <p:cNvSpPr/>
          <p:nvPr/>
        </p:nvSpPr>
        <p:spPr>
          <a:xfrm>
            <a:off x="944880" y="509657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5" name="Text 13"/>
          <p:cNvSpPr/>
          <p:nvPr/>
        </p:nvSpPr>
        <p:spPr>
          <a:xfrm>
            <a:off x="944880" y="5360690"/>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Dez de seguida: a queue de inteiros já está cheia (o gerador envia com block time 0 e perde o resto). A queue leva ponteiros para strings constantes, não as strings.</a:t>
            </a:r>
            <a:endParaRPr lang="en-US" sz="1200" dirty="0">
              <a:latin typeface="IBM Plex Sans" charset="0"/>
              <a:ea typeface="IBM Plex Sans" charset="0"/>
              <a:cs typeface="IBM Plex Sans" charset="0"/>
            </a:endParaRPr>
          </a:p>
        </p:txBody>
      </p:sp>
      <p:sp>
        <p:nvSpPr>
          <p:cNvPr id="16" name="Text 14"/>
          <p:cNvSpPr/>
          <p:nvPr/>
        </p:nvSpPr>
        <p:spPr>
          <a:xfrm>
            <a:off x="6223000" y="1771650"/>
            <a:ext cx="5156200" cy="4401820"/>
          </a:xfrm>
          <a:prstGeom prst="roundRect">
            <a:avLst>
              <a:gd name="adj" fmla="val 1731"/>
            </a:avLst>
          </a:prstGeom>
          <a:solidFill>
            <a:srgbClr val="14222E"/>
          </a:solidFill>
          <a:ln/>
        </p:spPr>
        <p:txBody>
          <a:bodyPr wrap="none" lIns="104682" tIns="79282" rIns="0" bIns="53882" rtlCol="0" anchor="t">
            <a:normAutofit/>
          </a:bodyPr>
          <a:lstStyle/>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static void vIntegerGenerator( void *pvParameters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TickType_t xLastWake = xTaskGetTickCount();</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uint32_t ulValue = 0;</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for( ;;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 vTaskDelayUntil( &amp;xLastWake, pdMS_TO_TICKS( 200 )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for( int i = 0; i &lt; 5; i++, ulValue++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xQueueSendToBack( xIntegerQueue, &amp;ulValue, 0 ); } }</a:t>
            </a:r>
            <a:endParaRPr lang="en-US" sz="950" dirty="0">
              <a:latin typeface="JetBrains Mono" charset="0"/>
              <a:ea typeface="JetBrains Mono" charset="0"/>
              <a:cs typeface="JetBrains Mono" charset="0"/>
            </a:endParaRPr>
          </a:p>
          <a:p>
            <a:pPr algn="l" indent="0" marL="0">
              <a:lnSpc>
                <a:spcPts val="1378"/>
              </a:lnSpc>
              <a:buNone/>
            </a:pP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static void vButtonISR( uint gpio, uint32_t events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BaseType_t xWoken = pdFALSE;</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uint32_t ulNum;</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static const char *pcStrings[] = { "String 0\r\n",</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"String 1\r\n", "String 2\r\n", "String 3\r\n"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while( xQueueReceiveFromISR( xIntegerQueue, &amp;ulNum, &amp;xWoken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 errQUEUE_EMPTY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xQueueSendToBackFromISR( xStringQueue,</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&amp;pcStrings[ ulNum &amp; 0x03 ], &amp;xWoken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portYIELD_FROM_ISR( xWoken ); }</a:t>
            </a:r>
            <a:endParaRPr lang="en-US" sz="950" dirty="0">
              <a:latin typeface="JetBrains Mono" charset="0"/>
              <a:ea typeface="JetBrains Mono" charset="0"/>
              <a:cs typeface="JetBrains Mono" charset="0"/>
            </a:endParaRPr>
          </a:p>
          <a:p>
            <a:pPr algn="l" indent="0" marL="0">
              <a:lnSpc>
                <a:spcPts val="1378"/>
              </a:lnSpc>
              <a:buNone/>
            </a:pP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static void vStringPrinter( void *pvParameters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char *pcString;</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for( ;;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 xQueueReceive( xStringQueue, &amp;pcString, portMAX_DELAY );</a:t>
            </a:r>
            <a:endParaRPr lang="en-US" sz="950" dirty="0">
              <a:latin typeface="JetBrains Mono" charset="0"/>
              <a:ea typeface="JetBrains Mono" charset="0"/>
              <a:cs typeface="JetBrains Mono" charset="0"/>
            </a:endParaRPr>
          </a:p>
          <a:p>
            <a:pPr algn="l" indent="0" marL="0">
              <a:lnSpc>
                <a:spcPts val="1378"/>
              </a:lnSpc>
              <a:buNone/>
            </a:pPr>
            <a:r>
              <a:rPr lang="en-US" sz="950" dirty="0">
                <a:solidFill>
                  <a:srgbClr val="E6EAE8"/>
                </a:solidFill>
                <a:latin typeface="JetBrains Mono" pitchFamily="49" charset="0"/>
                <a:ea typeface="JetBrains Mono" pitchFamily="49" charset="-122"/>
                <a:cs typeface="JetBrains Mono" pitchFamily="49" charset="-120"/>
              </a:rPr>
              <a:t>        vPrintString( pcString ); } }</a:t>
            </a:r>
            <a:endParaRPr lang="en-US" sz="950" dirty="0">
              <a:latin typeface="JetBrains Mono" charset="0"/>
              <a:ea typeface="JetBrains Mono" charset="0"/>
              <a:cs typeface="JetBrains Mono"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23599"/>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17766A"/>
                </a:solidFill>
                <a:latin typeface="IBM Plex Sans" pitchFamily="34" charset="0"/>
                <a:ea typeface="IBM Plex Sans" pitchFamily="34" charset="-122"/>
                <a:cs typeface="IBM Plex Sans" pitchFamily="34" charset="-120"/>
              </a:rPr>
              <a:t>EXERCÍCIO 4 · EXEMPLO 8.1</a:t>
            </a:r>
            <a:endParaRPr lang="en-US" sz="1121" dirty="0">
              <a:latin typeface="IBM Plex Sans" charset="0"/>
              <a:ea typeface="IBM Plex Sans" charset="0"/>
              <a:cs typeface="IBM Plex Sans" charset="0"/>
            </a:endParaRPr>
          </a:p>
        </p:txBody>
      </p:sp>
      <p:sp>
        <p:nvSpPr>
          <p:cNvPr id="3" name="Text 1"/>
          <p:cNvSpPr/>
          <p:nvPr>
            <p:ph type="title"/>
          </p:nvPr>
        </p:nvSpPr>
        <p:spPr>
          <a:xfrm>
            <a:off x="812800" y="1112639"/>
            <a:ext cx="10883392" cy="459661"/>
          </a:xfrm>
          <a:prstGeom prst="rect">
            <a:avLst/>
          </a:prstGeom>
          <a:noFill/>
          <a:ln/>
        </p:spPr>
        <p:txBody>
          <a:bodyPr wrap="square" lIns="0" tIns="0" rIns="0" bIns="0" rtlCol="0" anchor="t">
            <a:normAutofit/>
          </a:bodyPr>
          <a:lstStyle/>
          <a:p>
            <a:pPr algn="l" indent="0" marL="0">
              <a:lnSpc>
                <a:spcPts val="3416"/>
              </a:lnSpc>
              <a:buNone/>
            </a:pPr>
            <a:r>
              <a:rPr lang="en-US" sz="2970" b="1" i="0" dirty="0">
                <a:solidFill>
                  <a:srgbClr val="14222E"/>
                </a:solidFill>
                <a:latin typeface="IBM Plex Sans" pitchFamily="34" charset="0"/>
                <a:ea typeface="IBM Plex Sans" pitchFamily="34" charset="-122"/>
                <a:cs typeface="IBM Plex Sans" pitchFamily="34" charset="-120"/>
              </a:rPr>
              <a:t>Um mutex a proteger a saída</a:t>
            </a:r>
            <a:endParaRPr lang="en-US" sz="2970" dirty="0">
              <a:latin typeface="IBM Plex Sans" charset="0"/>
              <a:ea typeface="IBM Plex Sans" charset="0"/>
              <a:cs typeface="IBM Plex Sans" charset="0"/>
            </a:endParaRPr>
          </a:p>
        </p:txBody>
      </p:sp>
      <p:sp>
        <p:nvSpPr>
          <p:cNvPr id="4" name="Shape 2"/>
          <p:cNvSpPr/>
          <p:nvPr/>
        </p:nvSpPr>
        <p:spPr>
          <a:xfrm>
            <a:off x="815975" y="1753295"/>
            <a:ext cx="5200650" cy="2241550"/>
          </a:xfrm>
          <a:prstGeom prst="roundRect">
            <a:avLst>
              <a:gd name="adj" fmla="val 4391"/>
            </a:avLst>
          </a:prstGeom>
          <a:solidFill>
            <a:srgbClr val="FCFBF8"/>
          </a:solidFill>
          <a:ln w="6350">
            <a:solidFill>
              <a:srgbClr val="DCDAD2"/>
            </a:solidFill>
            <a:prstDash val="solid"/>
          </a:ln>
        </p:spPr>
      </p:sp>
      <p:sp>
        <p:nvSpPr>
          <p:cNvPr id="5" name="Text 3"/>
          <p:cNvSpPr/>
          <p:nvPr/>
        </p:nvSpPr>
        <p:spPr>
          <a:xfrm>
            <a:off x="944880" y="188218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159000"/>
            <a:ext cx="4881829" cy="173228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Duas tasks com a mesma prvPrintTask; cada uma recebe em pvParameters uma string grande: "Task 1 ****…" (prio 1) e "Task 2 ----…" (prio 2).</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Primeiro sem mutex: chamam a vPrintString lenta diretamente.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Depois com xSemaphoreCreateMutex().</a:t>
            </a:r>
            <a:endParaRPr lang="en-US" sz="1600" dirty="0">
              <a:latin typeface="IBM Plex Sans" charset="0"/>
              <a:ea typeface="IBM Plex Sans" charset="0"/>
              <a:cs typeface="IBM Plex Sans" charset="0"/>
            </a:endParaRPr>
          </a:p>
        </p:txBody>
      </p:sp>
      <p:sp>
        <p:nvSpPr>
          <p:cNvPr id="7" name="Shape 5"/>
          <p:cNvSpPr/>
          <p:nvPr/>
        </p:nvSpPr>
        <p:spPr>
          <a:xfrm>
            <a:off x="815975" y="4102795"/>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423168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4958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Sem o mutex, as linhas saem inteiras?</a:t>
            </a:r>
            <a:endParaRPr lang="en-US" sz="1200" dirty="0">
              <a:latin typeface="IBM Plex Sans" charset="0"/>
              <a:ea typeface="IBM Plex Sans" charset="0"/>
              <a:cs typeface="IBM Plex Sans" charset="0"/>
            </a:endParaRPr>
          </a:p>
        </p:txBody>
      </p:sp>
      <p:sp>
        <p:nvSpPr>
          <p:cNvPr id="10" name="Shape 8"/>
          <p:cNvSpPr/>
          <p:nvPr/>
        </p:nvSpPr>
        <p:spPr>
          <a:xfrm>
            <a:off x="815975" y="4946055"/>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507494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339060"/>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Sem mutex, a Task 2 interrompe a Task 1 a meio da linha e os caracteres misturam-se. Com mutex, as linhas saem inteiras e a Task 1 herda a prioridade da Task 2.</a:t>
            </a:r>
            <a:endParaRPr lang="en-US" sz="1200" dirty="0">
              <a:latin typeface="IBM Plex Sans" charset="0"/>
              <a:ea typeface="IBM Plex Sans" charset="0"/>
              <a:cs typeface="IBM Plex Sans" charset="0"/>
            </a:endParaRPr>
          </a:p>
        </p:txBody>
      </p:sp>
      <p:sp>
        <p:nvSpPr>
          <p:cNvPr id="13" name="Text 11"/>
          <p:cNvSpPr/>
          <p:nvPr/>
        </p:nvSpPr>
        <p:spPr>
          <a:xfrm>
            <a:off x="6223000" y="1750120"/>
            <a:ext cx="5156200" cy="2921000"/>
          </a:xfrm>
          <a:prstGeom prst="roundRect">
            <a:avLst>
              <a:gd name="adj" fmla="val 2609"/>
            </a:avLst>
          </a:prstGeom>
          <a:solidFill>
            <a:srgbClr val="14222E"/>
          </a:solidFill>
          <a:ln/>
        </p:spPr>
        <p:txBody>
          <a:bodyPr wrap="none" lIns="104682" tIns="66582" rIns="0" bIns="41182" rtlCol="0" anchor="t">
            <a:normAutofit/>
          </a:bodyPr>
          <a:lstStyle/>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SemaphoreHandle_t xMutex;</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no main(): xMutex = xSemaphoreCreateMutex(); */</a:t>
            </a:r>
            <a:endParaRPr lang="en-US" sz="1000" dirty="0">
              <a:latin typeface="JetBrains Mono" charset="0"/>
              <a:ea typeface="JetBrains Mono" charset="0"/>
              <a:cs typeface="JetBrains Mono" charset="0"/>
            </a:endParaRPr>
          </a:p>
          <a:p>
            <a:pPr algn="l" indent="0" marL="0">
              <a:lnSpc>
                <a:spcPts val="1350"/>
              </a:lnSpc>
              <a:buNone/>
            </a:pP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só neste exercício: lenta e sem proteção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void vPrintString( const char *pcString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for( ; *pcString != 0; pcString++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 putchar_raw( *pcString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busy_wait_us( 100 ); /* periférico lento */ } }</a:t>
            </a:r>
            <a:endParaRPr lang="en-US" sz="1000" dirty="0">
              <a:latin typeface="JetBrains Mono" charset="0"/>
              <a:ea typeface="JetBrains Mono" charset="0"/>
              <a:cs typeface="JetBrains Mono" charset="0"/>
            </a:endParaRPr>
          </a:p>
          <a:p>
            <a:pPr algn="l" indent="0" marL="0">
              <a:lnSpc>
                <a:spcPts val="1350"/>
              </a:lnSpc>
              <a:buNone/>
            </a:pP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void prvPrintTask( void *pvParameters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const char *pcString = ( const char * ) pvParameters;</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for( ;;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 xSemaphoreTake( xMutex, portMAX_DELAY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vPrintString( pcString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xSemaphoreGive( xMutex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vTaskDelay( pdMS_TO_TICKS( 2 ) ); /* &lt; 1 linha */ } }</a:t>
            </a:r>
            <a:endParaRPr lang="en-US" sz="10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147</a:t>
            </a:r>
            <a:endParaRPr lang="en-US" sz="1200" dirty="0">
              <a:latin typeface="IBM Plex Sans" charset="0"/>
              <a:ea typeface="IBM Plex Sans" charset="0"/>
              <a:cs typeface="IBM Plex Sans"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11534"/>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17766A"/>
                </a:solidFill>
                <a:latin typeface="IBM Plex Sans" pitchFamily="34" charset="0"/>
                <a:ea typeface="IBM Plex Sans" pitchFamily="34" charset="-122"/>
                <a:cs typeface="IBM Plex Sans" pitchFamily="34" charset="-120"/>
              </a:rPr>
              <a:t>EXERCÍCIO 5 · EXEMPLO 8.2</a:t>
            </a:r>
            <a:endParaRPr lang="en-US" sz="1050" dirty="0">
              <a:latin typeface="IBM Plex Sans" charset="0"/>
              <a:ea typeface="IBM Plex Sans" charset="0"/>
              <a:cs typeface="IBM Plex Sans" charset="0"/>
            </a:endParaRPr>
          </a:p>
        </p:txBody>
      </p:sp>
      <p:sp>
        <p:nvSpPr>
          <p:cNvPr id="3" name="Text 1"/>
          <p:cNvSpPr/>
          <p:nvPr>
            <p:ph type="title"/>
          </p:nvPr>
        </p:nvSpPr>
        <p:spPr>
          <a:xfrm>
            <a:off x="812800" y="1100534"/>
            <a:ext cx="10883392" cy="433229"/>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22E"/>
                </a:solidFill>
                <a:latin typeface="IBM Plex Sans" pitchFamily="34" charset="0"/>
                <a:ea typeface="IBM Plex Sans" pitchFamily="34" charset="-122"/>
                <a:cs typeface="IBM Plex Sans" pitchFamily="34" charset="-120"/>
              </a:rPr>
              <a:t>Uma gatekeeper task</a:t>
            </a:r>
            <a:endParaRPr lang="en-US" sz="2800" dirty="0">
              <a:latin typeface="IBM Plex Sans" charset="0"/>
              <a:ea typeface="IBM Plex Sans" charset="0"/>
              <a:cs typeface="IBM Plex Sans" charset="0"/>
            </a:endParaRPr>
          </a:p>
        </p:txBody>
      </p:sp>
      <p:sp>
        <p:nvSpPr>
          <p:cNvPr id="4" name="Shape 2"/>
          <p:cNvSpPr/>
          <p:nvPr/>
        </p:nvSpPr>
        <p:spPr>
          <a:xfrm>
            <a:off x="815975" y="1714798"/>
            <a:ext cx="5200650" cy="2526030"/>
          </a:xfrm>
          <a:prstGeom prst="roundRect">
            <a:avLst>
              <a:gd name="adj" fmla="val 3896"/>
            </a:avLst>
          </a:prstGeom>
          <a:solidFill>
            <a:srgbClr val="FCFBF8"/>
          </a:solidFill>
          <a:ln w="6350">
            <a:solidFill>
              <a:srgbClr val="DCDAD2"/>
            </a:solidFill>
            <a:prstDash val="solid"/>
          </a:ln>
        </p:spPr>
      </p:sp>
      <p:sp>
        <p:nvSpPr>
          <p:cNvPr id="5" name="Text 3"/>
          <p:cNvSpPr/>
          <p:nvPr/>
        </p:nvSpPr>
        <p:spPr>
          <a:xfrm>
            <a:off x="944880" y="1843683"/>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120503"/>
            <a:ext cx="4881829" cy="201676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Queue de 5 ponteiros; só a gatekeeper (prio 1) escreve na saída.</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Duas prvPrintTask (prio 2 e 3) recebem em pvParameters o índice da sua string e enviam-na para o fim da queue.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O tick hook, a cada 200 ticks, envia outra para a frente.</a:t>
            </a:r>
            <a:endParaRPr lang="en-US" sz="1600" dirty="0">
              <a:latin typeface="IBM Plex Sans" charset="0"/>
              <a:ea typeface="IBM Plex Sans" charset="0"/>
              <a:cs typeface="IBM Plex Sans" charset="0"/>
            </a:endParaRPr>
          </a:p>
        </p:txBody>
      </p:sp>
      <p:sp>
        <p:nvSpPr>
          <p:cNvPr id="7" name="Shape 5"/>
          <p:cNvSpPr/>
          <p:nvPr/>
        </p:nvSpPr>
        <p:spPr>
          <a:xfrm>
            <a:off x="815975" y="4348758"/>
            <a:ext cx="5200650" cy="948690"/>
          </a:xfrm>
          <a:prstGeom prst="roundRect">
            <a:avLst>
              <a:gd name="adj" fmla="val 10375"/>
            </a:avLst>
          </a:prstGeom>
          <a:solidFill>
            <a:srgbClr val="FBEFE7"/>
          </a:solidFill>
          <a:ln w="6350">
            <a:solidFill>
              <a:srgbClr val="DCDAD2"/>
            </a:solidFill>
            <a:prstDash val="solid"/>
          </a:ln>
        </p:spPr>
      </p:sp>
      <p:sp>
        <p:nvSpPr>
          <p:cNvPr id="8" name="Text 6"/>
          <p:cNvSpPr/>
          <p:nvPr/>
        </p:nvSpPr>
        <p:spPr>
          <a:xfrm>
            <a:off x="944880" y="4477643"/>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741763"/>
            <a:ext cx="50911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 gatekeeper tem a prioridade mais baixa. As linhas misturam-se? A do tick hook atrasa?</a:t>
            </a:r>
            <a:endParaRPr lang="en-US" sz="1200" dirty="0">
              <a:latin typeface="IBM Plex Sans" charset="0"/>
              <a:ea typeface="IBM Plex Sans" charset="0"/>
              <a:cs typeface="IBM Plex Sans" charset="0"/>
            </a:endParaRPr>
          </a:p>
        </p:txBody>
      </p:sp>
      <p:sp>
        <p:nvSpPr>
          <p:cNvPr id="10" name="Shape 8"/>
          <p:cNvSpPr/>
          <p:nvPr/>
        </p:nvSpPr>
        <p:spPr>
          <a:xfrm>
            <a:off x="815975" y="5405338"/>
            <a:ext cx="5613400" cy="948690"/>
          </a:xfrm>
          <a:prstGeom prst="roundRect">
            <a:avLst>
              <a:gd name="adj" fmla="val 10375"/>
            </a:avLst>
          </a:prstGeom>
          <a:solidFill>
            <a:srgbClr val="FCFBF8"/>
          </a:solidFill>
          <a:ln w="6350">
            <a:solidFill>
              <a:srgbClr val="DCDAD2"/>
            </a:solidFill>
            <a:prstDash val="solid"/>
          </a:ln>
        </p:spPr>
      </p:sp>
      <p:sp>
        <p:nvSpPr>
          <p:cNvPr id="11" name="Text 9"/>
          <p:cNvSpPr/>
          <p:nvPr/>
        </p:nvSpPr>
        <p:spPr>
          <a:xfrm>
            <a:off x="944880" y="5534323"/>
            <a:ext cx="551625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798443"/>
            <a:ext cx="551625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Linhas sempre inteiras, sem mutex. A do tick hook sai a cada 200 ms, à frente das outras. Com a queue cheia, a print task perde a mensagem (block time 0).</a:t>
            </a:r>
            <a:endParaRPr lang="en-US" sz="1200" dirty="0">
              <a:latin typeface="IBM Plex Sans" charset="0"/>
              <a:ea typeface="IBM Plex Sans" charset="0"/>
              <a:cs typeface="IBM Plex Sans" charset="0"/>
            </a:endParaRPr>
          </a:p>
        </p:txBody>
      </p:sp>
      <p:sp>
        <p:nvSpPr>
          <p:cNvPr id="13" name="Text 11"/>
          <p:cNvSpPr/>
          <p:nvPr/>
        </p:nvSpPr>
        <p:spPr>
          <a:xfrm>
            <a:off x="6223000" y="1711623"/>
            <a:ext cx="5156200" cy="3581400"/>
          </a:xfrm>
          <a:prstGeom prst="roundRect">
            <a:avLst>
              <a:gd name="adj" fmla="val 2128"/>
            </a:avLst>
          </a:prstGeom>
          <a:solidFill>
            <a:srgbClr val="14222E"/>
          </a:solidFill>
          <a:ln/>
        </p:spPr>
        <p:txBody>
          <a:bodyPr wrap="none" lIns="104682" tIns="53882" rIns="0" bIns="28482" rtlCol="0" anchor="t">
            <a:normAutofit/>
          </a:bodyPr>
          <a:lstStyle/>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static QueueHandle_t xPrintQueue;</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no main(): xQueueCreate( 5, sizeof( char * ) )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static char *pcStringsToPrint[] = { "Task 1 ****…\r\n",</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"Task 2 ----…\r\n", "Tick hook ####…\r\n" };</a:t>
            </a:r>
            <a:endParaRPr lang="en-US" sz="900" dirty="0">
              <a:latin typeface="JetBrains Mono" charset="0"/>
              <a:ea typeface="JetBrains Mono" charset="0"/>
              <a:cs typeface="JetBrains Mono" charset="0"/>
            </a:endParaRPr>
          </a:p>
          <a:p>
            <a:pPr algn="l" indent="0" marL="0">
              <a:lnSpc>
                <a:spcPts val="1125"/>
              </a:lnSpc>
              <a:buNone/>
            </a:pP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static void prvPrintTask( void *pvParameters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int iIndex = ( int ) pvParameters; /* 0 ou 1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for( ;;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 xQueueSendToBack( xPrintQueue,</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&amp;pcStringsToPrint[ iIndex ], 0 );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vTaskDelay( pdMS_TO_TICKS( 10 ) ); } }</a:t>
            </a:r>
            <a:endParaRPr lang="en-US" sz="900" dirty="0">
              <a:latin typeface="JetBrains Mono" charset="0"/>
              <a:ea typeface="JetBrains Mono" charset="0"/>
              <a:cs typeface="JetBrains Mono" charset="0"/>
            </a:endParaRPr>
          </a:p>
          <a:p>
            <a:pPr algn="l" indent="0" marL="0">
              <a:lnSpc>
                <a:spcPts val="1125"/>
              </a:lnSpc>
              <a:buNone/>
            </a:pP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static void prvStdioGatekeeperTask( void *pv)</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char *pcMsg;</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for( ;;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 xQueueReceive( xPrintQueue, &amp;pcMsg, portMAX_DELAY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vPrintString( pcMsg ); } }</a:t>
            </a:r>
            <a:endParaRPr lang="en-US" sz="900" dirty="0">
              <a:latin typeface="JetBrains Mono" charset="0"/>
              <a:ea typeface="JetBrains Mono" charset="0"/>
              <a:cs typeface="JetBrains Mono" charset="0"/>
            </a:endParaRPr>
          </a:p>
          <a:p>
            <a:pPr algn="l" indent="0" marL="0">
              <a:lnSpc>
                <a:spcPts val="1125"/>
              </a:lnSpc>
              <a:buNone/>
            </a:pP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void vApplicationTickHook( void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static int iCount = 0;</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if( ++iCount &gt;= 200 )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 xQueueSendToFrontFromISR( xPrintQueue,</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&amp;pcStringsToPrint[ 2 ], NULL );</a:t>
            </a:r>
            <a:endParaRPr lang="en-US" sz="900" dirty="0">
              <a:latin typeface="JetBrains Mono" charset="0"/>
              <a:ea typeface="JetBrains Mono" charset="0"/>
              <a:cs typeface="JetBrains Mono" charset="0"/>
            </a:endParaRPr>
          </a:p>
          <a:p>
            <a:pPr algn="l" indent="0" marL="0">
              <a:lnSpc>
                <a:spcPts val="1125"/>
              </a:lnSpc>
              <a:buNone/>
            </a:pPr>
            <a:r>
              <a:rPr lang="en-US" sz="900" dirty="0">
                <a:solidFill>
                  <a:srgbClr val="E6EAE8"/>
                </a:solidFill>
                <a:latin typeface="JetBrains Mono" pitchFamily="49" charset="0"/>
                <a:ea typeface="JetBrains Mono" pitchFamily="49" charset="-122"/>
                <a:cs typeface="JetBrains Mono" pitchFamily="49" charset="-120"/>
              </a:rPr>
              <a:t>        iCount = 0; } }</a:t>
            </a:r>
            <a:endParaRPr lang="en-US" sz="900" dirty="0">
              <a:latin typeface="JetBrains Mono" charset="0"/>
              <a:ea typeface="JetBrains Mono" charset="0"/>
              <a:cs typeface="JetBrains Mono" charset="0"/>
            </a:endParaRPr>
          </a:p>
        </p:txBody>
      </p:sp>
      <p:sp>
        <p:nvSpPr>
          <p:cNvPr id="14" name="Text 12"/>
          <p:cNvSpPr/>
          <p:nvPr/>
        </p:nvSpPr>
        <p:spPr>
          <a:xfrm>
            <a:off x="812800" y="64516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148</a:t>
            </a:r>
            <a:endParaRPr lang="en-US" sz="1200" dirty="0">
              <a:latin typeface="IBM Plex Sans" charset="0"/>
              <a:ea typeface="IBM Plex Sans" charset="0"/>
              <a:cs typeface="IBM Plex Sans"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11534"/>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17766A"/>
                </a:solidFill>
                <a:latin typeface="IBM Plex Sans" pitchFamily="34" charset="0"/>
                <a:ea typeface="IBM Plex Sans" pitchFamily="34" charset="-122"/>
                <a:cs typeface="IBM Plex Sans" pitchFamily="34" charset="-120"/>
              </a:rPr>
              <a:t>EXERCÍCIO 6 · EXEMPLOS 6.1 E 6.2</a:t>
            </a:r>
            <a:endParaRPr lang="en-US" sz="1050" dirty="0">
              <a:latin typeface="IBM Plex Sans" charset="0"/>
              <a:ea typeface="IBM Plex Sans" charset="0"/>
              <a:cs typeface="IBM Plex Sans" charset="0"/>
            </a:endParaRPr>
          </a:p>
        </p:txBody>
      </p:sp>
      <p:sp>
        <p:nvSpPr>
          <p:cNvPr id="3" name="Text 1"/>
          <p:cNvSpPr/>
          <p:nvPr>
            <p:ph type="title"/>
          </p:nvPr>
        </p:nvSpPr>
        <p:spPr>
          <a:xfrm>
            <a:off x="812800" y="1100534"/>
            <a:ext cx="10883392" cy="433229"/>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22E"/>
                </a:solidFill>
                <a:latin typeface="IBM Plex Sans" pitchFamily="34" charset="0"/>
                <a:ea typeface="IBM Plex Sans" pitchFamily="34" charset="-122"/>
                <a:cs typeface="IBM Plex Sans" pitchFamily="34" charset="-120"/>
              </a:rPr>
              <a:t>One-shot, auto-reload e timer ID</a:t>
            </a:r>
            <a:endParaRPr lang="en-US" sz="2800" dirty="0">
              <a:latin typeface="IBM Plex Sans" charset="0"/>
              <a:ea typeface="IBM Plex Sans" charset="0"/>
              <a:cs typeface="IBM Plex Sans" charset="0"/>
            </a:endParaRPr>
          </a:p>
        </p:txBody>
      </p:sp>
      <p:sp>
        <p:nvSpPr>
          <p:cNvPr id="4" name="Shape 2"/>
          <p:cNvSpPr/>
          <p:nvPr/>
        </p:nvSpPr>
        <p:spPr>
          <a:xfrm>
            <a:off x="815975" y="1714798"/>
            <a:ext cx="5200650" cy="2526030"/>
          </a:xfrm>
          <a:prstGeom prst="roundRect">
            <a:avLst>
              <a:gd name="adj" fmla="val 3896"/>
            </a:avLst>
          </a:prstGeom>
          <a:solidFill>
            <a:srgbClr val="FCFBF8"/>
          </a:solidFill>
          <a:ln w="6350">
            <a:solidFill>
              <a:srgbClr val="DCDAD2"/>
            </a:solidFill>
            <a:prstDash val="solid"/>
          </a:ln>
        </p:spPr>
      </p:sp>
      <p:sp>
        <p:nvSpPr>
          <p:cNvPr id="5" name="Text 3"/>
          <p:cNvSpPr/>
          <p:nvPr/>
        </p:nvSpPr>
        <p:spPr>
          <a:xfrm>
            <a:off x="944880" y="1843683"/>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120503"/>
            <a:ext cx="4881829" cy="201676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um one-shot de 3333 ms e um auto-reload de 500 ms, criados e arrancados antes do scheduler.</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um só callback para os dois; o timer ID conta as execuções.</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O auto-reload pára-se a si próprio à 5.ª execução.</a:t>
            </a:r>
            <a:endParaRPr lang="en-US" sz="1600" dirty="0">
              <a:latin typeface="IBM Plex Sans" charset="0"/>
              <a:ea typeface="IBM Plex Sans" charset="0"/>
              <a:cs typeface="IBM Plex Sans" charset="0"/>
            </a:endParaRPr>
          </a:p>
        </p:txBody>
      </p:sp>
      <p:sp>
        <p:nvSpPr>
          <p:cNvPr id="7" name="Shape 5"/>
          <p:cNvSpPr/>
          <p:nvPr/>
        </p:nvSpPr>
        <p:spPr>
          <a:xfrm>
            <a:off x="815975" y="4348758"/>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4477643"/>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741763"/>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Em que ticks aparecem as mensagens? O one-shot repete?</a:t>
            </a:r>
            <a:endParaRPr lang="en-US" sz="1200" dirty="0">
              <a:latin typeface="IBM Plex Sans" charset="0"/>
              <a:ea typeface="IBM Plex Sans" charset="0"/>
              <a:cs typeface="IBM Plex Sans" charset="0"/>
            </a:endParaRPr>
          </a:p>
        </p:txBody>
      </p:sp>
      <p:sp>
        <p:nvSpPr>
          <p:cNvPr id="10" name="Shape 8"/>
          <p:cNvSpPr/>
          <p:nvPr/>
        </p:nvSpPr>
        <p:spPr>
          <a:xfrm>
            <a:off x="815975" y="5192018"/>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5320903"/>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585123"/>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Auto-reload aos 500, 1000, 1500, 2000 e 2500 ms, e pára. One-shot uma vez, aos 3333 ms. Os callbacks correm na daemon task: nunca bloquear dentro deles.</a:t>
            </a:r>
            <a:endParaRPr lang="en-US" sz="1200" dirty="0">
              <a:latin typeface="IBM Plex Sans" charset="0"/>
              <a:ea typeface="IBM Plex Sans" charset="0"/>
              <a:cs typeface="IBM Plex Sans" charset="0"/>
            </a:endParaRPr>
          </a:p>
        </p:txBody>
      </p:sp>
      <p:sp>
        <p:nvSpPr>
          <p:cNvPr id="13" name="Text 11"/>
          <p:cNvSpPr/>
          <p:nvPr/>
        </p:nvSpPr>
        <p:spPr>
          <a:xfrm>
            <a:off x="6223000" y="1711623"/>
            <a:ext cx="5156200" cy="3606800"/>
          </a:xfrm>
          <a:prstGeom prst="roundRect">
            <a:avLst>
              <a:gd name="adj" fmla="val 2113"/>
            </a:avLst>
          </a:prstGeom>
          <a:solidFill>
            <a:srgbClr val="14222E"/>
          </a:solidFill>
          <a:ln/>
        </p:spPr>
        <p:txBody>
          <a:bodyPr wrap="none" lIns="104682" tIns="66582" rIns="0" bIns="41182" rtlCol="0" anchor="t">
            <a:normAutofit/>
          </a:bodyPr>
          <a:lstStyle/>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TimerHandle_t xOneShotTimer, xAutoReloadTimer;</a:t>
            </a:r>
            <a:endParaRPr lang="en-US" sz="1000" dirty="0">
              <a:latin typeface="JetBrains Mono" charset="0"/>
              <a:ea typeface="JetBrains Mono" charset="0"/>
              <a:cs typeface="JetBrains Mono" charset="0"/>
            </a:endParaRPr>
          </a:p>
          <a:p>
            <a:pPr algn="l" indent="0" marL="0">
              <a:lnSpc>
                <a:spcPts val="1350"/>
              </a:lnSpc>
              <a:buNone/>
            </a:pP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static void prvTimerCallback( TimerHandle_t xTimer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TickType_t xTimeNow = xTaskGetTickCount();</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uint32_t ulCount;</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ulCount = ( uint32_t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pvTimerGetTimerID( xTimer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ulCount++;</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vTimerSetTimerID( xTimer, ( void * ) ulCount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if( xTimer == xOneShotTimer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vPrintStringAndNumber( "One-shot", xTimeNow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else</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vPrintStringAndNumber( "Auto-reload",</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xTimeNow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if( ulCount == 5 )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xTimerStop( xTimer, 0 );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    }</a:t>
            </a:r>
            <a:endParaRPr lang="en-US" sz="1000" dirty="0">
              <a:latin typeface="JetBrains Mono" charset="0"/>
              <a:ea typeface="JetBrains Mono" charset="0"/>
              <a:cs typeface="JetBrains Mono" charset="0"/>
            </a:endParaRPr>
          </a:p>
          <a:p>
            <a:pPr algn="l" indent="0" marL="0">
              <a:lnSpc>
                <a:spcPts val="1350"/>
              </a:lnSpc>
              <a:buNone/>
            </a:pPr>
            <a:r>
              <a:rPr lang="en-US" sz="1000" dirty="0">
                <a:solidFill>
                  <a:srgbClr val="E6EAE8"/>
                </a:solidFill>
                <a:latin typeface="JetBrains Mono" pitchFamily="49" charset="0"/>
                <a:ea typeface="JetBrains Mono" pitchFamily="49" charset="-122"/>
                <a:cs typeface="JetBrains Mono" pitchFamily="49" charset="-120"/>
              </a:rPr>
              <a:t>}</a:t>
            </a:r>
            <a:endParaRPr lang="en-US" sz="1000" dirty="0">
              <a:latin typeface="JetBrains Mono" charset="0"/>
              <a:ea typeface="JetBrains Mono" charset="0"/>
              <a:cs typeface="JetBrains Mono" charset="0"/>
            </a:endParaRPr>
          </a:p>
        </p:txBody>
      </p:sp>
      <p:sp>
        <p:nvSpPr>
          <p:cNvPr id="14" name="Text 12"/>
          <p:cNvSpPr/>
          <p:nvPr/>
        </p:nvSpPr>
        <p:spPr>
          <a:xfrm>
            <a:off x="812800" y="64516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149</a:t>
            </a:r>
            <a:endParaRPr lang="en-US" sz="1200" dirty="0">
              <a:latin typeface="IBM Plex Sans" charset="0"/>
              <a:ea typeface="IBM Plex Sans" charset="0"/>
              <a:cs typeface="IBM Plex Sans"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23813"/>
            <a:ext cx="262286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7 · EXEMPLO 6.3</a:t>
            </a:r>
            <a:endParaRPr lang="en-US" sz="1200" dirty="0">
              <a:latin typeface="IBM Plex Sans" charset="0"/>
              <a:ea typeface="IBM Plex Sans" charset="0"/>
              <a:cs typeface="IBM Plex Sans" charset="0"/>
            </a:endParaRPr>
          </a:p>
        </p:txBody>
      </p:sp>
      <p:sp>
        <p:nvSpPr>
          <p:cNvPr id="3" name="Text 1"/>
          <p:cNvSpPr/>
          <p:nvPr/>
        </p:nvSpPr>
        <p:spPr>
          <a:xfrm>
            <a:off x="3435667" y="811213"/>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4" name="Text 2"/>
          <p:cNvSpPr/>
          <p:nvPr>
            <p:ph type="title"/>
          </p:nvPr>
        </p:nvSpPr>
        <p:spPr>
          <a:xfrm>
            <a:off x="812800" y="1149945"/>
            <a:ext cx="10883392" cy="486331"/>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Reset de um timer: a backlight</a:t>
            </a:r>
            <a:endParaRPr lang="en-US" sz="3190" dirty="0">
              <a:latin typeface="IBM Plex Sans" charset="0"/>
              <a:ea typeface="IBM Plex Sans" charset="0"/>
              <a:cs typeface="IBM Plex Sans" charset="0"/>
            </a:endParaRPr>
          </a:p>
        </p:txBody>
      </p:sp>
      <p:sp>
        <p:nvSpPr>
          <p:cNvPr id="5" name="Shape 3"/>
          <p:cNvSpPr/>
          <p:nvPr/>
        </p:nvSpPr>
        <p:spPr>
          <a:xfrm>
            <a:off x="815975" y="1817191"/>
            <a:ext cx="5200650" cy="1957070"/>
          </a:xfrm>
          <a:prstGeom prst="roundRect">
            <a:avLst>
              <a:gd name="adj" fmla="val 5029"/>
            </a:avLst>
          </a:prstGeom>
          <a:solidFill>
            <a:srgbClr val="FCFBF8"/>
          </a:solidFill>
          <a:ln w="6350">
            <a:solidFill>
              <a:srgbClr val="DCDAD2"/>
            </a:solidFill>
            <a:prstDash val="solid"/>
          </a:ln>
        </p:spPr>
      </p:sp>
      <p:sp>
        <p:nvSpPr>
          <p:cNvPr id="6" name="Text 4"/>
          <p:cNvSpPr/>
          <p:nvPr/>
        </p:nvSpPr>
        <p:spPr>
          <a:xfrm>
            <a:off x="944880" y="1946176"/>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7" name="Text 5"/>
          <p:cNvSpPr/>
          <p:nvPr/>
        </p:nvSpPr>
        <p:spPr>
          <a:xfrm>
            <a:off x="1148080" y="2222996"/>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Timer one-shot de 5000 ms; o callback apaga o LED (GP1).</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vKeyHitTask lê o botão do GP0 a cada 50 ms; se premido, acende o LED e faz xTimerReset().</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Carregar uma vez; depois várias vezes seguidas.</a:t>
            </a:r>
            <a:endParaRPr lang="en-US" sz="1600" dirty="0">
              <a:latin typeface="IBM Plex Sans" charset="0"/>
              <a:ea typeface="IBM Plex Sans" charset="0"/>
              <a:cs typeface="IBM Plex Sans" charset="0"/>
            </a:endParaRPr>
          </a:p>
        </p:txBody>
      </p:sp>
      <p:sp>
        <p:nvSpPr>
          <p:cNvPr id="8" name="Shape 6"/>
          <p:cNvSpPr/>
          <p:nvPr/>
        </p:nvSpPr>
        <p:spPr>
          <a:xfrm>
            <a:off x="815975" y="3882231"/>
            <a:ext cx="5200650" cy="735330"/>
          </a:xfrm>
          <a:prstGeom prst="roundRect">
            <a:avLst>
              <a:gd name="adj" fmla="val 13385"/>
            </a:avLst>
          </a:prstGeom>
          <a:solidFill>
            <a:srgbClr val="FBEFE7"/>
          </a:solidFill>
          <a:ln w="6350">
            <a:solidFill>
              <a:srgbClr val="DCDAD2"/>
            </a:solidFill>
            <a:prstDash val="solid"/>
          </a:ln>
        </p:spPr>
      </p:sp>
      <p:sp>
        <p:nvSpPr>
          <p:cNvPr id="9" name="Text 7"/>
          <p:cNvSpPr/>
          <p:nvPr/>
        </p:nvSpPr>
        <p:spPr>
          <a:xfrm>
            <a:off x="944880" y="4011116"/>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10" name="Text 8"/>
          <p:cNvSpPr/>
          <p:nvPr/>
        </p:nvSpPr>
        <p:spPr>
          <a:xfrm>
            <a:off x="944880" y="4275336"/>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Se carregarmos no botão a cada 2 s, quando se apaga o LED?</a:t>
            </a:r>
            <a:endParaRPr lang="en-US" sz="1200" dirty="0">
              <a:latin typeface="IBM Plex Sans" charset="0"/>
              <a:ea typeface="IBM Plex Sans" charset="0"/>
              <a:cs typeface="IBM Plex Sans" charset="0"/>
            </a:endParaRPr>
          </a:p>
        </p:txBody>
      </p:sp>
      <p:sp>
        <p:nvSpPr>
          <p:cNvPr id="11" name="Shape 9"/>
          <p:cNvSpPr/>
          <p:nvPr/>
        </p:nvSpPr>
        <p:spPr>
          <a:xfrm>
            <a:off x="815975" y="4725491"/>
            <a:ext cx="5200650" cy="1162050"/>
          </a:xfrm>
          <a:prstGeom prst="roundRect">
            <a:avLst>
              <a:gd name="adj" fmla="val 8470"/>
            </a:avLst>
          </a:prstGeom>
          <a:solidFill>
            <a:srgbClr val="FCFBF8"/>
          </a:solidFill>
          <a:ln w="6350">
            <a:solidFill>
              <a:srgbClr val="DCDAD2"/>
            </a:solidFill>
            <a:prstDash val="solid"/>
          </a:ln>
        </p:spPr>
      </p:sp>
      <p:sp>
        <p:nvSpPr>
          <p:cNvPr id="12" name="Text 10"/>
          <p:cNvSpPr/>
          <p:nvPr/>
        </p:nvSpPr>
        <p:spPr>
          <a:xfrm>
            <a:off x="944880" y="4854476"/>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3" name="Text 11"/>
          <p:cNvSpPr/>
          <p:nvPr/>
        </p:nvSpPr>
        <p:spPr>
          <a:xfrm>
            <a:off x="944880" y="5118596"/>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Nunca, enquanto se carregar com menos de 5 s de intervalo: cada reset recomeça a contagem. Apaga 5 s depois da última vez. Num timer parado, xTimerReset() também o arranca.</a:t>
            </a:r>
            <a:endParaRPr lang="en-US" sz="1200" dirty="0">
              <a:latin typeface="IBM Plex Sans" charset="0"/>
              <a:ea typeface="IBM Plex Sans" charset="0"/>
              <a:cs typeface="IBM Plex Sans" charset="0"/>
            </a:endParaRPr>
          </a:p>
        </p:txBody>
      </p:sp>
      <p:sp>
        <p:nvSpPr>
          <p:cNvPr id="14" name="Text 12"/>
          <p:cNvSpPr/>
          <p:nvPr/>
        </p:nvSpPr>
        <p:spPr>
          <a:xfrm>
            <a:off x="6223000" y="1814016"/>
            <a:ext cx="5156200" cy="3616960"/>
          </a:xfrm>
          <a:prstGeom prst="roundRect">
            <a:avLst>
              <a:gd name="adj" fmla="val 2107"/>
            </a:avLst>
          </a:prstGeom>
          <a:solidFill>
            <a:srgbClr val="14222E"/>
          </a:solidFill>
          <a:ln/>
        </p:spPr>
        <p:txBody>
          <a:bodyPr wrap="none" lIns="104682" tIns="79282" rIns="0" bIns="53882" rtlCol="0" anchor="t">
            <a:normAutofit/>
          </a:bodyPr>
          <a:lstStyle/>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#define BUTTON_PIN 0 /* ao GND, pull-up interno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#define LED_PIN 1</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static TimerHandle_t xBacklightTimer;</a:t>
            </a:r>
            <a:endParaRPr lang="en-US" sz="1050" dirty="0">
              <a:latin typeface="JetBrains Mono" charset="0"/>
              <a:ea typeface="JetBrains Mono" charset="0"/>
              <a:cs typeface="JetBrains Mono" charset="0"/>
            </a:endParaRPr>
          </a:p>
          <a:p>
            <a:pPr algn="l" indent="0" marL="0">
              <a:lnSpc>
                <a:spcPts val="1680"/>
              </a:lnSpc>
              <a:buNone/>
            </a:pP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static void prvBacklightTimerCallback( TimerHandle_t xTimer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gpio_put( LED_PIN, 0 ); /* apaga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vPrintStringAndNumber( "Backlight OFF, tick",</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xTaskGetTickCount() ); }</a:t>
            </a:r>
            <a:endParaRPr lang="en-US" sz="1050" dirty="0">
              <a:latin typeface="JetBrains Mono" charset="0"/>
              <a:ea typeface="JetBrains Mono" charset="0"/>
              <a:cs typeface="JetBrains Mono" charset="0"/>
            </a:endParaRPr>
          </a:p>
          <a:p>
            <a:pPr algn="l" indent="0" marL="0">
              <a:lnSpc>
                <a:spcPts val="1680"/>
              </a:lnSpc>
              <a:buNone/>
            </a:pP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static void vKeyHitTask( void *pvParameters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const TickType_t xShortDelay = pdMS_TO_TICKS( 50 );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for( ;;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 if( gpio_get( BUTTON_PIN ) == 0 ) /* premido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 gpio_put( LED_PIN, 1 );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xTimerReset( xBacklightTimer, xShortDelay ); }</a:t>
            </a:r>
            <a:endParaRPr lang="en-US" sz="1050" dirty="0">
              <a:latin typeface="JetBrains Mono" charset="0"/>
              <a:ea typeface="JetBrains Mono" charset="0"/>
              <a:cs typeface="JetBrains Mono" charset="0"/>
            </a:endParaRPr>
          </a:p>
          <a:p>
            <a:pPr algn="l" indent="0" marL="0">
              <a:lnSpc>
                <a:spcPts val="1680"/>
              </a:lnSpc>
              <a:buNone/>
            </a:pPr>
            <a:r>
              <a:rPr lang="en-US" sz="1050" dirty="0">
                <a:solidFill>
                  <a:srgbClr val="E6EAE8"/>
                </a:solidFill>
                <a:latin typeface="JetBrains Mono" pitchFamily="49" charset="0"/>
                <a:ea typeface="JetBrains Mono" pitchFamily="49" charset="-122"/>
                <a:cs typeface="JetBrains Mono" pitchFamily="49" charset="-120"/>
              </a:rPr>
              <a:t>        vTaskDelay( xShortDelay ); } }</a:t>
            </a:r>
            <a:endParaRPr lang="en-US" sz="1050" dirty="0">
              <a:latin typeface="JetBrains Mono" charset="0"/>
              <a:ea typeface="JetBrains Mono" charset="0"/>
              <a:cs typeface="JetBrains Mono" charset="0"/>
            </a:endParaRPr>
          </a:p>
        </p:txBody>
      </p:sp>
      <p:sp>
        <p:nvSpPr>
          <p:cNvPr id="15" name="Text 13"/>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6" name="Text 1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150</a:t>
            </a:r>
            <a:endParaRPr lang="en-US" sz="1200" dirty="0">
              <a:latin typeface="IBM Plex Sans" charset="0"/>
              <a:ea typeface="IBM Plex Sans" charset="0"/>
              <a:cs typeface="IBM Plex Sans"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093"/>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EXERCÍCIO 8 · SECÇÃO 12.2</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6133"/>
            <a:ext cx="10883392" cy="489109"/>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Um configASSERT a funcionar</a:t>
            </a:r>
            <a:endParaRPr lang="en-US" sz="3190" dirty="0">
              <a:latin typeface="IBM Plex Sans" charset="0"/>
              <a:ea typeface="IBM Plex Sans" charset="0"/>
              <a:cs typeface="IBM Plex Sans" charset="0"/>
            </a:endParaRPr>
          </a:p>
        </p:txBody>
      </p:sp>
      <p:sp>
        <p:nvSpPr>
          <p:cNvPr id="4" name="Shape 2"/>
          <p:cNvSpPr/>
          <p:nvPr/>
        </p:nvSpPr>
        <p:spPr>
          <a:xfrm>
            <a:off x="815975" y="1796157"/>
            <a:ext cx="5200650" cy="1957070"/>
          </a:xfrm>
          <a:prstGeom prst="roundRect">
            <a:avLst>
              <a:gd name="adj" fmla="val 5029"/>
            </a:avLst>
          </a:prstGeom>
          <a:solidFill>
            <a:srgbClr val="FCFBF8"/>
          </a:solidFill>
          <a:ln w="6350">
            <a:solidFill>
              <a:srgbClr val="DCDAD2"/>
            </a:solidFill>
            <a:prstDash val="solid"/>
          </a:ln>
        </p:spPr>
      </p:sp>
      <p:sp>
        <p:nvSpPr>
          <p:cNvPr id="5" name="Text 3"/>
          <p:cNvSpPr/>
          <p:nvPr/>
        </p:nvSpPr>
        <p:spPr>
          <a:xfrm>
            <a:off x="944880" y="192514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1962"/>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Build Debug; configASSERT como no exemplo oficial, com assert().</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Comentar o xQueueCreate e correr.</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Ler a mensagem no RTT Viewer e a stack de chamadas no debugger.</a:t>
            </a:r>
            <a:endParaRPr lang="en-US" sz="1600" dirty="0">
              <a:latin typeface="IBM Plex Sans" charset="0"/>
              <a:ea typeface="IBM Plex Sans" charset="0"/>
              <a:cs typeface="IBM Plex Sans" charset="0"/>
            </a:endParaRPr>
          </a:p>
        </p:txBody>
      </p:sp>
      <p:sp>
        <p:nvSpPr>
          <p:cNvPr id="7" name="Shape 5"/>
          <p:cNvSpPr/>
          <p:nvPr/>
        </p:nvSpPr>
        <p:spPr>
          <a:xfrm>
            <a:off x="815975" y="3861197"/>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990082"/>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254302"/>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Onde pára o programa? E num build Release?</a:t>
            </a:r>
            <a:endParaRPr lang="en-US" sz="1200" dirty="0">
              <a:latin typeface="IBM Plex Sans" charset="0"/>
              <a:ea typeface="IBM Plex Sans" charset="0"/>
              <a:cs typeface="IBM Plex Sans" charset="0"/>
            </a:endParaRPr>
          </a:p>
        </p:txBody>
      </p:sp>
      <p:sp>
        <p:nvSpPr>
          <p:cNvPr id="10" name="Shape 8"/>
          <p:cNvSpPr/>
          <p:nvPr/>
        </p:nvSpPr>
        <p:spPr>
          <a:xfrm>
            <a:off x="815975" y="4704457"/>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483344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097562"/>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Pára logo no primeiro xQueueSend, com uma mensagem do assert com o ficheiro (queue.c) e a linha. Em Release, o NDEBUG desliga o assert: o erro passa em silêncio.</a:t>
            </a:r>
            <a:endParaRPr lang="en-US" sz="1200" dirty="0">
              <a:latin typeface="IBM Plex Sans" charset="0"/>
              <a:ea typeface="IBM Plex Sans" charset="0"/>
              <a:cs typeface="IBM Plex Sans" charset="0"/>
            </a:endParaRPr>
          </a:p>
        </p:txBody>
      </p:sp>
      <p:sp>
        <p:nvSpPr>
          <p:cNvPr id="13" name="Text 11"/>
          <p:cNvSpPr/>
          <p:nvPr/>
        </p:nvSpPr>
        <p:spPr>
          <a:xfrm>
            <a:off x="6223000" y="1792982"/>
            <a:ext cx="5156200" cy="3804920"/>
          </a:xfrm>
          <a:prstGeom prst="roundRect">
            <a:avLst>
              <a:gd name="adj" fmla="val 2003"/>
            </a:avLst>
          </a:prstGeom>
          <a:solidFill>
            <a:srgbClr val="14222E"/>
          </a:solidFill>
          <a:ln/>
        </p:spPr>
        <p:txBody>
          <a:bodyPr wrap="none" lIns="104682" tIns="66582" rIns="0" bIns="411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FreeRTOSConfig.h (pico-examples/freertos)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#include &lt;assert.h&gt;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#define configASSERT( x ) assert( x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main.c: esquecer de criar a queue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QueueHandle_t xQueue = NULL;</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 = xQueueCreate( 5, sizeof( uint32_t ) );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vSenderTask(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uint32_t ulValue = 0;</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xQueueSend( xQueue, &amp;ulValue, 0 ); /* assert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 pdMS_TO_TICKS( 100 )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151</a:t>
            </a:r>
            <a:endParaRPr lang="en-US" sz="1200" dirty="0">
              <a:latin typeface="IBM Plex Sans" charset="0"/>
              <a:ea typeface="IBM Plex Sans" charset="0"/>
              <a:cs typeface="IBM Plex Sans"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093"/>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EXERCÍCIO 9 · SECÇÃO 13.3</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6133"/>
            <a:ext cx="10883392" cy="489109"/>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Provocar e apanhar um stack overflow</a:t>
            </a:r>
            <a:endParaRPr lang="en-US" sz="3190" dirty="0">
              <a:latin typeface="IBM Plex Sans" charset="0"/>
              <a:ea typeface="IBM Plex Sans" charset="0"/>
              <a:cs typeface="IBM Plex Sans" charset="0"/>
            </a:endParaRPr>
          </a:p>
        </p:txBody>
      </p:sp>
      <p:sp>
        <p:nvSpPr>
          <p:cNvPr id="4" name="Shape 2"/>
          <p:cNvSpPr/>
          <p:nvPr/>
        </p:nvSpPr>
        <p:spPr>
          <a:xfrm>
            <a:off x="815975" y="1796157"/>
            <a:ext cx="5200650" cy="1957070"/>
          </a:xfrm>
          <a:prstGeom prst="roundRect">
            <a:avLst>
              <a:gd name="adj" fmla="val 5029"/>
            </a:avLst>
          </a:prstGeom>
          <a:solidFill>
            <a:srgbClr val="FCFBF8"/>
          </a:solidFill>
          <a:ln w="6350">
            <a:solidFill>
              <a:srgbClr val="DCDAD2"/>
            </a:solidFill>
            <a:prstDash val="solid"/>
          </a:ln>
        </p:spPr>
      </p:sp>
      <p:sp>
        <p:nvSpPr>
          <p:cNvPr id="5" name="Text 3"/>
          <p:cNvSpPr/>
          <p:nvPr/>
        </p:nvSpPr>
        <p:spPr>
          <a:xfrm>
            <a:off x="944880" y="192514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1962"/>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Com configCHECK_FOR_STACK_OVERFLOW = 2 (sessão 1), criar a vGreedyTask ao lado.</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Correr: onde pára? Ver pcTaskName no hook.</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Corrigir: subir a stack e medir com uxTaskGetStackHighWaterMark( NULL ).</a:t>
            </a:r>
            <a:endParaRPr lang="en-US" sz="1600" dirty="0">
              <a:latin typeface="IBM Plex Sans" charset="0"/>
              <a:ea typeface="IBM Plex Sans" charset="0"/>
              <a:cs typeface="IBM Plex Sans" charset="0"/>
            </a:endParaRPr>
          </a:p>
        </p:txBody>
      </p:sp>
      <p:sp>
        <p:nvSpPr>
          <p:cNvPr id="7" name="Shape 5"/>
          <p:cNvSpPr/>
          <p:nvPr/>
        </p:nvSpPr>
        <p:spPr>
          <a:xfrm>
            <a:off x="815975" y="3861197"/>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990082"/>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254302"/>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hook apanha o overflow no momento em que acontece?</a:t>
            </a:r>
            <a:endParaRPr lang="en-US" sz="1200" dirty="0">
              <a:latin typeface="IBM Plex Sans" charset="0"/>
              <a:ea typeface="IBM Plex Sans" charset="0"/>
              <a:cs typeface="IBM Plex Sans" charset="0"/>
            </a:endParaRPr>
          </a:p>
        </p:txBody>
      </p:sp>
      <p:sp>
        <p:nvSpPr>
          <p:cNvPr id="10" name="Shape 8"/>
          <p:cNvSpPr/>
          <p:nvPr/>
        </p:nvSpPr>
        <p:spPr>
          <a:xfrm>
            <a:off x="815975" y="4704457"/>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483344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097562"/>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Não: a verificação é feita na troca de contexto, depois do estrago. Pode aparecer primeiro uma exceção ou dados corrompidos. O high water mark mostra a margem que sobra, em words.</a:t>
            </a:r>
            <a:endParaRPr lang="en-US" sz="1200" dirty="0">
              <a:latin typeface="IBM Plex Sans" charset="0"/>
              <a:ea typeface="IBM Plex Sans" charset="0"/>
              <a:cs typeface="IBM Plex Sans" charset="0"/>
            </a:endParaRPr>
          </a:p>
        </p:txBody>
      </p:sp>
      <p:sp>
        <p:nvSpPr>
          <p:cNvPr id="13" name="Text 11"/>
          <p:cNvSpPr/>
          <p:nvPr/>
        </p:nvSpPr>
        <p:spPr>
          <a:xfrm>
            <a:off x="6223000" y="1792982"/>
            <a:ext cx="5156200" cy="3616960"/>
          </a:xfrm>
          <a:prstGeom prst="roundRect">
            <a:avLst>
              <a:gd name="adj" fmla="val 2107"/>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vGreedyTask(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volatile uint8_t ucBuffer[ 600 ];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int i = 0; i &lt; 600; i++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ucBuffer[ i ] = ( uint8_t ) i;</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 pdMS_TO_TICKS( 100 )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128 words = 512 bytes: não chega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xTaskCreate( vGreedyTask, "Greedy", 128,</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NULL, 1, NULL );</a:t>
            </a:r>
            <a:endParaRPr lang="en-US" sz="12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12 e 13; exemplos Win32 013–021, adaptados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152</a:t>
            </a:r>
            <a:endParaRPr lang="en-US" sz="1200" dirty="0">
              <a:latin typeface="IBM Plex Sans" charset="0"/>
              <a:ea typeface="IBM Plex Sans" charset="0"/>
              <a:cs typeface="IBM Plex Sans"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3</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Perguntas para fechar</a:t>
            </a:r>
            <a:endParaRPr lang="en-US" sz="3200" dirty="0">
              <a:latin typeface="IBM Plex Sans" charset="0"/>
              <a:ea typeface="IBM Plex Sans" charset="0"/>
              <a:cs typeface="IBM Plex Sans" charset="0"/>
            </a:endParaRPr>
          </a:p>
        </p:txBody>
      </p:sp>
      <p:sp>
        <p:nvSpPr>
          <p:cNvPr id="4" name="Shape 2"/>
          <p:cNvSpPr/>
          <p:nvPr/>
        </p:nvSpPr>
        <p:spPr>
          <a:xfrm>
            <a:off x="812800" y="1903115"/>
            <a:ext cx="10566400" cy="0"/>
          </a:xfrm>
          <a:prstGeom prst="line">
            <a:avLst/>
          </a:prstGeom>
          <a:noFill/>
          <a:ln w="6350">
            <a:solidFill>
              <a:srgbClr val="DCDAD2"/>
            </a:solidFill>
            <a:prstDash val="solid"/>
          </a:ln>
        </p:spPr>
      </p:sp>
      <p:pic>
        <p:nvPicPr>
          <p:cNvPr id="5" name="Image 0" descr="Chat">    </p:cNvPr>
          <p:cNvPicPr>
            <a:picLocks noChangeAspect="1"/>
          </p:cNvPicPr>
          <p:nvPr/>
        </p:nvPicPr>
        <p:blipFill>
          <a:blip r:embed="rId1"/>
          <a:srcRect l="0" r="0" t="0" b="0"/>
          <a:stretch/>
        </p:blipFill>
        <p:spPr>
          <a:xfrm>
            <a:off x="812800" y="2006600"/>
            <a:ext cx="254000" cy="254000"/>
          </a:xfrm>
          <a:prstGeom prst="rect">
            <a:avLst/>
          </a:prstGeom>
        </p:spPr>
      </p:pic>
      <p:sp>
        <p:nvSpPr>
          <p:cNvPr id="6" name="Text 3"/>
          <p:cNvSpPr/>
          <p:nvPr/>
        </p:nvSpPr>
        <p:spPr>
          <a:xfrm>
            <a:off x="1193800" y="2013645"/>
            <a:ext cx="1001505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Porque é que o trabalho vai para uma task e não fica na ISR?</a:t>
            </a:r>
            <a:endParaRPr lang="en-US" sz="1400" dirty="0">
              <a:latin typeface="IBM Plex Sans" charset="0"/>
              <a:ea typeface="IBM Plex Sans" charset="0"/>
              <a:cs typeface="IBM Plex Sans" charset="0"/>
            </a:endParaRPr>
          </a:p>
        </p:txBody>
      </p:sp>
      <p:sp>
        <p:nvSpPr>
          <p:cNvPr id="7" name="Text 4"/>
          <p:cNvSpPr/>
          <p:nvPr/>
        </p:nvSpPr>
        <p:spPr>
          <a:xfrm>
            <a:off x="11044158" y="2026940"/>
            <a:ext cx="3858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1</a:t>
            </a:r>
            <a:endParaRPr lang="en-US" sz="1200" dirty="0">
              <a:latin typeface="IBM Plex Sans" charset="0"/>
              <a:ea typeface="IBM Plex Sans" charset="0"/>
              <a:cs typeface="IBM Plex Sans" charset="0"/>
            </a:endParaRPr>
          </a:p>
        </p:txBody>
      </p:sp>
      <p:sp>
        <p:nvSpPr>
          <p:cNvPr id="8" name="Shape 5"/>
          <p:cNvSpPr/>
          <p:nvPr/>
        </p:nvSpPr>
        <p:spPr>
          <a:xfrm>
            <a:off x="812800" y="2339975"/>
            <a:ext cx="10566400" cy="0"/>
          </a:xfrm>
          <a:prstGeom prst="line">
            <a:avLst/>
          </a:prstGeom>
          <a:noFill/>
          <a:ln w="6350">
            <a:solidFill>
              <a:srgbClr val="DCDAD2"/>
            </a:solidFill>
            <a:prstDash val="solid"/>
          </a:ln>
        </p:spPr>
      </p:sp>
      <p:pic>
        <p:nvPicPr>
          <p:cNvPr id="9" name="Image 1" descr="Chat">    </p:cNvPr>
          <p:cNvPicPr>
            <a:picLocks noChangeAspect="1"/>
          </p:cNvPicPr>
          <p:nvPr/>
        </p:nvPicPr>
        <p:blipFill>
          <a:blip r:embed="rId2"/>
          <a:srcRect l="0" r="0" t="0" b="0"/>
          <a:stretch/>
        </p:blipFill>
        <p:spPr>
          <a:xfrm>
            <a:off x="812800" y="2443460"/>
            <a:ext cx="254000" cy="254000"/>
          </a:xfrm>
          <a:prstGeom prst="rect">
            <a:avLst/>
          </a:prstGeom>
        </p:spPr>
      </p:pic>
      <p:sp>
        <p:nvSpPr>
          <p:cNvPr id="10" name="Text 6"/>
          <p:cNvSpPr/>
          <p:nvPr/>
        </p:nvSpPr>
        <p:spPr>
          <a:xfrm>
            <a:off x="1193800" y="2450505"/>
            <a:ext cx="1001505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O que se perde com um semáforo binário quando chegam vários eventos?</a:t>
            </a:r>
            <a:endParaRPr lang="en-US" sz="1400" dirty="0">
              <a:latin typeface="IBM Plex Sans" charset="0"/>
              <a:ea typeface="IBM Plex Sans" charset="0"/>
              <a:cs typeface="IBM Plex Sans" charset="0"/>
            </a:endParaRPr>
          </a:p>
        </p:txBody>
      </p:sp>
      <p:sp>
        <p:nvSpPr>
          <p:cNvPr id="11" name="Text 7"/>
          <p:cNvSpPr/>
          <p:nvPr/>
        </p:nvSpPr>
        <p:spPr>
          <a:xfrm>
            <a:off x="11044158" y="2463800"/>
            <a:ext cx="3858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2</a:t>
            </a:r>
            <a:endParaRPr lang="en-US" sz="1200" dirty="0">
              <a:latin typeface="IBM Plex Sans" charset="0"/>
              <a:ea typeface="IBM Plex Sans" charset="0"/>
              <a:cs typeface="IBM Plex Sans" charset="0"/>
            </a:endParaRPr>
          </a:p>
        </p:txBody>
      </p:sp>
      <p:sp>
        <p:nvSpPr>
          <p:cNvPr id="12" name="Shape 8"/>
          <p:cNvSpPr/>
          <p:nvPr/>
        </p:nvSpPr>
        <p:spPr>
          <a:xfrm>
            <a:off x="812800" y="2776835"/>
            <a:ext cx="10566400" cy="0"/>
          </a:xfrm>
          <a:prstGeom prst="line">
            <a:avLst/>
          </a:prstGeom>
          <a:noFill/>
          <a:ln w="6350">
            <a:solidFill>
              <a:srgbClr val="DCDAD2"/>
            </a:solidFill>
            <a:prstDash val="solid"/>
          </a:ln>
        </p:spPr>
      </p:sp>
      <p:pic>
        <p:nvPicPr>
          <p:cNvPr id="13" name="Image 2" descr="Chat">    </p:cNvPr>
          <p:cNvPicPr>
            <a:picLocks noChangeAspect="1"/>
          </p:cNvPicPr>
          <p:nvPr/>
        </p:nvPicPr>
        <p:blipFill>
          <a:blip r:embed="rId3"/>
          <a:srcRect l="0" r="0" t="0" b="0"/>
          <a:stretch/>
        </p:blipFill>
        <p:spPr>
          <a:xfrm>
            <a:off x="812800" y="2880420"/>
            <a:ext cx="254000" cy="254000"/>
          </a:xfrm>
          <a:prstGeom prst="rect">
            <a:avLst/>
          </a:prstGeom>
        </p:spPr>
      </p:pic>
      <p:sp>
        <p:nvSpPr>
          <p:cNvPr id="14" name="Text 9"/>
          <p:cNvSpPr/>
          <p:nvPr/>
        </p:nvSpPr>
        <p:spPr>
          <a:xfrm>
            <a:off x="1193800" y="2887365"/>
            <a:ext cx="1001505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Porque é que a queue do Ex. 3 leva ponteiros e não as strings?</a:t>
            </a:r>
            <a:endParaRPr lang="en-US" sz="1400" dirty="0">
              <a:latin typeface="IBM Plex Sans" charset="0"/>
              <a:ea typeface="IBM Plex Sans" charset="0"/>
              <a:cs typeface="IBM Plex Sans" charset="0"/>
            </a:endParaRPr>
          </a:p>
        </p:txBody>
      </p:sp>
      <p:sp>
        <p:nvSpPr>
          <p:cNvPr id="15" name="Text 10"/>
          <p:cNvSpPr/>
          <p:nvPr/>
        </p:nvSpPr>
        <p:spPr>
          <a:xfrm>
            <a:off x="11044158" y="2900660"/>
            <a:ext cx="3858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3</a:t>
            </a:r>
            <a:endParaRPr lang="en-US" sz="1200" dirty="0">
              <a:latin typeface="IBM Plex Sans" charset="0"/>
              <a:ea typeface="IBM Plex Sans" charset="0"/>
              <a:cs typeface="IBM Plex Sans" charset="0"/>
            </a:endParaRPr>
          </a:p>
        </p:txBody>
      </p:sp>
      <p:sp>
        <p:nvSpPr>
          <p:cNvPr id="16" name="Shape 11"/>
          <p:cNvSpPr/>
          <p:nvPr/>
        </p:nvSpPr>
        <p:spPr>
          <a:xfrm>
            <a:off x="812800" y="3213795"/>
            <a:ext cx="10566400" cy="0"/>
          </a:xfrm>
          <a:prstGeom prst="line">
            <a:avLst/>
          </a:prstGeom>
          <a:noFill/>
          <a:ln w="6350">
            <a:solidFill>
              <a:srgbClr val="DCDAD2"/>
            </a:solidFill>
            <a:prstDash val="solid"/>
          </a:ln>
        </p:spPr>
      </p:sp>
      <p:pic>
        <p:nvPicPr>
          <p:cNvPr id="17" name="Image 3" descr="Chat">    </p:cNvPr>
          <p:cNvPicPr>
            <a:picLocks noChangeAspect="1"/>
          </p:cNvPicPr>
          <p:nvPr/>
        </p:nvPicPr>
        <p:blipFill>
          <a:blip r:embed="rId4"/>
          <a:srcRect l="0" r="0" t="0" b="0"/>
          <a:stretch/>
        </p:blipFill>
        <p:spPr>
          <a:xfrm>
            <a:off x="812800" y="3317280"/>
            <a:ext cx="254000" cy="254000"/>
          </a:xfrm>
          <a:prstGeom prst="rect">
            <a:avLst/>
          </a:prstGeom>
        </p:spPr>
      </p:pic>
      <p:sp>
        <p:nvSpPr>
          <p:cNvPr id="18" name="Text 12"/>
          <p:cNvSpPr/>
          <p:nvPr/>
        </p:nvSpPr>
        <p:spPr>
          <a:xfrm>
            <a:off x="1193800" y="3324225"/>
            <a:ext cx="9841163"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Mutex ou gatekeeper: quando usar cada um?</a:t>
            </a:r>
            <a:endParaRPr lang="en-US" sz="1400" dirty="0">
              <a:latin typeface="IBM Plex Sans" charset="0"/>
              <a:ea typeface="IBM Plex Sans" charset="0"/>
              <a:cs typeface="IBM Plex Sans" charset="0"/>
            </a:endParaRPr>
          </a:p>
        </p:txBody>
      </p:sp>
      <p:sp>
        <p:nvSpPr>
          <p:cNvPr id="19" name="Text 13"/>
          <p:cNvSpPr/>
          <p:nvPr/>
        </p:nvSpPr>
        <p:spPr>
          <a:xfrm>
            <a:off x="10875328" y="3337620"/>
            <a:ext cx="5546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4, 5</a:t>
            </a:r>
            <a:endParaRPr lang="en-US" sz="1200" dirty="0">
              <a:latin typeface="IBM Plex Sans" charset="0"/>
              <a:ea typeface="IBM Plex Sans" charset="0"/>
              <a:cs typeface="IBM Plex Sans" charset="0"/>
            </a:endParaRPr>
          </a:p>
        </p:txBody>
      </p:sp>
      <p:sp>
        <p:nvSpPr>
          <p:cNvPr id="20" name="Shape 14"/>
          <p:cNvSpPr/>
          <p:nvPr/>
        </p:nvSpPr>
        <p:spPr>
          <a:xfrm>
            <a:off x="812800" y="3650655"/>
            <a:ext cx="10566400" cy="0"/>
          </a:xfrm>
          <a:prstGeom prst="line">
            <a:avLst/>
          </a:prstGeom>
          <a:noFill/>
          <a:ln w="6350">
            <a:solidFill>
              <a:srgbClr val="DCDAD2"/>
            </a:solidFill>
            <a:prstDash val="solid"/>
          </a:ln>
        </p:spPr>
      </p:sp>
      <p:pic>
        <p:nvPicPr>
          <p:cNvPr id="21" name="Image 4" descr="Chat">    </p:cNvPr>
          <p:cNvPicPr>
            <a:picLocks noChangeAspect="1"/>
          </p:cNvPicPr>
          <p:nvPr/>
        </p:nvPicPr>
        <p:blipFill>
          <a:blip r:embed="rId5"/>
          <a:srcRect l="0" r="0" t="0" b="0"/>
          <a:stretch/>
        </p:blipFill>
        <p:spPr>
          <a:xfrm>
            <a:off x="812800" y="3754140"/>
            <a:ext cx="254000" cy="254000"/>
          </a:xfrm>
          <a:prstGeom prst="rect">
            <a:avLst/>
          </a:prstGeom>
        </p:spPr>
      </p:pic>
      <p:sp>
        <p:nvSpPr>
          <p:cNvPr id="22" name="Text 15"/>
          <p:cNvSpPr/>
          <p:nvPr/>
        </p:nvSpPr>
        <p:spPr>
          <a:xfrm>
            <a:off x="1193800" y="3761085"/>
            <a:ext cx="9841163"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Em que task corre um timer callback, e o que não pode fazer?</a:t>
            </a:r>
            <a:endParaRPr lang="en-US" sz="1400" dirty="0">
              <a:latin typeface="IBM Plex Sans" charset="0"/>
              <a:ea typeface="IBM Plex Sans" charset="0"/>
              <a:cs typeface="IBM Plex Sans" charset="0"/>
            </a:endParaRPr>
          </a:p>
        </p:txBody>
      </p:sp>
      <p:sp>
        <p:nvSpPr>
          <p:cNvPr id="23" name="Text 16"/>
          <p:cNvSpPr/>
          <p:nvPr/>
        </p:nvSpPr>
        <p:spPr>
          <a:xfrm>
            <a:off x="10875328" y="3774480"/>
            <a:ext cx="5546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6, 7</a:t>
            </a:r>
            <a:endParaRPr lang="en-US" sz="1200" dirty="0">
              <a:latin typeface="IBM Plex Sans" charset="0"/>
              <a:ea typeface="IBM Plex Sans" charset="0"/>
              <a:cs typeface="IBM Plex Sans" charset="0"/>
            </a:endParaRPr>
          </a:p>
        </p:txBody>
      </p:sp>
      <p:sp>
        <p:nvSpPr>
          <p:cNvPr id="24" name="Shape 17"/>
          <p:cNvSpPr/>
          <p:nvPr/>
        </p:nvSpPr>
        <p:spPr>
          <a:xfrm>
            <a:off x="812800" y="4087515"/>
            <a:ext cx="10566400" cy="0"/>
          </a:xfrm>
          <a:prstGeom prst="line">
            <a:avLst/>
          </a:prstGeom>
          <a:noFill/>
          <a:ln w="6350">
            <a:solidFill>
              <a:srgbClr val="DCDAD2"/>
            </a:solidFill>
            <a:prstDash val="solid"/>
          </a:ln>
        </p:spPr>
      </p:sp>
      <p:pic>
        <p:nvPicPr>
          <p:cNvPr id="25" name="Image 5" descr="Chat">    </p:cNvPr>
          <p:cNvPicPr>
            <a:picLocks noChangeAspect="1"/>
          </p:cNvPicPr>
          <p:nvPr/>
        </p:nvPicPr>
        <p:blipFill>
          <a:blip r:embed="rId6"/>
          <a:srcRect l="0" r="0" t="0" b="0"/>
          <a:stretch/>
        </p:blipFill>
        <p:spPr>
          <a:xfrm>
            <a:off x="812800" y="4191000"/>
            <a:ext cx="254000" cy="254000"/>
          </a:xfrm>
          <a:prstGeom prst="rect">
            <a:avLst/>
          </a:prstGeom>
        </p:spPr>
      </p:pic>
      <p:sp>
        <p:nvSpPr>
          <p:cNvPr id="26" name="Text 18"/>
          <p:cNvSpPr/>
          <p:nvPr/>
        </p:nvSpPr>
        <p:spPr>
          <a:xfrm>
            <a:off x="1193800" y="4198045"/>
            <a:ext cx="10015059"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4222E"/>
                </a:solidFill>
                <a:latin typeface="IBM Plex Sans" pitchFamily="34" charset="0"/>
                <a:ea typeface="IBM Plex Sans" pitchFamily="34" charset="-122"/>
                <a:cs typeface="IBM Plex Sans" pitchFamily="34" charset="-120"/>
              </a:rPr>
              <a:t>Porque é que o configASSERT não pode ser o assert() num build de produção?</a:t>
            </a:r>
            <a:endParaRPr lang="en-US" sz="1400" dirty="0">
              <a:latin typeface="IBM Plex Sans" charset="0"/>
              <a:ea typeface="IBM Plex Sans" charset="0"/>
              <a:cs typeface="IBM Plex Sans" charset="0"/>
            </a:endParaRPr>
          </a:p>
        </p:txBody>
      </p:sp>
      <p:sp>
        <p:nvSpPr>
          <p:cNvPr id="27" name="Text 19"/>
          <p:cNvSpPr/>
          <p:nvPr/>
        </p:nvSpPr>
        <p:spPr>
          <a:xfrm>
            <a:off x="11044158" y="4211340"/>
            <a:ext cx="3858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Ex. 8</a:t>
            </a:r>
            <a:endParaRPr lang="en-US" sz="1200" dirty="0">
              <a:latin typeface="IBM Plex Sans" charset="0"/>
              <a:ea typeface="IBM Plex Sans" charset="0"/>
              <a:cs typeface="IBM Plex Sans" charset="0"/>
            </a:endParaRPr>
          </a:p>
        </p:txBody>
      </p:sp>
      <p:sp>
        <p:nvSpPr>
          <p:cNvPr id="28" name="Text 20"/>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153</a:t>
            </a:r>
            <a:endParaRPr lang="en-US" sz="1200" dirty="0">
              <a:latin typeface="IBM Plex Sans" charset="0"/>
              <a:ea typeface="IBM Plex Sans" charset="0"/>
              <a:cs typeface="IBM Plex Sans"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SESSÃO PRÁTICA 3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220"/>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A ISR sinaliza, uma task processa; um recurso partilhado tem um dono de cada vez; e o configASSERT diz onde está o erro.</a:t>
            </a:r>
            <a:endParaRPr lang="en-US" sz="3200" dirty="0">
              <a:latin typeface="IBM Plex Sans" charset="0"/>
              <a:ea typeface="IBM Plex Sans" charset="0"/>
              <a:cs typeface="IBM Plex Sans" charset="0"/>
            </a:endParaRPr>
          </a:p>
        </p:txBody>
      </p:sp>
      <p:sp>
        <p:nvSpPr>
          <p:cNvPr id="4" name="Text 2"/>
          <p:cNvSpPr/>
          <p:nvPr/>
        </p:nvSpPr>
        <p:spPr>
          <a:xfrm>
            <a:off x="819150" y="2942630"/>
            <a:ext cx="3067129"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FromISR + portYIELD_FROM_ISR</a:t>
            </a:r>
            <a:endParaRPr lang="en-US" sz="1400" dirty="0">
              <a:latin typeface="IBM Plex Sans" charset="0"/>
              <a:ea typeface="IBM Plex Sans" charset="0"/>
              <a:cs typeface="IBM Plex Sans" charset="0"/>
            </a:endParaRPr>
          </a:p>
        </p:txBody>
      </p:sp>
      <p:sp>
        <p:nvSpPr>
          <p:cNvPr id="5" name="Text 3"/>
          <p:cNvSpPr/>
          <p:nvPr/>
        </p:nvSpPr>
        <p:spPr>
          <a:xfrm>
            <a:off x="4000579" y="2942630"/>
            <a:ext cx="188388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Binário vs counting</a:t>
            </a:r>
            <a:endParaRPr lang="en-US" sz="1400" dirty="0">
              <a:latin typeface="IBM Plex Sans" charset="0"/>
              <a:ea typeface="IBM Plex Sans" charset="0"/>
              <a:cs typeface="IBM Plex Sans" charset="0"/>
            </a:endParaRPr>
          </a:p>
        </p:txBody>
      </p:sp>
      <p:sp>
        <p:nvSpPr>
          <p:cNvPr id="6" name="Text 4"/>
          <p:cNvSpPr/>
          <p:nvPr/>
        </p:nvSpPr>
        <p:spPr>
          <a:xfrm>
            <a:off x="5998766" y="2942630"/>
            <a:ext cx="226099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Queues a partir de ISRs</a:t>
            </a:r>
            <a:endParaRPr lang="en-US" sz="1400" dirty="0">
              <a:latin typeface="IBM Plex Sans" charset="0"/>
              <a:ea typeface="IBM Plex Sans" charset="0"/>
              <a:cs typeface="IBM Plex Sans" charset="0"/>
            </a:endParaRPr>
          </a:p>
        </p:txBody>
      </p:sp>
      <p:sp>
        <p:nvSpPr>
          <p:cNvPr id="7" name="Text 5"/>
          <p:cNvSpPr/>
          <p:nvPr/>
        </p:nvSpPr>
        <p:spPr>
          <a:xfrm>
            <a:off x="8374063" y="2942630"/>
            <a:ext cx="82137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Mutex</a:t>
            </a:r>
            <a:endParaRPr lang="en-US" sz="1400" dirty="0">
              <a:latin typeface="IBM Plex Sans" charset="0"/>
              <a:ea typeface="IBM Plex Sans" charset="0"/>
              <a:cs typeface="IBM Plex Sans" charset="0"/>
            </a:endParaRPr>
          </a:p>
        </p:txBody>
      </p:sp>
      <p:sp>
        <p:nvSpPr>
          <p:cNvPr id="8" name="Text 6"/>
          <p:cNvSpPr/>
          <p:nvPr/>
        </p:nvSpPr>
        <p:spPr>
          <a:xfrm>
            <a:off x="9309735" y="2942630"/>
            <a:ext cx="127254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Gatekeeper</a:t>
            </a:r>
            <a:endParaRPr lang="en-US" sz="1400" dirty="0">
              <a:latin typeface="IBM Plex Sans" charset="0"/>
              <a:ea typeface="IBM Plex Sans" charset="0"/>
              <a:cs typeface="IBM Plex Sans" charset="0"/>
            </a:endParaRPr>
          </a:p>
        </p:txBody>
      </p:sp>
      <p:sp>
        <p:nvSpPr>
          <p:cNvPr id="9" name="Text 7"/>
          <p:cNvSpPr/>
          <p:nvPr/>
        </p:nvSpPr>
        <p:spPr>
          <a:xfrm>
            <a:off x="819150" y="3440410"/>
            <a:ext cx="1392555"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Daemon task</a:t>
            </a:r>
            <a:endParaRPr lang="en-US" sz="1400" dirty="0">
              <a:latin typeface="IBM Plex Sans" charset="0"/>
              <a:ea typeface="IBM Plex Sans" charset="0"/>
              <a:cs typeface="IBM Plex Sans" charset="0"/>
            </a:endParaRPr>
          </a:p>
        </p:txBody>
      </p:sp>
      <p:sp>
        <p:nvSpPr>
          <p:cNvPr id="10" name="Text 8"/>
          <p:cNvSpPr/>
          <p:nvPr/>
        </p:nvSpPr>
        <p:spPr>
          <a:xfrm>
            <a:off x="2326005" y="3440410"/>
            <a:ext cx="1350169"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xTimerReset</a:t>
            </a:r>
            <a:endParaRPr lang="en-US" sz="1400" dirty="0">
              <a:latin typeface="IBM Plex Sans" charset="0"/>
              <a:ea typeface="IBM Plex Sans" charset="0"/>
              <a:cs typeface="IBM Plex Sans" charset="0"/>
            </a:endParaRPr>
          </a:p>
        </p:txBody>
      </p:sp>
      <p:sp>
        <p:nvSpPr>
          <p:cNvPr id="11" name="Text 9"/>
          <p:cNvSpPr/>
          <p:nvPr/>
        </p:nvSpPr>
        <p:spPr>
          <a:xfrm>
            <a:off x="3790474" y="3440410"/>
            <a:ext cx="147701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configASSERT</a:t>
            </a:r>
            <a:endParaRPr lang="en-US" sz="1400" dirty="0">
              <a:latin typeface="IBM Plex Sans" charset="0"/>
              <a:ea typeface="IBM Plex Sans" charset="0"/>
              <a:cs typeface="IBM Plex Sans" charset="0"/>
            </a:endParaRPr>
          </a:p>
        </p:txBody>
      </p:sp>
      <p:sp>
        <p:nvSpPr>
          <p:cNvPr id="12" name="Text 10"/>
          <p:cNvSpPr/>
          <p:nvPr/>
        </p:nvSpPr>
        <p:spPr>
          <a:xfrm>
            <a:off x="5381784" y="3440410"/>
            <a:ext cx="203104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Interrupção de GPIO</a:t>
            </a:r>
            <a:endParaRPr lang="en-US" sz="1400" dirty="0">
              <a:latin typeface="IBM Plex Sans" charset="0"/>
              <a:ea typeface="IBM Plex Sans" charset="0"/>
              <a:cs typeface="IBM Plex Sans" charset="0"/>
            </a:endParaRPr>
          </a:p>
        </p:txBody>
      </p:sp>
      <p:sp>
        <p:nvSpPr>
          <p:cNvPr id="13" name="Text 11"/>
          <p:cNvSpPr/>
          <p:nvPr/>
        </p:nvSpPr>
        <p:spPr>
          <a:xfrm>
            <a:off x="7527131" y="3440410"/>
            <a:ext cx="1678543"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High water mark</a:t>
            </a:r>
            <a:endParaRPr lang="en-US" sz="1400" dirty="0">
              <a:latin typeface="IBM Plex Sans" charset="0"/>
              <a:ea typeface="IBM Plex Sans" charset="0"/>
              <a:cs typeface="IBM Plex Sans" charset="0"/>
            </a:endParaRPr>
          </a:p>
        </p:txBody>
      </p:sp>
      <p:sp>
        <p:nvSpPr>
          <p:cNvPr id="14" name="Text 12"/>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Extra: a sessão 4 aprofunda cada um destes temas.</a:t>
            </a:r>
            <a:endParaRPr lang="en-US" sz="1600" dirty="0">
              <a:latin typeface="IBM Plex Sans" charset="0"/>
              <a:ea typeface="IBM Plex Sans" charset="0"/>
              <a:cs typeface="IBM Plex Sans"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3528775"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5CC8B5"/>
                </a:solidFill>
                <a:latin typeface="IBM Plex Sans" pitchFamily="34" charset="0"/>
                <a:ea typeface="IBM Plex Sans" pitchFamily="34" charset="-122"/>
                <a:cs typeface="IBM Plex Sans" pitchFamily="34" charset="-120"/>
              </a:rPr>
              <a:t>FORMAÇÃO · SESSÃO PRÁTICA 4</a:t>
            </a:r>
            <a:endParaRPr lang="en-US" sz="1400" dirty="0">
              <a:latin typeface="IBM Plex Sans" charset="0"/>
              <a:ea typeface="IBM Plex Sans" charset="0"/>
              <a:cs typeface="IBM Plex Sans" charset="0"/>
            </a:endParaRPr>
          </a:p>
        </p:txBody>
      </p:sp>
      <p:sp>
        <p:nvSpPr>
          <p:cNvPr id="3" name="Text 1"/>
          <p:cNvSpPr/>
          <p:nvPr/>
        </p:nvSpPr>
        <p:spPr>
          <a:xfrm>
            <a:off x="4341575" y="835720"/>
            <a:ext cx="625237" cy="203200"/>
          </a:xfrm>
          <a:prstGeom prst="roundRect">
            <a:avLst>
              <a:gd name="adj" fmla="val 18750"/>
            </a:avLst>
          </a:prstGeom>
          <a:solidFill>
            <a:srgbClr val="D0612A"/>
          </a:solidFill>
          <a:ln/>
        </p:spPr>
        <p:txBody>
          <a:bodyPr wrap="none" lIns="0" tIns="0" rIns="0" bIns="0" rtlCol="0" anchor="ctr">
            <a:normAutofit/>
          </a:bodyPr>
          <a:lstStyle/>
          <a:p>
            <a:pPr algn="ctr" indent="0" marL="0">
              <a:lnSpc>
                <a:spcPts val="1400"/>
              </a:lnSpc>
              <a:buNone/>
            </a:pPr>
            <a:r>
              <a:rPr lang="en-US" sz="1000" b="1" spc="100" kern="0" dirty="0">
                <a:solidFill>
                  <a:srgbClr val="F5F4EF"/>
                </a:solidFill>
                <a:latin typeface="IBM Plex Sans" pitchFamily="34" charset="0"/>
                <a:ea typeface="IBM Plex Sans" pitchFamily="34" charset="-122"/>
                <a:cs typeface="IBM Plex Sans" pitchFamily="34" charset="-120"/>
              </a:rPr>
              <a:t>EXTRA</a:t>
            </a:r>
            <a:endParaRPr lang="en-US" sz="1000" dirty="0">
              <a:latin typeface="IBM Plex Sans" charset="0"/>
              <a:ea typeface="IBM Plex Sans" charset="0"/>
              <a:cs typeface="IBM Plex Sans" charset="0"/>
            </a:endParaRPr>
          </a:p>
        </p:txBody>
      </p:sp>
      <p:sp>
        <p:nvSpPr>
          <p:cNvPr id="4" name="Text 2"/>
          <p:cNvSpPr/>
          <p:nvPr>
            <p:ph type="title"/>
          </p:nvPr>
        </p:nvSpPr>
        <p:spPr>
          <a:xfrm>
            <a:off x="812800" y="1214140"/>
            <a:ext cx="10883392" cy="1549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2F1EC"/>
                </a:solidFill>
                <a:latin typeface="IBM Plex Sans" pitchFamily="34" charset="0"/>
                <a:ea typeface="IBM Plex Sans" pitchFamily="34" charset="-122"/>
                <a:cs typeface="IBM Plex Sans" pitchFamily="34" charset="-120"/>
              </a:rPr>
              <a:t>Aprofundar: ISRs, recursos, timers e debug</a:t>
            </a:r>
            <a:endParaRPr lang="en-US" sz="6000" dirty="0">
              <a:latin typeface="IBM Plex Sans" charset="0"/>
              <a:ea typeface="IBM Plex Sans" charset="0"/>
              <a:cs typeface="IBM Plex Sans" charset="0"/>
            </a:endParaRPr>
          </a:p>
        </p:txBody>
      </p:sp>
      <p:sp>
        <p:nvSpPr>
          <p:cNvPr id="5" name="Text 3"/>
          <p:cNvSpPr/>
          <p:nvPr/>
        </p:nvSpPr>
        <p:spPr>
          <a:xfrm>
            <a:off x="812800" y="289054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8"/>
                </a:solidFill>
                <a:latin typeface="IBM Plex Sans" pitchFamily="34" charset="0"/>
                <a:ea typeface="IBM Plex Sans" pitchFamily="34" charset="-122"/>
                <a:cs typeface="IBM Plex Sans" pitchFamily="34" charset="-120"/>
              </a:rPr>
              <a:t>Exercícios mais longos, com exemplos do livro e ideias das demos oficiais</a:t>
            </a:r>
            <a:endParaRPr lang="en-US" sz="2000" dirty="0">
              <a:latin typeface="IBM Plex Sans" charset="0"/>
              <a:ea typeface="IBM Plex Sans" charset="0"/>
              <a:cs typeface="IBM Plex Sans" charset="0"/>
            </a:endParaRPr>
          </a:p>
        </p:txBody>
      </p:sp>
      <p:sp>
        <p:nvSpPr>
          <p:cNvPr id="6" name="Shape 4"/>
          <p:cNvSpPr/>
          <p:nvPr/>
        </p:nvSpPr>
        <p:spPr>
          <a:xfrm>
            <a:off x="812800" y="4730750"/>
            <a:ext cx="3386614" cy="0"/>
          </a:xfrm>
          <a:prstGeom prst="line">
            <a:avLst/>
          </a:prstGeom>
          <a:noFill/>
          <a:ln w="12700">
            <a:solidFill>
              <a:srgbClr val="3C5566"/>
            </a:solidFill>
            <a:prstDash val="solid"/>
          </a:ln>
        </p:spPr>
      </p:sp>
      <p:sp>
        <p:nvSpPr>
          <p:cNvPr id="7" name="Text 5"/>
          <p:cNvSpPr/>
          <p:nvPr/>
        </p:nvSpPr>
        <p:spPr>
          <a:xfrm>
            <a:off x="812800" y="488702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INTERRUPÇÕES A SÉRIO</a:t>
            </a:r>
            <a:endParaRPr lang="en-US" sz="1200" dirty="0">
              <a:latin typeface="IBM Plex Sans" charset="0"/>
              <a:ea typeface="IBM Plex Sans" charset="0"/>
              <a:cs typeface="IBM Plex Sans" charset="0"/>
            </a:endParaRPr>
          </a:p>
        </p:txBody>
      </p:sp>
      <p:sp>
        <p:nvSpPr>
          <p:cNvPr id="8" name="Text 6"/>
          <p:cNvSpPr/>
          <p:nvPr/>
        </p:nvSpPr>
        <p:spPr>
          <a:xfrm>
            <a:off x="812800" y="515114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Daemon task, o botão com ressaltos e a handler task robusta</a:t>
            </a:r>
            <a:endParaRPr lang="en-US" sz="1200" dirty="0">
              <a:latin typeface="IBM Plex Sans" charset="0"/>
              <a:ea typeface="IBM Plex Sans" charset="0"/>
              <a:cs typeface="IBM Plex Sans" charset="0"/>
            </a:endParaRPr>
          </a:p>
        </p:txBody>
      </p:sp>
      <p:sp>
        <p:nvSpPr>
          <p:cNvPr id="9" name="Shape 7"/>
          <p:cNvSpPr/>
          <p:nvPr/>
        </p:nvSpPr>
        <p:spPr>
          <a:xfrm>
            <a:off x="4402614" y="4730750"/>
            <a:ext cx="3386693" cy="0"/>
          </a:xfrm>
          <a:prstGeom prst="line">
            <a:avLst/>
          </a:prstGeom>
          <a:noFill/>
          <a:ln w="12700">
            <a:solidFill>
              <a:srgbClr val="3C5566"/>
            </a:solidFill>
            <a:prstDash val="solid"/>
          </a:ln>
        </p:spPr>
      </p:sp>
      <p:sp>
        <p:nvSpPr>
          <p:cNvPr id="10" name="Text 8"/>
          <p:cNvSpPr/>
          <p:nvPr/>
        </p:nvSpPr>
        <p:spPr>
          <a:xfrm>
            <a:off x="4402614" y="488702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MEDIR E TESTAR</a:t>
            </a:r>
            <a:endParaRPr lang="en-US" sz="1200" dirty="0">
              <a:latin typeface="IBM Plex Sans" charset="0"/>
              <a:ea typeface="IBM Plex Sans" charset="0"/>
              <a:cs typeface="IBM Plex Sans" charset="0"/>
            </a:endParaRPr>
          </a:p>
        </p:txBody>
      </p:sp>
      <p:sp>
        <p:nvSpPr>
          <p:cNvPr id="11" name="Text 9"/>
          <p:cNvSpPr/>
          <p:nvPr/>
        </p:nvSpPr>
        <p:spPr>
          <a:xfrm>
            <a:off x="4402614" y="515114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Run-time stats e um teste automático com check timer</a:t>
            </a:r>
            <a:endParaRPr lang="en-US" sz="1200" dirty="0">
              <a:latin typeface="IBM Plex Sans" charset="0"/>
              <a:ea typeface="IBM Plex Sans" charset="0"/>
              <a:cs typeface="IBM Plex Sans" charset="0"/>
            </a:endParaRPr>
          </a:p>
        </p:txBody>
      </p:sp>
      <p:sp>
        <p:nvSpPr>
          <p:cNvPr id="12" name="Shape 10"/>
          <p:cNvSpPr/>
          <p:nvPr/>
        </p:nvSpPr>
        <p:spPr>
          <a:xfrm>
            <a:off x="7992507" y="4730750"/>
            <a:ext cx="3386693" cy="0"/>
          </a:xfrm>
          <a:prstGeom prst="line">
            <a:avLst/>
          </a:prstGeom>
          <a:noFill/>
          <a:ln w="12700">
            <a:solidFill>
              <a:srgbClr val="3C5566"/>
            </a:solidFill>
            <a:prstDash val="solid"/>
          </a:ln>
        </p:spPr>
      </p:sp>
      <p:sp>
        <p:nvSpPr>
          <p:cNvPr id="13" name="Text 11"/>
          <p:cNvSpPr/>
          <p:nvPr/>
        </p:nvSpPr>
        <p:spPr>
          <a:xfrm>
            <a:off x="7992507" y="488702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CC8B5"/>
                </a:solidFill>
                <a:latin typeface="IBM Plex Sans" pitchFamily="34" charset="0"/>
                <a:ea typeface="IBM Plex Sans" pitchFamily="34" charset="-122"/>
                <a:cs typeface="IBM Plex Sans" pitchFamily="34" charset="-120"/>
              </a:rPr>
              <a:t>QUANDO CORRE MAL</a:t>
            </a:r>
            <a:endParaRPr lang="en-US" sz="1200" dirty="0">
              <a:latin typeface="IBM Plex Sans" charset="0"/>
              <a:ea typeface="IBM Plex Sans" charset="0"/>
              <a:cs typeface="IBM Plex Sans" charset="0"/>
            </a:endParaRPr>
          </a:p>
        </p:txBody>
      </p:sp>
      <p:sp>
        <p:nvSpPr>
          <p:cNvPr id="14" name="Text 12"/>
          <p:cNvSpPr/>
          <p:nvPr/>
        </p:nvSpPr>
        <p:spPr>
          <a:xfrm>
            <a:off x="7992507" y="5151140"/>
            <a:ext cx="348829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Priority inversion e deadlock</a:t>
            </a:r>
            <a:endParaRPr lang="en-US" sz="1200" dirty="0">
              <a:latin typeface="IBM Plex Sans" charset="0"/>
              <a:ea typeface="IBM Plex Sans" charset="0"/>
              <a:cs typeface="IBM Plex Sans" charset="0"/>
            </a:endParaRPr>
          </a:p>
        </p:txBody>
      </p:sp>
      <p:sp>
        <p:nvSpPr>
          <p:cNvPr id="15" name="Text 13"/>
          <p:cNvSpPr/>
          <p:nvPr/>
        </p:nvSpPr>
        <p:spPr>
          <a:xfrm>
            <a:off x="812800" y="58318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B8"/>
                </a:solidFill>
                <a:latin typeface="IBM Plex Sans" pitchFamily="34" charset="0"/>
                <a:ea typeface="IBM Plex Sans" pitchFamily="34" charset="-122"/>
                <a:cs typeface="IBM Plex Sans" pitchFamily="34" charset="-120"/>
              </a:rPr>
              <a:t>Rúben Marques · Fonte: Mastering the FreeRTOS Real Time Kernel (V1.1.0), caps. 6, 7, 8 e 12</a:t>
            </a:r>
            <a:endParaRPr lang="en-US" sz="1200" dirty="0">
              <a:latin typeface="IBM Plex Sans" charset="0"/>
              <a:ea typeface="IBM Plex Sans" charset="0"/>
              <a:cs typeface="IBM Plex Sans"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SESSÃO PRÁTICA 4 · EXTRA</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Os exemplos oficiais que vamos usar</a:t>
            </a:r>
            <a:endParaRPr lang="en-US" sz="3200" dirty="0">
              <a:latin typeface="IBM Plex Sans" charset="0"/>
              <a:ea typeface="IBM Plex Sans" charset="0"/>
              <a:cs typeface="IBM Plex Sans" charset="0"/>
            </a:endParaRPr>
          </a:p>
        </p:txBody>
      </p:sp>
      <p:sp>
        <p:nvSpPr>
          <p:cNvPr id="4" name="Text 2"/>
          <p:cNvSpPr/>
          <p:nvPr/>
        </p:nvSpPr>
        <p:spPr>
          <a:xfrm>
            <a:off x="812800" y="16967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Livro: </a:t>
            </a:r>
            <a:r>
              <a:rPr lang="en-US" sz="1200" i="1" dirty="0">
                <a:solidFill>
                  <a:srgbClr val="44505C"/>
                </a:solidFill>
                <a:latin typeface="IBM Plex Sans" pitchFamily="34" charset="0"/>
                <a:ea typeface="IBM Plex Sans" pitchFamily="34" charset="-122"/>
                <a:cs typeface="IBM Plex Sans" pitchFamily="34" charset="-120"/>
              </a:rPr>
              <a:t>Mastering the FreeRTOS Real Time Kernel</a:t>
            </a:r>
            <a:r>
              <a:rPr lang="en-US" sz="1200" dirty="0">
                <a:solidFill>
                  <a:srgbClr val="44505C"/>
                </a:solidFill>
                <a:latin typeface="IBM Plex Sans" pitchFamily="34" charset="0"/>
                <a:ea typeface="IBM Plex Sans" pitchFamily="34" charset="-122"/>
                <a:cs typeface="IBM Plex Sans" pitchFamily="34" charset="-120"/>
              </a:rPr>
              <a:t> (V1.1.0) · </a:t>
            </a:r>
            <a:r>
              <a:rPr lang="en-US" sz="1200" u="sng" dirty="0">
                <a:solidFill>
                  <a:srgbClr val="17766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github.com/FreeRTOS/FreeRTOS-Kernel-Book</a:t>
            </a:r>
            <a:endParaRPr lang="en-US" sz="1200" dirty="0">
              <a:latin typeface="IBM Plex Sans" charset="0"/>
              <a:ea typeface="IBM Plex Sans" charset="0"/>
              <a:cs typeface="IBM Plex Sans" charset="0"/>
            </a:endParaRPr>
          </a:p>
        </p:txBody>
      </p:sp>
      <p:sp>
        <p:nvSpPr>
          <p:cNvPr id="5" name="Shape 3"/>
          <p:cNvSpPr/>
          <p:nvPr/>
        </p:nvSpPr>
        <p:spPr>
          <a:xfrm>
            <a:off x="812800" y="2219940"/>
            <a:ext cx="6350000" cy="0"/>
          </a:xfrm>
          <a:prstGeom prst="line">
            <a:avLst/>
          </a:prstGeom>
          <a:noFill/>
          <a:ln w="10160">
            <a:solidFill>
              <a:srgbClr val="141413">
                <a:alpha val="22000"/>
              </a:srgbClr>
            </a:solidFill>
            <a:prstDash val="solid"/>
          </a:ln>
        </p:spPr>
      </p:sp>
      <p:sp>
        <p:nvSpPr>
          <p:cNvPr id="6" name="Shape 4"/>
          <p:cNvSpPr/>
          <p:nvPr/>
        </p:nvSpPr>
        <p:spPr>
          <a:xfrm>
            <a:off x="817880" y="2214860"/>
            <a:ext cx="0" cy="3627120"/>
          </a:xfrm>
          <a:prstGeom prst="line">
            <a:avLst/>
          </a:prstGeom>
          <a:noFill/>
          <a:ln w="10160">
            <a:solidFill>
              <a:srgbClr val="141413">
                <a:alpha val="22000"/>
              </a:srgbClr>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24560" y="2288520"/>
          <a:ext cx="6136640" cy="3489960"/>
        </p:xfrm>
        <a:graphic>
          <a:graphicData uri="http://schemas.openxmlformats.org/drawingml/2006/table">
            <a:tbl>
              <a:tblPr/>
              <a:tblGrid>
                <a:gridCol w="1043229"/>
                <a:gridCol w="2209190"/>
                <a:gridCol w="1902358"/>
                <a:gridCol w="981862"/>
              </a:tblGrid>
              <a:tr h="526812">
                <a:tc>
                  <a:txBody>
                    <a:bodyPr/>
                    <a:lstStyle/>
                    <a:p>
                      <a:pPr indent="0" marL="0">
                        <a:lnSpc>
                          <a:spcPts val="1559"/>
                        </a:lnSpc>
                        <a:buNone/>
                      </a:pPr>
                      <a:r>
                        <a:rPr lang="en-US" sz="1114" b="1" dirty="0">
                          <a:solidFill>
                            <a:srgbClr val="44505C"/>
                          </a:solidFill>
                          <a:latin typeface="IBM Plex Sans" pitchFamily="34" charset="0"/>
                          <a:ea typeface="IBM Plex Sans" pitchFamily="34" charset="-122"/>
                          <a:cs typeface="IBM Plex Sans" pitchFamily="34" charset="-120"/>
                        </a:rPr>
                        <a:t>Exemplo do livro</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559"/>
                        </a:lnSpc>
                        <a:buNone/>
                      </a:pPr>
                      <a:r>
                        <a:rPr lang="en-US" sz="1114" b="1" dirty="0">
                          <a:solidFill>
                            <a:srgbClr val="44505C"/>
                          </a:solidFill>
                          <a:latin typeface="IBM Plex Sans" pitchFamily="34" charset="0"/>
                          <a:ea typeface="IBM Plex Sans" pitchFamily="34" charset="-122"/>
                          <a:cs typeface="IBM Plex Sans" pitchFamily="34" charset="-120"/>
                        </a:rPr>
                        <a:t>O que faz</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559"/>
                        </a:lnSpc>
                        <a:buNone/>
                      </a:pPr>
                      <a:r>
                        <a:rPr lang="en-US" sz="1114" b="1" dirty="0">
                          <a:solidFill>
                            <a:srgbClr val="44505C"/>
                          </a:solidFill>
                          <a:latin typeface="IBM Plex Sans" pitchFamily="34" charset="0"/>
                          <a:ea typeface="IBM Plex Sans" pitchFamily="34" charset="-122"/>
                          <a:cs typeface="IBM Plex Sans" pitchFamily="34" charset="-120"/>
                        </a:rPr>
                        <a:t>O que mostra</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c>
                  <a:txBody>
                    <a:bodyPr/>
                    <a:lstStyle/>
                    <a:p>
                      <a:pPr indent="0" marL="0">
                        <a:lnSpc>
                          <a:spcPts val="1559"/>
                        </a:lnSpc>
                        <a:buNone/>
                      </a:pPr>
                      <a:r>
                        <a:rPr lang="en-US" sz="1114" b="1" dirty="0">
                          <a:solidFill>
                            <a:srgbClr val="44505C"/>
                          </a:solidFill>
                          <a:latin typeface="IBM Plex Sans" pitchFamily="34" charset="0"/>
                          <a:ea typeface="IBM Plex Sans" pitchFamily="34" charset="-122"/>
                          <a:cs typeface="IBM Plex Sans" pitchFamily="34" charset="-120"/>
                        </a:rPr>
                        <a:t>Exercício</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B5B5B1"/>
                      </a:solidFill>
                      <a:prstDash val="solid"/>
                      <a:round/>
                      <a:headEnd type="none" w="med" len="med"/>
                      <a:tailEnd type="none" w="med" len="med"/>
                    </a:lnL>
                    <a:lnR w="12700" cap="flat" cmpd="sng" algn="ctr">
                      <a:solidFill>
                        <a:srgbClr val="B5B5B1"/>
                      </a:solidFill>
                      <a:prstDash val="solid"/>
                      <a:round/>
                      <a:headEnd type="none" w="med" len="med"/>
                      <a:tailEnd type="none" w="med" len="med"/>
                    </a:lnR>
                    <a:lnT w="0" cap="flat" cmpd="sng" algn="ctr">
                      <a:noFill/>
                    </a:lnT>
                    <a:lnB w="12700" cap="flat" cmpd="sng" algn="ctr">
                      <a:solidFill>
                        <a:srgbClr val="B5B5B1"/>
                      </a:solidFill>
                      <a:prstDash val="solid"/>
                      <a:round/>
                      <a:headEnd type="none" w="med" len="med"/>
                      <a:tailEnd type="none" w="med" len="med"/>
                    </a:lnB>
                    <a:solidFill>
                      <a:srgbClr val="E3E2DD"/>
                    </a:solidFill>
                  </a:tcPr>
                </a:tc>
              </a:tr>
              <a:tr h="328851">
                <a:tc>
                  <a:txBody>
                    <a:bodyPr/>
                    <a:lstStyle/>
                    <a:p>
                      <a:pPr indent="0" marL="0">
                        <a:lnSpc>
                          <a:spcPts val="1559"/>
                        </a:lnSpc>
                        <a:buNone/>
                      </a:pPr>
                      <a:r>
                        <a:rPr lang="en-US" sz="1114" dirty="0">
                          <a:solidFill>
                            <a:srgbClr val="17766A"/>
                          </a:solidFill>
                          <a:latin typeface="IBM Plex Sans" pitchFamily="34" charset="0"/>
                          <a:ea typeface="IBM Plex Sans" pitchFamily="34" charset="-122"/>
                          <a:cs typeface="IBM Plex Sans" pitchFamily="34" charset="-120"/>
                        </a:rPr>
                        <a:t>7.3</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Função diferida na daemon task</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A prioridade da daemon</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1</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5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328851">
                <a:tc>
                  <a:txBody>
                    <a:bodyPr/>
                    <a:lstStyle/>
                    <a:p>
                      <a:pPr indent="0" marL="0">
                        <a:lnSpc>
                          <a:spcPts val="1559"/>
                        </a:lnSpc>
                        <a:buNone/>
                      </a:pPr>
                      <a:r>
                        <a:rPr lang="en-US" sz="1114" dirty="0">
                          <a:solidFill>
                            <a:srgbClr val="17766A"/>
                          </a:solidFill>
                          <a:latin typeface="IBM Plex Sans" pitchFamily="34" charset="0"/>
                          <a:ea typeface="IBM Plex Sans" pitchFamily="34" charset="-122"/>
                          <a:cs typeface="IBM Plex Sans" pitchFamily="34" charset="-120"/>
                        </a:rPr>
                        <a:t>Listing 7.10</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Botão real com handler task</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Ressaltos e debounce</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2</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724773">
                <a:tc>
                  <a:txBody>
                    <a:bodyPr/>
                    <a:lstStyle/>
                    <a:p>
                      <a:pPr indent="0" marL="0">
                        <a:lnSpc>
                          <a:spcPts val="1559"/>
                        </a:lnSpc>
                        <a:buNone/>
                      </a:pPr>
                      <a:r>
                        <a:rPr lang="en-US" sz="1114" dirty="0">
                          <a:solidFill>
                            <a:srgbClr val="17766A"/>
                          </a:solidFill>
                          <a:latin typeface="IBM Plex Sans" pitchFamily="34" charset="0"/>
                          <a:ea typeface="IBM Plex Sans" pitchFamily="34" charset="-122"/>
                          <a:cs typeface="IBM Plex Sans" pitchFamily="34" charset="-120"/>
                        </a:rPr>
                        <a:t>Listings 12.10 a 12.12</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Run-time stats</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Quem gasta o CPU</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3</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26891">
                <a:tc>
                  <a:txBody>
                    <a:bodyPr/>
                    <a:lstStyle/>
                    <a:p>
                      <a:pPr indent="0" marL="0">
                        <a:lnSpc>
                          <a:spcPts val="1559"/>
                        </a:lnSpc>
                        <a:buNone/>
                      </a:pPr>
                      <a:r>
                        <a:rPr lang="en-US" sz="1114" dirty="0">
                          <a:solidFill>
                            <a:srgbClr val="17766A"/>
                          </a:solidFill>
                          <a:latin typeface="IBM Plex Sans" pitchFamily="34" charset="0"/>
                          <a:ea typeface="IBM Plex Sans" pitchFamily="34" charset="-122"/>
                          <a:cs typeface="IBM Plex Sans" pitchFamily="34" charset="-120"/>
                        </a:rPr>
                        <a:t>—</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Check timer e tasks que se testam</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Teste automático com um LED</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4</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26891">
                <a:tc>
                  <a:txBody>
                    <a:bodyPr/>
                    <a:lstStyle/>
                    <a:p>
                      <a:pPr indent="0" marL="0">
                        <a:lnSpc>
                          <a:spcPts val="1559"/>
                        </a:lnSpc>
                        <a:buNone/>
                      </a:pPr>
                      <a:r>
                        <a:rPr lang="en-US" sz="1114" dirty="0">
                          <a:solidFill>
                            <a:srgbClr val="17766A"/>
                          </a:solidFill>
                          <a:latin typeface="IBM Plex Sans" pitchFamily="34" charset="0"/>
                          <a:ea typeface="IBM Plex Sans" pitchFamily="34" charset="-122"/>
                          <a:cs typeface="IBM Plex Sans" pitchFamily="34" charset="-120"/>
                        </a:rPr>
                        <a:t>Figuras 8.4 e 8.5</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Semáforo binário vs. mutex</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Priority inversion</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5</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r h="526891">
                <a:tc>
                  <a:txBody>
                    <a:bodyPr/>
                    <a:lstStyle/>
                    <a:p>
                      <a:pPr indent="0" marL="0">
                        <a:lnSpc>
                          <a:spcPts val="1559"/>
                        </a:lnSpc>
                        <a:buNone/>
                      </a:pPr>
                      <a:r>
                        <a:rPr lang="en-US" sz="1114" dirty="0">
                          <a:solidFill>
                            <a:srgbClr val="17766A"/>
                          </a:solidFill>
                          <a:latin typeface="IBM Plex Sans" pitchFamily="34" charset="0"/>
                          <a:ea typeface="IBM Plex Sans" pitchFamily="34" charset="-122"/>
                          <a:cs typeface="IBM Plex Sans" pitchFamily="34" charset="-120"/>
                        </a:rPr>
                        <a:t>Secção 8.3.4</a:t>
                      </a:r>
                      <a:endParaRPr lang="en-US" sz="1114" dirty="0">
                        <a:latin typeface="IBM Plex Sans" charset="0"/>
                        <a:ea typeface="IBM Plex Sans" charset="0"/>
                        <a:cs typeface="IBM Plex Sans" charset="0"/>
                      </a:endParaRPr>
                    </a:p>
                  </a:txBody>
                  <a:tcPr marL="49506" marR="49506" marT="49506" marB="49506" anchor="t">
                    <a:lnL w="0" cap="flat" cmpd="sng" algn="ctr">
                      <a:noFill/>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Dois mutexes por ordem inversa</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Deadlock</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indent="0" marL="0">
                        <a:lnSpc>
                          <a:spcPts val="1559"/>
                        </a:lnSpc>
                        <a:buNone/>
                      </a:pPr>
                      <a:r>
                        <a:rPr lang="en-US" sz="1114" dirty="0">
                          <a:solidFill>
                            <a:srgbClr val="44505C"/>
                          </a:solidFill>
                          <a:latin typeface="IBM Plex Sans" pitchFamily="34" charset="0"/>
                          <a:ea typeface="IBM Plex Sans" pitchFamily="34" charset="-122"/>
                          <a:cs typeface="IBM Plex Sans" pitchFamily="34" charset="-120"/>
                        </a:rPr>
                        <a:t>6</a:t>
                      </a:r>
                      <a:endParaRPr lang="en-US" sz="1114" dirty="0">
                        <a:latin typeface="IBM Plex Sans" charset="0"/>
                        <a:ea typeface="IBM Plex Sans" charset="0"/>
                        <a:cs typeface="IBM Plex Sans" charset="0"/>
                      </a:endParaRPr>
                    </a:p>
                  </a:txBody>
                  <a:tcPr marL="49506" marR="49506" marT="49506" marB="49506" anchor="t">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r>
            </a:tbl>
          </a:graphicData>
        </a:graphic>
      </p:graphicFrame>
      <p:sp>
        <p:nvSpPr>
          <p:cNvPr id="8" name="Shape 5"/>
          <p:cNvSpPr/>
          <p:nvPr/>
        </p:nvSpPr>
        <p:spPr>
          <a:xfrm>
            <a:off x="7419975" y="2218035"/>
            <a:ext cx="3956050" cy="1427480"/>
          </a:xfrm>
          <a:prstGeom prst="roundRect">
            <a:avLst>
              <a:gd name="adj" fmla="val 6895"/>
            </a:avLst>
          </a:prstGeom>
          <a:solidFill>
            <a:srgbClr val="FCFBF8"/>
          </a:solidFill>
          <a:ln w="6350">
            <a:solidFill>
              <a:srgbClr val="DCDAD2"/>
            </a:solidFill>
            <a:prstDash val="solid"/>
          </a:ln>
        </p:spPr>
      </p:sp>
      <p:sp>
        <p:nvSpPr>
          <p:cNvPr id="9" name="Text 6"/>
          <p:cNvSpPr/>
          <p:nvPr/>
        </p:nvSpPr>
        <p:spPr>
          <a:xfrm>
            <a:off x="7574280" y="2372420"/>
            <a:ext cx="37568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 mesmo repositório</a:t>
            </a:r>
            <a:endParaRPr lang="en-US" sz="1400" dirty="0">
              <a:latin typeface="IBM Plex Sans" charset="0"/>
              <a:ea typeface="IBM Plex Sans" charset="0"/>
              <a:cs typeface="IBM Plex Sans" charset="0"/>
            </a:endParaRPr>
          </a:p>
        </p:txBody>
      </p:sp>
      <p:sp>
        <p:nvSpPr>
          <p:cNvPr id="10" name="Text 7"/>
          <p:cNvSpPr/>
          <p:nvPr/>
        </p:nvSpPr>
        <p:spPr>
          <a:xfrm>
            <a:off x="7574280" y="2636540"/>
            <a:ext cx="37568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Como nas sessões 2 e 3. Só o exemplo 7.3 é novo; o resto do código está nos slides.</a:t>
            </a:r>
            <a:endParaRPr lang="en-US" sz="1200" dirty="0">
              <a:latin typeface="IBM Plex Sans" charset="0"/>
              <a:ea typeface="IBM Plex Sans" charset="0"/>
              <a:cs typeface="IBM Plex Sans" charset="0"/>
            </a:endParaRPr>
          </a:p>
        </p:txBody>
      </p:sp>
      <p:sp>
        <p:nvSpPr>
          <p:cNvPr id="11" name="Text 8"/>
          <p:cNvSpPr/>
          <p:nvPr/>
        </p:nvSpPr>
        <p:spPr>
          <a:xfrm>
            <a:off x="7574280" y="3114080"/>
            <a:ext cx="3756863" cy="402590"/>
          </a:xfrm>
          <a:prstGeom prst="rect">
            <a:avLst/>
          </a:prstGeom>
          <a:noFill/>
          <a:ln/>
        </p:spPr>
        <p:txBody>
          <a:bodyPr wrap="square" lIns="0" tIns="0" rIns="0" bIns="0" rtlCol="0" anchor="t">
            <a:normAutofit/>
          </a:bodyPr>
          <a:lstStyle/>
          <a:p>
            <a:pPr algn="l" indent="0" marL="0">
              <a:lnSpc>
                <a:spcPts val="1485"/>
              </a:lnSpc>
              <a:buNone/>
            </a:pPr>
            <a:r>
              <a:rPr lang="en-US" sz="1100" u="sng" dirty="0">
                <a:solidFill>
                  <a:srgbClr val="17766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github.com/FreeRTOS/FreeRTOS-Kernel-Book/</a:t>
            </a:r>
            <a:endParaRPr lang="en-US" sz="1100" dirty="0">
              <a:latin typeface="IBM Plex Sans" charset="0"/>
              <a:ea typeface="IBM Plex Sans" charset="0"/>
              <a:cs typeface="IBM Plex Sans" charset="0"/>
            </a:endParaRPr>
          </a:p>
          <a:p>
            <a:pPr algn="l" indent="0" marL="0">
              <a:lnSpc>
                <a:spcPts val="1485"/>
              </a:lnSpc>
              <a:buNone/>
            </a:pPr>
            <a:r>
              <a:rPr lang="en-US" sz="1100" u="sng" dirty="0">
                <a:solidFill>
                  <a:srgbClr val="17766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tree/main/examples/Win32-simulator-MSVC</a:t>
            </a:r>
            <a:endParaRPr lang="en-US" sz="1100" dirty="0">
              <a:latin typeface="IBM Plex Sans" charset="0"/>
              <a:ea typeface="IBM Plex Sans" charset="0"/>
              <a:cs typeface="IBM Plex Sans" charset="0"/>
            </a:endParaRPr>
          </a:p>
        </p:txBody>
      </p:sp>
      <p:sp>
        <p:nvSpPr>
          <p:cNvPr id="12" name="Shape 9"/>
          <p:cNvSpPr/>
          <p:nvPr/>
        </p:nvSpPr>
        <p:spPr>
          <a:xfrm>
            <a:off x="7419975" y="3778945"/>
            <a:ext cx="3956050" cy="999490"/>
          </a:xfrm>
          <a:prstGeom prst="roundRect">
            <a:avLst>
              <a:gd name="adj" fmla="val 9848"/>
            </a:avLst>
          </a:prstGeom>
          <a:solidFill>
            <a:srgbClr val="FCFBF8"/>
          </a:solidFill>
          <a:ln w="6350">
            <a:solidFill>
              <a:srgbClr val="DCDAD2"/>
            </a:solidFill>
            <a:prstDash val="solid"/>
          </a:ln>
        </p:spPr>
      </p:sp>
      <p:sp>
        <p:nvSpPr>
          <p:cNvPr id="13" name="Text 10"/>
          <p:cNvSpPr/>
          <p:nvPr/>
        </p:nvSpPr>
        <p:spPr>
          <a:xfrm>
            <a:off x="7574280" y="3933230"/>
            <a:ext cx="3756863"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22E"/>
                </a:solidFill>
                <a:latin typeface="IBM Plex Sans" pitchFamily="34" charset="0"/>
                <a:ea typeface="IBM Plex Sans" pitchFamily="34" charset="-122"/>
                <a:cs typeface="IBM Plex Sans" pitchFamily="34" charset="-120"/>
              </a:rPr>
              <a:t>O essencial</a:t>
            </a:r>
            <a:endParaRPr lang="en-US" sz="1400" dirty="0">
              <a:latin typeface="IBM Plex Sans" charset="0"/>
              <a:ea typeface="IBM Plex Sans" charset="0"/>
              <a:cs typeface="IBM Plex Sans" charset="0"/>
            </a:endParaRPr>
          </a:p>
        </p:txBody>
      </p:sp>
      <p:sp>
        <p:nvSpPr>
          <p:cNvPr id="14" name="Text 11"/>
          <p:cNvSpPr/>
          <p:nvPr/>
        </p:nvSpPr>
        <p:spPr>
          <a:xfrm>
            <a:off x="7574280" y="4197350"/>
            <a:ext cx="37568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Medir o CPU, testar o sistema e reconhecer os erros clássicos de concorrência na placa.</a:t>
            </a:r>
            <a:endParaRPr lang="en-US" sz="1200" dirty="0">
              <a:latin typeface="IBM Plex Sans" charset="0"/>
              <a:ea typeface="IBM Plex Sans" charset="0"/>
              <a:cs typeface="IBM Plex Sans" charset="0"/>
            </a:endParaRPr>
          </a:p>
        </p:txBody>
      </p:sp>
      <p:sp>
        <p:nvSpPr>
          <p:cNvPr id="15"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7, 8 e 12; adaptado à Pico 2</a:t>
            </a:r>
            <a:endParaRPr lang="en-US" sz="1200" dirty="0">
              <a:latin typeface="IBM Plex Sans" charset="0"/>
              <a:ea typeface="IBM Plex Sans" charset="0"/>
              <a:cs typeface="IBM Plex Sans" charset="0"/>
            </a:endParaRPr>
          </a:p>
        </p:txBody>
      </p:sp>
      <p:sp>
        <p:nvSpPr>
          <p:cNvPr id="16"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156</a:t>
            </a:r>
            <a:endParaRPr lang="en-US" sz="1200" dirty="0">
              <a:latin typeface="IBM Plex Sans" charset="0"/>
              <a:ea typeface="IBM Plex Sans" charset="0"/>
              <a:cs typeface="IBM Plex Sans"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05259"/>
            <a:ext cx="2622867"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1 · EXEMPLO 7.3</a:t>
            </a:r>
            <a:endParaRPr lang="en-US" sz="1200" dirty="0">
              <a:latin typeface="IBM Plex Sans" charset="0"/>
              <a:ea typeface="IBM Plex Sans" charset="0"/>
              <a:cs typeface="IBM Plex Sans" charset="0"/>
            </a:endParaRPr>
          </a:p>
        </p:txBody>
      </p:sp>
      <p:sp>
        <p:nvSpPr>
          <p:cNvPr id="3" name="Text 1"/>
          <p:cNvSpPr/>
          <p:nvPr/>
        </p:nvSpPr>
        <p:spPr>
          <a:xfrm>
            <a:off x="3435667" y="792559"/>
            <a:ext cx="1721326" cy="238760"/>
          </a:xfrm>
          <a:custGeom>
            <a:avLst/>
            <a:gdLst/>
            <a:ahLst/>
            <a:cxnLst/>
            <a:rect l="l" t="t" r="r" b="b"/>
            <a:pathLst>
              <a:path w="1721326" h="238760">
                <a:moveTo>
                  <a:pt x="119380" y="0"/>
                </a:moveTo>
                <a:lnTo>
                  <a:pt x="1601946" y="0"/>
                </a:lnTo>
                <a:arcTo hR="119380" wR="119380" stAng="16200000" swAng="5400000"/>
                <a:lnTo>
                  <a:pt x="1721326" y="119380"/>
                </a:lnTo>
                <a:arcTo hR="119380" wR="119380" stAng="0" swAng="5400000"/>
                <a:lnTo>
                  <a:pt x="119380" y="238760"/>
                </a:lnTo>
                <a:arcTo hR="119380" wR="119380" stAng="5400000" swAng="5400000"/>
                <a:lnTo>
                  <a:pt x="0" y="119380"/>
                </a:lnTo>
                <a:arcTo hR="119380" wR="119380" stAng="10800000" swAng="5400000"/>
                <a:close/>
              </a:path>
            </a:pathLst>
          </a:custGeom>
          <a:solidFill>
            <a:srgbClr val="FBEFE7"/>
          </a:solidFill>
          <a:ln/>
        </p:spPr>
        <p:txBody>
          <a:bodyPr wrap="none" lIns="0" tIns="0" rIns="0" bIns="0" rtlCol="0" anchor="ctr">
            <a:normAutofit/>
          </a:bodyPr>
          <a:lstStyle/>
          <a:p>
            <a:pPr algn="ctr" indent="0" marL="0">
              <a:lnSpc>
                <a:spcPts val="1680"/>
              </a:lnSpc>
              <a:buNone/>
            </a:pPr>
            <a:r>
              <a:rPr lang="en-US" sz="1200" b="1" dirty="0">
                <a:solidFill>
                  <a:srgbClr val="8E3B46"/>
                </a:solidFill>
                <a:latin typeface="IBM Plex Sans" pitchFamily="34" charset="0"/>
                <a:ea typeface="IBM Plex Sans" pitchFamily="34" charset="-122"/>
                <a:cs typeface="IBM Plex Sans" pitchFamily="34" charset="-120"/>
              </a:rPr>
              <a:t>hardware extra: botão</a:t>
            </a:r>
            <a:endParaRPr lang="en-US" sz="1200" dirty="0">
              <a:latin typeface="IBM Plex Sans" charset="0"/>
              <a:ea typeface="IBM Plex Sans" charset="0"/>
              <a:cs typeface="IBM Plex Sans" charset="0"/>
            </a:endParaRPr>
          </a:p>
        </p:txBody>
      </p:sp>
      <p:sp>
        <p:nvSpPr>
          <p:cNvPr id="4" name="Text 2"/>
          <p:cNvSpPr/>
          <p:nvPr>
            <p:ph type="title"/>
          </p:nvPr>
        </p:nvSpPr>
        <p:spPr>
          <a:xfrm>
            <a:off x="812800" y="1112639"/>
            <a:ext cx="10883392" cy="413464"/>
          </a:xfrm>
          <a:prstGeom prst="rect">
            <a:avLst/>
          </a:prstGeom>
          <a:noFill/>
          <a:ln/>
        </p:spPr>
        <p:txBody>
          <a:bodyPr wrap="square" lIns="0" tIns="0" rIns="0" bIns="0" rtlCol="0" anchor="t">
            <a:normAutofit/>
          </a:bodyPr>
          <a:lstStyle/>
          <a:p>
            <a:pPr algn="l" indent="0" marL="0">
              <a:lnSpc>
                <a:spcPts val="3071"/>
              </a:lnSpc>
              <a:buNone/>
            </a:pPr>
            <a:r>
              <a:rPr lang="en-US" sz="2670" b="1" i="0" dirty="0">
                <a:solidFill>
                  <a:srgbClr val="14222E"/>
                </a:solidFill>
                <a:latin typeface="IBM Plex Sans" pitchFamily="34" charset="0"/>
                <a:ea typeface="IBM Plex Sans" pitchFamily="34" charset="-122"/>
                <a:cs typeface="IBM Plex Sans" pitchFamily="34" charset="-120"/>
              </a:rPr>
              <a:t>Processamento diferido na daemon task</a:t>
            </a:r>
            <a:endParaRPr lang="en-US" sz="2670" dirty="0">
              <a:latin typeface="IBM Plex Sans" charset="0"/>
              <a:ea typeface="IBM Plex Sans" charset="0"/>
              <a:cs typeface="IBM Plex Sans" charset="0"/>
            </a:endParaRPr>
          </a:p>
        </p:txBody>
      </p:sp>
      <p:sp>
        <p:nvSpPr>
          <p:cNvPr id="5" name="Shape 3"/>
          <p:cNvSpPr/>
          <p:nvPr/>
        </p:nvSpPr>
        <p:spPr>
          <a:xfrm>
            <a:off x="815975" y="1707059"/>
            <a:ext cx="5200650" cy="2526030"/>
          </a:xfrm>
          <a:prstGeom prst="roundRect">
            <a:avLst>
              <a:gd name="adj" fmla="val 3896"/>
            </a:avLst>
          </a:prstGeom>
          <a:solidFill>
            <a:srgbClr val="FCFBF8"/>
          </a:solidFill>
          <a:ln w="6350">
            <a:solidFill>
              <a:srgbClr val="DCDAD2"/>
            </a:solidFill>
            <a:prstDash val="solid"/>
          </a:ln>
        </p:spPr>
      </p:sp>
      <p:sp>
        <p:nvSpPr>
          <p:cNvPr id="6" name="Text 4"/>
          <p:cNvSpPr/>
          <p:nvPr/>
        </p:nvSpPr>
        <p:spPr>
          <a:xfrm>
            <a:off x="944880" y="1835944"/>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7" name="Text 5"/>
          <p:cNvSpPr/>
          <p:nvPr/>
        </p:nvSpPr>
        <p:spPr>
          <a:xfrm>
            <a:off x="1148080" y="2112863"/>
            <a:ext cx="4881829" cy="201676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Botão no GP0 (prática 3): a ISR pede à daemon task que corra a função. Sem handler task nem semáforo.</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vPeriodicTask abaixo da daemon: 1 s a trabalhar, 1 s bloqueada.</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Depois: dar-lhe mais prioridade do que a daemon (configTIMER_TASK_PRIORITY + 1).</a:t>
            </a:r>
            <a:endParaRPr lang="en-US" sz="1600" dirty="0">
              <a:latin typeface="IBM Plex Sans" charset="0"/>
              <a:ea typeface="IBM Plex Sans" charset="0"/>
              <a:cs typeface="IBM Plex Sans" charset="0"/>
            </a:endParaRPr>
          </a:p>
        </p:txBody>
      </p:sp>
      <p:sp>
        <p:nvSpPr>
          <p:cNvPr id="8" name="Shape 6"/>
          <p:cNvSpPr/>
          <p:nvPr/>
        </p:nvSpPr>
        <p:spPr>
          <a:xfrm>
            <a:off x="815975" y="4341019"/>
            <a:ext cx="5200650" cy="948690"/>
          </a:xfrm>
          <a:prstGeom prst="roundRect">
            <a:avLst>
              <a:gd name="adj" fmla="val 10375"/>
            </a:avLst>
          </a:prstGeom>
          <a:solidFill>
            <a:srgbClr val="FBEFE7"/>
          </a:solidFill>
          <a:ln w="6350">
            <a:solidFill>
              <a:srgbClr val="DCDAD2"/>
            </a:solidFill>
            <a:prstDash val="solid"/>
          </a:ln>
        </p:spPr>
      </p:sp>
      <p:sp>
        <p:nvSpPr>
          <p:cNvPr id="9" name="Text 7"/>
          <p:cNvSpPr/>
          <p:nvPr/>
        </p:nvSpPr>
        <p:spPr>
          <a:xfrm>
            <a:off x="944880" y="4469904"/>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10" name="Text 8"/>
          <p:cNvSpPr/>
          <p:nvPr/>
        </p:nvSpPr>
        <p:spPr>
          <a:xfrm>
            <a:off x="944880" y="4734123"/>
            <a:ext cx="50911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Em que task corre vDeferredHandlingFunction? E se uma task mais prioritária do que a daemon estiver a trabalhar?</a:t>
            </a:r>
            <a:endParaRPr lang="en-US" sz="1200" dirty="0">
              <a:latin typeface="IBM Plex Sans" charset="0"/>
              <a:ea typeface="IBM Plex Sans" charset="0"/>
              <a:cs typeface="IBM Plex Sans" charset="0"/>
            </a:endParaRPr>
          </a:p>
        </p:txBody>
      </p:sp>
      <p:sp>
        <p:nvSpPr>
          <p:cNvPr id="11" name="Shape 9"/>
          <p:cNvSpPr/>
          <p:nvPr/>
        </p:nvSpPr>
        <p:spPr>
          <a:xfrm>
            <a:off x="815975" y="5397698"/>
            <a:ext cx="5200650" cy="1162050"/>
          </a:xfrm>
          <a:prstGeom prst="roundRect">
            <a:avLst>
              <a:gd name="adj" fmla="val 8470"/>
            </a:avLst>
          </a:prstGeom>
          <a:solidFill>
            <a:srgbClr val="FCFBF8"/>
          </a:solidFill>
          <a:ln w="6350">
            <a:solidFill>
              <a:srgbClr val="DCDAD2"/>
            </a:solidFill>
            <a:prstDash val="solid"/>
          </a:ln>
        </p:spPr>
      </p:sp>
      <p:sp>
        <p:nvSpPr>
          <p:cNvPr id="12" name="Text 10"/>
          <p:cNvSpPr/>
          <p:nvPr/>
        </p:nvSpPr>
        <p:spPr>
          <a:xfrm>
            <a:off x="944880" y="5526584"/>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3" name="Text 11"/>
          <p:cNvSpPr/>
          <p:nvPr/>
        </p:nvSpPr>
        <p:spPr>
          <a:xfrm>
            <a:off x="944880" y="5790704"/>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Corre na daemon task, logo à saída da ISR. Se a vPeriodicTask tiver mais prioridade, a mensagem espera que ela bloqueie (até 1 s). Poupa uma task, mas os eventos ficam todos à prioridade da daemon.</a:t>
            </a:r>
            <a:endParaRPr lang="en-US" sz="1200" dirty="0">
              <a:latin typeface="IBM Plex Sans" charset="0"/>
              <a:ea typeface="IBM Plex Sans" charset="0"/>
              <a:cs typeface="IBM Plex Sans" charset="0"/>
            </a:endParaRPr>
          </a:p>
        </p:txBody>
      </p:sp>
      <p:sp>
        <p:nvSpPr>
          <p:cNvPr id="14" name="Text 12"/>
          <p:cNvSpPr/>
          <p:nvPr/>
        </p:nvSpPr>
        <p:spPr>
          <a:xfrm>
            <a:off x="6223000" y="1703884"/>
            <a:ext cx="5156200" cy="3916680"/>
          </a:xfrm>
          <a:prstGeom prst="roundRect">
            <a:avLst>
              <a:gd name="adj" fmla="val 1946"/>
            </a:avLst>
          </a:prstGeom>
          <a:solidFill>
            <a:srgbClr val="14222E"/>
          </a:solidFill>
          <a:ln/>
        </p:spPr>
        <p:txBody>
          <a:bodyPr wrap="none" lIns="104682" tIns="53882" rIns="0" bIns="28482" rtlCol="0" anchor="t">
            <a:normAutofit/>
          </a:bodyPr>
          <a:lstStyle/>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FreeRTOSConfig.h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#define configUSE_TIMERS 1</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#define INCLUDE_xTimerPendFunctionCall 1</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#define configTIMER_TASK_PRIORITY ( configMAX_PRIORITIES - 2 )</a:t>
            </a:r>
            <a:endParaRPr lang="en-US" sz="950" dirty="0">
              <a:latin typeface="JetBrains Mono" charset="0"/>
              <a:ea typeface="JetBrains Mono" charset="0"/>
              <a:cs typeface="JetBrains Mono" charset="0"/>
            </a:endParaRPr>
          </a:p>
          <a:p>
            <a:pPr algn="l" indent="0" marL="0">
              <a:lnSpc>
                <a:spcPts val="1140"/>
              </a:lnSpc>
              <a:buNone/>
            </a:pP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static void vDeferredHandlingFunction( void *pvParameter1,</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uint32_t ulParameter2 )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vPrintStringAndNumber( "Evento", ulParameter2 ); }</a:t>
            </a:r>
            <a:endParaRPr lang="en-US" sz="950" dirty="0">
              <a:latin typeface="JetBrains Mono" charset="0"/>
              <a:ea typeface="JetBrains Mono" charset="0"/>
              <a:cs typeface="JetBrains Mono" charset="0"/>
            </a:endParaRPr>
          </a:p>
          <a:p>
            <a:pPr algn="l" indent="0" marL="0">
              <a:lnSpc>
                <a:spcPts val="1140"/>
              </a:lnSpc>
              <a:buNone/>
            </a:pP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static void vButtonISR( uint gpio, uint32_t events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static uint32_t ulCount = 0;</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BaseType_t xWoken = pdFALSE;</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xTimerPendFunctionCallFromISR( vDeferredHandlingFunction,</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NULL, ulCount++, &amp;xWoken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portYIELD_FROM_ISR( xWoken ); }</a:t>
            </a:r>
            <a:endParaRPr lang="en-US" sz="950" dirty="0">
              <a:latin typeface="JetBrains Mono" charset="0"/>
              <a:ea typeface="JetBrains Mono" charset="0"/>
              <a:cs typeface="JetBrains Mono" charset="0"/>
            </a:endParaRPr>
          </a:p>
          <a:p>
            <a:pPr algn="l" indent="0" marL="0">
              <a:lnSpc>
                <a:spcPts val="1140"/>
              </a:lnSpc>
              <a:buNone/>
            </a:pP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static void vPeriodicTask( void *pvParameters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for( ;;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 busy_wait_ms( 1000 ); /* a trabalhar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vTaskDelay( pdMS_TO_TICKS( 1000 ) ); } } /* bloqueada */</a:t>
            </a:r>
            <a:endParaRPr lang="en-US" sz="950" dirty="0">
              <a:latin typeface="JetBrains Mono" charset="0"/>
              <a:ea typeface="JetBrains Mono" charset="0"/>
              <a:cs typeface="JetBrains Mono" charset="0"/>
            </a:endParaRPr>
          </a:p>
          <a:p>
            <a:pPr algn="l" indent="0" marL="0">
              <a:lnSpc>
                <a:spcPts val="1140"/>
              </a:lnSpc>
              <a:buNone/>
            </a:pP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no main(), antes de vTaskStartScheduler()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gpio_set_irq_enabled_with_callback( BUTTON_PIN,</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GPIO_IRQ_EDGE_FALL, true, vButtonISR );</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xTaskCreate( vPeriodicTask, "Periodic", 512, NULL,</a:t>
            </a:r>
            <a:endParaRPr lang="en-US" sz="950" dirty="0">
              <a:latin typeface="JetBrains Mono" charset="0"/>
              <a:ea typeface="JetBrains Mono" charset="0"/>
              <a:cs typeface="JetBrains Mono" charset="0"/>
            </a:endParaRPr>
          </a:p>
          <a:p>
            <a:pPr algn="l" indent="0" marL="0">
              <a:lnSpc>
                <a:spcPts val="1140"/>
              </a:lnSpc>
              <a:buNone/>
            </a:pPr>
            <a:r>
              <a:rPr lang="en-US" sz="950" dirty="0">
                <a:solidFill>
                  <a:srgbClr val="E6EAE8"/>
                </a:solidFill>
                <a:latin typeface="JetBrains Mono" pitchFamily="49" charset="0"/>
                <a:ea typeface="JetBrains Mono" pitchFamily="49" charset="-122"/>
                <a:cs typeface="JetBrains Mono" pitchFamily="49" charset="-120"/>
              </a:rPr>
              <a:t>    configTIMER_TASK_PRIORITY - 1, NULL ); /* passo 3: + 1 */</a:t>
            </a:r>
            <a:endParaRPr lang="en-US" sz="950" dirty="0">
              <a:latin typeface="JetBrains Mono" charset="0"/>
              <a:ea typeface="JetBrains Mono" charset="0"/>
              <a:cs typeface="JetBrains Mono" charset="0"/>
            </a:endParaRPr>
          </a:p>
        </p:txBody>
      </p:sp>
      <p:sp>
        <p:nvSpPr>
          <p:cNvPr id="15" name="Text 13"/>
          <p:cNvSpPr/>
          <p:nvPr/>
        </p:nvSpPr>
        <p:spPr>
          <a:xfrm>
            <a:off x="812800" y="64516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7 (Exemplo 7.3); adaptado à Pico 2</a:t>
            </a:r>
            <a:endParaRPr lang="en-US" sz="1200" dirty="0">
              <a:latin typeface="IBM Plex Sans" charset="0"/>
              <a:ea typeface="IBM Plex Sans" charset="0"/>
              <a:cs typeface="IBM Plex Sans" charset="0"/>
            </a:endParaRPr>
          </a:p>
        </p:txBody>
      </p:sp>
      <p:sp>
        <p:nvSpPr>
          <p:cNvPr id="16" name="Text 14"/>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157</a:t>
            </a:r>
            <a:endParaRPr lang="en-US" sz="1200" dirty="0">
              <a:latin typeface="IBM Plex Sans" charset="0"/>
              <a:ea typeface="IBM Plex Sans" charset="0"/>
              <a:cs typeface="IBM Plex Sans"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03359"/>
          </a:xfrm>
          <a:prstGeom prst="rect">
            <a:avLst/>
          </a:prstGeom>
          <a:noFill/>
          <a:ln/>
        </p:spPr>
        <p:txBody>
          <a:bodyPr wrap="square" lIns="0" tIns="0" rIns="0" bIns="0" rtlCol="0" anchor="t">
            <a:normAutofit/>
          </a:bodyPr>
          <a:lstStyle/>
          <a:p>
            <a:pPr algn="l" indent="0" marL="0">
              <a:lnSpc>
                <a:spcPts val="1423"/>
              </a:lnSpc>
              <a:buNone/>
            </a:pPr>
            <a:r>
              <a:rPr lang="en-US" sz="1016" b="1" spc="150" kern="0" dirty="0">
                <a:solidFill>
                  <a:srgbClr val="17766A"/>
                </a:solidFill>
                <a:latin typeface="IBM Plex Sans" pitchFamily="34" charset="0"/>
                <a:ea typeface="IBM Plex Sans" pitchFamily="34" charset="-122"/>
                <a:cs typeface="IBM Plex Sans" pitchFamily="34" charset="-120"/>
              </a:rPr>
              <a:t>EXERCÍCIO 2 · LISTING 7.10</a:t>
            </a:r>
            <a:endParaRPr lang="en-US" sz="1016" dirty="0">
              <a:latin typeface="IBM Plex Sans" charset="0"/>
              <a:ea typeface="IBM Plex Sans" charset="0"/>
              <a:cs typeface="IBM Plex Sans" charset="0"/>
            </a:endParaRPr>
          </a:p>
        </p:txBody>
      </p:sp>
      <p:sp>
        <p:nvSpPr>
          <p:cNvPr id="3" name="Text 1"/>
          <p:cNvSpPr/>
          <p:nvPr>
            <p:ph type="title"/>
          </p:nvPr>
        </p:nvSpPr>
        <p:spPr>
          <a:xfrm>
            <a:off x="812800" y="1092398"/>
            <a:ext cx="10883392" cy="415131"/>
          </a:xfrm>
          <a:prstGeom prst="rect">
            <a:avLst/>
          </a:prstGeom>
          <a:noFill/>
          <a:ln/>
        </p:spPr>
        <p:txBody>
          <a:bodyPr wrap="square" lIns="0" tIns="0" rIns="0" bIns="0" rtlCol="0" anchor="t">
            <a:normAutofit/>
          </a:bodyPr>
          <a:lstStyle/>
          <a:p>
            <a:pPr algn="l" indent="0" marL="0">
              <a:lnSpc>
                <a:spcPts val="3071"/>
              </a:lnSpc>
              <a:buNone/>
            </a:pPr>
            <a:r>
              <a:rPr lang="en-US" sz="2670" b="1" i="0" dirty="0">
                <a:solidFill>
                  <a:srgbClr val="14222E"/>
                </a:solidFill>
                <a:latin typeface="IBM Plex Sans" pitchFamily="34" charset="0"/>
                <a:ea typeface="IBM Plex Sans" pitchFamily="34" charset="-122"/>
                <a:cs typeface="IBM Plex Sans" pitchFamily="34" charset="-120"/>
              </a:rPr>
              <a:t>Um botão real, com ressaltos</a:t>
            </a:r>
            <a:endParaRPr lang="en-US" sz="2670" dirty="0">
              <a:latin typeface="IBM Plex Sans" charset="0"/>
              <a:ea typeface="IBM Plex Sans" charset="0"/>
              <a:cs typeface="IBM Plex Sans" charset="0"/>
            </a:endParaRPr>
          </a:p>
        </p:txBody>
      </p:sp>
      <p:sp>
        <p:nvSpPr>
          <p:cNvPr id="4" name="Shape 2"/>
          <p:cNvSpPr/>
          <p:nvPr/>
        </p:nvSpPr>
        <p:spPr>
          <a:xfrm>
            <a:off x="815975" y="1688505"/>
            <a:ext cx="5200650" cy="2526030"/>
          </a:xfrm>
          <a:prstGeom prst="roundRect">
            <a:avLst>
              <a:gd name="adj" fmla="val 3896"/>
            </a:avLst>
          </a:prstGeom>
          <a:solidFill>
            <a:srgbClr val="FCFBF8"/>
          </a:solidFill>
          <a:ln w="6350">
            <a:solidFill>
              <a:srgbClr val="DCDAD2"/>
            </a:solidFill>
            <a:prstDash val="solid"/>
          </a:ln>
        </p:spPr>
      </p:sp>
      <p:sp>
        <p:nvSpPr>
          <p:cNvPr id="5" name="Text 3"/>
          <p:cNvSpPr/>
          <p:nvPr/>
        </p:nvSpPr>
        <p:spPr>
          <a:xfrm>
            <a:off x="944880" y="181739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094210"/>
            <a:ext cx="4881829" cy="201676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Botão no GP0 (pull-up interno) com interrupção no flanco descendente.</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Carregar 20 vezes e comparar ulIsrCount com ulButtonPressCounts no debugger.</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Trocar para counting semaphore; depois filtrar os ressaltos com um one-shot e xTimerResetFromISR().</a:t>
            </a:r>
            <a:endParaRPr lang="en-US" sz="1600" dirty="0">
              <a:latin typeface="IBM Plex Sans" charset="0"/>
              <a:ea typeface="IBM Plex Sans" charset="0"/>
              <a:cs typeface="IBM Plex Sans" charset="0"/>
            </a:endParaRPr>
          </a:p>
        </p:txBody>
      </p:sp>
      <p:sp>
        <p:nvSpPr>
          <p:cNvPr id="7" name="Shape 5"/>
          <p:cNvSpPr/>
          <p:nvPr/>
        </p:nvSpPr>
        <p:spPr>
          <a:xfrm>
            <a:off x="815975" y="4322465"/>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445135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71557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Os dois contadores ficam iguais? E algum fica igual a 20?</a:t>
            </a:r>
            <a:endParaRPr lang="en-US" sz="1200" dirty="0">
              <a:latin typeface="IBM Plex Sans" charset="0"/>
              <a:ea typeface="IBM Plex Sans" charset="0"/>
              <a:cs typeface="IBM Plex Sans" charset="0"/>
            </a:endParaRPr>
          </a:p>
        </p:txBody>
      </p:sp>
      <p:sp>
        <p:nvSpPr>
          <p:cNvPr id="10" name="Shape 8"/>
          <p:cNvSpPr/>
          <p:nvPr/>
        </p:nvSpPr>
        <p:spPr>
          <a:xfrm>
            <a:off x="815975" y="5165725"/>
            <a:ext cx="5200650" cy="1375410"/>
          </a:xfrm>
          <a:prstGeom prst="roundRect">
            <a:avLst>
              <a:gd name="adj" fmla="val 7156"/>
            </a:avLst>
          </a:prstGeom>
          <a:solidFill>
            <a:srgbClr val="FCFBF8"/>
          </a:solidFill>
          <a:ln w="6350">
            <a:solidFill>
              <a:srgbClr val="DCDAD2"/>
            </a:solidFill>
            <a:prstDash val="solid"/>
          </a:ln>
        </p:spPr>
      </p:sp>
      <p:sp>
        <p:nvSpPr>
          <p:cNvPr id="11" name="Text 9"/>
          <p:cNvSpPr/>
          <p:nvPr/>
        </p:nvSpPr>
        <p:spPr>
          <a:xfrm>
            <a:off x="944880" y="529461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558830"/>
            <a:ext cx="509112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 o binário, ulButtonPressCounts fica abaixo de ulIsrCount: os ressaltos geram vários flancos antes de a task correr. O counting semaphore não perde nenhum, mas conta os ressaltos. Só o debounce dá 20.</a:t>
            </a:r>
            <a:endParaRPr lang="en-US" sz="1200" dirty="0">
              <a:latin typeface="IBM Plex Sans" charset="0"/>
              <a:ea typeface="IBM Plex Sans" charset="0"/>
              <a:cs typeface="IBM Plex Sans" charset="0"/>
            </a:endParaRPr>
          </a:p>
        </p:txBody>
      </p:sp>
      <p:sp>
        <p:nvSpPr>
          <p:cNvPr id="13" name="Text 11"/>
          <p:cNvSpPr/>
          <p:nvPr/>
        </p:nvSpPr>
        <p:spPr>
          <a:xfrm>
            <a:off x="6223000" y="1685330"/>
            <a:ext cx="5156200" cy="3759835"/>
          </a:xfrm>
          <a:prstGeom prst="roundRect">
            <a:avLst>
              <a:gd name="adj" fmla="val 2027"/>
            </a:avLst>
          </a:prstGeom>
          <a:solidFill>
            <a:srgbClr val="14222E"/>
          </a:solidFill>
          <a:ln/>
        </p:spPr>
        <p:txBody>
          <a:bodyPr wrap="none" lIns="104682" tIns="53882" rIns="0" bIns="28482" rtlCol="0" anchor="t">
            <a:normAutofit/>
          </a:bodyPr>
          <a:lstStyle/>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static SemaphoreHandle_t xButtonSem;</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static volatile uint32_t ulIsrCount, ulButtonPressCounts;</a:t>
            </a:r>
            <a:endParaRPr lang="en-US" sz="950" dirty="0">
              <a:latin typeface="JetBrains Mono" charset="0"/>
              <a:ea typeface="JetBrains Mono" charset="0"/>
              <a:cs typeface="JetBrains Mono" charset="0"/>
            </a:endParaRPr>
          </a:p>
          <a:p>
            <a:pPr algn="l" indent="0" marL="0">
              <a:lnSpc>
                <a:spcPts val="1235"/>
              </a:lnSpc>
              <a:buNone/>
            </a:pP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static void vButtonCallback( uint gpio, uint32_t events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BaseType_t xWoken = pdFALSE;</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ulIsrCount++;</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xSemaphoreGiveFromISR( xButtonSem, &amp;xWoken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portYIELD_FROM_ISR( xWoken ); }</a:t>
            </a:r>
            <a:endParaRPr lang="en-US" sz="950" dirty="0">
              <a:latin typeface="JetBrains Mono" charset="0"/>
              <a:ea typeface="JetBrains Mono" charset="0"/>
              <a:cs typeface="JetBrains Mono" charset="0"/>
            </a:endParaRPr>
          </a:p>
          <a:p>
            <a:pPr algn="l" indent="0" marL="0">
              <a:lnSpc>
                <a:spcPts val="1235"/>
              </a:lnSpc>
              <a:buNone/>
            </a:pP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handler task: trata o toque fora da ISR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static void vButtonHandlerTask( void *pvParameters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const TickType_t xMaxBlock = pdMS_TO_TICKS( 5000 );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for( ;;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 if( xSemaphoreTake( xButtonSem, xMaxBlock ) == pdPASS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ulButtonPressCounts++;</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else</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vPrintString( "Sem toques em 5 s\r\n" ); } }</a:t>
            </a:r>
            <a:endParaRPr lang="en-US" sz="950" dirty="0">
              <a:latin typeface="JetBrains Mono" charset="0"/>
              <a:ea typeface="JetBrains Mono" charset="0"/>
              <a:cs typeface="JetBrains Mono" charset="0"/>
            </a:endParaRPr>
          </a:p>
          <a:p>
            <a:pPr algn="l" indent="0" marL="0">
              <a:lnSpc>
                <a:spcPts val="1235"/>
              </a:lnSpc>
              <a:buNone/>
            </a:pP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no main(), antes de vTaskStartScheduler()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xButtonSem = xSemaphoreCreateBinary();</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xTaskCreate( vButtonHandlerTask, "Botao", 512, NULL, 3, NULL );</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gpio_set_irq_enabled_with_callback( BUTTON_PIN,</a:t>
            </a:r>
            <a:endParaRPr lang="en-US" sz="950" dirty="0">
              <a:latin typeface="JetBrains Mono" charset="0"/>
              <a:ea typeface="JetBrains Mono" charset="0"/>
              <a:cs typeface="JetBrains Mono" charset="0"/>
            </a:endParaRPr>
          </a:p>
          <a:p>
            <a:pPr algn="l" indent="0" marL="0">
              <a:lnSpc>
                <a:spcPts val="1235"/>
              </a:lnSpc>
              <a:buNone/>
            </a:pPr>
            <a:r>
              <a:rPr lang="en-US" sz="950" dirty="0">
                <a:solidFill>
                  <a:srgbClr val="E6EAE8"/>
                </a:solidFill>
                <a:latin typeface="JetBrains Mono" pitchFamily="49" charset="0"/>
                <a:ea typeface="JetBrains Mono" pitchFamily="49" charset="-122"/>
                <a:cs typeface="JetBrains Mono" pitchFamily="49" charset="-120"/>
              </a:rPr>
              <a:t>    GPIO_IRQ_EDGE_FALL, true, &amp;vButtonCallback );</a:t>
            </a:r>
            <a:endParaRPr lang="en-US" sz="950" dirty="0">
              <a:latin typeface="JetBrains Mono" charset="0"/>
              <a:ea typeface="JetBrains Mono" charset="0"/>
              <a:cs typeface="JetBrains Mono" charset="0"/>
            </a:endParaRPr>
          </a:p>
        </p:txBody>
      </p:sp>
      <p:sp>
        <p:nvSpPr>
          <p:cNvPr id="14" name="Text 12"/>
          <p:cNvSpPr/>
          <p:nvPr/>
        </p:nvSpPr>
        <p:spPr>
          <a:xfrm>
            <a:off x="812800" y="64516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caps. 6 e 7; adaptado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158</a:t>
            </a:r>
            <a:endParaRPr lang="en-US" sz="1200" dirty="0">
              <a:latin typeface="IBM Plex Sans" charset="0"/>
              <a:ea typeface="IBM Plex Sans" charset="0"/>
              <a:cs typeface="IBM Plex Sans"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14471"/>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17766A"/>
                </a:solidFill>
                <a:latin typeface="IBM Plex Sans" pitchFamily="34" charset="0"/>
                <a:ea typeface="IBM Plex Sans" pitchFamily="34" charset="-122"/>
                <a:cs typeface="IBM Plex Sans" pitchFamily="34" charset="-120"/>
              </a:rPr>
              <a:t>EXERCÍCIO 3 · LISTINGS 12.10 A 12.12</a:t>
            </a:r>
            <a:endParaRPr lang="en-US" sz="1088" dirty="0">
              <a:latin typeface="IBM Plex Sans" charset="0"/>
              <a:ea typeface="IBM Plex Sans" charset="0"/>
              <a:cs typeface="IBM Plex Sans" charset="0"/>
            </a:endParaRPr>
          </a:p>
        </p:txBody>
      </p:sp>
      <p:sp>
        <p:nvSpPr>
          <p:cNvPr id="3" name="Text 1"/>
          <p:cNvSpPr/>
          <p:nvPr>
            <p:ph type="title"/>
          </p:nvPr>
        </p:nvSpPr>
        <p:spPr>
          <a:xfrm>
            <a:off x="812800" y="1103511"/>
            <a:ext cx="10883392" cy="439499"/>
          </a:xfrm>
          <a:prstGeom prst="rect">
            <a:avLst/>
          </a:prstGeom>
          <a:noFill/>
          <a:ln/>
        </p:spPr>
        <p:txBody>
          <a:bodyPr wrap="square" lIns="0" tIns="0" rIns="0" bIns="0" rtlCol="0" anchor="t">
            <a:normAutofit/>
          </a:bodyPr>
          <a:lstStyle/>
          <a:p>
            <a:pPr algn="l" indent="0" marL="0">
              <a:lnSpc>
                <a:spcPts val="3266"/>
              </a:lnSpc>
              <a:buNone/>
            </a:pPr>
            <a:r>
              <a:rPr lang="en-US" sz="2840" b="1" i="0" dirty="0">
                <a:solidFill>
                  <a:srgbClr val="14222E"/>
                </a:solidFill>
                <a:latin typeface="IBM Plex Sans" pitchFamily="34" charset="0"/>
                <a:ea typeface="IBM Plex Sans" pitchFamily="34" charset="-122"/>
                <a:cs typeface="IBM Plex Sans" pitchFamily="34" charset="-120"/>
              </a:rPr>
              <a:t>Quem gasta o CPU?</a:t>
            </a:r>
            <a:endParaRPr lang="en-US" sz="2840" dirty="0">
              <a:latin typeface="IBM Plex Sans" charset="0"/>
              <a:ea typeface="IBM Plex Sans" charset="0"/>
              <a:cs typeface="IBM Plex Sans" charset="0"/>
            </a:endParaRPr>
          </a:p>
        </p:txBody>
      </p:sp>
      <p:sp>
        <p:nvSpPr>
          <p:cNvPr id="4" name="Shape 2"/>
          <p:cNvSpPr/>
          <p:nvPr/>
        </p:nvSpPr>
        <p:spPr>
          <a:xfrm>
            <a:off x="815975" y="1723926"/>
            <a:ext cx="5200650" cy="2241550"/>
          </a:xfrm>
          <a:prstGeom prst="roundRect">
            <a:avLst>
              <a:gd name="adj" fmla="val 4391"/>
            </a:avLst>
          </a:prstGeom>
          <a:solidFill>
            <a:srgbClr val="FCFBF8"/>
          </a:solidFill>
          <a:ln w="6350">
            <a:solidFill>
              <a:srgbClr val="DCDAD2"/>
            </a:solidFill>
            <a:prstDash val="solid"/>
          </a:ln>
        </p:spPr>
      </p:sp>
      <p:sp>
        <p:nvSpPr>
          <p:cNvPr id="5" name="Text 3"/>
          <p:cNvSpPr/>
          <p:nvPr/>
        </p:nvSpPr>
        <p:spPr>
          <a:xfrm>
            <a:off x="944880" y="185291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129730"/>
            <a:ext cx="4881829" cy="173228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Relógio: o timer do RP2350, que já conta microssegundos (time_us_64).</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A prvStatsTask imprime a cada 5 s vTaskGetRunTimeStatistics() e vTaskListTasks().</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Juntar ao projeto do Ex. 4 da prática 3: as duas prvPrintTask com a vPrintString lenta.</a:t>
            </a:r>
            <a:endParaRPr lang="en-US" sz="1600" dirty="0">
              <a:latin typeface="IBM Plex Sans" charset="0"/>
              <a:ea typeface="IBM Plex Sans" charset="0"/>
              <a:cs typeface="IBM Plex Sans" charset="0"/>
            </a:endParaRPr>
          </a:p>
        </p:txBody>
      </p:sp>
      <p:sp>
        <p:nvSpPr>
          <p:cNvPr id="7" name="Shape 5"/>
          <p:cNvSpPr/>
          <p:nvPr/>
        </p:nvSpPr>
        <p:spPr>
          <a:xfrm>
            <a:off x="815975" y="4073426"/>
            <a:ext cx="5200650" cy="948690"/>
          </a:xfrm>
          <a:prstGeom prst="roundRect">
            <a:avLst>
              <a:gd name="adj" fmla="val 10375"/>
            </a:avLst>
          </a:prstGeom>
          <a:solidFill>
            <a:srgbClr val="FBEFE7"/>
          </a:solidFill>
          <a:ln w="6350">
            <a:solidFill>
              <a:srgbClr val="DCDAD2"/>
            </a:solidFill>
            <a:prstDash val="solid"/>
          </a:ln>
        </p:spPr>
      </p:sp>
      <p:sp>
        <p:nvSpPr>
          <p:cNvPr id="8" name="Text 6"/>
          <p:cNvSpPr/>
          <p:nvPr/>
        </p:nvSpPr>
        <p:spPr>
          <a:xfrm>
            <a:off x="944880" y="420241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466530"/>
            <a:ext cx="50911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Que percentagem tem a IDLE? E as tasks que escrevem com a vPrintString lenta?</a:t>
            </a:r>
            <a:endParaRPr lang="en-US" sz="1200" dirty="0">
              <a:latin typeface="IBM Plex Sans" charset="0"/>
              <a:ea typeface="IBM Plex Sans" charset="0"/>
              <a:cs typeface="IBM Plex Sans" charset="0"/>
            </a:endParaRPr>
          </a:p>
        </p:txBody>
      </p:sp>
      <p:sp>
        <p:nvSpPr>
          <p:cNvPr id="10" name="Shape 8"/>
          <p:cNvSpPr/>
          <p:nvPr/>
        </p:nvSpPr>
        <p:spPr>
          <a:xfrm>
            <a:off x="815975" y="5130105"/>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525899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523210"/>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A IDLE é o CPU livre. Quem escreve com espera ativa (busy_wait_us) gasta CPU só à espera: argumento para DMA ou interrupções. vTaskListTasks mostra estado, prioridade e high water mark.</a:t>
            </a:r>
            <a:endParaRPr lang="en-US" sz="1200" dirty="0">
              <a:latin typeface="IBM Plex Sans" charset="0"/>
              <a:ea typeface="IBM Plex Sans" charset="0"/>
              <a:cs typeface="IBM Plex Sans" charset="0"/>
            </a:endParaRPr>
          </a:p>
        </p:txBody>
      </p:sp>
      <p:sp>
        <p:nvSpPr>
          <p:cNvPr id="13" name="Text 11"/>
          <p:cNvSpPr/>
          <p:nvPr/>
        </p:nvSpPr>
        <p:spPr>
          <a:xfrm>
            <a:off x="6223000" y="1720751"/>
            <a:ext cx="5156200" cy="3595370"/>
          </a:xfrm>
          <a:prstGeom prst="roundRect">
            <a:avLst>
              <a:gd name="adj" fmla="val 2119"/>
            </a:avLst>
          </a:prstGeom>
          <a:solidFill>
            <a:srgbClr val="14222E"/>
          </a:solidFill>
          <a:ln/>
        </p:spPr>
        <p:txBody>
          <a:bodyPr wrap="none" lIns="104682" tIns="66582" rIns="0" bIns="41182" rtlCol="0" anchor="t">
            <a:normAutofit/>
          </a:bodyPr>
          <a:lstStyle/>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FreeRTOSConfig.h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#define configGENERATE_RUN_TIME_STATS 1</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#define configUSE_TRACE_FACILITY 1</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#define configUSE_STATS_FORMATTING_FUNCTIONS 1</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#define configRUN_TIME_COUNTER_TYPE uint64_t</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uint64_t ullGetRunTimeCounter( void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#define portCONFIGURE_TIMER_FOR_RUN_TIME_STATS()</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#define portGET_RUN_TIME_COUNTER_VALUE() ullGetRunTimeCounter()</a:t>
            </a:r>
            <a:endParaRPr lang="en-US" sz="900" dirty="0">
              <a:latin typeface="JetBrains Mono" charset="0"/>
              <a:ea typeface="JetBrains Mono" charset="0"/>
              <a:cs typeface="JetBrains Mono" charset="0"/>
            </a:endParaRPr>
          </a:p>
          <a:p>
            <a:pPr algn="l" indent="0" marL="0">
              <a:lnSpc>
                <a:spcPts val="1170"/>
              </a:lnSpc>
              <a:buNone/>
            </a:pP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main.c: o timer do RP2350, a 1 MHz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uint64_t ullGetRunTimeCounter( void ) { return time_us_64(); }</a:t>
            </a:r>
            <a:endParaRPr lang="en-US" sz="900" dirty="0">
              <a:latin typeface="JetBrains Mono" charset="0"/>
              <a:ea typeface="JetBrains Mono" charset="0"/>
              <a:cs typeface="JetBrains Mono" charset="0"/>
            </a:endParaRPr>
          </a:p>
          <a:p>
            <a:pPr algn="l" indent="0" marL="0">
              <a:lnSpc>
                <a:spcPts val="1170"/>
              </a:lnSpc>
              <a:buNone/>
            </a:pP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static void prvStatsTask( void *pvParameters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static char cBuffer[ 512 ];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for( ;;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 vTaskDelay( pdMS_TO_TICKS( 5000 )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vTaskGetRunTimeStatistics( cBuffer, sizeof( cBuffer )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printf( "\r\nTask Tempo(us) %%CPU\r\n%s", cBuffer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vTaskListTasks( cBuffer, sizeof( cBuffer )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printf( "\r\nTask Estado Prio Stack Num\r\n%s", cBuffer ); } }</a:t>
            </a:r>
            <a:endParaRPr lang="en-US" sz="900" dirty="0">
              <a:latin typeface="JetBrains Mono" charset="0"/>
              <a:ea typeface="JetBrains Mono" charset="0"/>
              <a:cs typeface="JetBrains Mono" charset="0"/>
            </a:endParaRPr>
          </a:p>
          <a:p>
            <a:pPr algn="l" indent="0" marL="0">
              <a:lnSpc>
                <a:spcPts val="1170"/>
              </a:lnSpc>
              <a:buNone/>
            </a:pP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 no main(), antes de vTaskStartScheduler() */</a:t>
            </a:r>
            <a:endParaRPr lang="en-US" sz="900" dirty="0">
              <a:latin typeface="JetBrains Mono" charset="0"/>
              <a:ea typeface="JetBrains Mono" charset="0"/>
              <a:cs typeface="JetBrains Mono" charset="0"/>
            </a:endParaRPr>
          </a:p>
          <a:p>
            <a:pPr algn="l" indent="0" marL="0">
              <a:lnSpc>
                <a:spcPts val="1170"/>
              </a:lnSpc>
              <a:buNone/>
            </a:pPr>
            <a:r>
              <a:rPr lang="en-US" sz="900" dirty="0">
                <a:solidFill>
                  <a:srgbClr val="E6EAE8"/>
                </a:solidFill>
                <a:latin typeface="JetBrains Mono" pitchFamily="49" charset="0"/>
                <a:ea typeface="JetBrains Mono" pitchFamily="49" charset="-122"/>
                <a:cs typeface="JetBrains Mono" pitchFamily="49" charset="-120"/>
              </a:rPr>
              <a:t>xTaskCreate( prvStatsTask, "Stats", 1024, NULL, 1, NULL );</a:t>
            </a:r>
            <a:endParaRPr lang="en-US" sz="9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12 (secção 12.5); adaptado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159</a:t>
            </a:r>
            <a:endParaRPr lang="en-US" sz="1200" dirty="0">
              <a:latin typeface="IBM Plex Sans" charset="0"/>
              <a:ea typeface="IBM Plex Sans" charset="0"/>
              <a:cs typeface="IBM Plex Sans"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23599"/>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17766A"/>
                </a:solidFill>
                <a:latin typeface="IBM Plex Sans" pitchFamily="34" charset="0"/>
                <a:ea typeface="IBM Plex Sans" pitchFamily="34" charset="-122"/>
                <a:cs typeface="IBM Plex Sans" pitchFamily="34" charset="-120"/>
              </a:rPr>
              <a:t>EXERCÍCIO 4 · SECÇÃO 6.7</a:t>
            </a:r>
            <a:endParaRPr lang="en-US" sz="1121" dirty="0">
              <a:latin typeface="IBM Plex Sans" charset="0"/>
              <a:ea typeface="IBM Plex Sans" charset="0"/>
              <a:cs typeface="IBM Plex Sans" charset="0"/>
            </a:endParaRPr>
          </a:p>
        </p:txBody>
      </p:sp>
      <p:sp>
        <p:nvSpPr>
          <p:cNvPr id="3" name="Text 1"/>
          <p:cNvSpPr/>
          <p:nvPr>
            <p:ph type="title"/>
          </p:nvPr>
        </p:nvSpPr>
        <p:spPr>
          <a:xfrm>
            <a:off x="812800" y="1112639"/>
            <a:ext cx="10883392" cy="459661"/>
          </a:xfrm>
          <a:prstGeom prst="rect">
            <a:avLst/>
          </a:prstGeom>
          <a:noFill/>
          <a:ln/>
        </p:spPr>
        <p:txBody>
          <a:bodyPr wrap="square" lIns="0" tIns="0" rIns="0" bIns="0" rtlCol="0" anchor="t">
            <a:normAutofit/>
          </a:bodyPr>
          <a:lstStyle/>
          <a:p>
            <a:pPr algn="l" indent="0" marL="0">
              <a:lnSpc>
                <a:spcPts val="3416"/>
              </a:lnSpc>
              <a:buNone/>
            </a:pPr>
            <a:r>
              <a:rPr lang="en-US" sz="2970" b="1" i="0" dirty="0">
                <a:solidFill>
                  <a:srgbClr val="14222E"/>
                </a:solidFill>
                <a:latin typeface="IBM Plex Sans" pitchFamily="34" charset="0"/>
                <a:ea typeface="IBM Plex Sans" pitchFamily="34" charset="-122"/>
                <a:cs typeface="IBM Plex Sans" pitchFamily="34" charset="-120"/>
              </a:rPr>
              <a:t>Um teste automático ao sistema, com um LED</a:t>
            </a:r>
            <a:endParaRPr lang="en-US" sz="2970" dirty="0">
              <a:latin typeface="IBM Plex Sans" charset="0"/>
              <a:ea typeface="IBM Plex Sans" charset="0"/>
              <a:cs typeface="IBM Plex Sans" charset="0"/>
            </a:endParaRPr>
          </a:p>
        </p:txBody>
      </p:sp>
      <p:sp>
        <p:nvSpPr>
          <p:cNvPr id="4" name="Shape 2"/>
          <p:cNvSpPr/>
          <p:nvPr/>
        </p:nvSpPr>
        <p:spPr>
          <a:xfrm>
            <a:off x="815975" y="1753295"/>
            <a:ext cx="5200650" cy="2241550"/>
          </a:xfrm>
          <a:prstGeom prst="roundRect">
            <a:avLst>
              <a:gd name="adj" fmla="val 4391"/>
            </a:avLst>
          </a:prstGeom>
          <a:solidFill>
            <a:srgbClr val="FCFBF8"/>
          </a:solidFill>
          <a:ln w="6350">
            <a:solidFill>
              <a:srgbClr val="DCDAD2"/>
            </a:solidFill>
            <a:prstDash val="solid"/>
          </a:ln>
        </p:spPr>
      </p:sp>
      <p:sp>
        <p:nvSpPr>
          <p:cNvPr id="5" name="Text 3"/>
          <p:cNvSpPr/>
          <p:nvPr/>
        </p:nvSpPr>
        <p:spPr>
          <a:xfrm>
            <a:off x="944880" y="188218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159000"/>
            <a:ext cx="4881829" cy="173228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Produtor (prio 1) envia um número a cada 10 ms; consumidor (prio 2) confirma a sequência.</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Um check timer de 1 s confirma que os contadores avançam e que não houve erro.</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Depois, partir algo: uma task a configMAX_PRIORITIES − 2 que nunca bloqueia.</a:t>
            </a:r>
            <a:endParaRPr lang="en-US" sz="1600" dirty="0">
              <a:latin typeface="IBM Plex Sans" charset="0"/>
              <a:ea typeface="IBM Plex Sans" charset="0"/>
              <a:cs typeface="IBM Plex Sans" charset="0"/>
            </a:endParaRPr>
          </a:p>
        </p:txBody>
      </p:sp>
      <p:sp>
        <p:nvSpPr>
          <p:cNvPr id="7" name="Shape 5"/>
          <p:cNvSpPr/>
          <p:nvPr/>
        </p:nvSpPr>
        <p:spPr>
          <a:xfrm>
            <a:off x="815975" y="4102795"/>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423168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4958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O que faz o LED quando está tudo bem? E com um erro?</a:t>
            </a:r>
            <a:endParaRPr lang="en-US" sz="1200" dirty="0">
              <a:latin typeface="IBM Plex Sans" charset="0"/>
              <a:ea typeface="IBM Plex Sans" charset="0"/>
              <a:cs typeface="IBM Plex Sans" charset="0"/>
            </a:endParaRPr>
          </a:p>
        </p:txBody>
      </p:sp>
      <p:sp>
        <p:nvSpPr>
          <p:cNvPr id="10" name="Shape 8"/>
          <p:cNvSpPr/>
          <p:nvPr/>
        </p:nvSpPr>
        <p:spPr>
          <a:xfrm>
            <a:off x="815975" y="4946055"/>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507494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339060"/>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Pisca a cada 1 s. Com a task que não bloqueia, os contadores param; o check timer corre na daemon, que está acima dessa task, deteta e o LED pisca a cada 200 ms.</a:t>
            </a:r>
            <a:endParaRPr lang="en-US" sz="1200" dirty="0">
              <a:latin typeface="IBM Plex Sans" charset="0"/>
              <a:ea typeface="IBM Plex Sans" charset="0"/>
              <a:cs typeface="IBM Plex Sans" charset="0"/>
            </a:endParaRPr>
          </a:p>
        </p:txBody>
      </p:sp>
      <p:sp>
        <p:nvSpPr>
          <p:cNvPr id="13" name="Text 11"/>
          <p:cNvSpPr/>
          <p:nvPr/>
        </p:nvSpPr>
        <p:spPr>
          <a:xfrm>
            <a:off x="6223000" y="1750120"/>
            <a:ext cx="5156200" cy="3776345"/>
          </a:xfrm>
          <a:prstGeom prst="roundRect">
            <a:avLst>
              <a:gd name="adj" fmla="val 2018"/>
            </a:avLst>
          </a:prstGeom>
          <a:solidFill>
            <a:srgbClr val="14222E"/>
          </a:solidFill>
          <a:ln/>
        </p:spPr>
        <p:txBody>
          <a:bodyPr wrap="none" lIns="104682" tIns="53882" rIns="0" bIns="28482" rtlCol="0" anchor="t">
            <a:normAutofit/>
          </a:bodyPr>
          <a:lstStyle/>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static QueueHandle_t xQ;</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static volatile uint32_t ulTxCount, ulRxCount;</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static volatile BaseType_t xError = pdFALSE;</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static void vProducerTask( void *pv ) /* prio 1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uint32_t ulValue = 0;</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for( ;;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 xQueueSend( xQ, &amp;ulValue, portMAX_DELAY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ulValue++; ulTxCount++;</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vTaskDelay( pdMS_TO_TICKS( 10 ) ); }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static void vConsumerTask( void *pv ) /* prio 2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uint32_t ulExpected = 0, ulValue;</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for( ;;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 xQueueReceive( xQ, &amp;ulValue, portMAX_DELAY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if( ulValue != ulExpected++ ) xError = pdTRUE;</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ulRxCount++; }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static void prvCheckTimerCallback( TimerHandle_t xT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static uint32_t ulLastTx, ulLastRx;</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if( ulTxCount == ulLastTx || ulRxCount == ulLastRx || xError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xTimerChangePeriod( xT, pdMS_TO_TICKS( 200 ), 0 ); /* erro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ulLastTx = ulTxCount; ulLastRx = ulRxCount;</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gpio_xor_mask( 1u &lt;&lt; LED_PIN ); }</a:t>
            </a:r>
            <a:endParaRPr lang="en-US" sz="900" dirty="0">
              <a:latin typeface="JetBrains Mono" charset="0"/>
              <a:ea typeface="JetBrains Mono" charset="0"/>
              <a:cs typeface="JetBrains Mono" charset="0"/>
            </a:endParaRPr>
          </a:p>
          <a:p>
            <a:pPr algn="l" indent="0" marL="0">
              <a:lnSpc>
                <a:spcPts val="1098"/>
              </a:lnSpc>
              <a:buNone/>
            </a:pP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no main(): a queue, as duas tasks e o check timer de 1 s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xQ = xQueueCreate( 5, sizeof( uint32_t )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xTimerStart( xTimerCreate( "Check", pdMS_TO_TICKS( 1000 ),</a:t>
            </a:r>
            <a:endParaRPr lang="en-US" sz="900" dirty="0">
              <a:latin typeface="JetBrains Mono" charset="0"/>
              <a:ea typeface="JetBrains Mono" charset="0"/>
              <a:cs typeface="JetBrains Mono" charset="0"/>
            </a:endParaRPr>
          </a:p>
          <a:p>
            <a:pPr algn="l" indent="0" marL="0">
              <a:lnSpc>
                <a:spcPts val="1098"/>
              </a:lnSpc>
              <a:buNone/>
            </a:pPr>
            <a:r>
              <a:rPr lang="en-US" sz="900" dirty="0">
                <a:solidFill>
                  <a:srgbClr val="E6EAE8"/>
                </a:solidFill>
                <a:latin typeface="JetBrains Mono" pitchFamily="49" charset="0"/>
                <a:ea typeface="JetBrains Mono" pitchFamily="49" charset="-122"/>
                <a:cs typeface="JetBrains Mono" pitchFamily="49" charset="-120"/>
              </a:rPr>
              <a:t>             pdTRUE, NULL, prvCheckTimerCallback ), 0 );</a:t>
            </a:r>
            <a:endParaRPr lang="en-US" sz="9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6 (secção 6.7); adaptado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160</a:t>
            </a:r>
            <a:endParaRPr lang="en-US" sz="1200" dirty="0">
              <a:latin typeface="IBM Plex Sans" charset="0"/>
              <a:ea typeface="IBM Plex Sans" charset="0"/>
              <a:cs typeface="IBM Plex Sans"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7093"/>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766A"/>
                </a:solidFill>
                <a:latin typeface="IBM Plex Sans" pitchFamily="34" charset="0"/>
                <a:ea typeface="IBM Plex Sans" pitchFamily="34" charset="-122"/>
                <a:cs typeface="IBM Plex Sans" pitchFamily="34" charset="-120"/>
              </a:rPr>
              <a:t>EXERCÍCIO 5 · SECÇÕES 8.3.2 E 8.3.3</a:t>
            </a:r>
            <a:endParaRPr lang="en-US" sz="1196" dirty="0">
              <a:latin typeface="IBM Plex Sans" charset="0"/>
              <a:ea typeface="IBM Plex Sans" charset="0"/>
              <a:cs typeface="IBM Plex Sans" charset="0"/>
            </a:endParaRPr>
          </a:p>
        </p:txBody>
      </p:sp>
      <p:sp>
        <p:nvSpPr>
          <p:cNvPr id="3" name="Text 1"/>
          <p:cNvSpPr/>
          <p:nvPr>
            <p:ph type="title"/>
          </p:nvPr>
        </p:nvSpPr>
        <p:spPr>
          <a:xfrm>
            <a:off x="812800" y="1126133"/>
            <a:ext cx="10883392" cy="489109"/>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4222E"/>
                </a:solidFill>
                <a:latin typeface="IBM Plex Sans" pitchFamily="34" charset="0"/>
                <a:ea typeface="IBM Plex Sans" pitchFamily="34" charset="-122"/>
                <a:cs typeface="IBM Plex Sans" pitchFamily="34" charset="-120"/>
              </a:rPr>
              <a:t>Priority inversion: semáforo vs. mutex</a:t>
            </a:r>
            <a:endParaRPr lang="en-US" sz="3190" dirty="0">
              <a:latin typeface="IBM Plex Sans" charset="0"/>
              <a:ea typeface="IBM Plex Sans" charset="0"/>
              <a:cs typeface="IBM Plex Sans" charset="0"/>
            </a:endParaRPr>
          </a:p>
        </p:txBody>
      </p:sp>
      <p:sp>
        <p:nvSpPr>
          <p:cNvPr id="4" name="Shape 2"/>
          <p:cNvSpPr/>
          <p:nvPr/>
        </p:nvSpPr>
        <p:spPr>
          <a:xfrm>
            <a:off x="815975" y="1796157"/>
            <a:ext cx="5200650" cy="1957070"/>
          </a:xfrm>
          <a:prstGeom prst="roundRect">
            <a:avLst>
              <a:gd name="adj" fmla="val 5029"/>
            </a:avLst>
          </a:prstGeom>
          <a:solidFill>
            <a:srgbClr val="FCFBF8"/>
          </a:solidFill>
          <a:ln w="6350">
            <a:solidFill>
              <a:srgbClr val="DCDAD2"/>
            </a:solidFill>
            <a:prstDash val="solid"/>
          </a:ln>
        </p:spPr>
      </p:sp>
      <p:sp>
        <p:nvSpPr>
          <p:cNvPr id="5" name="Text 3"/>
          <p:cNvSpPr/>
          <p:nvPr/>
        </p:nvSpPr>
        <p:spPr>
          <a:xfrm>
            <a:off x="944880" y="192514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1962"/>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Três tasks: LP (prio 1), MP (2) e HP (3).</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Primeiro com um semáforo binário, depois com um mutex.</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HP mede com time_us_32() quanto tempo espera pelo recurso e imprime-o.</a:t>
            </a:r>
            <a:endParaRPr lang="en-US" sz="1600" dirty="0">
              <a:latin typeface="IBM Plex Sans" charset="0"/>
              <a:ea typeface="IBM Plex Sans" charset="0"/>
              <a:cs typeface="IBM Plex Sans" charset="0"/>
            </a:endParaRPr>
          </a:p>
        </p:txBody>
      </p:sp>
      <p:sp>
        <p:nvSpPr>
          <p:cNvPr id="7" name="Shape 5"/>
          <p:cNvSpPr/>
          <p:nvPr/>
        </p:nvSpPr>
        <p:spPr>
          <a:xfrm>
            <a:off x="815975" y="3861197"/>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990082"/>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254302"/>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Com o semáforo binário, quem atrasa HP? E com o mutex?</a:t>
            </a:r>
            <a:endParaRPr lang="en-US" sz="1200" dirty="0">
              <a:latin typeface="IBM Plex Sans" charset="0"/>
              <a:ea typeface="IBM Plex Sans" charset="0"/>
              <a:cs typeface="IBM Plex Sans" charset="0"/>
            </a:endParaRPr>
          </a:p>
        </p:txBody>
      </p:sp>
      <p:sp>
        <p:nvSpPr>
          <p:cNvPr id="10" name="Shape 8"/>
          <p:cNvSpPr/>
          <p:nvPr/>
        </p:nvSpPr>
        <p:spPr>
          <a:xfrm>
            <a:off x="815975" y="4704457"/>
            <a:ext cx="5200650" cy="1162050"/>
          </a:xfrm>
          <a:prstGeom prst="roundRect">
            <a:avLst>
              <a:gd name="adj" fmla="val 8470"/>
            </a:avLst>
          </a:prstGeom>
          <a:solidFill>
            <a:srgbClr val="FCFBF8"/>
          </a:solidFill>
          <a:ln w="6350">
            <a:solidFill>
              <a:srgbClr val="DCDAD2"/>
            </a:solidFill>
            <a:prstDash val="solid"/>
          </a:ln>
        </p:spPr>
      </p:sp>
      <p:sp>
        <p:nvSpPr>
          <p:cNvPr id="11" name="Text 9"/>
          <p:cNvSpPr/>
          <p:nvPr/>
        </p:nvSpPr>
        <p:spPr>
          <a:xfrm>
            <a:off x="944880" y="4833441"/>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097562"/>
            <a:ext cx="509112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Binário: HP espera por LP, e LP não corre enquanto MP corre: inversão sem limite. Mutex: LP herda a prioridade de HP, MP não a interrompe, e HP espera só o resto do trabalho de LP.</a:t>
            </a:r>
            <a:endParaRPr lang="en-US" sz="1200" dirty="0">
              <a:latin typeface="IBM Plex Sans" charset="0"/>
              <a:ea typeface="IBM Plex Sans" charset="0"/>
              <a:cs typeface="IBM Plex Sans" charset="0"/>
            </a:endParaRPr>
          </a:p>
        </p:txBody>
      </p:sp>
      <p:sp>
        <p:nvSpPr>
          <p:cNvPr id="13" name="Text 11"/>
          <p:cNvSpPr/>
          <p:nvPr/>
        </p:nvSpPr>
        <p:spPr>
          <a:xfrm>
            <a:off x="6223000" y="1792982"/>
            <a:ext cx="5156200" cy="2763520"/>
          </a:xfrm>
          <a:prstGeom prst="roundRect">
            <a:avLst>
              <a:gd name="adj" fmla="val 2757"/>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LP (1): tira o recurso e trabalha ~20 ms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xSemaphoreTake( xLock,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vBusyWaitMs( 20 );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xSemaphoreGive( xLock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MP (2): acorda a meio e trabalha ~50 ms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HP (3): acorda a seguir e tenta o recurso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xSemaphoreTake( xLock, portMAX_DELAY );</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Correr duas vezes: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xLock = xSemaphoreCreateBinary(); /* +Give inicial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xLock = xSemaphoreCreateMutex();</a:t>
            </a:r>
            <a:endParaRPr lang="en-US" sz="12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8 (Figuras 8.4 e 8.5); adaptado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161</a:t>
            </a:r>
            <a:endParaRPr lang="en-US" sz="1200" dirty="0">
              <a:latin typeface="IBM Plex Sans" charset="0"/>
              <a:ea typeface="IBM Plex Sans" charset="0"/>
              <a:cs typeface="IBM Plex Sans" charset="0"/>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5F4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66A"/>
                </a:solidFill>
                <a:latin typeface="IBM Plex Sans" pitchFamily="34" charset="0"/>
                <a:ea typeface="IBM Plex Sans" pitchFamily="34" charset="-122"/>
                <a:cs typeface="IBM Plex Sans" pitchFamily="34" charset="-120"/>
              </a:rPr>
              <a:t>EXERCÍCIO 6 · SECÇÃO 8.3.4</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12782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22E"/>
                </a:solidFill>
                <a:latin typeface="IBM Plex Sans" pitchFamily="34" charset="0"/>
                <a:ea typeface="IBM Plex Sans" pitchFamily="34" charset="-122"/>
                <a:cs typeface="IBM Plex Sans" pitchFamily="34" charset="-120"/>
              </a:rPr>
              <a:t>Provocar um deadlock</a:t>
            </a:r>
            <a:endParaRPr lang="en-US" sz="3200" dirty="0">
              <a:latin typeface="IBM Plex Sans" charset="0"/>
              <a:ea typeface="IBM Plex Sans" charset="0"/>
              <a:cs typeface="IBM Plex Sans" charset="0"/>
            </a:endParaRPr>
          </a:p>
        </p:txBody>
      </p:sp>
      <p:sp>
        <p:nvSpPr>
          <p:cNvPr id="4" name="Shape 2"/>
          <p:cNvSpPr/>
          <p:nvPr/>
        </p:nvSpPr>
        <p:spPr>
          <a:xfrm>
            <a:off x="815975" y="1801515"/>
            <a:ext cx="5200650" cy="1957070"/>
          </a:xfrm>
          <a:prstGeom prst="roundRect">
            <a:avLst>
              <a:gd name="adj" fmla="val 5029"/>
            </a:avLst>
          </a:prstGeom>
          <a:solidFill>
            <a:srgbClr val="FCFBF8"/>
          </a:solidFill>
          <a:ln w="6350">
            <a:solidFill>
              <a:srgbClr val="DCDAD2"/>
            </a:solidFill>
            <a:prstDash val="solid"/>
          </a:ln>
        </p:spPr>
      </p:sp>
      <p:sp>
        <p:nvSpPr>
          <p:cNvPr id="5" name="Text 3"/>
          <p:cNvSpPr/>
          <p:nvPr/>
        </p:nvSpPr>
        <p:spPr>
          <a:xfrm>
            <a:off x="944880" y="19304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FAZER</a:t>
            </a:r>
            <a:endParaRPr lang="en-US" sz="1200" dirty="0">
              <a:latin typeface="IBM Plex Sans" charset="0"/>
              <a:ea typeface="IBM Plex Sans" charset="0"/>
              <a:cs typeface="IBM Plex Sans" charset="0"/>
            </a:endParaRPr>
          </a:p>
        </p:txBody>
      </p:sp>
      <p:sp>
        <p:nvSpPr>
          <p:cNvPr id="6" name="Text 4"/>
          <p:cNvSpPr/>
          <p:nvPr/>
        </p:nvSpPr>
        <p:spPr>
          <a:xfrm>
            <a:off x="1148080" y="2207320"/>
            <a:ext cx="4881829" cy="1447800"/>
          </a:xfrm>
          <a:prstGeom prst="rect">
            <a:avLst/>
          </a:prstGeom>
          <a:noFill/>
          <a:ln/>
        </p:spPr>
        <p:txBody>
          <a:bodyPr wrap="square" lIns="0" tIns="0" rIns="0" bIns="0" rtlCol="0" anchor="t">
            <a:normAutofit/>
          </a:bodyPr>
          <a:lstStyle/>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Duas tasks e dois mutexes, tirados por ordem inversa.</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Correr e abrir a vista das tasks (RTOS Views).</a:t>
            </a:r>
            <a:endParaRPr lang="en-US" sz="1600" dirty="0">
              <a:latin typeface="IBM Plex Sans" charset="0"/>
              <a:ea typeface="IBM Plex Sans" charset="0"/>
              <a:cs typeface="IBM Plex Sans" charset="0"/>
            </a:endParaRPr>
          </a:p>
          <a:p>
            <a:pPr algn="l" marL="243840" indent="-243840">
              <a:lnSpc>
                <a:spcPts val="2240"/>
              </a:lnSpc>
              <a:buSzPct val="100000"/>
              <a:buFontTx/>
              <a:buAutoNum type="arabicPeriod" startAt="1"/>
            </a:pPr>
            <a:r>
              <a:rPr lang="en-US" sz="1600" dirty="0">
                <a:solidFill>
                  <a:srgbClr val="14222E"/>
                </a:solidFill>
                <a:latin typeface="IBM Plex Sans" pitchFamily="34" charset="0"/>
                <a:ea typeface="IBM Plex Sans" pitchFamily="34" charset="-122"/>
                <a:cs typeface="IBM Plex Sans" pitchFamily="34" charset="-120"/>
              </a:rPr>
              <a:t>Corrigir: a mesma ordem em todo o lado, ou um block time finito com recuperação.</a:t>
            </a:r>
            <a:endParaRPr lang="en-US" sz="1600" dirty="0">
              <a:latin typeface="IBM Plex Sans" charset="0"/>
              <a:ea typeface="IBM Plex Sans" charset="0"/>
              <a:cs typeface="IBM Plex Sans" charset="0"/>
            </a:endParaRPr>
          </a:p>
        </p:txBody>
      </p:sp>
      <p:sp>
        <p:nvSpPr>
          <p:cNvPr id="7" name="Shape 5"/>
          <p:cNvSpPr/>
          <p:nvPr/>
        </p:nvSpPr>
        <p:spPr>
          <a:xfrm>
            <a:off x="815975" y="3866555"/>
            <a:ext cx="5200650" cy="735330"/>
          </a:xfrm>
          <a:prstGeom prst="roundRect">
            <a:avLst>
              <a:gd name="adj" fmla="val 13385"/>
            </a:avLst>
          </a:prstGeom>
          <a:solidFill>
            <a:srgbClr val="FBEFE7"/>
          </a:solidFill>
          <a:ln w="6350">
            <a:solidFill>
              <a:srgbClr val="DCDAD2"/>
            </a:solidFill>
            <a:prstDash val="solid"/>
          </a:ln>
        </p:spPr>
      </p:sp>
      <p:sp>
        <p:nvSpPr>
          <p:cNvPr id="8" name="Text 6"/>
          <p:cNvSpPr/>
          <p:nvPr/>
        </p:nvSpPr>
        <p:spPr>
          <a:xfrm>
            <a:off x="944880" y="399544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0612A"/>
                </a:solidFill>
                <a:latin typeface="IBM Plex Sans" pitchFamily="34" charset="0"/>
                <a:ea typeface="IBM Plex Sans" pitchFamily="34" charset="-122"/>
                <a:cs typeface="IBM Plex Sans" pitchFamily="34" charset="-120"/>
              </a:rPr>
              <a:t>PREVER ANTES DE CORRER</a:t>
            </a:r>
            <a:endParaRPr lang="en-US" sz="1200" dirty="0">
              <a:latin typeface="IBM Plex Sans" charset="0"/>
              <a:ea typeface="IBM Plex Sans" charset="0"/>
              <a:cs typeface="IBM Plex Sans" charset="0"/>
            </a:endParaRPr>
          </a:p>
        </p:txBody>
      </p:sp>
      <p:sp>
        <p:nvSpPr>
          <p:cNvPr id="9" name="Text 7"/>
          <p:cNvSpPr/>
          <p:nvPr/>
        </p:nvSpPr>
        <p:spPr>
          <a:xfrm>
            <a:off x="944880" y="4259560"/>
            <a:ext cx="50911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Falha algum assert? Como se descobre o problema?</a:t>
            </a:r>
            <a:endParaRPr lang="en-US" sz="1200" dirty="0">
              <a:latin typeface="IBM Plex Sans" charset="0"/>
              <a:ea typeface="IBM Plex Sans" charset="0"/>
              <a:cs typeface="IBM Plex Sans" charset="0"/>
            </a:endParaRPr>
          </a:p>
        </p:txBody>
      </p:sp>
      <p:sp>
        <p:nvSpPr>
          <p:cNvPr id="10" name="Shape 8"/>
          <p:cNvSpPr/>
          <p:nvPr/>
        </p:nvSpPr>
        <p:spPr>
          <a:xfrm>
            <a:off x="815975" y="4709815"/>
            <a:ext cx="5200650" cy="948690"/>
          </a:xfrm>
          <a:prstGeom prst="roundRect">
            <a:avLst>
              <a:gd name="adj" fmla="val 10375"/>
            </a:avLst>
          </a:prstGeom>
          <a:solidFill>
            <a:srgbClr val="FCFBF8"/>
          </a:solidFill>
          <a:ln w="6350">
            <a:solidFill>
              <a:srgbClr val="DCDAD2"/>
            </a:solidFill>
            <a:prstDash val="solid"/>
          </a:ln>
        </p:spPr>
      </p:sp>
      <p:sp>
        <p:nvSpPr>
          <p:cNvPr id="11" name="Text 9"/>
          <p:cNvSpPr/>
          <p:nvPr/>
        </p:nvSpPr>
        <p:spPr>
          <a:xfrm>
            <a:off x="944880" y="4838700"/>
            <a:ext cx="509112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7766A"/>
                </a:solidFill>
                <a:latin typeface="IBM Plex Sans" pitchFamily="34" charset="0"/>
                <a:ea typeface="IBM Plex Sans" pitchFamily="34" charset="-122"/>
                <a:cs typeface="IBM Plex Sans" pitchFamily="34" charset="-120"/>
              </a:rPr>
              <a:t>OBSERVAR</a:t>
            </a:r>
            <a:endParaRPr lang="en-US" sz="1200" dirty="0">
              <a:latin typeface="IBM Plex Sans" charset="0"/>
              <a:ea typeface="IBM Plex Sans" charset="0"/>
              <a:cs typeface="IBM Plex Sans" charset="0"/>
            </a:endParaRPr>
          </a:p>
        </p:txBody>
      </p:sp>
      <p:sp>
        <p:nvSpPr>
          <p:cNvPr id="12" name="Text 10"/>
          <p:cNvSpPr/>
          <p:nvPr/>
        </p:nvSpPr>
        <p:spPr>
          <a:xfrm>
            <a:off x="944880" y="5102920"/>
            <a:ext cx="509112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C"/>
                </a:solidFill>
                <a:latin typeface="IBM Plex Sans" pitchFamily="34" charset="0"/>
                <a:ea typeface="IBM Plex Sans" pitchFamily="34" charset="-122"/>
                <a:cs typeface="IBM Plex Sans" pitchFamily="34" charset="-120"/>
              </a:rPr>
              <a:t>Nada falha: as duas tasks ficam Blocked para sempre, cada uma à espera do mutex da outra. Só o debugger ou um watchdog o revelam.</a:t>
            </a:r>
            <a:endParaRPr lang="en-US" sz="1200" dirty="0">
              <a:latin typeface="IBM Plex Sans" charset="0"/>
              <a:ea typeface="IBM Plex Sans" charset="0"/>
              <a:cs typeface="IBM Plex Sans" charset="0"/>
            </a:endParaRPr>
          </a:p>
        </p:txBody>
      </p:sp>
      <p:sp>
        <p:nvSpPr>
          <p:cNvPr id="13" name="Text 11"/>
          <p:cNvSpPr/>
          <p:nvPr/>
        </p:nvSpPr>
        <p:spPr>
          <a:xfrm>
            <a:off x="6223000" y="1798340"/>
            <a:ext cx="5156200" cy="3190240"/>
          </a:xfrm>
          <a:prstGeom prst="roundRect">
            <a:avLst>
              <a:gd name="adj" fmla="val 2389"/>
            </a:avLst>
          </a:prstGeom>
          <a:solidFill>
            <a:srgbClr val="14222E"/>
          </a:solidFill>
          <a:ln/>
        </p:spPr>
        <p:txBody>
          <a:bodyPr wrap="none" lIns="104682" tIns="79282" rIns="0" bIns="53882" rtlCol="0" anchor="t">
            <a:normAutofit/>
          </a:bodyPr>
          <a:lstStyle/>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static void vTaskA( void *pvParameters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for(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xSemaphoreTake( xMutexUart,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vTaskDelay( 1 ); /* abre a janela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xSemaphoreTake( xMutexI2C, portMAX_DELAY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 … usar os dois recursos …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xSemaphoreGive( xMutexI2C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xSemaphoreGive( xMutexUart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a:t>
            </a: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a:t>
            </a:r>
            <a:endParaRPr lang="en-US" sz="1200" dirty="0">
              <a:latin typeface="JetBrains Mono" charset="0"/>
              <a:ea typeface="JetBrains Mono" charset="0"/>
              <a:cs typeface="JetBrains Mono" charset="0"/>
            </a:endParaRPr>
          </a:p>
          <a:p>
            <a:pPr algn="l" indent="0" marL="0">
              <a:lnSpc>
                <a:spcPts val="1680"/>
              </a:lnSpc>
              <a:buNone/>
            </a:pPr>
            <a:endParaRPr lang="en-US" sz="1200" dirty="0">
              <a:latin typeface="JetBrains Mono" charset="0"/>
              <a:ea typeface="JetBrains Mono" charset="0"/>
              <a:cs typeface="JetBrains Mono" charset="0"/>
            </a:endParaRPr>
          </a:p>
          <a:p>
            <a:pPr algn="l" indent="0" marL="0">
              <a:lnSpc>
                <a:spcPts val="1680"/>
              </a:lnSpc>
              <a:buNone/>
            </a:pPr>
            <a:r>
              <a:rPr lang="en-US" sz="1200" dirty="0">
                <a:solidFill>
                  <a:srgbClr val="E6EAE8"/>
                </a:solidFill>
                <a:latin typeface="JetBrains Mono" pitchFamily="49" charset="0"/>
                <a:ea typeface="JetBrains Mono" pitchFamily="49" charset="-122"/>
                <a:cs typeface="JetBrains Mono" pitchFamily="49" charset="-120"/>
              </a:rPr>
              <a:t>/* vTaskB: igual, mas tira primeiro o I2C */</a:t>
            </a:r>
            <a:endParaRPr lang="en-US" sz="1200" dirty="0">
              <a:latin typeface="JetBrains Mono" charset="0"/>
              <a:ea typeface="JetBrains Mono" charset="0"/>
              <a:cs typeface="JetBrains Mono" charset="0"/>
            </a:endParaRPr>
          </a:p>
        </p:txBody>
      </p:sp>
      <p:sp>
        <p:nvSpPr>
          <p:cNvPr id="14" name="Text 12"/>
          <p:cNvSpPr/>
          <p:nvPr/>
        </p:nvSpPr>
        <p:spPr>
          <a:xfrm>
            <a:off x="812800" y="6238280"/>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Fonte: Livro, cap. 8 (secção 8.3.4); adaptado à Pico 2</a:t>
            </a:r>
            <a:endParaRPr lang="en-US" sz="1200" dirty="0">
              <a:latin typeface="IBM Plex Sans" charset="0"/>
              <a:ea typeface="IBM Plex Sans" charset="0"/>
              <a:cs typeface="IBM Plex Sans" charset="0"/>
            </a:endParaRPr>
          </a:p>
        </p:txBody>
      </p:sp>
      <p:sp>
        <p:nvSpPr>
          <p:cNvPr id="15" name="Text 13"/>
          <p:cNvSpPr/>
          <p:nvPr/>
        </p:nvSpPr>
        <p:spPr>
          <a:xfrm>
            <a:off x="10058400" y="6238280"/>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6717C"/>
                </a:solidFill>
                <a:latin typeface="IBM Plex Sans" pitchFamily="34" charset="0"/>
                <a:ea typeface="IBM Plex Sans" pitchFamily="34" charset="-122"/>
                <a:cs typeface="IBM Plex Sans" pitchFamily="34" charset="-120"/>
              </a:rPr>
              <a:t>162</a:t>
            </a:r>
            <a:endParaRPr lang="en-US" sz="1200" dirty="0">
              <a:latin typeface="IBM Plex Sans" charset="0"/>
              <a:ea typeface="IBM Plex Sans" charset="0"/>
              <a:cs typeface="IBM Plex Sans"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422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B5"/>
                </a:solidFill>
                <a:latin typeface="IBM Plex Sans" pitchFamily="34" charset="0"/>
                <a:ea typeface="IBM Plex Sans" pitchFamily="34" charset="-122"/>
                <a:cs typeface="IBM Plex Sans" pitchFamily="34" charset="-120"/>
              </a:rPr>
              <a:t>SESSÃO PRÁTICA 4 EM RESUMO</a:t>
            </a:r>
            <a:endParaRPr lang="en-US" sz="1200" dirty="0">
              <a:latin typeface="IBM Plex Sans" charset="0"/>
              <a:ea typeface="IBM Plex Sans" charset="0"/>
              <a:cs typeface="IBM Plex Sans" charset="0"/>
            </a:endParaRPr>
          </a:p>
        </p:txBody>
      </p:sp>
      <p:sp>
        <p:nvSpPr>
          <p:cNvPr id="3" name="Text 1"/>
          <p:cNvSpPr/>
          <p:nvPr>
            <p:ph type="title"/>
          </p:nvPr>
        </p:nvSpPr>
        <p:spPr>
          <a:xfrm>
            <a:off x="812800" y="1280220"/>
            <a:ext cx="10883392" cy="142748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2F1EC"/>
                </a:solidFill>
                <a:latin typeface="IBM Plex Sans" pitchFamily="34" charset="0"/>
                <a:ea typeface="IBM Plex Sans" pitchFamily="34" charset="-122"/>
                <a:cs typeface="IBM Plex Sans" pitchFamily="34" charset="-120"/>
              </a:rPr>
              <a:t>Medir antes de otimizar, testar depois de mudar a configuração, e desenhar para que o deadlock não seja possível.</a:t>
            </a:r>
            <a:endParaRPr lang="en-US" sz="3200" dirty="0">
              <a:latin typeface="IBM Plex Sans" charset="0"/>
              <a:ea typeface="IBM Plex Sans" charset="0"/>
              <a:cs typeface="IBM Plex Sans" charset="0"/>
            </a:endParaRPr>
          </a:p>
        </p:txBody>
      </p:sp>
      <p:sp>
        <p:nvSpPr>
          <p:cNvPr id="4" name="Text 2"/>
          <p:cNvSpPr/>
          <p:nvPr/>
        </p:nvSpPr>
        <p:spPr>
          <a:xfrm>
            <a:off x="819150" y="2942630"/>
            <a:ext cx="306395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xTimerPendFunctionCallFromISR</a:t>
            </a:r>
            <a:endParaRPr lang="en-US" sz="1400" dirty="0">
              <a:latin typeface="IBM Plex Sans" charset="0"/>
              <a:ea typeface="IBM Plex Sans" charset="0"/>
              <a:cs typeface="IBM Plex Sans" charset="0"/>
            </a:endParaRPr>
          </a:p>
        </p:txBody>
      </p:sp>
      <p:sp>
        <p:nvSpPr>
          <p:cNvPr id="5" name="Text 3"/>
          <p:cNvSpPr/>
          <p:nvPr/>
        </p:nvSpPr>
        <p:spPr>
          <a:xfrm>
            <a:off x="3997404" y="2942630"/>
            <a:ext cx="2103120"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Ressaltos e debounce</a:t>
            </a:r>
            <a:endParaRPr lang="en-US" sz="1400" dirty="0">
              <a:latin typeface="IBM Plex Sans" charset="0"/>
              <a:ea typeface="IBM Plex Sans" charset="0"/>
              <a:cs typeface="IBM Plex Sans" charset="0"/>
            </a:endParaRPr>
          </a:p>
        </p:txBody>
      </p:sp>
      <p:sp>
        <p:nvSpPr>
          <p:cNvPr id="6" name="Text 4"/>
          <p:cNvSpPr/>
          <p:nvPr/>
        </p:nvSpPr>
        <p:spPr>
          <a:xfrm>
            <a:off x="6214825" y="2942630"/>
            <a:ext cx="177323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Take com timeout</a:t>
            </a:r>
            <a:endParaRPr lang="en-US" sz="1400" dirty="0">
              <a:latin typeface="IBM Plex Sans" charset="0"/>
              <a:ea typeface="IBM Plex Sans" charset="0"/>
              <a:cs typeface="IBM Plex Sans" charset="0"/>
            </a:endParaRPr>
          </a:p>
        </p:txBody>
      </p:sp>
      <p:sp>
        <p:nvSpPr>
          <p:cNvPr id="7" name="Text 5"/>
          <p:cNvSpPr/>
          <p:nvPr/>
        </p:nvSpPr>
        <p:spPr>
          <a:xfrm>
            <a:off x="8102362" y="2942630"/>
            <a:ext cx="1533207"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Run-time stats</a:t>
            </a:r>
            <a:endParaRPr lang="en-US" sz="1400" dirty="0">
              <a:latin typeface="IBM Plex Sans" charset="0"/>
              <a:ea typeface="IBM Plex Sans" charset="0"/>
              <a:cs typeface="IBM Plex Sans" charset="0"/>
            </a:endParaRPr>
          </a:p>
        </p:txBody>
      </p:sp>
      <p:sp>
        <p:nvSpPr>
          <p:cNvPr id="8" name="Text 6"/>
          <p:cNvSpPr/>
          <p:nvPr/>
        </p:nvSpPr>
        <p:spPr>
          <a:xfrm>
            <a:off x="9749869" y="2942630"/>
            <a:ext cx="1536144"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vTaskListTasks</a:t>
            </a:r>
            <a:endParaRPr lang="en-US" sz="1400" dirty="0">
              <a:latin typeface="IBM Plex Sans" charset="0"/>
              <a:ea typeface="IBM Plex Sans" charset="0"/>
              <a:cs typeface="IBM Plex Sans" charset="0"/>
            </a:endParaRPr>
          </a:p>
        </p:txBody>
      </p:sp>
      <p:sp>
        <p:nvSpPr>
          <p:cNvPr id="9" name="Text 7"/>
          <p:cNvSpPr/>
          <p:nvPr/>
        </p:nvSpPr>
        <p:spPr>
          <a:xfrm>
            <a:off x="819150" y="3440410"/>
            <a:ext cx="172966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Teste automático</a:t>
            </a:r>
            <a:endParaRPr lang="en-US" sz="1400" dirty="0">
              <a:latin typeface="IBM Plex Sans" charset="0"/>
              <a:ea typeface="IBM Plex Sans" charset="0"/>
              <a:cs typeface="IBM Plex Sans" charset="0"/>
            </a:endParaRPr>
          </a:p>
        </p:txBody>
      </p:sp>
      <p:sp>
        <p:nvSpPr>
          <p:cNvPr id="10" name="Text 8"/>
          <p:cNvSpPr/>
          <p:nvPr/>
        </p:nvSpPr>
        <p:spPr>
          <a:xfrm>
            <a:off x="2663111" y="3440410"/>
            <a:ext cx="1305798"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Check timer</a:t>
            </a:r>
            <a:endParaRPr lang="en-US" sz="1400" dirty="0">
              <a:latin typeface="IBM Plex Sans" charset="0"/>
              <a:ea typeface="IBM Plex Sans" charset="0"/>
              <a:cs typeface="IBM Plex Sans" charset="0"/>
            </a:endParaRPr>
          </a:p>
        </p:txBody>
      </p:sp>
      <p:sp>
        <p:nvSpPr>
          <p:cNvPr id="11" name="Text 9"/>
          <p:cNvSpPr/>
          <p:nvPr/>
        </p:nvSpPr>
        <p:spPr>
          <a:xfrm>
            <a:off x="4083209" y="3440410"/>
            <a:ext cx="1899841"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Priority inheritance</a:t>
            </a:r>
            <a:endParaRPr lang="en-US" sz="1400" dirty="0">
              <a:latin typeface="IBM Plex Sans" charset="0"/>
              <a:ea typeface="IBM Plex Sans" charset="0"/>
              <a:cs typeface="IBM Plex Sans" charset="0"/>
            </a:endParaRPr>
          </a:p>
        </p:txBody>
      </p:sp>
      <p:sp>
        <p:nvSpPr>
          <p:cNvPr id="12" name="Text 10"/>
          <p:cNvSpPr/>
          <p:nvPr/>
        </p:nvSpPr>
        <p:spPr>
          <a:xfrm>
            <a:off x="6097350" y="3440410"/>
            <a:ext cx="1083786" cy="383540"/>
          </a:xfrm>
          <a:prstGeom prst="roundRect">
            <a:avLst>
              <a:gd name="adj" fmla="val 50000"/>
            </a:avLst>
          </a:prstGeom>
          <a:noFill/>
          <a:ln w="12700">
            <a:solidFill>
              <a:srgbClr val="3C5566"/>
            </a:solidFill>
            <a:prstDash val="solid"/>
          </a:ln>
        </p:spPr>
        <p:txBody>
          <a:bodyPr wrap="none" lIns="0" tIns="0" rIns="0" bIns="0" rtlCol="0" anchor="ctr">
            <a:normAutofit/>
          </a:bodyPr>
          <a:lstStyle/>
          <a:p>
            <a:pPr algn="ctr" indent="0" marL="0">
              <a:lnSpc>
                <a:spcPts val="1960"/>
              </a:lnSpc>
              <a:buNone/>
            </a:pPr>
            <a:r>
              <a:rPr lang="en-US" sz="1400" b="1" dirty="0">
                <a:solidFill>
                  <a:srgbClr val="F2F1EC"/>
                </a:solidFill>
                <a:latin typeface="IBM Plex Sans" pitchFamily="34" charset="0"/>
                <a:ea typeface="IBM Plex Sans" pitchFamily="34" charset="-122"/>
                <a:cs typeface="IBM Plex Sans" pitchFamily="34" charset="-120"/>
              </a:rPr>
              <a:t>Deadlock</a:t>
            </a:r>
            <a:endParaRPr lang="en-US" sz="1400" dirty="0">
              <a:latin typeface="IBM Plex Sans" charset="0"/>
              <a:ea typeface="IBM Plex Sans" charset="0"/>
              <a:cs typeface="IBM Plex Sans" charset="0"/>
            </a:endParaRPr>
          </a:p>
        </p:txBody>
      </p:sp>
      <p:sp>
        <p:nvSpPr>
          <p:cNvPr id="13" name="Text 11"/>
          <p:cNvSpPr/>
          <p:nvPr/>
        </p:nvSpPr>
        <p:spPr>
          <a:xfrm>
            <a:off x="812800" y="57607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B8"/>
                </a:solidFill>
                <a:latin typeface="IBM Plex Sans" pitchFamily="34" charset="0"/>
                <a:ea typeface="IBM Plex Sans" pitchFamily="34" charset="-122"/>
                <a:cs typeface="IBM Plex Sans" pitchFamily="34" charset="-120"/>
              </a:rPr>
              <a:t>As demos oficiais continuam a ser a melhor referência depois da formação.</a:t>
            </a:r>
            <a:endParaRPr lang="en-US" sz="1600" dirty="0">
              <a:latin typeface="IBM Plex Sans" charset="0"/>
              <a:ea typeface="IBM Plex Sans" charset="0"/>
              <a:cs typeface="IBM Plex Sans" charset="0"/>
            </a:endParaRPr>
          </a:p>
        </p:txBody>
      </p:sp>
    </p:spTree>
  </p:cSld>
  <p:clrMapOvr>
    <a:masterClrMapping/>
  </p:clrMapOvr>
</p:sld>
</file>

<file path=ppt/theme/theme1.xml><?xml version="1.0" encoding="utf-8"?>
<a:theme xmlns:a="http://schemas.openxmlformats.org/drawingml/2006/main" name="Formação FreeRTOS">
  <a:themeElements>
    <a:clrScheme name="Formação FreeRTOS">
      <a:dk1>
        <a:srgbClr val="14222E"/>
      </a:dk1>
      <a:lt1>
        <a:srgbClr val="F5F4EF"/>
      </a:lt1>
      <a:dk2>
        <a:srgbClr val="4C575E"/>
      </a:dk2>
      <a:lt2>
        <a:srgbClr val="DFDFDC"/>
      </a:lt2>
      <a:accent1>
        <a:srgbClr val="17766A"/>
      </a:accent1>
      <a:accent2>
        <a:srgbClr val="D0612A"/>
      </a:accent2>
      <a:accent3>
        <a:srgbClr val="5CC8B5"/>
      </a:accent3>
      <a:accent4>
        <a:srgbClr val="2F6FD0"/>
      </a:accent4>
      <a:accent5>
        <a:srgbClr val="A8491A"/>
      </a:accent5>
      <a:accent6>
        <a:srgbClr val="8E3B46"/>
      </a:accent6>
      <a:hlink>
        <a:srgbClr val="0563C1"/>
      </a:hlink>
      <a:folHlink>
        <a:srgbClr val="954F72"/>
      </a:folHlink>
    </a:clrScheme>
    <a:fontScheme name="Formação FreeRTO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163</Slides>
  <Notes>163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163</vt:i4>
      </vt:variant>
    </vt:vector>
  </HeadingPairs>
  <TitlesOfParts>
    <vt:vector size="1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Formação FreeRTOS</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2026-10-31T01:18:49Z</dcterms:created>
  <dcterms:modified xsi:type="dcterms:W3CDTF">2026-10-31T01:18:49Z</dcterms:modified>
</cp:coreProperties>
</file>